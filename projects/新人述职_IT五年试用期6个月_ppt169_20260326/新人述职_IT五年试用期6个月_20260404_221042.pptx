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69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80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这次汇报我主要从岗位认知、试用期结果、能力沉淀和未来计划四个方面，说明自己是否已经具备按期转正的条件。</a:t>
            </a:r>
          </a:p>
          <a:p>
            <a:r>
              <a:rPr lang="zh-CN" dirty="0"/>
              <a:t>过去 6 个月里，我完成了从快速融入业务到独立承担复杂事项的阶段性转变，也在交付之外开始沉淀可复用的方法和机制。 [Pause]</a:t>
            </a:r>
          </a:p>
          <a:p>
            <a:endParaRPr lang="zh-CN" dirty="0"/>
          </a:p>
          <a:p>
            <a:r>
              <a:rPr lang="zh-CN" dirty="0"/>
              <a:t>Key points: (1) 汇报目标是说明是否具备转正条件 (2) 过去6个月完成从融入到独立承担的转变 (3) 后续内容围绕结果与成长展开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在进入具体结果之前，我先说明整场汇报的结构。</a:t>
            </a:r>
          </a:p>
          <a:p>
            <a:r>
              <a:rPr lang="zh-CN" dirty="0"/>
              <a:t>第一部分是个人背景与岗位认知，第二部分是试用期整体产出与关键案例，第三部分是个人沉淀与不足，最后一部分是未来计划和转正申请。</a:t>
            </a:r>
          </a:p>
          <a:p>
            <a:r>
              <a:rPr lang="zh-CN" dirty="0"/>
              <a:t>这样安排是希望先回答“我是谁、岗位怎么理解”，再回答“我做出了什么结果”。</a:t>
            </a:r>
          </a:p>
          <a:p>
            <a:endParaRPr lang="zh-CN" dirty="0"/>
          </a:p>
          <a:p>
            <a:r>
              <a:rPr lang="zh-CN" dirty="0"/>
              <a:t>Key points: (1) 四部分结构清晰 (2) 先讲岗位匹配再讲结果 (3) 便于评委快速建立判断框架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先从个人背景和当前岗位定位开始。</a:t>
            </a:r>
          </a:p>
          <a:p>
            <a:r>
              <a:rPr lang="zh-CN" dirty="0"/>
              <a:t>我有 6 年后端研发经验，前期在深圳乐信控股积累了复杂业务交付和系统建设经验，入职当前公司后比较快切入了会员、营销活动和运营平台等核心业务。</a:t>
            </a:r>
          </a:p>
          <a:p>
            <a:r>
              <a:rPr lang="zh-CN" dirty="0"/>
              <a:t>这页想表达的是，我不是从零开始适应岗位，而是把既有经验快速迁移到了当前团队最需要解决的问题上。 [Pause]</a:t>
            </a:r>
          </a:p>
          <a:p>
            <a:endParaRPr lang="zh-CN" dirty="0"/>
          </a:p>
          <a:p>
            <a:r>
              <a:rPr lang="zh-CN" dirty="0"/>
              <a:t>Key points: (1) 具备成熟研发经验 (2) 入职后快速切入核心业务 (3) 具备复杂需求拆解和平台化设计能力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这 6 个月的实际工作，也让我对当前岗位的要求有了更具体的理解。</a:t>
            </a:r>
          </a:p>
          <a:p>
            <a:r>
              <a:rPr lang="zh-CN" dirty="0"/>
              <a:t>比如在圣诞和新年活动里，我同时承担项目负责人和核心研发职责，在高压节奏下推动四期按期交付；在规则引擎项目里，我从原型、文档到系统实现独立完成闭环；在 CRM 优化和转盘配置化里，我也不仅完成开发，还把结果落到了性能提升和协作提效上。</a:t>
            </a:r>
          </a:p>
          <a:p>
            <a:r>
              <a:rPr lang="zh-CN" dirty="0"/>
              <a:t>所以我理解的后端研发，不只是把功能做完，而是要在关键项目里扛住结果、在复杂问题上给出方案，并把一次性交付沉淀成可复用能力。</a:t>
            </a:r>
          </a:p>
          <a:p>
            <a:endParaRPr lang="zh-CN" dirty="0"/>
          </a:p>
          <a:p>
            <a:r>
              <a:rPr lang="zh-CN" dirty="0"/>
              <a:t>Key points: (1) 用项目交付结果反证岗位理解 (2) 已覆盖项目负责、独立建设和效率优化 (3) 核心是扛结果、出方案、做沉淀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接下来进入结果部分，先看试用期 6 个月的整体产出。</a:t>
            </a:r>
          </a:p>
          <a:p>
            <a:r>
              <a:rPr lang="zh-CN" dirty="0"/>
              <a:t>这 6 个月里，我覆盖了 10 项重点事项，其中 8 项完成交付，关键事项按期交付率是 100%。</a:t>
            </a:r>
          </a:p>
          <a:p>
            <a:r>
              <a:rPr lang="zh-CN" dirty="0"/>
              <a:t>[Data] 除了交付本身，结果还体现在性能优化、配置化沉淀和业务效果上，比如 CRM 查询从 2 秒优化到 1 秒以下，节日活动实现拉新 1992 人、参与 16045 人。 [Pause]</a:t>
            </a:r>
          </a:p>
          <a:p>
            <a:endParaRPr lang="zh-CN" dirty="0"/>
          </a:p>
          <a:p>
            <a:r>
              <a:rPr lang="zh-CN" dirty="0"/>
              <a:t>Key points: (1) 覆盖事项广且完成度高 (2) 结果同时覆盖效率与业务效果 (3) 整体履职结果达到预期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在这些结果里，我想重点展开第一个案例，也就是圣诞和新年活动的高压交付。</a:t>
            </a:r>
          </a:p>
          <a:p>
            <a:r>
              <a:rPr lang="zh-CN" dirty="0"/>
              <a:t>这个项目时间紧、范围大、协同复杂，我既承担项目负责人职责，也承担关键研发工作。</a:t>
            </a:r>
          </a:p>
          <a:p>
            <a:r>
              <a:rPr lang="zh-CN" dirty="0"/>
              <a:t>[Data] 第一期从接需求到上线只有 19 个工作日，整个项目分四期推进，最终在 12 月 23 日完成第四期发布，并拿到拉新 1992 人、参与 16045 人的结果。</a:t>
            </a:r>
          </a:p>
          <a:p>
            <a:r>
              <a:rPr lang="zh-CN" dirty="0"/>
              <a:t>这个案例最能说明，我不仅能完成单点研发，也能在高压项目里扛住结果。 [Pause]</a:t>
            </a:r>
          </a:p>
          <a:p>
            <a:endParaRPr lang="zh-CN" dirty="0"/>
          </a:p>
          <a:p>
            <a:r>
              <a:rPr lang="zh-CN" dirty="0"/>
              <a:t>Key points: (1) 项目节奏紧且协同复杂 (2) 同时承担统筹和核心研发职责 (3) 最终稳定完成四期交付并产出业务结果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第二个案例是规则引擎从 0 到 1 的独立建设。</a:t>
            </a:r>
          </a:p>
          <a:p>
            <a:r>
              <a:rPr lang="zh-CN" dirty="0"/>
              <a:t>这个项目里，我不是被动接收需求，而是从原型设计、需求文档、系统方案到后端实现都独立完成，形成了完整闭环。</a:t>
            </a:r>
          </a:p>
          <a:p>
            <a:r>
              <a:rPr lang="zh-CN" dirty="0"/>
              <a:t>这说明我的角色已经从“执行需求”逐步升级为“定义问题、设计方案并独立落地”，这是我认为试用期里一个比较关键的成长点。</a:t>
            </a:r>
          </a:p>
          <a:p>
            <a:endParaRPr lang="zh-CN" dirty="0"/>
          </a:p>
          <a:p>
            <a:r>
              <a:rPr lang="zh-CN" dirty="0"/>
              <a:t>Key points: (1) 从原型到落地全链路完成 (2) 具备独立建设复杂系统的能力 (3) 体现 ownership 和抽象设计能力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除了项目交付，我也在持续做优化和平台化建设。</a:t>
            </a:r>
          </a:p>
          <a:p>
            <a:r>
              <a:rPr lang="zh-CN" dirty="0"/>
              <a:t>这里面有三类代表性工作，分别是 CRM 查询优化、签到重构和转盘配置化。</a:t>
            </a:r>
          </a:p>
          <a:p>
            <a:r>
              <a:rPr lang="zh-CN" dirty="0"/>
              <a:t>[Data] 比如 CRM 查询从 2 秒优化到 1 秒以下，转盘活动新增人力从 1 天降到约 2 小时。</a:t>
            </a:r>
          </a:p>
          <a:p>
            <a:r>
              <a:rPr lang="zh-CN" dirty="0"/>
              <a:t>这页想表达的是，我的工作方式不是做完一个需求就结束，而是尽量把重复劳动沉淀成后续可复用的能力。 [Pause]</a:t>
            </a:r>
          </a:p>
          <a:p>
            <a:endParaRPr lang="zh-CN" dirty="0"/>
          </a:p>
          <a:p>
            <a:r>
              <a:rPr lang="zh-CN" dirty="0"/>
              <a:t>Key points: (1) 持续推进性能优化和配置化建设 (2) 结果直接体现为效率提升 (3) 平台化思路能放大长期价值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在项目交付之外，我也主动承担了一些团队层面的沉淀工作。</a:t>
            </a:r>
          </a:p>
          <a:p>
            <a:r>
              <a:rPr lang="zh-CN" dirty="0"/>
              <a:t>比如编写后端研发新人指引、梳理新增工程应用和上线应用 SOP，以及在实际工作里探索 AI 协同研发方法。</a:t>
            </a:r>
          </a:p>
          <a:p>
            <a:r>
              <a:rPr lang="zh-CN" dirty="0"/>
              <a:t>这些事情本身不一定直接体现为单个项目指标，但能够降低重复沟通和上线遗漏，也能帮助新同学更快融入团队。</a:t>
            </a:r>
          </a:p>
          <a:p>
            <a:endParaRPr lang="zh-CN" dirty="0"/>
          </a:p>
          <a:p>
            <a:r>
              <a:rPr lang="zh-CN" dirty="0"/>
              <a:t>Key points: (1) 主动补位团队机制建设 (2) 把个人经验沉淀为复用资产 (3) 额外价值体现在团队效率提升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当然，我也清楚自己还有需要继续提升的地方。</a:t>
            </a:r>
          </a:p>
          <a:p>
            <a:r>
              <a:rPr lang="zh-CN" dirty="0"/>
              <a:t>目前我主要识别了三个方向，一是结果量化还可以更前置，二是对会员和营销链路的业务纵深还可以继续补强，三是 AI 协作方法还没有完全沉淀为团队级规范。</a:t>
            </a:r>
          </a:p>
          <a:p>
            <a:r>
              <a:rPr lang="zh-CN" dirty="0"/>
              <a:t>对应地，我已经给自己设定了明确动作，希望后续每个不足都能变成可以执行、可以复盘的改进行动。 [Pause]</a:t>
            </a:r>
          </a:p>
          <a:p>
            <a:endParaRPr lang="zh-CN" dirty="0"/>
          </a:p>
          <a:p>
            <a:r>
              <a:rPr lang="zh-CN" dirty="0"/>
              <a:t>Key points: (1) 不足识别比较具体 (2) 每个不足都有明确动作 (3) 改进目标是形成可执行闭环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最后一部分，我想说明未来 6 个月的计划以及希望得到的支持。</a:t>
            </a:r>
          </a:p>
          <a:p>
            <a:r>
              <a:rPr lang="zh-CN" dirty="0"/>
              <a:t>我的重点方向还是三个，第一是继续深化 AI 工具在研发流程中的使用，第二是打造项目级 context，第三是推进营销活动平台建设，形成 Q2 的阶段性成果。</a:t>
            </a:r>
          </a:p>
          <a:p>
            <a:r>
              <a:rPr lang="zh-CN" dirty="0"/>
              <a:t>同时，如果团队能为平台化事项预留更稳定的排期，并在跨团队协同和数据复盘上提供支持，我相信这些投入会更快转化为团队长期收益。</a:t>
            </a:r>
          </a:p>
          <a:p>
            <a:endParaRPr lang="zh-CN" dirty="0"/>
          </a:p>
          <a:p>
            <a:r>
              <a:rPr lang="zh-CN" dirty="0"/>
              <a:t>Key points: (1) 后续重点仍然围绕 AI、平台和沉淀 (2) 已具备承担更大职责的基础 (3) 希望获得排期和协同支持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以上就是我这次试用期转正述职的主要内容。</a:t>
            </a:r>
          </a:p>
          <a:p>
            <a:r>
              <a:rPr lang="zh-CN" dirty="0"/>
              <a:t>回看这 6 个月，我认为自己已经证明了岗位匹配度、结果导向和持续成长潜力，也具备继续承担更大职责的基础。</a:t>
            </a:r>
          </a:p>
          <a:p>
            <a:r>
              <a:rPr lang="zh-CN" dirty="0"/>
              <a:t>因此我在这里正式申请按期转正，也欢迎各位领导和同事继续提出建议，我会在后续工作里持续改进。</a:t>
            </a:r>
          </a:p>
          <a:p>
            <a:endParaRPr lang="zh-CN" dirty="0"/>
          </a:p>
          <a:p>
            <a:r>
              <a:rPr lang="zh-CN" dirty="0"/>
              <a:t>Key points: (1) 试用期已完成阶段性证明 (2) 具备继续承担更大职责的基础 (3) 正式申请按期转正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30"/>
          <p:cNvGrpSpPr/>
          <p:nvPr/>
        </p:nvGrpSpPr>
        <p:grpSpPr>
          <a:xfrm>
            <a:off x="-111760" y="-949957"/>
            <a:ext cx="12369003" cy="7807957"/>
            <a:chOff x="-111760" y="-949957"/>
            <a:chExt cx="12369003" cy="780795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-111760" y="-949957"/>
              <a:ext cx="12369003" cy="1788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8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试用期转正述职报告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姓名：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方汉涛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-15240" y="-129540"/>
              <a:ext cx="582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日期：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15240" y="-129540"/>
              <a:ext cx="1042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2026-04-04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-17780" y="-151130"/>
              <a:ext cx="1057912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表单编号：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-17780" y="-151130"/>
              <a:ext cx="2090487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PROBATION-20260404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-17780" y="-151130"/>
              <a:ext cx="648971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版本：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-17780" y="-151130"/>
              <a:ext cx="1262382" cy="284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000000"/>
                  </a:solidFill>
                  <a:latin typeface="Microsoft YaHei_MSFontService"/>
                  <a:ea typeface="Microsoft YaHei"/>
                  <a:cs typeface="Microsoft YaHei_MSFontService"/>
                </a:rPr>
                <a:t>v2-template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-22860" y="-194310"/>
              <a:ext cx="63669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F6475"/>
                  </a:solidFill>
                  <a:latin typeface="Microsoft YaHei_MSFontService"/>
                  <a:ea typeface="Microsoft YaHei"/>
                  <a:cs typeface="Microsoft YaHei_MSFontService"/>
                </a:rPr>
                <a:t>后端研发工程师 | 6年行业经验 | 入职6个月工作总结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4408" y="338614"/>
            <a:ext cx="921591" cy="563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75" b="1" dirty="0">
                <a:solidFill>
                  <a:srgbClr val="333F50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81000" y="1733550"/>
            <a:ext cx="11430000" cy="3790950"/>
            <a:chOff x="381000" y="1733550"/>
            <a:chExt cx="11430000" cy="3790950"/>
          </a:xfrm>
        </p:grpSpPr>
        <p:sp>
          <p:nvSpPr>
            <p:cNvPr id="11" name="Freeform 11"/>
            <p:cNvSpPr/>
            <p:nvPr/>
          </p:nvSpPr>
          <p:spPr>
            <a:xfrm>
              <a:off x="381000" y="1733550"/>
              <a:ext cx="11430000" cy="3790950"/>
            </a:xfrm>
            <a:custGeom>
              <a:avLst/>
              <a:gdLst/>
              <a:ahLst/>
              <a:cxnLst/>
              <a:rect l="l" t="t" r="r" b="b"/>
              <a:pathLst>
                <a:path w="11430000" h="37909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3714750"/>
                  </a:lnTo>
                  <a:cubicBezTo>
                    <a:pt x="11430000" y="3756834"/>
                    <a:pt x="11395884" y="3790950"/>
                    <a:pt x="11353800" y="3790950"/>
                  </a:cubicBezTo>
                  <a:lnTo>
                    <a:pt x="76200" y="3790950"/>
                  </a:lnTo>
                  <a:cubicBezTo>
                    <a:pt x="34116" y="3790950"/>
                    <a:pt x="0" y="3756834"/>
                    <a:pt x="0" y="3714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E5E7EB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23875" y="1981200"/>
              <a:ext cx="11239500" cy="523875"/>
              <a:chOff x="523875" y="1981200"/>
              <a:chExt cx="11239500" cy="523875"/>
            </a:xfrm>
          </p:grpSpPr>
          <p:sp>
            <p:nvSpPr>
              <p:cNvPr id="12" name="Polygon 12"/>
              <p:cNvSpPr/>
              <p:nvPr/>
            </p:nvSpPr>
            <p:spPr>
              <a:xfrm>
                <a:off x="523875" y="19812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74663" y="2078355"/>
                <a:ext cx="32707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404938" y="2102644"/>
                <a:ext cx="1772841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个人基本情况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286250" y="22383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16" name="Polygon 16"/>
              <p:cNvSpPr/>
              <p:nvPr/>
            </p:nvSpPr>
            <p:spPr>
              <a:xfrm>
                <a:off x="10487025" y="2152650"/>
                <a:ext cx="1276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76350" h="95250">
                    <a:moveTo>
                      <a:pt x="161925" y="0"/>
                    </a:moveTo>
                    <a:lnTo>
                      <a:pt x="1276350" y="0"/>
                    </a:lnTo>
                    <a:lnTo>
                      <a:pt x="11144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523875" y="2476500"/>
              <a:ext cx="11239500" cy="523875"/>
              <a:chOff x="523875" y="2476500"/>
              <a:chExt cx="11239500" cy="523875"/>
            </a:xfrm>
          </p:grpSpPr>
          <p:sp>
            <p:nvSpPr>
              <p:cNvPr id="18" name="Polygon 18"/>
              <p:cNvSpPr/>
              <p:nvPr/>
            </p:nvSpPr>
            <p:spPr>
              <a:xfrm>
                <a:off x="523875" y="24765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34408" y="25736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04938" y="25979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岗位认知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4286250" y="27336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2" name="Polygon 22"/>
              <p:cNvSpPr/>
              <p:nvPr/>
            </p:nvSpPr>
            <p:spPr>
              <a:xfrm>
                <a:off x="10410825" y="2647950"/>
                <a:ext cx="13525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95250">
                    <a:moveTo>
                      <a:pt x="161925" y="0"/>
                    </a:moveTo>
                    <a:lnTo>
                      <a:pt x="1352550" y="0"/>
                    </a:lnTo>
                    <a:lnTo>
                      <a:pt x="11906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523875" y="2971800"/>
              <a:ext cx="11239500" cy="523875"/>
              <a:chOff x="523875" y="2971800"/>
              <a:chExt cx="11239500" cy="523875"/>
            </a:xfrm>
          </p:grpSpPr>
          <p:sp>
            <p:nvSpPr>
              <p:cNvPr id="24" name="Polygon 24"/>
              <p:cNvSpPr/>
              <p:nvPr/>
            </p:nvSpPr>
            <p:spPr>
              <a:xfrm>
                <a:off x="523875" y="29718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34408" y="30689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04938" y="3093244"/>
                <a:ext cx="1197769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个人绩效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4286250" y="32289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28" name="Polygon 28"/>
              <p:cNvSpPr/>
              <p:nvPr/>
            </p:nvSpPr>
            <p:spPr>
              <a:xfrm>
                <a:off x="10467975" y="3143250"/>
                <a:ext cx="1295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95250">
                    <a:moveTo>
                      <a:pt x="161925" y="0"/>
                    </a:moveTo>
                    <a:lnTo>
                      <a:pt x="1295400" y="0"/>
                    </a:lnTo>
                    <a:lnTo>
                      <a:pt x="11334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23875" y="3467100"/>
              <a:ext cx="11239500" cy="523875"/>
              <a:chOff x="523875" y="3467100"/>
              <a:chExt cx="11239500" cy="523875"/>
            </a:xfrm>
          </p:grpSpPr>
          <p:sp>
            <p:nvSpPr>
              <p:cNvPr id="30" name="Polygon 30"/>
              <p:cNvSpPr/>
              <p:nvPr/>
            </p:nvSpPr>
            <p:spPr>
              <a:xfrm>
                <a:off x="523875" y="34671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4408" y="35642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404938" y="3588544"/>
                <a:ext cx="234791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关键问题突破举例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4286250" y="37242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34" name="Polygon 34"/>
              <p:cNvSpPr/>
              <p:nvPr/>
            </p:nvSpPr>
            <p:spPr>
              <a:xfrm>
                <a:off x="10220325" y="3638550"/>
                <a:ext cx="15430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43050" h="95250">
                    <a:moveTo>
                      <a:pt x="161925" y="0"/>
                    </a:moveTo>
                    <a:lnTo>
                      <a:pt x="1543050" y="0"/>
                    </a:lnTo>
                    <a:lnTo>
                      <a:pt x="13811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523875" y="3962400"/>
              <a:ext cx="11239500" cy="523875"/>
              <a:chOff x="523875" y="3962400"/>
              <a:chExt cx="11239500" cy="523875"/>
            </a:xfrm>
          </p:grpSpPr>
          <p:sp>
            <p:nvSpPr>
              <p:cNvPr id="36" name="Polygon 36"/>
              <p:cNvSpPr/>
              <p:nvPr/>
            </p:nvSpPr>
            <p:spPr>
              <a:xfrm>
                <a:off x="523875" y="39624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34408" y="40595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404938" y="4083844"/>
                <a:ext cx="206037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下一步工作规划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4286250" y="42195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10391775" y="4133850"/>
                <a:ext cx="13716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0">
                    <a:moveTo>
                      <a:pt x="161925" y="0"/>
                    </a:moveTo>
                    <a:lnTo>
                      <a:pt x="1371600" y="0"/>
                    </a:lnTo>
                    <a:lnTo>
                      <a:pt x="120967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523875" y="4457700"/>
              <a:ext cx="11239500" cy="523875"/>
              <a:chOff x="523875" y="4457700"/>
              <a:chExt cx="11239500" cy="523875"/>
            </a:xfrm>
          </p:grpSpPr>
          <p:sp>
            <p:nvSpPr>
              <p:cNvPr id="42" name="Polygon 42"/>
              <p:cNvSpPr/>
              <p:nvPr/>
            </p:nvSpPr>
            <p:spPr>
              <a:xfrm>
                <a:off x="523875" y="44577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34408" y="45548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404938" y="4579144"/>
                <a:ext cx="2922984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个人的不足和提升计划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4286250" y="47148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46" name="Polygon 46"/>
              <p:cNvSpPr/>
              <p:nvPr/>
            </p:nvSpPr>
            <p:spPr>
              <a:xfrm>
                <a:off x="9915525" y="4629150"/>
                <a:ext cx="1847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847850" h="95250">
                    <a:moveTo>
                      <a:pt x="161925" y="0"/>
                    </a:moveTo>
                    <a:lnTo>
                      <a:pt x="1847850" y="0"/>
                    </a:lnTo>
                    <a:lnTo>
                      <a:pt x="1685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523875" y="4953000"/>
              <a:ext cx="11239500" cy="523875"/>
              <a:chOff x="523875" y="4953000"/>
              <a:chExt cx="11239500" cy="523875"/>
            </a:xfrm>
          </p:grpSpPr>
          <p:sp>
            <p:nvSpPr>
              <p:cNvPr id="48" name="Polygon 48"/>
              <p:cNvSpPr/>
              <p:nvPr/>
            </p:nvSpPr>
            <p:spPr>
              <a:xfrm>
                <a:off x="523875" y="4953000"/>
                <a:ext cx="6286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476250">
                    <a:moveTo>
                      <a:pt x="123825" y="0"/>
                    </a:moveTo>
                    <a:lnTo>
                      <a:pt x="628650" y="0"/>
                    </a:lnTo>
                    <a:lnTo>
                      <a:pt x="504825" y="476250"/>
                    </a:lnTo>
                    <a:lnTo>
                      <a:pt x="0" y="476250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34408" y="5050155"/>
                <a:ext cx="40758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404938" y="5074444"/>
                <a:ext cx="14853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333F50"/>
                    </a:solidFill>
                    <a:latin typeface="Arial"/>
                    <a:ea typeface="Microsoft YaHei"/>
                    <a:cs typeface="Arial"/>
                  </a:rPr>
                  <a:t>建议与求助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4286250" y="5210175"/>
                <a:ext cx="674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743700" h="9525">
                    <a:moveTo>
                      <a:pt x="0" y="0"/>
                    </a:moveTo>
                    <a:lnTo>
                      <a:pt x="6743700" y="0"/>
                    </a:lnTo>
                  </a:path>
                </a:pathLst>
              </a:custGeom>
              <a:noFill/>
              <a:ln w="14288">
                <a:solidFill>
                  <a:srgbClr val="CFE1A8"/>
                </a:solidFill>
                <a:prstDash val="dash"/>
              </a:ln>
            </p:spPr>
          </p:sp>
          <p:sp>
            <p:nvSpPr>
              <p:cNvPr id="52" name="Polygon 52"/>
              <p:cNvSpPr/>
              <p:nvPr/>
            </p:nvSpPr>
            <p:spPr>
              <a:xfrm>
                <a:off x="10296525" y="5124450"/>
                <a:ext cx="14668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95250">
                    <a:moveTo>
                      <a:pt x="161925" y="0"/>
                    </a:moveTo>
                    <a:lnTo>
                      <a:pt x="1466850" y="0"/>
                    </a:lnTo>
                    <a:lnTo>
                      <a:pt x="1304925" y="9525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8D600"/>
              </a:solidFill>
              <a:ln>
                <a:noFill/>
              </a:ln>
            </p:spPr>
          </p:sp>
        </p:grpSp>
      </p:grpSp>
      <p:grpSp>
        <p:nvGrpSpPr>
          <p:cNvPr id="61" name="Group 61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55" name="Rectangle 5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7670" y="6341745"/>
              <a:ext cx="2750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Probation Presentation Structure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622" y="6578441"/>
              <a:ext cx="18283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固定目录页，不参与动态占位替换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086746" y="631602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TOC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一、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个人背景与岗位定位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46920" y="50863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个人背景与岗位认知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72826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从教育积累到 5 年研发实践，再到入职后快速切入核心业务，已完成从经验迁移到岗位担当的衔接。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81000" y="1619250"/>
            <a:ext cx="11814810" cy="4629150"/>
            <a:chOff x="381000" y="1619250"/>
            <a:chExt cx="11814810" cy="46291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D8E7B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85800" y="1619250"/>
              <a:ext cx="10496550" cy="1400175"/>
            </a:xfrm>
            <a:custGeom>
              <a:avLst/>
              <a:gdLst/>
              <a:ahLst/>
              <a:cxnLst/>
              <a:rect l="l" t="t" r="r" b="b"/>
              <a:pathLst>
                <a:path w="10496550" h="1400175">
                  <a:moveTo>
                    <a:pt x="0" y="419100"/>
                  </a:moveTo>
                  <a:cubicBezTo>
                    <a:pt x="1485900" y="0"/>
                    <a:pt x="3314700" y="171450"/>
                    <a:pt x="5029200" y="533400"/>
                  </a:cubicBezTo>
                  <a:cubicBezTo>
                    <a:pt x="6553200" y="847725"/>
                    <a:pt x="8105775" y="781050"/>
                    <a:pt x="10496550" y="152400"/>
                  </a:cubicBezTo>
                  <a:lnTo>
                    <a:pt x="10496550" y="838200"/>
                  </a:lnTo>
                  <a:cubicBezTo>
                    <a:pt x="8943975" y="1257300"/>
                    <a:pt x="7372350" y="1400175"/>
                    <a:pt x="5600700" y="1104900"/>
                  </a:cubicBezTo>
                  <a:cubicBezTo>
                    <a:pt x="3648075" y="781050"/>
                    <a:pt x="1609725" y="762000"/>
                    <a:pt x="0" y="1162050"/>
                  </a:cubicBezTo>
                  <a:close/>
                </a:path>
              </a:pathLst>
            </a:custGeom>
            <a:solidFill>
              <a:srgbClr val="F8FBF0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190500" cap="rnd">
              <a:solidFill>
                <a:srgbClr val="E7F0D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14400" y="2495550"/>
              <a:ext cx="9563100" cy="2133600"/>
            </a:xfrm>
            <a:custGeom>
              <a:avLst/>
              <a:gdLst/>
              <a:ahLst/>
              <a:cxnLst/>
              <a:rect l="l" t="t" r="r" b="b"/>
              <a:pathLst>
                <a:path w="9563100" h="2133600">
                  <a:moveTo>
                    <a:pt x="0" y="2133600"/>
                  </a:moveTo>
                  <a:lnTo>
                    <a:pt x="2419350" y="1409700"/>
                  </a:lnTo>
                  <a:lnTo>
                    <a:pt x="4991100" y="1752600"/>
                  </a:lnTo>
                  <a:lnTo>
                    <a:pt x="7486650" y="647700"/>
                  </a:lnTo>
                  <a:lnTo>
                    <a:pt x="9563100" y="0"/>
                  </a:lnTo>
                </a:path>
              </a:pathLst>
            </a:custGeom>
            <a:noFill/>
            <a:ln w="76200" cap="rnd">
              <a:solidFill>
                <a:srgbClr val="B9D99E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477500" y="2114550"/>
              <a:ext cx="457200" cy="381000"/>
            </a:xfrm>
            <a:custGeom>
              <a:avLst/>
              <a:gdLst/>
              <a:ahLst/>
              <a:cxnLst/>
              <a:rect l="l" t="t" r="r" b="b"/>
              <a:pathLst>
                <a:path w="457200" h="381000">
                  <a:moveTo>
                    <a:pt x="0" y="381000"/>
                  </a:moveTo>
                  <a:lnTo>
                    <a:pt x="457200" y="0"/>
                  </a:lnTo>
                </a:path>
              </a:pathLst>
            </a:custGeom>
            <a:noFill/>
            <a:ln w="76200" cap="rnd">
              <a:solidFill>
                <a:srgbClr val="B9D99E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877550" y="2038350"/>
              <a:ext cx="342900" cy="314325"/>
            </a:xfrm>
            <a:custGeom>
              <a:avLst/>
              <a:gdLst/>
              <a:ahLst/>
              <a:cxnLst/>
              <a:rect l="l" t="t" r="r" b="b"/>
              <a:pathLst>
                <a:path w="342900" h="314325">
                  <a:moveTo>
                    <a:pt x="0" y="0"/>
                  </a:moveTo>
                  <a:lnTo>
                    <a:pt x="342900" y="0"/>
                  </a:lnTo>
                  <a:lnTo>
                    <a:pt x="133350" y="314325"/>
                  </a:lnTo>
                  <a:close/>
                </a:path>
              </a:pathLst>
            </a:custGeom>
            <a:solidFill>
              <a:srgbClr val="7F8C8D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71800" y="3543300"/>
              <a:ext cx="723900" cy="723900"/>
            </a:xfrm>
            <a:prstGeom prst="ellipse">
              <a:avLst/>
            </a:prstGeom>
            <a:solidFill>
              <a:srgbClr val="A8C66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562600" y="3905250"/>
              <a:ext cx="685800" cy="685800"/>
            </a:xfrm>
            <a:prstGeom prst="ellipse">
              <a:avLst/>
            </a:prstGeom>
            <a:solidFill>
              <a:srgbClr val="88C100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029575" y="2771775"/>
              <a:ext cx="742950" cy="742950"/>
            </a:xfrm>
            <a:prstGeom prst="ellipse">
              <a:avLst/>
            </a:prstGeom>
            <a:solidFill>
              <a:srgbClr val="6FAE43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020300" y="2038350"/>
              <a:ext cx="914400" cy="914400"/>
            </a:xfrm>
            <a:prstGeom prst="ellipse">
              <a:avLst/>
            </a:prstGeom>
            <a:solidFill>
              <a:srgbClr val="6CC04A">
                <a:alpha val="18000"/>
              </a:srgbClr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096500" y="2114550"/>
              <a:ext cx="762000" cy="762000"/>
            </a:xfrm>
            <a:prstGeom prst="ellipse">
              <a:avLst/>
            </a:prstGeom>
            <a:solidFill>
              <a:srgbClr val="6CC0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017424" y="3780472"/>
              <a:ext cx="63265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2016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89174" y="4123372"/>
              <a:ext cx="63265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47344" y="3018472"/>
              <a:ext cx="7074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2025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78605" y="2386965"/>
              <a:ext cx="597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当前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78330" y="263080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7FA53A"/>
                  </a:solidFill>
                  <a:latin typeface="Arial"/>
                  <a:ea typeface="Microsoft YaHei"/>
                  <a:cs typeface="Arial"/>
                </a:rPr>
                <a:t>教育背景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02055" y="3073718"/>
              <a:ext cx="30509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2016-2020 华南农业大学 软件工程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73505" y="334041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完成研发基础能力建立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26330" y="52406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前司研发经历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83355" y="566451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2019-2025 深圳乐信控股有限公司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92905" y="593121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积累复杂业务交付与系统建设经验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12330" y="16211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F9E32"/>
                  </a:solidFill>
                  <a:latin typeface="Arial"/>
                  <a:ea typeface="Microsoft YaHei"/>
                  <a:cs typeface="Arial"/>
                </a:rPr>
                <a:t>入职当前公司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8955" y="2025968"/>
              <a:ext cx="45494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2025.10 入职后快速切入会员、营销活动、运营平台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93255" y="229266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完成从经验迁移到业务承担的过渡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420100" y="3714750"/>
              <a:ext cx="3009900" cy="1619250"/>
            </a:xfrm>
            <a:custGeom>
              <a:avLst/>
              <a:gdLst/>
              <a:ahLst/>
              <a:cxnLst/>
              <a:rect l="l" t="t" r="r" b="b"/>
              <a:pathLst>
                <a:path w="3009900" h="1619250">
                  <a:moveTo>
                    <a:pt x="114300" y="0"/>
                  </a:moveTo>
                  <a:lnTo>
                    <a:pt x="2895600" y="0"/>
                  </a:lnTo>
                  <a:cubicBezTo>
                    <a:pt x="2958726" y="0"/>
                    <a:pt x="3009900" y="51174"/>
                    <a:pt x="3009900" y="114300"/>
                  </a:cubicBezTo>
                  <a:lnTo>
                    <a:pt x="3009900" y="1504950"/>
                  </a:lnTo>
                  <a:cubicBezTo>
                    <a:pt x="3009900" y="1568076"/>
                    <a:pt x="2958726" y="1619250"/>
                    <a:pt x="2895600" y="1619250"/>
                  </a:cubicBezTo>
                  <a:lnTo>
                    <a:pt x="114300" y="1619250"/>
                  </a:lnTo>
                  <a:cubicBezTo>
                    <a:pt x="51174" y="1619250"/>
                    <a:pt x="0" y="1568076"/>
                    <a:pt x="0" y="1504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7FBF4"/>
            </a:solidFill>
            <a:ln w="13335">
              <a:solidFill>
                <a:srgbClr val="B9D99E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420100" y="3714750"/>
              <a:ext cx="3009900" cy="95250"/>
            </a:xfrm>
            <a:custGeom>
              <a:avLst/>
              <a:gdLst/>
              <a:ahLst/>
              <a:cxnLst/>
              <a:rect l="l" t="t" r="r" b="b"/>
              <a:pathLst>
                <a:path w="3009900" h="95250">
                  <a:moveTo>
                    <a:pt x="47625" y="0"/>
                  </a:moveTo>
                  <a:lnTo>
                    <a:pt x="2962275" y="0"/>
                  </a:lnTo>
                  <a:cubicBezTo>
                    <a:pt x="2988578" y="0"/>
                    <a:pt x="3009900" y="21322"/>
                    <a:pt x="3009900" y="47625"/>
                  </a:cubicBezTo>
                  <a:lnTo>
                    <a:pt x="3009900" y="47625"/>
                  </a:lnTo>
                  <a:cubicBezTo>
                    <a:pt x="3009900" y="73928"/>
                    <a:pt x="2988578" y="95250"/>
                    <a:pt x="29622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6CC04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06790" y="39204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当前岗位定位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12505" y="4311968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后端开发工程师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12505" y="4578668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负责活动系统、会员权益、运营配置平台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12505" y="4845368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兼顾交付效率、系统质量与复用沉淀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8458200" y="5467350"/>
              <a:ext cx="1619250" cy="342900"/>
            </a:xfrm>
            <a:custGeom>
              <a:avLst/>
              <a:gdLst/>
              <a:ahLst/>
              <a:cxnLst/>
              <a:rect l="l" t="t" r="r" b="b"/>
              <a:pathLst>
                <a:path w="1619250" h="342900">
                  <a:moveTo>
                    <a:pt x="171450" y="0"/>
                  </a:moveTo>
                  <a:lnTo>
                    <a:pt x="1447800" y="0"/>
                  </a:lnTo>
                  <a:cubicBezTo>
                    <a:pt x="1542489" y="0"/>
                    <a:pt x="1619250" y="76761"/>
                    <a:pt x="1619250" y="171450"/>
                  </a:cubicBezTo>
                  <a:lnTo>
                    <a:pt x="1619250" y="171450"/>
                  </a:lnTo>
                  <a:cubicBezTo>
                    <a:pt x="1619250" y="266139"/>
                    <a:pt x="1542489" y="342900"/>
                    <a:pt x="14478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020300" y="5467350"/>
              <a:ext cx="1276350" cy="342900"/>
            </a:xfrm>
            <a:custGeom>
              <a:avLst/>
              <a:gdLst/>
              <a:ahLst/>
              <a:cxnLst/>
              <a:rect l="l" t="t" r="r" b="b"/>
              <a:pathLst>
                <a:path w="1276350" h="342900">
                  <a:moveTo>
                    <a:pt x="171450" y="0"/>
                  </a:moveTo>
                  <a:lnTo>
                    <a:pt x="1104900" y="0"/>
                  </a:lnTo>
                  <a:cubicBezTo>
                    <a:pt x="1199589" y="0"/>
                    <a:pt x="1276350" y="76761"/>
                    <a:pt x="1276350" y="171450"/>
                  </a:cubicBezTo>
                  <a:lnTo>
                    <a:pt x="1276350" y="171450"/>
                  </a:lnTo>
                  <a:cubicBezTo>
                    <a:pt x="1276350" y="266139"/>
                    <a:pt x="1199589" y="342900"/>
                    <a:pt x="110490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458200" y="590550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848850" y="590550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447800" h="342900">
                  <a:moveTo>
                    <a:pt x="171450" y="0"/>
                  </a:moveTo>
                  <a:lnTo>
                    <a:pt x="1276350" y="0"/>
                  </a:lnTo>
                  <a:cubicBezTo>
                    <a:pt x="1371039" y="0"/>
                    <a:pt x="1447800" y="76761"/>
                    <a:pt x="1447800" y="171450"/>
                  </a:cubicBezTo>
                  <a:lnTo>
                    <a:pt x="1447800" y="171450"/>
                  </a:lnTo>
                  <a:cubicBezTo>
                    <a:pt x="1447800" y="266139"/>
                    <a:pt x="1371039" y="342900"/>
                    <a:pt x="12763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DEAC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700516" y="55664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复杂需求拆解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83178" y="55664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平台化设计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14791" y="60045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项目统筹推进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83651" y="6004560"/>
              <a:ext cx="9781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533400" y="5295900"/>
              <a:ext cx="7315200" cy="323850"/>
            </a:xfrm>
            <a:custGeom>
              <a:avLst/>
              <a:gdLst/>
              <a:ahLst/>
              <a:cxnLst/>
              <a:rect l="l" t="t" r="r" b="b"/>
              <a:pathLst>
                <a:path w="7315200" h="323850">
                  <a:moveTo>
                    <a:pt x="76200" y="0"/>
                  </a:moveTo>
                  <a:lnTo>
                    <a:pt x="7239000" y="0"/>
                  </a:lnTo>
                  <a:cubicBezTo>
                    <a:pt x="7281084" y="0"/>
                    <a:pt x="7315200" y="34116"/>
                    <a:pt x="7315200" y="76200"/>
                  </a:cubicBezTo>
                  <a:lnTo>
                    <a:pt x="7315200" y="247650"/>
                  </a:lnTo>
                  <a:cubicBezTo>
                    <a:pt x="7315200" y="289734"/>
                    <a:pt x="7281084" y="323850"/>
                    <a:pt x="72390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6FBE8"/>
            </a:solidFill>
            <a:ln w="9525">
              <a:solidFill>
                <a:srgbClr val="CFE1A8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533400" y="5295900"/>
              <a:ext cx="57150" cy="323850"/>
            </a:xfrm>
            <a:custGeom>
              <a:avLst/>
              <a:gdLst/>
              <a:ahLst/>
              <a:cxnLst/>
              <a:rect l="l" t="t" r="r" b="b"/>
              <a:pathLst>
                <a:path w="57150" h="3238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95275"/>
                  </a:lnTo>
                  <a:cubicBezTo>
                    <a:pt x="57150" y="311057"/>
                    <a:pt x="44357" y="323850"/>
                    <a:pt x="28575" y="323850"/>
                  </a:cubicBezTo>
                  <a:lnTo>
                    <a:pt x="28575" y="323850"/>
                  </a:lnTo>
                  <a:cubicBezTo>
                    <a:pt x="12793" y="323850"/>
                    <a:pt x="0" y="311057"/>
                    <a:pt x="0" y="2952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6755" y="5369242"/>
              <a:ext cx="72801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F5B66"/>
                  </a:solidFill>
                  <a:latin typeface="Arial"/>
                  <a:ea typeface="Microsoft YaHei"/>
                  <a:cs typeface="Arial"/>
                </a:rPr>
                <a:t>已完成从既有研发经验到当前岗位担当的衔接，具备独立承接复杂事项的基础。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1" name="Rectangle 61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62" name="Line 62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08622" y="6578441"/>
              <a:ext cx="381040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background and growth path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二、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岗位认知与试用期目标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3729" y="508635"/>
              <a:ext cx="12310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01 BACKGROUND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8076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用试用期实际交付结果，反证我对岗位要求的理解。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48852"/>
              <a:ext cx="4131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ROLE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51602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试用期举证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294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活动项目四期按期交付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77064"/>
              <a:ext cx="2052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规则引擎从0到1独立落地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424714"/>
              <a:ext cx="20528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CRM与转盘优化体现提效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4386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4386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5815" y="224885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TARGET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914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岗位理解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12958" y="29294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关键项目里要扛住结果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12958" y="317706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复杂问题上要给出方案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12958" y="34247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一次性交付要沉淀为复用能力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324850" y="2000250"/>
              <a:ext cx="3314700" cy="2095500"/>
            </a:xfrm>
            <a:custGeom>
              <a:avLst/>
              <a:gdLst/>
              <a:ahLst/>
              <a:cxnLst/>
              <a:rect l="l" t="t" r="r" b="b"/>
              <a:pathLst>
                <a:path w="3314700" h="2095500">
                  <a:moveTo>
                    <a:pt x="133350" y="0"/>
                  </a:moveTo>
                  <a:lnTo>
                    <a:pt x="3181350" y="0"/>
                  </a:lnTo>
                  <a:cubicBezTo>
                    <a:pt x="3254997" y="0"/>
                    <a:pt x="3314700" y="59703"/>
                    <a:pt x="3314700" y="133350"/>
                  </a:cubicBezTo>
                  <a:lnTo>
                    <a:pt x="3314700" y="1962150"/>
                  </a:lnTo>
                  <a:cubicBezTo>
                    <a:pt x="3314700" y="2035797"/>
                    <a:pt x="3254997" y="2095500"/>
                    <a:pt x="3181350" y="2095500"/>
                  </a:cubicBezTo>
                  <a:lnTo>
                    <a:pt x="133350" y="2095500"/>
                  </a:lnTo>
                  <a:cubicBezTo>
                    <a:pt x="59703" y="2095500"/>
                    <a:pt x="0" y="2035797"/>
                    <a:pt x="0" y="1962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324850" y="2000250"/>
              <a:ext cx="3314700" cy="76200"/>
            </a:xfrm>
            <a:custGeom>
              <a:avLst/>
              <a:gdLst/>
              <a:ahLst/>
              <a:cxnLst/>
              <a:rect l="l" t="t" r="r" b="b"/>
              <a:pathLst>
                <a:path w="3314700" h="76200">
                  <a:moveTo>
                    <a:pt x="38100" y="0"/>
                  </a:moveTo>
                  <a:lnTo>
                    <a:pt x="3276600" y="0"/>
                  </a:lnTo>
                  <a:cubicBezTo>
                    <a:pt x="3297642" y="0"/>
                    <a:pt x="3314700" y="17058"/>
                    <a:pt x="3314700" y="38100"/>
                  </a:cubicBezTo>
                  <a:lnTo>
                    <a:pt x="3314700" y="38100"/>
                  </a:lnTo>
                  <a:cubicBezTo>
                    <a:pt x="3314700" y="59142"/>
                    <a:pt x="3297642" y="76200"/>
                    <a:pt x="3276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02015" y="2248852"/>
              <a:ext cx="735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STANDARD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95348" y="25160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对自己的要求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9158" y="2929414"/>
              <a:ext cx="30118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覆盖项目负责、独立建设、效率优化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99158" y="31770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让团队能放心交付复杂事项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4476750"/>
              <a:ext cx="11087100" cy="895350"/>
            </a:xfrm>
            <a:custGeom>
              <a:avLst/>
              <a:gdLst/>
              <a:ahLst/>
              <a:cxnLst/>
              <a:rect l="l" t="t" r="r" b="b"/>
              <a:pathLst>
                <a:path w="11087100" h="89535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742950"/>
                  </a:lnTo>
                  <a:cubicBezTo>
                    <a:pt x="11087100" y="827118"/>
                    <a:pt x="11018868" y="895350"/>
                    <a:pt x="10934700" y="895350"/>
                  </a:cubicBezTo>
                  <a:lnTo>
                    <a:pt x="152400" y="895350"/>
                  </a:lnTo>
                  <a:cubicBezTo>
                    <a:pt x="68232" y="895350"/>
                    <a:pt x="0" y="827118"/>
                    <a:pt x="0" y="7429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4385" y="4742498"/>
              <a:ext cx="931968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试用期要证明的，不只是做了多少功能，而是能否持续承担复杂事项。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4" name="Rectangle 44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08622" y="6578441"/>
              <a:ext cx="30573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objective cards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25399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三、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8155996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整体产出与量化结果：全面达成与价值交付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2863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各项成果全面达成，在交付效率、系统性能和业务价值上均有显著贡献。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790700"/>
              <a:ext cx="3390900" cy="3543300"/>
            </a:xfrm>
            <a:custGeom>
              <a:avLst/>
              <a:gdLst/>
              <a:ahLst/>
              <a:cxnLst/>
              <a:rect l="l" t="t" r="r" b="b"/>
              <a:pathLst>
                <a:path w="3390900" h="3543300">
                  <a:moveTo>
                    <a:pt x="171450" y="0"/>
                  </a:moveTo>
                  <a:lnTo>
                    <a:pt x="3219450" y="0"/>
                  </a:lnTo>
                  <a:cubicBezTo>
                    <a:pt x="3314139" y="0"/>
                    <a:pt x="3390900" y="76761"/>
                    <a:pt x="3390900" y="171450"/>
                  </a:cubicBezTo>
                  <a:lnTo>
                    <a:pt x="3390900" y="3371850"/>
                  </a:lnTo>
                  <a:cubicBezTo>
                    <a:pt x="3390900" y="3466539"/>
                    <a:pt x="3314139" y="3543300"/>
                    <a:pt x="3219450" y="3543300"/>
                  </a:cubicBezTo>
                  <a:lnTo>
                    <a:pt x="171450" y="3543300"/>
                  </a:lnTo>
                  <a:cubicBezTo>
                    <a:pt x="76761" y="3543300"/>
                    <a:pt x="0" y="3466539"/>
                    <a:pt x="0" y="3371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Ellipse 21"/>
            <p:cNvSpPr/>
            <p:nvPr/>
          </p:nvSpPr>
          <p:spPr>
            <a:xfrm>
              <a:off x="1733550" y="2095500"/>
              <a:ext cx="1028700" cy="1028700"/>
            </a:xfrm>
            <a:prstGeom prst="ellipse">
              <a:avLst/>
            </a:prstGeom>
            <a:solidFill>
              <a:srgbClr val="F6FBE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67850" y="33080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核心业绩指标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52500" y="37528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14288">
              <a:solidFill>
                <a:srgbClr val="D8E7B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6757" y="4034314"/>
              <a:ext cx="12520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重点事项覆盖: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22182" y="3953351"/>
              <a:ext cx="625932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10项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2971" y="4434364"/>
              <a:ext cx="10658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已完成交付: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22182" y="4353401"/>
              <a:ext cx="532770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8项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2971" y="4834414"/>
              <a:ext cx="10658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按期交付率: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22182" y="4753451"/>
              <a:ext cx="656986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4114800" y="1790700"/>
              <a:ext cx="3390900" cy="3543300"/>
            </a:xfrm>
            <a:custGeom>
              <a:avLst/>
              <a:gdLst/>
              <a:ahLst/>
              <a:cxnLst/>
              <a:rect l="l" t="t" r="r" b="b"/>
              <a:pathLst>
                <a:path w="3390900" h="3543300">
                  <a:moveTo>
                    <a:pt x="171450" y="0"/>
                  </a:moveTo>
                  <a:lnTo>
                    <a:pt x="3219450" y="0"/>
                  </a:lnTo>
                  <a:cubicBezTo>
                    <a:pt x="3314139" y="0"/>
                    <a:pt x="3390900" y="76761"/>
                    <a:pt x="3390900" y="171450"/>
                  </a:cubicBezTo>
                  <a:lnTo>
                    <a:pt x="3390900" y="3371850"/>
                  </a:lnTo>
                  <a:cubicBezTo>
                    <a:pt x="3390900" y="3466539"/>
                    <a:pt x="3314139" y="3543300"/>
                    <a:pt x="3219450" y="3543300"/>
                  </a:cubicBezTo>
                  <a:lnTo>
                    <a:pt x="171450" y="3543300"/>
                  </a:lnTo>
                  <a:cubicBezTo>
                    <a:pt x="76761" y="3543300"/>
                    <a:pt x="0" y="3466539"/>
                    <a:pt x="0" y="3371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5295900" y="2095500"/>
              <a:ext cx="1028700" cy="1028700"/>
            </a:xfrm>
            <a:prstGeom prst="ellipse">
              <a:avLst/>
            </a:prstGeom>
            <a:solidFill>
              <a:srgbClr val="F6FBE8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03684" y="330803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效率与能力提升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4514850" y="37528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14288">
              <a:solidFill>
                <a:srgbClr val="D8E7B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79467" y="4034314"/>
              <a:ext cx="8517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CRM查询: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784532" y="3953351"/>
              <a:ext cx="1635183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2s → 1s以下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51535" y="4434364"/>
              <a:ext cx="8796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配置时间: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784532" y="4353401"/>
              <a:ext cx="1604129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1天 → 2小时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90872" y="4823460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体验显著改善，复用性提升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7677150" y="1790700"/>
              <a:ext cx="3390900" cy="3543300"/>
            </a:xfrm>
            <a:custGeom>
              <a:avLst/>
              <a:gdLst/>
              <a:ahLst/>
              <a:cxnLst/>
              <a:rect l="l" t="t" r="r" b="b"/>
              <a:pathLst>
                <a:path w="3390900" h="3543300">
                  <a:moveTo>
                    <a:pt x="171450" y="0"/>
                  </a:moveTo>
                  <a:lnTo>
                    <a:pt x="3219450" y="0"/>
                  </a:lnTo>
                  <a:cubicBezTo>
                    <a:pt x="3314139" y="0"/>
                    <a:pt x="3390900" y="76761"/>
                    <a:pt x="3390900" y="171450"/>
                  </a:cubicBezTo>
                  <a:lnTo>
                    <a:pt x="3390900" y="3371850"/>
                  </a:lnTo>
                  <a:cubicBezTo>
                    <a:pt x="3390900" y="3466539"/>
                    <a:pt x="3314139" y="3543300"/>
                    <a:pt x="3219450" y="3543300"/>
                  </a:cubicBezTo>
                  <a:lnTo>
                    <a:pt x="171450" y="3543300"/>
                  </a:lnTo>
                  <a:cubicBezTo>
                    <a:pt x="76761" y="3543300"/>
                    <a:pt x="0" y="3466539"/>
                    <a:pt x="0" y="3371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3335">
              <a:solidFill>
                <a:srgbClr val="D8E7B4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858250" y="2095500"/>
              <a:ext cx="1028700" cy="1028700"/>
            </a:xfrm>
            <a:prstGeom prst="ellipse">
              <a:avLst/>
            </a:prstGeom>
            <a:solidFill>
              <a:srgbClr val="F6FBE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66034" y="3308032"/>
              <a:ext cx="18131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业务成果与价值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8077200" y="37528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14288">
              <a:solidFill>
                <a:srgbClr val="D8E7B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041457" y="4034314"/>
              <a:ext cx="12520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积分提醒覆盖: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46882" y="3953351"/>
              <a:ext cx="796728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40w+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41457" y="4434364"/>
              <a:ext cx="12520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拉新活动转化: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46882" y="4353401"/>
              <a:ext cx="967524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1992人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41457" y="4834414"/>
              <a:ext cx="12520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活动参与人数: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46882" y="4753451"/>
              <a:ext cx="1138321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16045人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8269FF90-F08B-D59F-11DE-311D6AB4D92E}"/>
              </a:ext>
            </a:extLst>
          </p:cNvPr>
          <p:cNvGrpSpPr/>
          <p:nvPr/>
        </p:nvGrpSpPr>
        <p:grpSpPr>
          <a:xfrm>
            <a:off x="2019726" y="2305686"/>
            <a:ext cx="474133" cy="592666"/>
            <a:chOff x="-160867" y="2217209"/>
            <a:chExt cx="474133" cy="592666"/>
          </a:xfrm>
        </p:grpSpPr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AAD89126-2D9F-8170-B414-BECA92284C1E}"/>
                </a:ext>
              </a:extLst>
            </p:cNvPr>
            <p:cNvSpPr/>
            <p:nvPr/>
          </p:nvSpPr>
          <p:spPr>
            <a:xfrm>
              <a:off x="-160867" y="2289440"/>
              <a:ext cx="474133" cy="474133"/>
            </a:xfrm>
            <a:custGeom>
              <a:avLst/>
              <a:gdLst>
                <a:gd name="connsiteX0" fmla="*/ 237067 w 474133"/>
                <a:gd name="connsiteY0" fmla="*/ 474134 h 474133"/>
                <a:gd name="connsiteX1" fmla="*/ 474134 w 474133"/>
                <a:gd name="connsiteY1" fmla="*/ 237067 h 474133"/>
                <a:gd name="connsiteX2" fmla="*/ 237067 w 474133"/>
                <a:gd name="connsiteY2" fmla="*/ 0 h 474133"/>
                <a:gd name="connsiteX3" fmla="*/ 0 w 474133"/>
                <a:gd name="connsiteY3" fmla="*/ 237067 h 474133"/>
                <a:gd name="connsiteX4" fmla="*/ 237067 w 474133"/>
                <a:gd name="connsiteY4" fmla="*/ 474134 h 474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133" h="474133">
                  <a:moveTo>
                    <a:pt x="237067" y="474134"/>
                  </a:moveTo>
                  <a:cubicBezTo>
                    <a:pt x="368046" y="474134"/>
                    <a:pt x="474134" y="368046"/>
                    <a:pt x="474134" y="237067"/>
                  </a:cubicBezTo>
                  <a:cubicBezTo>
                    <a:pt x="474134" y="106088"/>
                    <a:pt x="368046" y="0"/>
                    <a:pt x="237067" y="0"/>
                  </a:cubicBezTo>
                  <a:cubicBezTo>
                    <a:pt x="106088" y="0"/>
                    <a:pt x="0" y="106088"/>
                    <a:pt x="0" y="237067"/>
                  </a:cubicBezTo>
                  <a:cubicBezTo>
                    <a:pt x="0" y="368046"/>
                    <a:pt x="106088" y="474134"/>
                    <a:pt x="237067" y="474134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29369" cap="flat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>
                <a:solidFill>
                  <a:srgbClr val="92D050"/>
                </a:solidFill>
              </a:endParaRPr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id="{6536ECC3-9D2C-A107-FACE-DF5FD1534F56}"/>
                </a:ext>
              </a:extLst>
            </p:cNvPr>
            <p:cNvSpPr/>
            <p:nvPr/>
          </p:nvSpPr>
          <p:spPr>
            <a:xfrm>
              <a:off x="-42333" y="2395009"/>
              <a:ext cx="237066" cy="237066"/>
            </a:xfrm>
            <a:custGeom>
              <a:avLst/>
              <a:gdLst>
                <a:gd name="connsiteX0" fmla="*/ 118533 w 237066"/>
                <a:gd name="connsiteY0" fmla="*/ 237067 h 237066"/>
                <a:gd name="connsiteX1" fmla="*/ 237067 w 237066"/>
                <a:gd name="connsiteY1" fmla="*/ 118533 h 237066"/>
                <a:gd name="connsiteX2" fmla="*/ 118533 w 237066"/>
                <a:gd name="connsiteY2" fmla="*/ 0 h 237066"/>
                <a:gd name="connsiteX3" fmla="*/ 0 w 237066"/>
                <a:gd name="connsiteY3" fmla="*/ 118533 h 237066"/>
                <a:gd name="connsiteX4" fmla="*/ 118533 w 237066"/>
                <a:gd name="connsiteY4" fmla="*/ 237067 h 23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066" h="237066">
                  <a:moveTo>
                    <a:pt x="118533" y="237067"/>
                  </a:moveTo>
                  <a:cubicBezTo>
                    <a:pt x="184023" y="237067"/>
                    <a:pt x="237067" y="184023"/>
                    <a:pt x="237067" y="118533"/>
                  </a:cubicBezTo>
                  <a:cubicBezTo>
                    <a:pt x="237067" y="53044"/>
                    <a:pt x="184023" y="0"/>
                    <a:pt x="118533" y="0"/>
                  </a:cubicBezTo>
                  <a:cubicBezTo>
                    <a:pt x="53044" y="0"/>
                    <a:pt x="0" y="53044"/>
                    <a:pt x="0" y="118533"/>
                  </a:cubicBezTo>
                  <a:cubicBezTo>
                    <a:pt x="0" y="184023"/>
                    <a:pt x="53044" y="237067"/>
                    <a:pt x="118533" y="237067"/>
                  </a:cubicBezTo>
                  <a:close/>
                </a:path>
              </a:pathLst>
            </a:custGeom>
            <a:solidFill>
              <a:srgbClr val="FFFFFF"/>
            </a:solidFill>
            <a:ln w="29369" cap="flat">
              <a:solidFill>
                <a:srgbClr val="FFFF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id="{B5D1CD68-FEF1-77BD-0ECD-3EC03C2CA835}"/>
                </a:ext>
              </a:extLst>
            </p:cNvPr>
            <p:cNvSpPr/>
            <p:nvPr/>
          </p:nvSpPr>
          <p:spPr>
            <a:xfrm>
              <a:off x="46567" y="2483909"/>
              <a:ext cx="59266" cy="59266"/>
            </a:xfrm>
            <a:custGeom>
              <a:avLst/>
              <a:gdLst>
                <a:gd name="connsiteX0" fmla="*/ 29633 w 59266"/>
                <a:gd name="connsiteY0" fmla="*/ 59267 h 59266"/>
                <a:gd name="connsiteX1" fmla="*/ 59267 w 59266"/>
                <a:gd name="connsiteY1" fmla="*/ 29633 h 59266"/>
                <a:gd name="connsiteX2" fmla="*/ 29633 w 59266"/>
                <a:gd name="connsiteY2" fmla="*/ 0 h 59266"/>
                <a:gd name="connsiteX3" fmla="*/ 0 w 59266"/>
                <a:gd name="connsiteY3" fmla="*/ 29633 h 59266"/>
                <a:gd name="connsiteX4" fmla="*/ 29633 w 59266"/>
                <a:gd name="connsiteY4" fmla="*/ 59267 h 5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66" h="59266">
                  <a:moveTo>
                    <a:pt x="29633" y="59267"/>
                  </a:moveTo>
                  <a:cubicBezTo>
                    <a:pt x="45932" y="59267"/>
                    <a:pt x="59267" y="45932"/>
                    <a:pt x="59267" y="29633"/>
                  </a:cubicBezTo>
                  <a:cubicBezTo>
                    <a:pt x="59267" y="13335"/>
                    <a:pt x="45932" y="0"/>
                    <a:pt x="29633" y="0"/>
                  </a:cubicBezTo>
                  <a:cubicBezTo>
                    <a:pt x="13335" y="0"/>
                    <a:pt x="0" y="13335"/>
                    <a:pt x="0" y="29633"/>
                  </a:cubicBezTo>
                  <a:cubicBezTo>
                    <a:pt x="0" y="45932"/>
                    <a:pt x="13335" y="59267"/>
                    <a:pt x="29633" y="59267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46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647175DB-71CE-2BBC-346A-E52E97C94331}"/>
                </a:ext>
              </a:extLst>
            </p:cNvPr>
            <p:cNvSpPr/>
            <p:nvPr/>
          </p:nvSpPr>
          <p:spPr>
            <a:xfrm>
              <a:off x="76200" y="2217209"/>
              <a:ext cx="14816" cy="59266"/>
            </a:xfrm>
            <a:custGeom>
              <a:avLst/>
              <a:gdLst>
                <a:gd name="connsiteX0" fmla="*/ 0 w 14816"/>
                <a:gd name="connsiteY0" fmla="*/ 59267 h 59266"/>
                <a:gd name="connsiteX1" fmla="*/ 0 w 14816"/>
                <a:gd name="connsiteY1" fmla="*/ 0 h 5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16" h="59266">
                  <a:moveTo>
                    <a:pt x="0" y="59267"/>
                  </a:moveTo>
                  <a:lnTo>
                    <a:pt x="0" y="0"/>
                  </a:ln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id="{C8582E9B-305E-F681-F914-3B548CBFE423}"/>
                </a:ext>
              </a:extLst>
            </p:cNvPr>
            <p:cNvSpPr/>
            <p:nvPr/>
          </p:nvSpPr>
          <p:spPr>
            <a:xfrm>
              <a:off x="224367" y="2706159"/>
              <a:ext cx="59266" cy="103716"/>
            </a:xfrm>
            <a:custGeom>
              <a:avLst/>
              <a:gdLst>
                <a:gd name="connsiteX0" fmla="*/ 59267 w 59266"/>
                <a:gd name="connsiteY0" fmla="*/ 103717 h 103716"/>
                <a:gd name="connsiteX1" fmla="*/ 0 w 59266"/>
                <a:gd name="connsiteY1" fmla="*/ 0 h 103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266" h="103716">
                  <a:moveTo>
                    <a:pt x="59267" y="103717"/>
                  </a:moveTo>
                  <a:lnTo>
                    <a:pt x="0" y="0"/>
                  </a:ln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id="{DD10A86F-4C3A-6745-F5D9-4F70D6CB3253}"/>
                </a:ext>
              </a:extLst>
            </p:cNvPr>
            <p:cNvSpPr/>
            <p:nvPr/>
          </p:nvSpPr>
          <p:spPr>
            <a:xfrm>
              <a:off x="-131233" y="2706159"/>
              <a:ext cx="59267" cy="103716"/>
            </a:xfrm>
            <a:custGeom>
              <a:avLst/>
              <a:gdLst>
                <a:gd name="connsiteX0" fmla="*/ 59267 w 59267"/>
                <a:gd name="connsiteY0" fmla="*/ 0 h 103716"/>
                <a:gd name="connsiteX1" fmla="*/ 0 w 59267"/>
                <a:gd name="connsiteY1" fmla="*/ 103717 h 103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267" h="103716">
                  <a:moveTo>
                    <a:pt x="59267" y="0"/>
                  </a:moveTo>
                  <a:lnTo>
                    <a:pt x="0" y="103717"/>
                  </a:ln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3252BDA5-B3A6-59C4-26FC-41D68E7AD103}"/>
              </a:ext>
            </a:extLst>
          </p:cNvPr>
          <p:cNvGrpSpPr/>
          <p:nvPr/>
        </p:nvGrpSpPr>
        <p:grpSpPr>
          <a:xfrm>
            <a:off x="5499099" y="2313109"/>
            <a:ext cx="622300" cy="531165"/>
            <a:chOff x="-124618" y="2336800"/>
            <a:chExt cx="622300" cy="531165"/>
          </a:xfrm>
        </p:grpSpPr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id="{A4421203-0289-B756-51B0-043C852FCDCE}"/>
                </a:ext>
              </a:extLst>
            </p:cNvPr>
            <p:cNvSpPr/>
            <p:nvPr/>
          </p:nvSpPr>
          <p:spPr>
            <a:xfrm>
              <a:off x="107351" y="2570586"/>
              <a:ext cx="172484" cy="176507"/>
            </a:xfrm>
            <a:custGeom>
              <a:avLst/>
              <a:gdLst>
                <a:gd name="connsiteX0" fmla="*/ 172484 w 172484"/>
                <a:gd name="connsiteY0" fmla="*/ 0 h 176507"/>
                <a:gd name="connsiteX1" fmla="*/ 101901 w 172484"/>
                <a:gd name="connsiteY1" fmla="*/ 158411 h 176507"/>
                <a:gd name="connsiteX2" fmla="*/ 18098 w 172484"/>
                <a:gd name="connsiteY2" fmla="*/ 159873 h 176507"/>
                <a:gd name="connsiteX3" fmla="*/ 16634 w 172484"/>
                <a:gd name="connsiteY3" fmla="*/ 76070 h 176507"/>
                <a:gd name="connsiteX4" fmla="*/ 172484 w 172484"/>
                <a:gd name="connsiteY4" fmla="*/ 0 h 176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484" h="176507">
                  <a:moveTo>
                    <a:pt x="172484" y="0"/>
                  </a:moveTo>
                  <a:cubicBezTo>
                    <a:pt x="172484" y="0"/>
                    <a:pt x="124637" y="134866"/>
                    <a:pt x="101901" y="158411"/>
                  </a:cubicBezTo>
                  <a:cubicBezTo>
                    <a:pt x="79163" y="181956"/>
                    <a:pt x="41643" y="182611"/>
                    <a:pt x="18098" y="159873"/>
                  </a:cubicBezTo>
                  <a:cubicBezTo>
                    <a:pt x="-5449" y="137136"/>
                    <a:pt x="-6104" y="99617"/>
                    <a:pt x="16634" y="76070"/>
                  </a:cubicBezTo>
                  <a:cubicBezTo>
                    <a:pt x="39371" y="52525"/>
                    <a:pt x="172484" y="0"/>
                    <a:pt x="172484" y="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29369" cap="flat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id="{12214099-32F3-89AC-63CD-67EF2B1FCD1C}"/>
                </a:ext>
              </a:extLst>
            </p:cNvPr>
            <p:cNvSpPr/>
            <p:nvPr/>
          </p:nvSpPr>
          <p:spPr>
            <a:xfrm>
              <a:off x="-124618" y="2336800"/>
              <a:ext cx="622300" cy="531165"/>
            </a:xfrm>
            <a:custGeom>
              <a:avLst/>
              <a:gdLst>
                <a:gd name="connsiteX0" fmla="*/ 531166 w 622300"/>
                <a:gd name="connsiteY0" fmla="*/ 531166 h 531165"/>
                <a:gd name="connsiteX1" fmla="*/ 622300 w 622300"/>
                <a:gd name="connsiteY1" fmla="*/ 311150 h 531165"/>
                <a:gd name="connsiteX2" fmla="*/ 311150 w 622300"/>
                <a:gd name="connsiteY2" fmla="*/ 0 h 531165"/>
                <a:gd name="connsiteX3" fmla="*/ 0 w 622300"/>
                <a:gd name="connsiteY3" fmla="*/ 311150 h 531165"/>
                <a:gd name="connsiteX4" fmla="*/ 91134 w 622300"/>
                <a:gd name="connsiteY4" fmla="*/ 531166 h 53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2300" h="531165">
                  <a:moveTo>
                    <a:pt x="531166" y="531166"/>
                  </a:moveTo>
                  <a:cubicBezTo>
                    <a:pt x="587473" y="474859"/>
                    <a:pt x="622300" y="397072"/>
                    <a:pt x="622300" y="311150"/>
                  </a:cubicBezTo>
                  <a:cubicBezTo>
                    <a:pt x="622300" y="139306"/>
                    <a:pt x="482994" y="0"/>
                    <a:pt x="311150" y="0"/>
                  </a:cubicBezTo>
                  <a:cubicBezTo>
                    <a:pt x="139306" y="0"/>
                    <a:pt x="0" y="139306"/>
                    <a:pt x="0" y="311150"/>
                  </a:cubicBezTo>
                  <a:cubicBezTo>
                    <a:pt x="0" y="397072"/>
                    <a:pt x="34827" y="474859"/>
                    <a:pt x="91134" y="531166"/>
                  </a:cubicBez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4EE42CCB-765B-747D-B237-8AB1A911100D}"/>
                </a:ext>
              </a:extLst>
            </p:cNvPr>
            <p:cNvSpPr/>
            <p:nvPr/>
          </p:nvSpPr>
          <p:spPr>
            <a:xfrm>
              <a:off x="186532" y="2351616"/>
              <a:ext cx="14816" cy="59266"/>
            </a:xfrm>
            <a:custGeom>
              <a:avLst/>
              <a:gdLst>
                <a:gd name="connsiteX0" fmla="*/ 0 w 14816"/>
                <a:gd name="connsiteY0" fmla="*/ 0 h 59266"/>
                <a:gd name="connsiteX1" fmla="*/ 0 w 14816"/>
                <a:gd name="connsiteY1" fmla="*/ 59267 h 5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816" h="59266">
                  <a:moveTo>
                    <a:pt x="0" y="0"/>
                  </a:moveTo>
                  <a:lnTo>
                    <a:pt x="0" y="59267"/>
                  </a:ln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id="{325D8624-D44A-7157-1C66-B0D05709E913}"/>
                </a:ext>
              </a:extLst>
            </p:cNvPr>
            <p:cNvSpPr/>
            <p:nvPr/>
          </p:nvSpPr>
          <p:spPr>
            <a:xfrm>
              <a:off x="360432" y="2457438"/>
              <a:ext cx="46059" cy="37296"/>
            </a:xfrm>
            <a:custGeom>
              <a:avLst/>
              <a:gdLst>
                <a:gd name="connsiteX0" fmla="*/ 46059 w 46059"/>
                <a:gd name="connsiteY0" fmla="*/ 0 h 37296"/>
                <a:gd name="connsiteX1" fmla="*/ 0 w 46059"/>
                <a:gd name="connsiteY1" fmla="*/ 37297 h 3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059" h="37296">
                  <a:moveTo>
                    <a:pt x="46059" y="0"/>
                  </a:moveTo>
                  <a:lnTo>
                    <a:pt x="0" y="37297"/>
                  </a:ln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id="{AFC4EF9C-C761-9A89-2A2C-CC1F68FEBF58}"/>
                </a:ext>
              </a:extLst>
            </p:cNvPr>
            <p:cNvSpPr/>
            <p:nvPr/>
          </p:nvSpPr>
          <p:spPr>
            <a:xfrm>
              <a:off x="403222" y="2682517"/>
              <a:ext cx="57747" cy="13332"/>
            </a:xfrm>
            <a:custGeom>
              <a:avLst/>
              <a:gdLst>
                <a:gd name="connsiteX0" fmla="*/ 57748 w 57747"/>
                <a:gd name="connsiteY0" fmla="*/ 13332 h 13332"/>
                <a:gd name="connsiteX1" fmla="*/ 0 w 57747"/>
                <a:gd name="connsiteY1" fmla="*/ 0 h 13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747" h="13332">
                  <a:moveTo>
                    <a:pt x="57748" y="13332"/>
                  </a:moveTo>
                  <a:lnTo>
                    <a:pt x="0" y="0"/>
                  </a:ln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id="{F9943C1A-E4F9-7A4A-82CE-090D9C8A25A4}"/>
                </a:ext>
              </a:extLst>
            </p:cNvPr>
            <p:cNvSpPr/>
            <p:nvPr/>
          </p:nvSpPr>
          <p:spPr>
            <a:xfrm>
              <a:off x="-87911" y="2682517"/>
              <a:ext cx="57747" cy="13332"/>
            </a:xfrm>
            <a:custGeom>
              <a:avLst/>
              <a:gdLst>
                <a:gd name="connsiteX0" fmla="*/ 0 w 57747"/>
                <a:gd name="connsiteY0" fmla="*/ 13332 h 13332"/>
                <a:gd name="connsiteX1" fmla="*/ 57748 w 57747"/>
                <a:gd name="connsiteY1" fmla="*/ 0 h 13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747" h="13332">
                  <a:moveTo>
                    <a:pt x="0" y="13332"/>
                  </a:moveTo>
                  <a:lnTo>
                    <a:pt x="57748" y="0"/>
                  </a:ln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id="{13C5D224-6A83-9E43-CE22-763ED3AE5778}"/>
                </a:ext>
              </a:extLst>
            </p:cNvPr>
            <p:cNvSpPr/>
            <p:nvPr/>
          </p:nvSpPr>
          <p:spPr>
            <a:xfrm>
              <a:off x="-33426" y="2457437"/>
              <a:ext cx="46058" cy="37297"/>
            </a:xfrm>
            <a:custGeom>
              <a:avLst/>
              <a:gdLst>
                <a:gd name="connsiteX0" fmla="*/ 0 w 46058"/>
                <a:gd name="connsiteY0" fmla="*/ 0 h 37297"/>
                <a:gd name="connsiteX1" fmla="*/ 46059 w 46058"/>
                <a:gd name="connsiteY1" fmla="*/ 37298 h 37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058" h="37297">
                  <a:moveTo>
                    <a:pt x="0" y="0"/>
                  </a:moveTo>
                  <a:lnTo>
                    <a:pt x="46059" y="37298"/>
                  </a:ln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9AC551E0-AAD7-83E2-60BF-E2FC4982C00F}"/>
              </a:ext>
            </a:extLst>
          </p:cNvPr>
          <p:cNvGrpSpPr/>
          <p:nvPr/>
        </p:nvGrpSpPr>
        <p:grpSpPr>
          <a:xfrm>
            <a:off x="9076265" y="2298277"/>
            <a:ext cx="592667" cy="607483"/>
            <a:chOff x="11608329" y="2718092"/>
            <a:chExt cx="592667" cy="607483"/>
          </a:xfrm>
        </p:grpSpPr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6A6B22C1-B4B2-DF9E-CB46-4F493912A941}"/>
                </a:ext>
              </a:extLst>
            </p:cNvPr>
            <p:cNvSpPr/>
            <p:nvPr/>
          </p:nvSpPr>
          <p:spPr>
            <a:xfrm>
              <a:off x="11608329" y="3310759"/>
              <a:ext cx="592666" cy="14816"/>
            </a:xfrm>
            <a:custGeom>
              <a:avLst/>
              <a:gdLst>
                <a:gd name="connsiteX0" fmla="*/ 0 w 592666"/>
                <a:gd name="connsiteY0" fmla="*/ 0 h 14816"/>
                <a:gd name="connsiteX1" fmla="*/ 592667 w 592666"/>
                <a:gd name="connsiteY1" fmla="*/ 0 h 14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92666" h="14816">
                  <a:moveTo>
                    <a:pt x="0" y="0"/>
                  </a:moveTo>
                  <a:lnTo>
                    <a:pt x="592667" y="0"/>
                  </a:ln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id="{ECAE67A6-EB76-D33B-5BD2-7CCEFE362AB6}"/>
                </a:ext>
              </a:extLst>
            </p:cNvPr>
            <p:cNvSpPr/>
            <p:nvPr/>
          </p:nvSpPr>
          <p:spPr>
            <a:xfrm>
              <a:off x="11608329" y="3044059"/>
              <a:ext cx="118533" cy="177800"/>
            </a:xfrm>
            <a:custGeom>
              <a:avLst/>
              <a:gdLst>
                <a:gd name="connsiteX0" fmla="*/ 0 w 118533"/>
                <a:gd name="connsiteY0" fmla="*/ 0 h 177800"/>
                <a:gd name="connsiteX1" fmla="*/ 118533 w 118533"/>
                <a:gd name="connsiteY1" fmla="*/ 29633 h 177800"/>
                <a:gd name="connsiteX2" fmla="*/ 118533 w 118533"/>
                <a:gd name="connsiteY2" fmla="*/ 177800 h 177800"/>
                <a:gd name="connsiteX3" fmla="*/ 0 w 118533"/>
                <a:gd name="connsiteY3" fmla="*/ 177800 h 177800"/>
                <a:gd name="connsiteX4" fmla="*/ 0 w 118533"/>
                <a:gd name="connsiteY4" fmla="*/ 0 h 17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533" h="177800">
                  <a:moveTo>
                    <a:pt x="0" y="0"/>
                  </a:moveTo>
                  <a:lnTo>
                    <a:pt x="118533" y="29633"/>
                  </a:lnTo>
                  <a:lnTo>
                    <a:pt x="118533" y="177800"/>
                  </a:lnTo>
                  <a:lnTo>
                    <a:pt x="0" y="177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29369" cap="flat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4E70DDF5-EB33-66A5-A143-27712F6A07DC}"/>
                </a:ext>
              </a:extLst>
            </p:cNvPr>
            <p:cNvSpPr/>
            <p:nvPr/>
          </p:nvSpPr>
          <p:spPr>
            <a:xfrm>
              <a:off x="11845396" y="2955159"/>
              <a:ext cx="118533" cy="266700"/>
            </a:xfrm>
            <a:custGeom>
              <a:avLst/>
              <a:gdLst>
                <a:gd name="connsiteX0" fmla="*/ 0 w 118533"/>
                <a:gd name="connsiteY0" fmla="*/ 59267 h 266700"/>
                <a:gd name="connsiteX1" fmla="*/ 118533 w 118533"/>
                <a:gd name="connsiteY1" fmla="*/ 0 h 266700"/>
                <a:gd name="connsiteX2" fmla="*/ 118533 w 118533"/>
                <a:gd name="connsiteY2" fmla="*/ 266700 h 266700"/>
                <a:gd name="connsiteX3" fmla="*/ 0 w 118533"/>
                <a:gd name="connsiteY3" fmla="*/ 266700 h 266700"/>
                <a:gd name="connsiteX4" fmla="*/ 0 w 118533"/>
                <a:gd name="connsiteY4" fmla="*/ 59267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533" h="266700">
                  <a:moveTo>
                    <a:pt x="0" y="59267"/>
                  </a:moveTo>
                  <a:lnTo>
                    <a:pt x="118533" y="0"/>
                  </a:lnTo>
                  <a:lnTo>
                    <a:pt x="118533" y="266700"/>
                  </a:lnTo>
                  <a:lnTo>
                    <a:pt x="0" y="266700"/>
                  </a:lnTo>
                  <a:lnTo>
                    <a:pt x="0" y="59267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29369" cap="flat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id="{B25A8A89-5E8F-E27C-A718-90F31D35815F}"/>
                </a:ext>
              </a:extLst>
            </p:cNvPr>
            <p:cNvSpPr/>
            <p:nvPr/>
          </p:nvSpPr>
          <p:spPr>
            <a:xfrm>
              <a:off x="12082463" y="2836626"/>
              <a:ext cx="118533" cy="385233"/>
            </a:xfrm>
            <a:custGeom>
              <a:avLst/>
              <a:gdLst>
                <a:gd name="connsiteX0" fmla="*/ 0 w 118533"/>
                <a:gd name="connsiteY0" fmla="*/ 59267 h 385233"/>
                <a:gd name="connsiteX1" fmla="*/ 118533 w 118533"/>
                <a:gd name="connsiteY1" fmla="*/ 0 h 385233"/>
                <a:gd name="connsiteX2" fmla="*/ 118533 w 118533"/>
                <a:gd name="connsiteY2" fmla="*/ 385233 h 385233"/>
                <a:gd name="connsiteX3" fmla="*/ 0 w 118533"/>
                <a:gd name="connsiteY3" fmla="*/ 385233 h 385233"/>
                <a:gd name="connsiteX4" fmla="*/ 0 w 118533"/>
                <a:gd name="connsiteY4" fmla="*/ 59267 h 385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533" h="385233">
                  <a:moveTo>
                    <a:pt x="0" y="59267"/>
                  </a:moveTo>
                  <a:lnTo>
                    <a:pt x="118533" y="0"/>
                  </a:lnTo>
                  <a:lnTo>
                    <a:pt x="118533" y="385233"/>
                  </a:lnTo>
                  <a:lnTo>
                    <a:pt x="0" y="385233"/>
                  </a:lnTo>
                  <a:lnTo>
                    <a:pt x="0" y="59267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29369" cap="flat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BCA47337-AFE2-87AF-121C-BF99CC821983}"/>
                </a:ext>
              </a:extLst>
            </p:cNvPr>
            <p:cNvSpPr/>
            <p:nvPr/>
          </p:nvSpPr>
          <p:spPr>
            <a:xfrm>
              <a:off x="11608329" y="2718092"/>
              <a:ext cx="592666" cy="237066"/>
            </a:xfrm>
            <a:custGeom>
              <a:avLst/>
              <a:gdLst>
                <a:gd name="connsiteX0" fmla="*/ 0 w 592666"/>
                <a:gd name="connsiteY0" fmla="*/ 207433 h 237066"/>
                <a:gd name="connsiteX1" fmla="*/ 118533 w 592666"/>
                <a:gd name="connsiteY1" fmla="*/ 237067 h 237066"/>
                <a:gd name="connsiteX2" fmla="*/ 592667 w 592666"/>
                <a:gd name="connsiteY2" fmla="*/ 0 h 237066"/>
                <a:gd name="connsiteX3" fmla="*/ 444500 w 592666"/>
                <a:gd name="connsiteY3" fmla="*/ 0 h 23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2666" h="237066">
                  <a:moveTo>
                    <a:pt x="0" y="207433"/>
                  </a:moveTo>
                  <a:lnTo>
                    <a:pt x="118533" y="237067"/>
                  </a:lnTo>
                  <a:lnTo>
                    <a:pt x="592667" y="0"/>
                  </a:lnTo>
                  <a:lnTo>
                    <a:pt x="444500" y="0"/>
                  </a:lnTo>
                </a:path>
              </a:pathLst>
            </a:custGeom>
            <a:noFill/>
            <a:ln w="29369" cap="rnd">
              <a:solidFill>
                <a:schemeClr val="accent3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四、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304889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关键案例一｜圣诞与新年活动高压交付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793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在时间紧、范围大、协同复杂的条件下，完成四期活动稳定落地。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381000" y="1676400"/>
            <a:ext cx="11458099" cy="4095750"/>
            <a:chOff x="381000" y="1676400"/>
            <a:chExt cx="11458099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239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354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项目周期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380" y="2383155"/>
              <a:ext cx="266186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2025.11 - 2025.12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7715" y="27822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持续两个月、四期推进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28003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9718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833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一期上线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02280" y="2383155"/>
              <a:ext cx="171184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19 个工作日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15615" y="27822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高压周期下按时交付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048250" y="1771650"/>
              <a:ext cx="2038350" cy="1028700"/>
            </a:xfrm>
            <a:custGeom>
              <a:avLst/>
              <a:gdLst/>
              <a:ahLst/>
              <a:cxnLst/>
              <a:rect l="l" t="t" r="r" b="b"/>
              <a:pathLst>
                <a:path w="2038350" h="1028700">
                  <a:moveTo>
                    <a:pt x="133350" y="0"/>
                  </a:moveTo>
                  <a:lnTo>
                    <a:pt x="1905000" y="0"/>
                  </a:lnTo>
                  <a:cubicBezTo>
                    <a:pt x="1978647" y="0"/>
                    <a:pt x="2038350" y="59703"/>
                    <a:pt x="2038350" y="133350"/>
                  </a:cubicBezTo>
                  <a:lnTo>
                    <a:pt x="2038350" y="895350"/>
                  </a:lnTo>
                  <a:cubicBezTo>
                    <a:pt x="2038350" y="968997"/>
                    <a:pt x="1978647" y="1028700"/>
                    <a:pt x="190500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197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312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项目投入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50180" y="2383155"/>
              <a:ext cx="22593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4 后端 + 3 前端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63515" y="278225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多角色协同复杂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296150" y="1771650"/>
              <a:ext cx="4343400" cy="1028700"/>
            </a:xfrm>
            <a:custGeom>
              <a:avLst/>
              <a:gdLst/>
              <a:ahLst/>
              <a:cxnLst/>
              <a:rect l="l" t="t" r="r" b="b"/>
              <a:pathLst>
                <a:path w="4343400" h="1028700">
                  <a:moveTo>
                    <a:pt x="133350" y="0"/>
                  </a:moveTo>
                  <a:lnTo>
                    <a:pt x="4210050" y="0"/>
                  </a:lnTo>
                  <a:cubicBezTo>
                    <a:pt x="4283697" y="0"/>
                    <a:pt x="4343400" y="59703"/>
                    <a:pt x="4343400" y="133350"/>
                  </a:cubicBezTo>
                  <a:lnTo>
                    <a:pt x="4343400" y="895350"/>
                  </a:lnTo>
                  <a:cubicBezTo>
                    <a:pt x="4343400" y="968997"/>
                    <a:pt x="4283697" y="1028700"/>
                    <a:pt x="4210050" y="1028700"/>
                  </a:cubicBezTo>
                  <a:lnTo>
                    <a:pt x="133350" y="1028700"/>
                  </a:lnTo>
                  <a:cubicBezTo>
                    <a:pt x="59703" y="1028700"/>
                    <a:pt x="0" y="968997"/>
                    <a:pt x="0" y="895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467600" y="19240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95250" y="0"/>
                  </a:moveTo>
                  <a:lnTo>
                    <a:pt x="361950" y="0"/>
                  </a:lnTo>
                  <a:cubicBezTo>
                    <a:pt x="414555" y="0"/>
                    <a:pt x="457200" y="42645"/>
                    <a:pt x="457200" y="95250"/>
                  </a:cubicBezTo>
                  <a:lnTo>
                    <a:pt x="457200" y="361950"/>
                  </a:lnTo>
                  <a:cubicBezTo>
                    <a:pt x="457200" y="414555"/>
                    <a:pt x="414555" y="457200"/>
                    <a:pt x="3619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79105" y="19688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个人角色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98080" y="2383155"/>
              <a:ext cx="33220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项目负责人 + 核心研发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1415" y="2782252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同时承担节奏统筹和关键研发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55245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5245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9615" y="3353752"/>
              <a:ext cx="7754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SITUATION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2948" y="36209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高压项目背景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6758" y="40343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需求范围大、时间紧、业务目标强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6758" y="42819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活动需兼顾拉新、活跃和转化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331470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331470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491865" y="335375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TASK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85198" y="36209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承担什么责任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89008" y="40343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拆解发布节奏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89008" y="428196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协调前后端与业务方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89008" y="45296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承担关键模块研发和风险兜底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076950" y="3105150"/>
              <a:ext cx="2571750" cy="1943100"/>
            </a:xfrm>
            <a:custGeom>
              <a:avLst/>
              <a:gdLst/>
              <a:ahLst/>
              <a:cxnLst/>
              <a:rect l="l" t="t" r="r" b="b"/>
              <a:pathLst>
                <a:path w="2571750" h="194310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1809750"/>
                  </a:lnTo>
                  <a:cubicBezTo>
                    <a:pt x="2571750" y="1883397"/>
                    <a:pt x="2512047" y="1943100"/>
                    <a:pt x="24384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076950" y="31051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54115" y="3353752"/>
              <a:ext cx="549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ACTION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7448" y="36209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关键动作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51258" y="40343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识别核心链路和里程碑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51258" y="42819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分期推进联调、提测、上线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51258" y="452961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发现问题后快速协调修复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8839200" y="3105150"/>
              <a:ext cx="2800350" cy="1943100"/>
            </a:xfrm>
            <a:custGeom>
              <a:avLst/>
              <a:gdLst/>
              <a:ahLst/>
              <a:cxnLst/>
              <a:rect l="l" t="t" r="r" b="b"/>
              <a:pathLst>
                <a:path w="2800350" h="1943100">
                  <a:moveTo>
                    <a:pt x="133350" y="0"/>
                  </a:moveTo>
                  <a:lnTo>
                    <a:pt x="2667000" y="0"/>
                  </a:lnTo>
                  <a:cubicBezTo>
                    <a:pt x="2740647" y="0"/>
                    <a:pt x="2800350" y="59703"/>
                    <a:pt x="2800350" y="133350"/>
                  </a:cubicBezTo>
                  <a:lnTo>
                    <a:pt x="2800350" y="1809750"/>
                  </a:lnTo>
                  <a:cubicBezTo>
                    <a:pt x="2800350" y="1883397"/>
                    <a:pt x="2740647" y="1943100"/>
                    <a:pt x="266700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8839200" y="3105150"/>
              <a:ext cx="2800350" cy="76200"/>
            </a:xfrm>
            <a:custGeom>
              <a:avLst/>
              <a:gdLst/>
              <a:ahLst/>
              <a:cxnLst/>
              <a:rect l="l" t="t" r="r" b="b"/>
              <a:pathLst>
                <a:path w="2800350" h="76200">
                  <a:moveTo>
                    <a:pt x="38100" y="0"/>
                  </a:moveTo>
                  <a:lnTo>
                    <a:pt x="2762250" y="0"/>
                  </a:lnTo>
                  <a:cubicBezTo>
                    <a:pt x="2783292" y="0"/>
                    <a:pt x="2800350" y="17058"/>
                    <a:pt x="2800350" y="38100"/>
                  </a:cubicBezTo>
                  <a:lnTo>
                    <a:pt x="2800350" y="38100"/>
                  </a:lnTo>
                  <a:cubicBezTo>
                    <a:pt x="2800350" y="59142"/>
                    <a:pt x="2783292" y="76200"/>
                    <a:pt x="2762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D99E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016365" y="3353752"/>
              <a:ext cx="558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9D99E"/>
                  </a:solidFill>
                  <a:latin typeface="Arial"/>
                  <a:ea typeface="Microsoft YaHei"/>
                  <a:cs typeface="Arial"/>
                </a:rPr>
                <a:t>RESULT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09698" y="36209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最终结果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13508" y="4034314"/>
              <a:ext cx="18572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12.23 完成第四期发布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13508" y="4281964"/>
              <a:ext cx="27604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活动拉新 1992 人、参与 16045 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13508" y="45296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完成线上问题快速修复与协同兜底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69" name="Rectangle 6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08622" y="6578441"/>
              <a:ext cx="32922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project case blocks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五、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7241056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关键案例二｜规则引擎从0到1独立建设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2863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000" y="1676400"/>
            <a:ext cx="11466434" cy="4095750"/>
            <a:chOff x="381000" y="1676400"/>
            <a:chExt cx="11466434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866900"/>
              <a:ext cx="11087100" cy="1066800"/>
            </a:xfrm>
            <a:custGeom>
              <a:avLst/>
              <a:gdLst/>
              <a:ahLst/>
              <a:cxnLst/>
              <a:rect l="l" t="t" r="r" b="b"/>
              <a:pathLst>
                <a:path w="11087100" h="106680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914400"/>
                  </a:lnTo>
                  <a:cubicBezTo>
                    <a:pt x="11087100" y="998568"/>
                    <a:pt x="11018868" y="1066800"/>
                    <a:pt x="10934700" y="1066800"/>
                  </a:cubicBezTo>
                  <a:lnTo>
                    <a:pt x="152400" y="1066800"/>
                  </a:lnTo>
                  <a:cubicBezTo>
                    <a:pt x="68232" y="1066800"/>
                    <a:pt x="0" y="998568"/>
                    <a:pt x="0" y="914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3435" y="2056448"/>
              <a:ext cx="96187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从原型、文档到系统实现形成完整闭环，证明独立建设复杂系统的能力。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1055" y="2540318"/>
              <a:ext cx="49634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系统支持调用集、规则链、规则测试执行和多环境管理。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55245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5245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9615" y="3525202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294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原型设计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6758" y="420576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自绘原型交互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6758" y="44534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在方案阶段提前定义边界与流程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316230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16230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3946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3279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需求文档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36608" y="420576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自编管理台需求文档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36608" y="44534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降低后续协作理解偏差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772150" y="3276600"/>
              <a:ext cx="2381250" cy="1771650"/>
            </a:xfrm>
            <a:custGeom>
              <a:avLst/>
              <a:gdLst/>
              <a:ahLst/>
              <a:cxnLst/>
              <a:rect l="l" t="t" r="r" b="b"/>
              <a:pathLst>
                <a:path w="2381250" h="1771650">
                  <a:moveTo>
                    <a:pt x="133350" y="0"/>
                  </a:moveTo>
                  <a:lnTo>
                    <a:pt x="2247900" y="0"/>
                  </a:lnTo>
                  <a:cubicBezTo>
                    <a:pt x="2321547" y="0"/>
                    <a:pt x="2381250" y="59703"/>
                    <a:pt x="2381250" y="133350"/>
                  </a:cubicBezTo>
                  <a:lnTo>
                    <a:pt x="2381250" y="1638300"/>
                  </a:lnTo>
                  <a:cubicBezTo>
                    <a:pt x="2381250" y="1711947"/>
                    <a:pt x="2321547" y="1771650"/>
                    <a:pt x="22479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772150" y="327660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4931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4264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系统实现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46458" y="420576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独立实现规则引擎系统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46458" y="445341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完成管理台和执行能力建设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382000" y="3276600"/>
              <a:ext cx="3257550" cy="1771650"/>
            </a:xfrm>
            <a:custGeom>
              <a:avLst/>
              <a:gdLst/>
              <a:ahLst/>
              <a:cxnLst/>
              <a:rect l="l" t="t" r="r" b="b"/>
              <a:pathLst>
                <a:path w="3257550" h="1771650">
                  <a:moveTo>
                    <a:pt x="133350" y="0"/>
                  </a:moveTo>
                  <a:lnTo>
                    <a:pt x="3124200" y="0"/>
                  </a:lnTo>
                  <a:cubicBezTo>
                    <a:pt x="3197847" y="0"/>
                    <a:pt x="3257550" y="59703"/>
                    <a:pt x="3257550" y="133350"/>
                  </a:cubicBezTo>
                  <a:lnTo>
                    <a:pt x="3257550" y="1638300"/>
                  </a:lnTo>
                  <a:cubicBezTo>
                    <a:pt x="3257550" y="1711947"/>
                    <a:pt x="3197847" y="1771650"/>
                    <a:pt x="312420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382000" y="3276600"/>
              <a:ext cx="3257550" cy="76200"/>
            </a:xfrm>
            <a:custGeom>
              <a:avLst/>
              <a:gdLst/>
              <a:ahLst/>
              <a:cxnLst/>
              <a:rect l="l" t="t" r="r" b="b"/>
              <a:pathLst>
                <a:path w="3257550" h="76200">
                  <a:moveTo>
                    <a:pt x="38100" y="0"/>
                  </a:moveTo>
                  <a:lnTo>
                    <a:pt x="3219450" y="0"/>
                  </a:lnTo>
                  <a:cubicBezTo>
                    <a:pt x="3240492" y="0"/>
                    <a:pt x="3257550" y="17058"/>
                    <a:pt x="3257550" y="38100"/>
                  </a:cubicBezTo>
                  <a:lnTo>
                    <a:pt x="3257550" y="38100"/>
                  </a:lnTo>
                  <a:cubicBezTo>
                    <a:pt x="3257550" y="59142"/>
                    <a:pt x="3240492" y="76200"/>
                    <a:pt x="32194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D99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59165" y="35252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9D99E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52498" y="37923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价值结论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56308" y="4205764"/>
              <a:ext cx="31980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从需求承接升级为方案定义与独立交付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56308" y="4453414"/>
              <a:ext cx="329112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体现更强的抽象设计和 ownership 能力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9" name="Rectangle 4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8622" y="6578441"/>
              <a:ext cx="34489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system build sequence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六、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6028230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关键案例三｜优化与平台化建设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04145" y="5086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02 RESULTS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不只完成需求，更持续把一次性交付升级成可复用能力。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43100"/>
              <a:ext cx="3390900" cy="2952750"/>
            </a:xfrm>
            <a:custGeom>
              <a:avLst/>
              <a:gdLst/>
              <a:ahLst/>
              <a:cxnLst/>
              <a:rect l="l" t="t" r="r" b="b"/>
              <a:pathLst>
                <a:path w="3390900" h="2952750">
                  <a:moveTo>
                    <a:pt x="133350" y="0"/>
                  </a:moveTo>
                  <a:lnTo>
                    <a:pt x="3257550" y="0"/>
                  </a:lnTo>
                  <a:cubicBezTo>
                    <a:pt x="3331197" y="0"/>
                    <a:pt x="3390900" y="59703"/>
                    <a:pt x="3390900" y="133350"/>
                  </a:cubicBezTo>
                  <a:lnTo>
                    <a:pt x="3390900" y="2819400"/>
                  </a:lnTo>
                  <a:cubicBezTo>
                    <a:pt x="3390900" y="2893047"/>
                    <a:pt x="3331197" y="2952750"/>
                    <a:pt x="32575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431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CASE 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458879"/>
              <a:ext cx="152541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CRM 查询优化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8722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问题：后台查询接口响应慢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199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动作：定位瓶颈并重构查询链路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367564"/>
              <a:ext cx="15407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结果：2s → 1s以下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6758" y="36152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价值：直接提升运营侧使用效率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400550" y="1943100"/>
              <a:ext cx="3390900" cy="2952750"/>
            </a:xfrm>
            <a:custGeom>
              <a:avLst/>
              <a:gdLst/>
              <a:ahLst/>
              <a:cxnLst/>
              <a:rect l="l" t="t" r="r" b="b"/>
              <a:pathLst>
                <a:path w="3390900" h="2952750">
                  <a:moveTo>
                    <a:pt x="133350" y="0"/>
                  </a:moveTo>
                  <a:lnTo>
                    <a:pt x="3257550" y="0"/>
                  </a:lnTo>
                  <a:cubicBezTo>
                    <a:pt x="3331197" y="0"/>
                    <a:pt x="3390900" y="59703"/>
                    <a:pt x="3390900" y="133350"/>
                  </a:cubicBezTo>
                  <a:lnTo>
                    <a:pt x="3390900" y="2819400"/>
                  </a:lnTo>
                  <a:cubicBezTo>
                    <a:pt x="3390900" y="2893047"/>
                    <a:pt x="3331197" y="2952750"/>
                    <a:pt x="32575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400550" y="1943100"/>
              <a:ext cx="3390900" cy="76200"/>
            </a:xfrm>
            <a:custGeom>
              <a:avLst/>
              <a:gdLst/>
              <a:ahLst/>
              <a:cxnLst/>
              <a:rect l="l" t="t" r="r" b="b"/>
              <a:pathLst>
                <a:path w="3390900" h="76200">
                  <a:moveTo>
                    <a:pt x="38100" y="0"/>
                  </a:moveTo>
                  <a:lnTo>
                    <a:pt x="3352800" y="0"/>
                  </a:lnTo>
                  <a:cubicBezTo>
                    <a:pt x="3373842" y="0"/>
                    <a:pt x="3390900" y="17058"/>
                    <a:pt x="3390900" y="38100"/>
                  </a:cubicBezTo>
                  <a:lnTo>
                    <a:pt x="3390900" y="38100"/>
                  </a:lnTo>
                  <a:cubicBezTo>
                    <a:pt x="3390900" y="59142"/>
                    <a:pt x="3373842" y="76200"/>
                    <a:pt x="33528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777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CASE 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1048" y="245887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签到重构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4858" y="28722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问题：活动需求重复开发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74858" y="31199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动作：抽象为标准配置化能力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74858" y="33675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结果：后端无需每次重复开发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74858" y="36152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价值：提升需求响应效率与稳定性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8248650" y="1943100"/>
              <a:ext cx="3200400" cy="2952750"/>
            </a:xfrm>
            <a:custGeom>
              <a:avLst/>
              <a:gdLst/>
              <a:ahLst/>
              <a:cxnLst/>
              <a:rect l="l" t="t" r="r" b="b"/>
              <a:pathLst>
                <a:path w="3200400" h="2952750">
                  <a:moveTo>
                    <a:pt x="133350" y="0"/>
                  </a:moveTo>
                  <a:lnTo>
                    <a:pt x="3067050" y="0"/>
                  </a:lnTo>
                  <a:cubicBezTo>
                    <a:pt x="3140697" y="0"/>
                    <a:pt x="3200400" y="59703"/>
                    <a:pt x="3200400" y="133350"/>
                  </a:cubicBezTo>
                  <a:lnTo>
                    <a:pt x="3200400" y="2819400"/>
                  </a:lnTo>
                  <a:cubicBezTo>
                    <a:pt x="3200400" y="2893047"/>
                    <a:pt x="3140697" y="2952750"/>
                    <a:pt x="3067050" y="2952750"/>
                  </a:cubicBezTo>
                  <a:lnTo>
                    <a:pt x="133350" y="2952750"/>
                  </a:lnTo>
                  <a:cubicBezTo>
                    <a:pt x="59703" y="2952750"/>
                    <a:pt x="0" y="2893047"/>
                    <a:pt x="0" y="2819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248650" y="1943100"/>
              <a:ext cx="3200400" cy="76200"/>
            </a:xfrm>
            <a:custGeom>
              <a:avLst/>
              <a:gdLst/>
              <a:ahLst/>
              <a:cxnLst/>
              <a:rect l="l" t="t" r="r" b="b"/>
              <a:pathLst>
                <a:path w="3200400" h="76200">
                  <a:moveTo>
                    <a:pt x="38100" y="0"/>
                  </a:moveTo>
                  <a:lnTo>
                    <a:pt x="3162300" y="0"/>
                  </a:lnTo>
                  <a:cubicBezTo>
                    <a:pt x="3183342" y="0"/>
                    <a:pt x="3200400" y="17058"/>
                    <a:pt x="3200400" y="38100"/>
                  </a:cubicBezTo>
                  <a:lnTo>
                    <a:pt x="3200400" y="38100"/>
                  </a:lnTo>
                  <a:cubicBezTo>
                    <a:pt x="3200400" y="59142"/>
                    <a:pt x="3183342" y="76200"/>
                    <a:pt x="31623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25815" y="2191702"/>
              <a:ext cx="517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CASE 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19148" y="245887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转盘配置化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22958" y="2872264"/>
              <a:ext cx="25276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问题：33 个子类散落在实现中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22958" y="31199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动作：收敛为配置组合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2958" y="3367564"/>
              <a:ext cx="2108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结果：新增活动 1 天 → 2h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2958" y="36152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价值：持续降低重复研发成本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552450" y="5143500"/>
              <a:ext cx="10896600" cy="419100"/>
            </a:xfrm>
            <a:custGeom>
              <a:avLst/>
              <a:gdLst/>
              <a:ahLst/>
              <a:cxnLst/>
              <a:rect l="l" t="t" r="r" b="b"/>
              <a:pathLst>
                <a:path w="10896600" h="419100">
                  <a:moveTo>
                    <a:pt x="114300" y="0"/>
                  </a:moveTo>
                  <a:lnTo>
                    <a:pt x="10782300" y="0"/>
                  </a:lnTo>
                  <a:cubicBezTo>
                    <a:pt x="10845426" y="0"/>
                    <a:pt x="10896600" y="51174"/>
                    <a:pt x="10896600" y="114300"/>
                  </a:cubicBezTo>
                  <a:lnTo>
                    <a:pt x="10896600" y="304800"/>
                  </a:lnTo>
                  <a:cubicBezTo>
                    <a:pt x="10896600" y="367926"/>
                    <a:pt x="10845426" y="419100"/>
                    <a:pt x="10782300" y="419100"/>
                  </a:cubicBezTo>
                  <a:lnTo>
                    <a:pt x="114300" y="419100"/>
                  </a:lnTo>
                  <a:cubicBezTo>
                    <a:pt x="51174" y="419100"/>
                    <a:pt x="0" y="367926"/>
                    <a:pt x="0" y="304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6B8E00">
                <a:alpha val="6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2950" y="5248275"/>
              <a:ext cx="80891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通过性能优化、架构重构和配置化设计，把一次性交付持续升级为可复用能力。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8" name="Rectangle 4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8622" y="6578441"/>
              <a:ext cx="35935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improvement comparison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七、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900464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个人贡献与方法沉淀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62388" y="508635"/>
              <a:ext cx="1292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03 EXTRA VALUE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3643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1000" y="1676400"/>
            <a:ext cx="11458099" cy="4095750"/>
            <a:chOff x="381000" y="1676400"/>
            <a:chExt cx="11458099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48852"/>
              <a:ext cx="533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沉淀 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新人指引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2941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编写《后端研发新人指引》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7706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帮助新同学更快理解环境、流程和协作方式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31470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31470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49186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沉淀 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85198" y="2516029"/>
              <a:ext cx="104235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工程 SOP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89008" y="2929414"/>
              <a:ext cx="1922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梳理新增工程应用 SOP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89008" y="3177064"/>
              <a:ext cx="15500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梳理上线应用 SOP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89008" y="342471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降低重复沟通成本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076950" y="2000250"/>
              <a:ext cx="2571750" cy="2305050"/>
            </a:xfrm>
            <a:custGeom>
              <a:avLst/>
              <a:gdLst/>
              <a:ahLst/>
              <a:cxnLst/>
              <a:rect l="l" t="t" r="r" b="b"/>
              <a:pathLst>
                <a:path w="2571750" h="2305050">
                  <a:moveTo>
                    <a:pt x="133350" y="0"/>
                  </a:moveTo>
                  <a:lnTo>
                    <a:pt x="2438400" y="0"/>
                  </a:lnTo>
                  <a:cubicBezTo>
                    <a:pt x="2512047" y="0"/>
                    <a:pt x="2571750" y="59703"/>
                    <a:pt x="2571750" y="133350"/>
                  </a:cubicBezTo>
                  <a:lnTo>
                    <a:pt x="2571750" y="2171700"/>
                  </a:lnTo>
                  <a:cubicBezTo>
                    <a:pt x="2571750" y="2245347"/>
                    <a:pt x="2512047" y="2305050"/>
                    <a:pt x="24384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076950" y="2000250"/>
              <a:ext cx="2571750" cy="76200"/>
            </a:xfrm>
            <a:custGeom>
              <a:avLst/>
              <a:gdLst/>
              <a:ahLst/>
              <a:cxnLst/>
              <a:rect l="l" t="t" r="r" b="b"/>
              <a:pathLst>
                <a:path w="2571750" h="76200">
                  <a:moveTo>
                    <a:pt x="38100" y="0"/>
                  </a:moveTo>
                  <a:lnTo>
                    <a:pt x="2533650" y="0"/>
                  </a:lnTo>
                  <a:cubicBezTo>
                    <a:pt x="2554692" y="0"/>
                    <a:pt x="2571750" y="17058"/>
                    <a:pt x="2571750" y="38100"/>
                  </a:cubicBezTo>
                  <a:lnTo>
                    <a:pt x="2571750" y="38100"/>
                  </a:lnTo>
                  <a:cubicBezTo>
                    <a:pt x="2571750" y="59142"/>
                    <a:pt x="2554692" y="76200"/>
                    <a:pt x="2533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4D7E2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5411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D7E2E"/>
                  </a:solidFill>
                  <a:latin typeface="Arial"/>
                  <a:ea typeface="Microsoft YaHei"/>
                  <a:cs typeface="Arial"/>
                </a:rPr>
                <a:t>沉淀 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47448" y="2516029"/>
              <a:ext cx="128388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AI 协同研发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51258" y="2929414"/>
              <a:ext cx="40266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在需求分析、文档整理、代码辅助中实践 AI 方法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51258" y="31770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提升信息组织和研发效率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839200" y="2000250"/>
              <a:ext cx="2800350" cy="2305050"/>
            </a:xfrm>
            <a:custGeom>
              <a:avLst/>
              <a:gdLst/>
              <a:ahLst/>
              <a:cxnLst/>
              <a:rect l="l" t="t" r="r" b="b"/>
              <a:pathLst>
                <a:path w="2800350" h="2305050">
                  <a:moveTo>
                    <a:pt x="133350" y="0"/>
                  </a:moveTo>
                  <a:lnTo>
                    <a:pt x="2667000" y="0"/>
                  </a:lnTo>
                  <a:cubicBezTo>
                    <a:pt x="2740647" y="0"/>
                    <a:pt x="2800350" y="59703"/>
                    <a:pt x="2800350" y="133350"/>
                  </a:cubicBezTo>
                  <a:lnTo>
                    <a:pt x="2800350" y="2171700"/>
                  </a:lnTo>
                  <a:cubicBezTo>
                    <a:pt x="2800350" y="2245347"/>
                    <a:pt x="2740647" y="2305050"/>
                    <a:pt x="2667000" y="2305050"/>
                  </a:cubicBezTo>
                  <a:lnTo>
                    <a:pt x="133350" y="2305050"/>
                  </a:lnTo>
                  <a:cubicBezTo>
                    <a:pt x="59703" y="2305050"/>
                    <a:pt x="0" y="2245347"/>
                    <a:pt x="0" y="2171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839200" y="2000250"/>
              <a:ext cx="2800350" cy="76200"/>
            </a:xfrm>
            <a:custGeom>
              <a:avLst/>
              <a:gdLst/>
              <a:ahLst/>
              <a:cxnLst/>
              <a:rect l="l" t="t" r="r" b="b"/>
              <a:pathLst>
                <a:path w="2800350" h="76200">
                  <a:moveTo>
                    <a:pt x="38100" y="0"/>
                  </a:moveTo>
                  <a:lnTo>
                    <a:pt x="2762250" y="0"/>
                  </a:lnTo>
                  <a:cubicBezTo>
                    <a:pt x="2783292" y="0"/>
                    <a:pt x="2800350" y="17058"/>
                    <a:pt x="2800350" y="38100"/>
                  </a:cubicBezTo>
                  <a:lnTo>
                    <a:pt x="2800350" y="38100"/>
                  </a:lnTo>
                  <a:cubicBezTo>
                    <a:pt x="2800350" y="59142"/>
                    <a:pt x="2783292" y="76200"/>
                    <a:pt x="27622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B9D99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16365" y="2248852"/>
              <a:ext cx="574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9D99E"/>
                  </a:solidFill>
                  <a:latin typeface="Arial"/>
                  <a:ea typeface="Microsoft YaHei"/>
                  <a:cs typeface="Arial"/>
                </a:rPr>
                <a:t>沉淀 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9698" y="2516029"/>
              <a:ext cx="10061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团队价值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13508" y="29294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把个人经验沉淀成团队可复用资产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13508" y="3177064"/>
              <a:ext cx="2425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降低 onboarding 和交接成本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52450" y="4629150"/>
              <a:ext cx="11087100" cy="781050"/>
            </a:xfrm>
            <a:custGeom>
              <a:avLst/>
              <a:gdLst/>
              <a:ahLst/>
              <a:cxnLst/>
              <a:rect l="l" t="t" r="r" b="b"/>
              <a:pathLst>
                <a:path w="11087100" h="781050">
                  <a:moveTo>
                    <a:pt x="152400" y="0"/>
                  </a:moveTo>
                  <a:lnTo>
                    <a:pt x="10934700" y="0"/>
                  </a:lnTo>
                  <a:cubicBezTo>
                    <a:pt x="11018868" y="0"/>
                    <a:pt x="11087100" y="68232"/>
                    <a:pt x="11087100" y="152400"/>
                  </a:cubicBezTo>
                  <a:lnTo>
                    <a:pt x="11087100" y="628650"/>
                  </a:lnTo>
                  <a:cubicBezTo>
                    <a:pt x="11087100" y="712818"/>
                    <a:pt x="11018868" y="781050"/>
                    <a:pt x="10934700" y="781050"/>
                  </a:cubicBezTo>
                  <a:lnTo>
                    <a:pt x="152400" y="781050"/>
                  </a:lnTo>
                  <a:cubicBezTo>
                    <a:pt x="68232" y="781050"/>
                    <a:pt x="0" y="712818"/>
                    <a:pt x="0" y="6286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6FBE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5338" y="4845844"/>
              <a:ext cx="1068645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在项目交付之外，主动补位团队机制与知识沉淀，让经验可以复制、方法可以复用。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49" name="Rectangle 49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8622" y="6578441"/>
              <a:ext cx="32561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contribution cards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47129" y="6316028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八、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304935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不足与提升计划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62388" y="508635"/>
              <a:ext cx="12923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03 EXTRA VALUE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已识别在量化、业务纵深和团队级规范方面的提升空间。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81000" y="1676400"/>
            <a:ext cx="11459528" cy="4095750"/>
            <a:chOff x="381000" y="1676400"/>
            <a:chExt cx="11459528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6215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6215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5348" y="21350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结果量化不足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52850" y="21431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提前定义效果指标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4158" y="2167414"/>
              <a:ext cx="52463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在项目开始阶段同步效果口径，避免复盘时只有过程没有结果。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52450" y="312420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52450" y="312420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5348" y="329707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业务纵深不足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52850" y="3305175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系统梳理会员与营销链路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94158" y="3329464"/>
              <a:ext cx="4315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不只完成模块交付，还进一步补足业务全链路理解。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52450" y="4286250"/>
              <a:ext cx="11087100" cy="971550"/>
            </a:xfrm>
            <a:custGeom>
              <a:avLst/>
              <a:gdLst/>
              <a:ahLst/>
              <a:cxnLst/>
              <a:rect l="l" t="t" r="r" b="b"/>
              <a:pathLst>
                <a:path w="11087100" h="971550">
                  <a:moveTo>
                    <a:pt x="133350" y="0"/>
                  </a:moveTo>
                  <a:lnTo>
                    <a:pt x="10953750" y="0"/>
                  </a:lnTo>
                  <a:cubicBezTo>
                    <a:pt x="11027397" y="0"/>
                    <a:pt x="11087100" y="59703"/>
                    <a:pt x="11087100" y="133350"/>
                  </a:cubicBezTo>
                  <a:lnTo>
                    <a:pt x="11087100" y="838200"/>
                  </a:lnTo>
                  <a:cubicBezTo>
                    <a:pt x="11087100" y="911847"/>
                    <a:pt x="11027397" y="971550"/>
                    <a:pt x="109537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52450" y="4286250"/>
              <a:ext cx="133350" cy="971550"/>
            </a:xfrm>
            <a:custGeom>
              <a:avLst/>
              <a:gdLst/>
              <a:ahLst/>
              <a:cxnLst/>
              <a:rect l="l" t="t" r="r" b="b"/>
              <a:pathLst>
                <a:path w="133350" h="971550">
                  <a:moveTo>
                    <a:pt x="66675" y="0"/>
                  </a:moveTo>
                  <a:lnTo>
                    <a:pt x="66675" y="0"/>
                  </a:lnTo>
                  <a:cubicBezTo>
                    <a:pt x="103499" y="0"/>
                    <a:pt x="133350" y="29851"/>
                    <a:pt x="133350" y="66675"/>
                  </a:cubicBezTo>
                  <a:lnTo>
                    <a:pt x="133350" y="904875"/>
                  </a:lnTo>
                  <a:cubicBezTo>
                    <a:pt x="133350" y="941699"/>
                    <a:pt x="103499" y="971550"/>
                    <a:pt x="66675" y="971550"/>
                  </a:cubicBezTo>
                  <a:lnTo>
                    <a:pt x="66675" y="971550"/>
                  </a:lnTo>
                  <a:cubicBezTo>
                    <a:pt x="29851" y="971550"/>
                    <a:pt x="0" y="941699"/>
                    <a:pt x="0" y="904875"/>
                  </a:cubicBezTo>
                  <a:lnTo>
                    <a:pt x="0" y="66675"/>
                  </a:lnTo>
                  <a:cubicBezTo>
                    <a:pt x="0" y="29851"/>
                    <a:pt x="29851" y="0"/>
                    <a:pt x="66675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5348" y="445912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AI 规范沉淀不足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52850" y="4467225"/>
              <a:ext cx="33620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建设项目级 context 和协作规范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94158" y="4491514"/>
              <a:ext cx="4315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把个人实践沉淀成团队可复用的方法论和协作约束。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7" name="Rectangle 37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622" y="6578441"/>
              <a:ext cx="32260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improvement rows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167256" y="6316028"/>
              <a:ext cx="1635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266700" y="262890"/>
            <a:ext cx="11360734" cy="470535"/>
            <a:chOff x="266700" y="262890"/>
            <a:chExt cx="11360734" cy="470535"/>
          </a:xfrm>
        </p:grpSpPr>
        <p:sp>
          <p:nvSpPr>
            <p:cNvPr id="3" name="Rectangle 3"/>
            <p:cNvSpPr/>
            <p:nvPr/>
          </p:nvSpPr>
          <p:spPr>
            <a:xfrm>
              <a:off x="323850" y="266700"/>
              <a:ext cx="4191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819150" y="266700"/>
              <a:ext cx="76200" cy="333375"/>
            </a:xfrm>
            <a:prstGeom prst="rect">
              <a:avLst/>
            </a:prstGeom>
            <a:solidFill>
              <a:srgbClr val="92D050"/>
            </a:solidFill>
            <a:ln w="14288">
              <a:solidFill>
                <a:srgbClr val="85BB05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66700" y="72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6496050" y="0"/>
                  </a:lnTo>
                </a:path>
              </a:pathLst>
            </a:custGeom>
            <a:noFill/>
            <a:ln w="33338">
              <a:solidFill>
                <a:srgbClr val="92D05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934200" y="72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410450" y="72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33338">
              <a:solidFill>
                <a:srgbClr val="7F7F7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87990" y="262890"/>
              <a:ext cx="10394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RECRUIT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4882" y="338614"/>
            <a:ext cx="10289858" cy="573405"/>
            <a:chOff x="964882" y="338614"/>
            <a:chExt cx="10289858" cy="573405"/>
          </a:xfrm>
        </p:grpSpPr>
        <p:sp>
          <p:nvSpPr>
            <p:cNvPr id="10" name="TextBox 10"/>
            <p:cNvSpPr txBox="1"/>
            <p:nvPr/>
          </p:nvSpPr>
          <p:spPr>
            <a:xfrm>
              <a:off x="964882" y="338614"/>
              <a:ext cx="881062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九、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7808" y="348139"/>
              <a:ext cx="4326017" cy="563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75" b="1" dirty="0">
                  <a:solidFill>
                    <a:srgbClr val="333F50"/>
                  </a:solidFill>
                  <a:latin typeface="Arial"/>
                  <a:ea typeface="Microsoft YaHei"/>
                  <a:cs typeface="Arial"/>
                </a:rPr>
                <a:t>未来计划、建议与求助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55174" y="508635"/>
              <a:ext cx="10995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7F7F7F"/>
                  </a:solidFill>
                  <a:latin typeface="Arial"/>
                  <a:ea typeface="Microsoft YaHei"/>
                  <a:cs typeface="Arial"/>
                </a:rPr>
                <a:t>04 NEXT STEP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81000" y="971550"/>
            <a:ext cx="11430000" cy="495300"/>
            <a:chOff x="381000" y="971550"/>
            <a:chExt cx="11430000" cy="495300"/>
          </a:xfrm>
        </p:grpSpPr>
        <p:sp>
          <p:nvSpPr>
            <p:cNvPr id="14" name="Freeform 14"/>
            <p:cNvSpPr/>
            <p:nvPr/>
          </p:nvSpPr>
          <p:spPr>
            <a:xfrm>
              <a:off x="381000" y="971550"/>
              <a:ext cx="11430000" cy="495300"/>
            </a:xfrm>
            <a:custGeom>
              <a:avLst/>
              <a:gdLst/>
              <a:ahLst/>
              <a:cxnLst/>
              <a:rect l="l" t="t" r="r" b="b"/>
              <a:pathLst>
                <a:path w="11430000" h="495300">
                  <a:moveTo>
                    <a:pt x="57150" y="0"/>
                  </a:moveTo>
                  <a:lnTo>
                    <a:pt x="11372850" y="0"/>
                  </a:lnTo>
                  <a:cubicBezTo>
                    <a:pt x="11404413" y="0"/>
                    <a:pt x="11430000" y="25587"/>
                    <a:pt x="11430000" y="57150"/>
                  </a:cubicBezTo>
                  <a:lnTo>
                    <a:pt x="11430000" y="438150"/>
                  </a:lnTo>
                  <a:cubicBezTo>
                    <a:pt x="11430000" y="469713"/>
                    <a:pt x="11404413" y="495300"/>
                    <a:pt x="11372850" y="495300"/>
                  </a:cubicBezTo>
                  <a:lnTo>
                    <a:pt x="57150" y="495300"/>
                  </a:lnTo>
                  <a:cubicBezTo>
                    <a:pt x="25587" y="495300"/>
                    <a:pt x="0" y="469713"/>
                    <a:pt x="0" y="438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6FBE8"/>
            </a:solidFill>
            <a:ln w="11430">
              <a:solidFill>
                <a:srgbClr val="92D05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1000" y="971550"/>
              <a:ext cx="57150" cy="495300"/>
            </a:xfrm>
            <a:custGeom>
              <a:avLst/>
              <a:gdLst/>
              <a:ahLst/>
              <a:cxnLst/>
              <a:rect l="l" t="t" r="r" b="b"/>
              <a:pathLst>
                <a:path w="57150" h="4953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66725"/>
                  </a:lnTo>
                  <a:cubicBezTo>
                    <a:pt x="57150" y="482507"/>
                    <a:pt x="44357" y="495300"/>
                    <a:pt x="28575" y="495300"/>
                  </a:cubicBezTo>
                  <a:lnTo>
                    <a:pt x="28575" y="495300"/>
                  </a:lnTo>
                  <a:cubicBezTo>
                    <a:pt x="12793" y="495300"/>
                    <a:pt x="0" y="482507"/>
                    <a:pt x="0" y="4667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6262" y="11453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KEY MESSAGE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57362" y="1145381"/>
              <a:ext cx="5031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未来继续围绕 AI 提效、平台建设和团队经验沉淀三个方向持续投入。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81000" y="1676400"/>
            <a:ext cx="11430000" cy="4095750"/>
            <a:chOff x="381000" y="1676400"/>
            <a:chExt cx="11430000" cy="4095750"/>
          </a:xfrm>
        </p:grpSpPr>
        <p:sp>
          <p:nvSpPr>
            <p:cNvPr id="19" name="Freeform 19"/>
            <p:cNvSpPr/>
            <p:nvPr/>
          </p:nvSpPr>
          <p:spPr>
            <a:xfrm>
              <a:off x="381000" y="1676400"/>
              <a:ext cx="11430000" cy="4095750"/>
            </a:xfrm>
            <a:custGeom>
              <a:avLst/>
              <a:gdLst/>
              <a:ahLst/>
              <a:cxnLst/>
              <a:rect l="l" t="t" r="r" b="b"/>
              <a:pathLst>
                <a:path w="11430000" h="4095750">
                  <a:moveTo>
                    <a:pt x="76200" y="0"/>
                  </a:moveTo>
                  <a:lnTo>
                    <a:pt x="11353800" y="0"/>
                  </a:lnTo>
                  <a:cubicBezTo>
                    <a:pt x="11395884" y="0"/>
                    <a:pt x="11430000" y="34116"/>
                    <a:pt x="11430000" y="76200"/>
                  </a:cubicBezTo>
                  <a:lnTo>
                    <a:pt x="11430000" y="4019550"/>
                  </a:lnTo>
                  <a:cubicBezTo>
                    <a:pt x="11430000" y="4061634"/>
                    <a:pt x="11395884" y="4095750"/>
                    <a:pt x="11353800" y="4095750"/>
                  </a:cubicBezTo>
                  <a:lnTo>
                    <a:pt x="76200" y="4095750"/>
                  </a:lnTo>
                  <a:cubicBezTo>
                    <a:pt x="34116" y="4095750"/>
                    <a:pt x="0" y="4061634"/>
                    <a:pt x="0" y="401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14288">
              <a:solidFill>
                <a:srgbClr val="D8E7B4"/>
              </a:solidFill>
              <a:prstDash val="dash"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2450" y="1981200"/>
              <a:ext cx="5219700" cy="2647950"/>
            </a:xfrm>
            <a:custGeom>
              <a:avLst/>
              <a:gdLst/>
              <a:ahLst/>
              <a:cxnLst/>
              <a:rect l="l" t="t" r="r" b="b"/>
              <a:pathLst>
                <a:path w="5219700" h="2647950">
                  <a:moveTo>
                    <a:pt x="133350" y="0"/>
                  </a:moveTo>
                  <a:lnTo>
                    <a:pt x="5086350" y="0"/>
                  </a:lnTo>
                  <a:cubicBezTo>
                    <a:pt x="5159997" y="0"/>
                    <a:pt x="5219700" y="59703"/>
                    <a:pt x="5219700" y="133350"/>
                  </a:cubicBezTo>
                  <a:lnTo>
                    <a:pt x="5219700" y="2514600"/>
                  </a:lnTo>
                  <a:cubicBezTo>
                    <a:pt x="5219700" y="2588247"/>
                    <a:pt x="5159997" y="2647950"/>
                    <a:pt x="5086350" y="2647950"/>
                  </a:cubicBezTo>
                  <a:lnTo>
                    <a:pt x="133350" y="2647950"/>
                  </a:lnTo>
                  <a:cubicBezTo>
                    <a:pt x="59703" y="2647950"/>
                    <a:pt x="0" y="2588247"/>
                    <a:pt x="0" y="2514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2450" y="1981200"/>
              <a:ext cx="5219700" cy="76200"/>
            </a:xfrm>
            <a:custGeom>
              <a:avLst/>
              <a:gdLst/>
              <a:ahLst/>
              <a:cxnLst/>
              <a:rect l="l" t="t" r="r" b="b"/>
              <a:pathLst>
                <a:path w="5219700" h="76200">
                  <a:moveTo>
                    <a:pt x="38100" y="0"/>
                  </a:moveTo>
                  <a:lnTo>
                    <a:pt x="5181600" y="0"/>
                  </a:lnTo>
                  <a:cubicBezTo>
                    <a:pt x="5202642" y="0"/>
                    <a:pt x="5219700" y="17058"/>
                    <a:pt x="5219700" y="38100"/>
                  </a:cubicBezTo>
                  <a:lnTo>
                    <a:pt x="5219700" y="38100"/>
                  </a:lnTo>
                  <a:cubicBezTo>
                    <a:pt x="5219700" y="59142"/>
                    <a:pt x="5202642" y="76200"/>
                    <a:pt x="51816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B8E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615" y="222980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PLAN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2948" y="249697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未来 6 个月计划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6758" y="291036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4月：深化 AI 工具使用，继续缩短交付周期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6758" y="3158014"/>
              <a:ext cx="35145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5月：打造项目级 context，沉淀团队经验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6758" y="3405664"/>
              <a:ext cx="43990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6月：推进营销活动平台建设，争取 Q2 完成核心能力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038850" y="1981200"/>
              <a:ext cx="5410200" cy="2647950"/>
            </a:xfrm>
            <a:custGeom>
              <a:avLst/>
              <a:gdLst/>
              <a:ahLst/>
              <a:cxnLst/>
              <a:rect l="l" t="t" r="r" b="b"/>
              <a:pathLst>
                <a:path w="5410200" h="2647950">
                  <a:moveTo>
                    <a:pt x="133350" y="0"/>
                  </a:moveTo>
                  <a:lnTo>
                    <a:pt x="5276850" y="0"/>
                  </a:lnTo>
                  <a:cubicBezTo>
                    <a:pt x="5350497" y="0"/>
                    <a:pt x="5410200" y="59703"/>
                    <a:pt x="5410200" y="133350"/>
                  </a:cubicBezTo>
                  <a:lnTo>
                    <a:pt x="5410200" y="2514600"/>
                  </a:lnTo>
                  <a:cubicBezTo>
                    <a:pt x="5410200" y="2588247"/>
                    <a:pt x="5350497" y="2647950"/>
                    <a:pt x="5276850" y="2647950"/>
                  </a:cubicBezTo>
                  <a:lnTo>
                    <a:pt x="133350" y="2647950"/>
                  </a:lnTo>
                  <a:cubicBezTo>
                    <a:pt x="59703" y="2647950"/>
                    <a:pt x="0" y="2588247"/>
                    <a:pt x="0" y="25146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1430">
              <a:solidFill>
                <a:srgbClr val="D8E7B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38850" y="1981200"/>
              <a:ext cx="5410200" cy="76200"/>
            </a:xfrm>
            <a:custGeom>
              <a:avLst/>
              <a:gdLst/>
              <a:ahLst/>
              <a:cxnLst/>
              <a:rect l="l" t="t" r="r" b="b"/>
              <a:pathLst>
                <a:path w="5410200" h="76200">
                  <a:moveTo>
                    <a:pt x="38100" y="0"/>
                  </a:moveTo>
                  <a:lnTo>
                    <a:pt x="5372100" y="0"/>
                  </a:lnTo>
                  <a:cubicBezTo>
                    <a:pt x="5393142" y="0"/>
                    <a:pt x="5410200" y="17058"/>
                    <a:pt x="5410200" y="38100"/>
                  </a:cubicBezTo>
                  <a:lnTo>
                    <a:pt x="5410200" y="38100"/>
                  </a:lnTo>
                  <a:cubicBezTo>
                    <a:pt x="5410200" y="59142"/>
                    <a:pt x="5393142" y="76200"/>
                    <a:pt x="53721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16015" y="2229802"/>
              <a:ext cx="678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8C100"/>
                  </a:solidFill>
                  <a:latin typeface="Arial"/>
                  <a:ea typeface="Microsoft YaHei"/>
                  <a:cs typeface="Arial"/>
                </a:rPr>
                <a:t>SUPPORT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09348" y="249697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2C3E50"/>
                  </a:solidFill>
                  <a:latin typeface="Arial"/>
                  <a:ea typeface="Microsoft YaHei"/>
                  <a:cs typeface="Arial"/>
                </a:rPr>
                <a:t>建议与求助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13158" y="29103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为平台化事项预留稳定排期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13158" y="315801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提供跨团队协同与数据复盘支持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13158" y="3405664"/>
              <a:ext cx="3384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D6D7E"/>
                  </a:solidFill>
                  <a:latin typeface="Arial"/>
                  <a:ea typeface="Microsoft YaHei"/>
                  <a:cs typeface="Arial"/>
                </a:rPr>
                <a:t>帮助关键能力建设获得更持续的资源保障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52450" y="4914900"/>
              <a:ext cx="10896600" cy="514350"/>
            </a:xfrm>
            <a:custGeom>
              <a:avLst/>
              <a:gdLst/>
              <a:ahLst/>
              <a:cxnLst/>
              <a:rect l="l" t="t" r="r" b="b"/>
              <a:pathLst>
                <a:path w="10896600" h="514350">
                  <a:moveTo>
                    <a:pt x="133350" y="0"/>
                  </a:moveTo>
                  <a:lnTo>
                    <a:pt x="10763250" y="0"/>
                  </a:lnTo>
                  <a:cubicBezTo>
                    <a:pt x="10836897" y="0"/>
                    <a:pt x="10896600" y="59703"/>
                    <a:pt x="10896600" y="133350"/>
                  </a:cubicBezTo>
                  <a:lnTo>
                    <a:pt x="10896600" y="381000"/>
                  </a:lnTo>
                  <a:cubicBezTo>
                    <a:pt x="10896600" y="454647"/>
                    <a:pt x="10836897" y="514350"/>
                    <a:pt x="10763250" y="514350"/>
                  </a:cubicBezTo>
                  <a:lnTo>
                    <a:pt x="133350" y="514350"/>
                  </a:lnTo>
                  <a:cubicBezTo>
                    <a:pt x="59703" y="514350"/>
                    <a:pt x="0" y="454647"/>
                    <a:pt x="0" y="3810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6B8E00">
                <a:alpha val="6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82002" y="5075396"/>
              <a:ext cx="953120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6B8E00"/>
                  </a:solidFill>
                  <a:latin typeface="Arial"/>
                  <a:ea typeface="Microsoft YaHei"/>
                  <a:cs typeface="Arial"/>
                </a:rPr>
                <a:t>已具备持续承担更大职责的基础，申请按期转正，并继续围绕 AI 提效、平台建设和经验沉淀投入。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59037" y="3925252"/>
              <a:ext cx="20739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7CFD1"/>
                  </a:solidFill>
                  <a:latin typeface="Arial"/>
                  <a:ea typeface="Microsoft YaHei"/>
                  <a:cs typeface="Arial"/>
                </a:rPr>
                <a:t>Content Area: 1200 × 430 px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38" name="Rectangle 38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AFBFC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7670" y="6341745"/>
              <a:ext cx="48534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/>
                  <a:ea typeface="Microsoft YaHei"/>
                  <a:cs typeface="Arial"/>
                </a:rPr>
                <a:t>Source: sources/personal_material.md | sources/content_requirement.md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8622" y="6578441"/>
              <a:ext cx="35573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B8C0C2"/>
                  </a:solidFill>
                  <a:latin typeface="Arial"/>
                  <a:ea typeface="Microsoft YaHei"/>
                  <a:cs typeface="Arial"/>
                </a:rPr>
                <a:t>Template: 03_content.svg | layout: future plan and support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0858500" y="622935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38100" y="0"/>
                  </a:moveTo>
                  <a:lnTo>
                    <a:pt x="742950" y="0"/>
                  </a:lnTo>
                  <a:cubicBezTo>
                    <a:pt x="763992" y="0"/>
                    <a:pt x="781050" y="17058"/>
                    <a:pt x="781050" y="38100"/>
                  </a:cubicBezTo>
                  <a:lnTo>
                    <a:pt x="781050" y="247650"/>
                  </a:lnTo>
                  <a:cubicBezTo>
                    <a:pt x="781050" y="268692"/>
                    <a:pt x="763992" y="285750"/>
                    <a:pt x="74295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8C10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187384" y="6316028"/>
              <a:ext cx="1232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3"/>
          <p:cNvGrpSpPr/>
          <p:nvPr/>
        </p:nvGrpSpPr>
        <p:grpSpPr>
          <a:xfrm>
            <a:off x="-128588" y="-1036320"/>
            <a:ext cx="12325350" cy="7894320"/>
            <a:chOff x="-128588" y="-1036320"/>
            <a:chExt cx="12325350" cy="789432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72" y="2946"/>
              <a:ext cx="999558" cy="209201"/>
              <a:chOff x="73872" y="2946"/>
              <a:chExt cx="999558" cy="2092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60296" y="4146"/>
                <a:ext cx="130845" cy="28986"/>
              </a:xfrm>
              <a:custGeom>
                <a:avLst/>
                <a:gdLst/>
                <a:ahLst/>
                <a:cxnLst/>
                <a:rect l="l" t="t" r="r" b="b"/>
                <a:pathLst>
                  <a:path w="130845" h="28986">
                    <a:moveTo>
                      <a:pt x="0" y="0"/>
                    </a:moveTo>
                    <a:lnTo>
                      <a:pt x="130845" y="0"/>
                    </a:lnTo>
                    <a:lnTo>
                      <a:pt x="130845" y="28986"/>
                    </a:lnTo>
                    <a:lnTo>
                      <a:pt x="0" y="289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11228" y="43749"/>
                <a:ext cx="28986" cy="90495"/>
              </a:xfrm>
              <a:custGeom>
                <a:avLst/>
                <a:gdLst/>
                <a:ahLst/>
                <a:cxnLst/>
                <a:rect l="l" t="t" r="r" b="b"/>
                <a:pathLst>
                  <a:path w="28986" h="90495">
                    <a:moveTo>
                      <a:pt x="0" y="0"/>
                    </a:moveTo>
                    <a:lnTo>
                      <a:pt x="28986" y="0"/>
                    </a:lnTo>
                    <a:lnTo>
                      <a:pt x="28986" y="90495"/>
                    </a:lnTo>
                    <a:lnTo>
                      <a:pt x="0" y="90495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225992" y="60422"/>
                <a:ext cx="305358" cy="151725"/>
              </a:xfrm>
              <a:custGeom>
                <a:avLst/>
                <a:gdLst/>
                <a:ahLst/>
                <a:cxnLst/>
                <a:rect l="l" t="t" r="r" b="b"/>
                <a:pathLst>
                  <a:path w="305358" h="151725">
                    <a:moveTo>
                      <a:pt x="279223" y="26996"/>
                    </a:moveTo>
                    <a:cubicBezTo>
                      <a:pt x="252239" y="5"/>
                      <a:pt x="208484" y="0"/>
                      <a:pt x="181493" y="26984"/>
                    </a:cubicBezTo>
                    <a:cubicBezTo>
                      <a:pt x="181490" y="26988"/>
                      <a:pt x="181486" y="26992"/>
                      <a:pt x="181483" y="26996"/>
                    </a:cubicBezTo>
                    <a:lnTo>
                      <a:pt x="153105" y="55373"/>
                    </a:lnTo>
                    <a:lnTo>
                      <a:pt x="124728" y="26996"/>
                    </a:lnTo>
                    <a:cubicBezTo>
                      <a:pt x="97737" y="7"/>
                      <a:pt x="53978" y="8"/>
                      <a:pt x="26989" y="26999"/>
                    </a:cubicBezTo>
                    <a:cubicBezTo>
                      <a:pt x="0" y="53989"/>
                      <a:pt x="2" y="97749"/>
                      <a:pt x="26992" y="124737"/>
                    </a:cubicBezTo>
                    <a:cubicBezTo>
                      <a:pt x="53982" y="151725"/>
                      <a:pt x="97738" y="151725"/>
                      <a:pt x="124728" y="124737"/>
                    </a:cubicBezTo>
                    <a:lnTo>
                      <a:pt x="153105" y="96337"/>
                    </a:lnTo>
                    <a:lnTo>
                      <a:pt x="181483" y="124714"/>
                    </a:lnTo>
                    <a:cubicBezTo>
                      <a:pt x="208822" y="151349"/>
                      <a:pt x="252577" y="150779"/>
                      <a:pt x="279213" y="123439"/>
                    </a:cubicBezTo>
                    <a:cubicBezTo>
                      <a:pt x="305353" y="96607"/>
                      <a:pt x="305358" y="53833"/>
                      <a:pt x="279223" y="26996"/>
                    </a:cubicBezTo>
                    <a:close/>
                    <a:moveTo>
                      <a:pt x="104234" y="104244"/>
                    </a:moveTo>
                    <a:cubicBezTo>
                      <a:pt x="88562" y="119916"/>
                      <a:pt x="63153" y="119916"/>
                      <a:pt x="47480" y="104244"/>
                    </a:cubicBezTo>
                    <a:cubicBezTo>
                      <a:pt x="31808" y="88571"/>
                      <a:pt x="31808" y="63161"/>
                      <a:pt x="47480" y="47489"/>
                    </a:cubicBezTo>
                    <a:cubicBezTo>
                      <a:pt x="63153" y="31817"/>
                      <a:pt x="88562" y="31817"/>
                      <a:pt x="104234" y="47489"/>
                    </a:cubicBezTo>
                    <a:lnTo>
                      <a:pt x="132612" y="75867"/>
                    </a:lnTo>
                    <a:close/>
                    <a:moveTo>
                      <a:pt x="258730" y="104244"/>
                    </a:moveTo>
                    <a:cubicBezTo>
                      <a:pt x="243058" y="119916"/>
                      <a:pt x="217648" y="119916"/>
                      <a:pt x="201977" y="104244"/>
                    </a:cubicBezTo>
                    <a:cubicBezTo>
                      <a:pt x="201976" y="104244"/>
                      <a:pt x="201976" y="104244"/>
                      <a:pt x="201976" y="104244"/>
                    </a:cubicBezTo>
                    <a:lnTo>
                      <a:pt x="173599" y="75867"/>
                    </a:lnTo>
                    <a:lnTo>
                      <a:pt x="201976" y="47489"/>
                    </a:lnTo>
                    <a:cubicBezTo>
                      <a:pt x="217648" y="31817"/>
                      <a:pt x="243058" y="31817"/>
                      <a:pt x="258730" y="47489"/>
                    </a:cubicBezTo>
                    <a:cubicBezTo>
                      <a:pt x="274403" y="63161"/>
                      <a:pt x="274403" y="88571"/>
                      <a:pt x="258730" y="104244"/>
                    </a:cubicBez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3872" y="71228"/>
                <a:ext cx="151849" cy="130186"/>
              </a:xfrm>
              <a:custGeom>
                <a:avLst/>
                <a:gdLst/>
                <a:ahLst/>
                <a:cxnLst/>
                <a:rect l="l" t="t" r="r" b="b"/>
                <a:pathLst>
                  <a:path w="151849" h="130186">
                    <a:moveTo>
                      <a:pt x="116874" y="83176"/>
                    </a:moveTo>
                    <a:cubicBezTo>
                      <a:pt x="138455" y="71886"/>
                      <a:pt x="146797" y="45239"/>
                      <a:pt x="135507" y="23659"/>
                    </a:cubicBezTo>
                    <a:cubicBezTo>
                      <a:pt x="127897" y="9115"/>
                      <a:pt x="112841" y="0"/>
                      <a:pt x="96427" y="2"/>
                    </a:cubicBezTo>
                    <a:lnTo>
                      <a:pt x="0" y="2"/>
                    </a:lnTo>
                    <a:lnTo>
                      <a:pt x="0" y="130186"/>
                    </a:lnTo>
                    <a:lnTo>
                      <a:pt x="28980" y="130186"/>
                    </a:lnTo>
                    <a:lnTo>
                      <a:pt x="28980" y="28988"/>
                    </a:lnTo>
                    <a:lnTo>
                      <a:pt x="96427" y="28988"/>
                    </a:lnTo>
                    <a:cubicBezTo>
                      <a:pt x="104780" y="28988"/>
                      <a:pt x="111551" y="35759"/>
                      <a:pt x="111551" y="44113"/>
                    </a:cubicBezTo>
                    <a:cubicBezTo>
                      <a:pt x="111551" y="52466"/>
                      <a:pt x="104780" y="59237"/>
                      <a:pt x="96427" y="59237"/>
                    </a:cubicBezTo>
                    <a:lnTo>
                      <a:pt x="39581" y="59237"/>
                    </a:lnTo>
                    <a:lnTo>
                      <a:pt x="39581" y="88217"/>
                    </a:lnTo>
                    <a:lnTo>
                      <a:pt x="84478" y="88217"/>
                    </a:lnTo>
                    <a:lnTo>
                      <a:pt x="115702" y="130186"/>
                    </a:lnTo>
                    <a:lnTo>
                      <a:pt x="151849" y="130186"/>
                    </a:lnTo>
                    <a:close/>
                  </a:path>
                </a:pathLst>
              </a:custGeom>
              <a:solidFill>
                <a:srgbClr val="88C100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707" y="70116"/>
                <a:ext cx="68021" cy="132958"/>
              </a:xfrm>
              <a:custGeom>
                <a:avLst/>
                <a:gdLst/>
                <a:ahLst/>
                <a:cxnLst/>
                <a:rect l="l" t="t" r="r" b="b"/>
                <a:pathLst>
                  <a:path w="68021" h="132958">
                    <a:moveTo>
                      <a:pt x="48555" y="0"/>
                    </a:moveTo>
                    <a:lnTo>
                      <a:pt x="0" y="0"/>
                    </a:lnTo>
                    <a:lnTo>
                      <a:pt x="0" y="56846"/>
                    </a:lnTo>
                    <a:lnTo>
                      <a:pt x="27981" y="56846"/>
                    </a:lnTo>
                    <a:lnTo>
                      <a:pt x="27981" y="117649"/>
                    </a:lnTo>
                    <a:lnTo>
                      <a:pt x="19460" y="117649"/>
                    </a:lnTo>
                    <a:cubicBezTo>
                      <a:pt x="17184" y="117646"/>
                      <a:pt x="15340" y="115802"/>
                      <a:pt x="15337" y="113527"/>
                    </a:cubicBezTo>
                    <a:lnTo>
                      <a:pt x="15337" y="80911"/>
                    </a:lnTo>
                    <a:lnTo>
                      <a:pt x="29" y="80911"/>
                    </a:lnTo>
                    <a:lnTo>
                      <a:pt x="29" y="113527"/>
                    </a:lnTo>
                    <a:cubicBezTo>
                      <a:pt x="41" y="124253"/>
                      <a:pt x="8733" y="132945"/>
                      <a:pt x="19460" y="132958"/>
                    </a:cubicBezTo>
                    <a:lnTo>
                      <a:pt x="68021" y="132958"/>
                    </a:lnTo>
                    <a:lnTo>
                      <a:pt x="68021" y="117649"/>
                    </a:lnTo>
                    <a:lnTo>
                      <a:pt x="43295" y="117649"/>
                    </a:lnTo>
                    <a:lnTo>
                      <a:pt x="43295" y="96237"/>
                    </a:lnTo>
                    <a:lnTo>
                      <a:pt x="68021" y="96237"/>
                    </a:lnTo>
                    <a:lnTo>
                      <a:pt x="68021" y="80929"/>
                    </a:lnTo>
                    <a:lnTo>
                      <a:pt x="43295" y="80929"/>
                    </a:lnTo>
                    <a:lnTo>
                      <a:pt x="43295" y="56852"/>
                    </a:lnTo>
                    <a:lnTo>
                      <a:pt x="68021" y="56852"/>
                    </a:lnTo>
                    <a:lnTo>
                      <a:pt x="68021" y="19460"/>
                    </a:lnTo>
                    <a:cubicBezTo>
                      <a:pt x="68021" y="8713"/>
                      <a:pt x="59308" y="0"/>
                      <a:pt x="48560" y="0"/>
                    </a:cubicBezTo>
                    <a:cubicBezTo>
                      <a:pt x="48558" y="0"/>
                      <a:pt x="48557" y="0"/>
                      <a:pt x="48555" y="0"/>
                    </a:cubicBezTo>
                    <a:close/>
                    <a:moveTo>
                      <a:pt x="52678" y="41544"/>
                    </a:moveTo>
                    <a:lnTo>
                      <a:pt x="15309" y="41544"/>
                    </a:lnTo>
                    <a:lnTo>
                      <a:pt x="15309" y="15314"/>
                    </a:lnTo>
                    <a:lnTo>
                      <a:pt x="48555" y="15314"/>
                    </a:lnTo>
                    <a:cubicBezTo>
                      <a:pt x="50835" y="15320"/>
                      <a:pt x="52678" y="17174"/>
                      <a:pt x="52672" y="19454"/>
                    </a:cubicBezTo>
                    <a:cubicBezTo>
                      <a:pt x="52672" y="19456"/>
                      <a:pt x="52672" y="19458"/>
                      <a:pt x="52672" y="1946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84269" y="148369"/>
                <a:ext cx="95548" cy="54722"/>
              </a:xfrm>
              <a:custGeom>
                <a:avLst/>
                <a:gdLst/>
                <a:ahLst/>
                <a:cxnLst/>
                <a:rect l="l" t="t" r="r" b="b"/>
                <a:pathLst>
                  <a:path w="95548" h="54722">
                    <a:moveTo>
                      <a:pt x="76116" y="0"/>
                    </a:moveTo>
                    <a:lnTo>
                      <a:pt x="19431" y="0"/>
                    </a:lnTo>
                    <a:cubicBezTo>
                      <a:pt x="8704" y="16"/>
                      <a:pt x="12" y="8710"/>
                      <a:pt x="0" y="19438"/>
                    </a:cubicBezTo>
                    <a:lnTo>
                      <a:pt x="0" y="35291"/>
                    </a:lnTo>
                    <a:cubicBezTo>
                      <a:pt x="12" y="46017"/>
                      <a:pt x="8705" y="54710"/>
                      <a:pt x="19431" y="54722"/>
                    </a:cubicBezTo>
                    <a:lnTo>
                      <a:pt x="76116" y="54722"/>
                    </a:lnTo>
                    <a:cubicBezTo>
                      <a:pt x="86843" y="54710"/>
                      <a:pt x="95535" y="46017"/>
                      <a:pt x="95548" y="35291"/>
                    </a:cubicBezTo>
                    <a:lnTo>
                      <a:pt x="95548" y="19438"/>
                    </a:lnTo>
                    <a:cubicBezTo>
                      <a:pt x="95535" y="8710"/>
                      <a:pt x="86844" y="16"/>
                      <a:pt x="76116" y="0"/>
                    </a:cubicBezTo>
                    <a:close/>
                    <a:moveTo>
                      <a:pt x="80240" y="35291"/>
                    </a:moveTo>
                    <a:cubicBezTo>
                      <a:pt x="80236" y="37567"/>
                      <a:pt x="78392" y="39411"/>
                      <a:pt x="76116" y="39413"/>
                    </a:cubicBezTo>
                    <a:lnTo>
                      <a:pt x="19431" y="39413"/>
                    </a:lnTo>
                    <a:cubicBezTo>
                      <a:pt x="17155" y="39411"/>
                      <a:pt x="15311" y="37567"/>
                      <a:pt x="15308" y="35291"/>
                    </a:cubicBezTo>
                    <a:lnTo>
                      <a:pt x="15308" y="19438"/>
                    </a:lnTo>
                    <a:cubicBezTo>
                      <a:pt x="15311" y="17161"/>
                      <a:pt x="17155" y="15317"/>
                      <a:pt x="19431" y="15314"/>
                    </a:cubicBezTo>
                    <a:lnTo>
                      <a:pt x="76116" y="15314"/>
                    </a:lnTo>
                    <a:cubicBezTo>
                      <a:pt x="78393" y="15317"/>
                      <a:pt x="80236" y="17161"/>
                      <a:pt x="80240" y="194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94040" y="70116"/>
                <a:ext cx="70956" cy="132992"/>
              </a:xfrm>
              <a:custGeom>
                <a:avLst/>
                <a:gdLst/>
                <a:ahLst/>
                <a:cxnLst/>
                <a:rect l="l" t="t" r="r" b="b"/>
                <a:pathLst>
                  <a:path w="70956" h="132992">
                    <a:moveTo>
                      <a:pt x="63079" y="52460"/>
                    </a:moveTo>
                    <a:lnTo>
                      <a:pt x="50071" y="60309"/>
                    </a:lnTo>
                    <a:lnTo>
                      <a:pt x="50071" y="36634"/>
                    </a:lnTo>
                    <a:lnTo>
                      <a:pt x="68909" y="36634"/>
                    </a:lnTo>
                    <a:lnTo>
                      <a:pt x="68909" y="21320"/>
                    </a:lnTo>
                    <a:lnTo>
                      <a:pt x="50071" y="21320"/>
                    </a:lnTo>
                    <a:lnTo>
                      <a:pt x="50071" y="0"/>
                    </a:lnTo>
                    <a:lnTo>
                      <a:pt x="34762" y="0"/>
                    </a:lnTo>
                    <a:lnTo>
                      <a:pt x="34762" y="21320"/>
                    </a:lnTo>
                    <a:lnTo>
                      <a:pt x="26465" y="21320"/>
                    </a:lnTo>
                    <a:cubicBezTo>
                      <a:pt x="27361" y="16933"/>
                      <a:pt x="28102" y="12510"/>
                      <a:pt x="28687" y="8050"/>
                    </a:cubicBezTo>
                    <a:lnTo>
                      <a:pt x="13505" y="6064"/>
                    </a:lnTo>
                    <a:cubicBezTo>
                      <a:pt x="11340" y="22601"/>
                      <a:pt x="6791" y="38737"/>
                      <a:pt x="0" y="53970"/>
                    </a:cubicBezTo>
                    <a:lnTo>
                      <a:pt x="13987" y="60194"/>
                    </a:lnTo>
                    <a:cubicBezTo>
                      <a:pt x="17391" y="52548"/>
                      <a:pt x="20280" y="44683"/>
                      <a:pt x="22635" y="36651"/>
                    </a:cubicBezTo>
                    <a:lnTo>
                      <a:pt x="34740" y="36651"/>
                    </a:lnTo>
                    <a:lnTo>
                      <a:pt x="34740" y="69565"/>
                    </a:lnTo>
                    <a:lnTo>
                      <a:pt x="3767" y="88250"/>
                    </a:lnTo>
                    <a:lnTo>
                      <a:pt x="11674" y="101359"/>
                    </a:lnTo>
                    <a:lnTo>
                      <a:pt x="34740" y="87446"/>
                    </a:lnTo>
                    <a:lnTo>
                      <a:pt x="34740" y="132992"/>
                    </a:lnTo>
                    <a:lnTo>
                      <a:pt x="50048" y="132992"/>
                    </a:lnTo>
                    <a:lnTo>
                      <a:pt x="50048" y="78190"/>
                    </a:lnTo>
                    <a:lnTo>
                      <a:pt x="70956" y="6555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2260" y="2946"/>
                <a:ext cx="107865" cy="58196"/>
              </a:xfrm>
              <a:custGeom>
                <a:avLst/>
                <a:gdLst/>
                <a:ahLst/>
                <a:cxnLst/>
                <a:rect l="l" t="t" r="r" b="b"/>
                <a:pathLst>
                  <a:path w="107865" h="58196">
                    <a:moveTo>
                      <a:pt x="61592" y="42882"/>
                    </a:moveTo>
                    <a:lnTo>
                      <a:pt x="61592" y="27637"/>
                    </a:lnTo>
                    <a:lnTo>
                      <a:pt x="103302" y="27637"/>
                    </a:lnTo>
                    <a:lnTo>
                      <a:pt x="103302" y="12323"/>
                    </a:lnTo>
                    <a:lnTo>
                      <a:pt x="61592" y="12323"/>
                    </a:lnTo>
                    <a:lnTo>
                      <a:pt x="61592" y="0"/>
                    </a:lnTo>
                    <a:lnTo>
                      <a:pt x="46275" y="0"/>
                    </a:lnTo>
                    <a:lnTo>
                      <a:pt x="46275" y="12323"/>
                    </a:lnTo>
                    <a:lnTo>
                      <a:pt x="4565" y="12323"/>
                    </a:lnTo>
                    <a:lnTo>
                      <a:pt x="4565" y="27637"/>
                    </a:lnTo>
                    <a:lnTo>
                      <a:pt x="46275" y="27637"/>
                    </a:lnTo>
                    <a:lnTo>
                      <a:pt x="46275" y="42882"/>
                    </a:lnTo>
                    <a:lnTo>
                      <a:pt x="0" y="42882"/>
                    </a:lnTo>
                    <a:lnTo>
                      <a:pt x="0" y="58196"/>
                    </a:lnTo>
                    <a:lnTo>
                      <a:pt x="107865" y="58196"/>
                    </a:lnTo>
                    <a:lnTo>
                      <a:pt x="107865" y="42882"/>
                    </a:lnTo>
                    <a:lnTo>
                      <a:pt x="61592" y="4288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68007" y="134846"/>
                <a:ext cx="105423" cy="68245"/>
              </a:xfrm>
              <a:custGeom>
                <a:avLst/>
                <a:gdLst/>
                <a:ahLst/>
                <a:cxnLst/>
                <a:rect l="l" t="t" r="r" b="b"/>
                <a:pathLst>
                  <a:path w="105423" h="68245">
                    <a:moveTo>
                      <a:pt x="88325" y="0"/>
                    </a:moveTo>
                    <a:lnTo>
                      <a:pt x="73028" y="0"/>
                    </a:lnTo>
                    <a:lnTo>
                      <a:pt x="73028" y="10290"/>
                    </a:lnTo>
                    <a:lnTo>
                      <a:pt x="0" y="10290"/>
                    </a:lnTo>
                    <a:lnTo>
                      <a:pt x="0" y="25604"/>
                    </a:lnTo>
                    <a:lnTo>
                      <a:pt x="73028" y="25604"/>
                    </a:lnTo>
                    <a:lnTo>
                      <a:pt x="73028" y="48814"/>
                    </a:lnTo>
                    <a:cubicBezTo>
                      <a:pt x="73028" y="51089"/>
                      <a:pt x="71180" y="52933"/>
                      <a:pt x="68904" y="52936"/>
                    </a:cubicBezTo>
                    <a:lnTo>
                      <a:pt x="55226" y="52936"/>
                    </a:lnTo>
                    <a:lnTo>
                      <a:pt x="55226" y="68245"/>
                    </a:lnTo>
                    <a:lnTo>
                      <a:pt x="68923" y="68245"/>
                    </a:lnTo>
                    <a:cubicBezTo>
                      <a:pt x="79648" y="68232"/>
                      <a:pt x="88335" y="59540"/>
                      <a:pt x="88354" y="48814"/>
                    </a:cubicBezTo>
                    <a:lnTo>
                      <a:pt x="88354" y="25604"/>
                    </a:lnTo>
                    <a:lnTo>
                      <a:pt x="105423" y="25604"/>
                    </a:lnTo>
                    <a:lnTo>
                      <a:pt x="105423" y="10290"/>
                    </a:lnTo>
                    <a:lnTo>
                      <a:pt x="88354" y="102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75409" y="69479"/>
                <a:ext cx="108910" cy="76944"/>
              </a:xfrm>
              <a:custGeom>
                <a:avLst/>
                <a:gdLst/>
                <a:ahLst/>
                <a:cxnLst/>
                <a:rect l="l" t="t" r="r" b="b"/>
                <a:pathLst>
                  <a:path w="108910" h="76944">
                    <a:moveTo>
                      <a:pt x="97592" y="38885"/>
                    </a:moveTo>
                    <a:cubicBezTo>
                      <a:pt x="105045" y="33459"/>
                      <a:pt x="106687" y="23018"/>
                      <a:pt x="101260" y="15566"/>
                    </a:cubicBezTo>
                    <a:cubicBezTo>
                      <a:pt x="98118" y="11250"/>
                      <a:pt x="93100" y="8698"/>
                      <a:pt x="87761" y="8699"/>
                    </a:cubicBezTo>
                    <a:lnTo>
                      <a:pt x="40297" y="8699"/>
                    </a:lnTo>
                    <a:cubicBezTo>
                      <a:pt x="40826" y="7287"/>
                      <a:pt x="41319" y="5828"/>
                      <a:pt x="41750" y="4398"/>
                    </a:cubicBezTo>
                    <a:lnTo>
                      <a:pt x="27085" y="0"/>
                    </a:lnTo>
                    <a:cubicBezTo>
                      <a:pt x="22843" y="14016"/>
                      <a:pt x="13059" y="25690"/>
                      <a:pt x="0" y="32317"/>
                    </a:cubicBezTo>
                    <a:lnTo>
                      <a:pt x="6890" y="45976"/>
                    </a:lnTo>
                    <a:cubicBezTo>
                      <a:pt x="10398" y="44198"/>
                      <a:pt x="13746" y="42122"/>
                      <a:pt x="16898" y="39770"/>
                    </a:cubicBezTo>
                    <a:cubicBezTo>
                      <a:pt x="23679" y="44609"/>
                      <a:pt x="30734" y="49052"/>
                      <a:pt x="38030" y="53074"/>
                    </a:cubicBezTo>
                    <a:cubicBezTo>
                      <a:pt x="27085" y="56976"/>
                      <a:pt x="15820" y="59912"/>
                      <a:pt x="4363" y="61848"/>
                    </a:cubicBezTo>
                    <a:lnTo>
                      <a:pt x="6890" y="76944"/>
                    </a:lnTo>
                    <a:cubicBezTo>
                      <a:pt x="24000" y="74054"/>
                      <a:pt x="40697" y="69103"/>
                      <a:pt x="56617" y="62198"/>
                    </a:cubicBezTo>
                    <a:cubicBezTo>
                      <a:pt x="72547" y="69106"/>
                      <a:pt x="89256" y="74057"/>
                      <a:pt x="106377" y="76944"/>
                    </a:cubicBezTo>
                    <a:lnTo>
                      <a:pt x="108910" y="61848"/>
                    </a:lnTo>
                    <a:cubicBezTo>
                      <a:pt x="97443" y="59914"/>
                      <a:pt x="86168" y="56979"/>
                      <a:pt x="75215" y="53074"/>
                    </a:cubicBezTo>
                    <a:cubicBezTo>
                      <a:pt x="82959" y="48809"/>
                      <a:pt x="90432" y="44070"/>
                      <a:pt x="97592" y="38885"/>
                    </a:cubicBezTo>
                    <a:close/>
                    <a:moveTo>
                      <a:pt x="28314" y="29067"/>
                    </a:moveTo>
                    <a:cubicBezTo>
                      <a:pt x="29692" y="27440"/>
                      <a:pt x="30993" y="25753"/>
                      <a:pt x="32218" y="24008"/>
                    </a:cubicBezTo>
                    <a:lnTo>
                      <a:pt x="87761" y="24008"/>
                    </a:lnTo>
                    <a:cubicBezTo>
                      <a:pt x="88382" y="23960"/>
                      <a:pt x="88943" y="24373"/>
                      <a:pt x="89083" y="24978"/>
                    </a:cubicBezTo>
                    <a:cubicBezTo>
                      <a:pt x="89324" y="25533"/>
                      <a:pt x="89119" y="26181"/>
                      <a:pt x="88600" y="26494"/>
                    </a:cubicBezTo>
                    <a:cubicBezTo>
                      <a:pt x="78548" y="33773"/>
                      <a:pt x="67841" y="40101"/>
                      <a:pt x="56617" y="45397"/>
                    </a:cubicBezTo>
                    <a:cubicBezTo>
                      <a:pt x="46756" y="40729"/>
                      <a:pt x="37290" y="35267"/>
                      <a:pt x="28314" y="2906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6199" y="165877"/>
                <a:ext cx="31442" cy="26982"/>
              </a:xfrm>
              <a:custGeom>
                <a:avLst/>
                <a:gdLst/>
                <a:ahLst/>
                <a:cxnLst/>
                <a:rect l="l" t="t" r="r" b="b"/>
                <a:pathLst>
                  <a:path w="31442" h="26982">
                    <a:moveTo>
                      <a:pt x="0" y="14424"/>
                    </a:moveTo>
                    <a:cubicBezTo>
                      <a:pt x="7849" y="17221"/>
                      <a:pt x="15097" y="21483"/>
                      <a:pt x="21355" y="26982"/>
                    </a:cubicBezTo>
                    <a:lnTo>
                      <a:pt x="31442" y="15470"/>
                    </a:lnTo>
                    <a:cubicBezTo>
                      <a:pt x="23736" y="8697"/>
                      <a:pt x="14811" y="3449"/>
                      <a:pt x="5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</p:sp>
        </p:grpSp>
        <p:sp>
          <p:nvSpPr>
            <p:cNvPr id="15" name="Freeform 15"/>
            <p:cNvSpPr/>
            <p:nvPr/>
          </p:nvSpPr>
          <p:spPr>
            <a:xfrm>
              <a:off x="0" y="0"/>
              <a:ext cx="6508747" cy="9525"/>
            </a:xfrm>
            <a:custGeom>
              <a:avLst/>
              <a:gdLst/>
              <a:ahLst/>
              <a:cxnLst/>
              <a:rect l="l" t="t" r="r" b="b"/>
              <a:pathLst>
                <a:path w="6508747" h="9525">
                  <a:moveTo>
                    <a:pt x="0" y="0"/>
                  </a:moveTo>
                  <a:lnTo>
                    <a:pt x="6508747" y="1905"/>
                  </a:lnTo>
                </a:path>
              </a:pathLst>
            </a:custGeom>
            <a:noFill/>
            <a:ln w="31750">
              <a:solidFill>
                <a:srgbClr val="92D050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929438" y="719138"/>
              <a:ext cx="323212" cy="9525"/>
            </a:xfrm>
            <a:custGeom>
              <a:avLst/>
              <a:gdLst/>
              <a:ahLst/>
              <a:cxnLst/>
              <a:rect l="l" t="t" r="r" b="b"/>
              <a:pathLst>
                <a:path w="323212" h="9525">
                  <a:moveTo>
                    <a:pt x="0" y="0"/>
                  </a:moveTo>
                  <a:lnTo>
                    <a:pt x="323212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405688" y="719138"/>
              <a:ext cx="326393" cy="9525"/>
            </a:xfrm>
            <a:custGeom>
              <a:avLst/>
              <a:gdLst/>
              <a:ahLst/>
              <a:cxnLst/>
              <a:rect l="l" t="t" r="r" b="b"/>
              <a:pathLst>
                <a:path w="326393" h="9525">
                  <a:moveTo>
                    <a:pt x="0" y="0"/>
                  </a:moveTo>
                  <a:lnTo>
                    <a:pt x="326393" y="5715"/>
                  </a:lnTo>
                </a:path>
              </a:pathLst>
            </a:custGeom>
            <a:noFill/>
            <a:ln w="31750">
              <a:solidFill>
                <a:srgbClr val="7F7F7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28613" y="271463"/>
              <a:ext cx="4191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3913" y="271463"/>
              <a:ext cx="76200" cy="333375"/>
            </a:xfrm>
            <a:prstGeom prst="rect">
              <a:avLst/>
            </a:prstGeom>
            <a:solidFill>
              <a:srgbClr val="92D050"/>
            </a:solidFill>
            <a:ln w="12700">
              <a:solidFill>
                <a:srgbClr val="85BB0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-128588" y="3138488"/>
              <a:ext cx="12325350" cy="3419475"/>
            </a:xfrm>
            <a:prstGeom prst="rect">
              <a:avLst/>
            </a:prstGeom>
            <a:solidFill>
              <a:srgbClr val="D0CECE">
                <a:alpha val="83921"/>
              </a:srgbClr>
            </a:solidFill>
            <a:ln w="12700">
              <a:solidFill>
                <a:srgbClr val="AFABA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-121920" y="-1036320"/>
              <a:ext cx="6132576" cy="1950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600" b="1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感谢聆听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-28575" y="-242888"/>
              <a:ext cx="36718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333F50"/>
                  </a:solidFill>
                  <a:latin typeface="Microsoft YaHei_MSFontService"/>
                  <a:ea typeface="Microsoft YaHei"/>
                  <a:cs typeface="Microsoft YaHei_MSFontService"/>
                </a:rPr>
                <a:t>欢迎各位领导和同事指正</a:t>
              </a:r>
            </a:p>
          </p:txBody>
        </p:sp>
      </p:grp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C384B3F11C01A1FE27D1DD8162F3FE67E931813C4DE173FAAD7C996EBE479C0E" val="[{&quot;GradientColorId&quot;:&quot;&quot;,&quot;IsFree&quot;:true,&quot;IsGradient&quot;:false,&quot;ImagePath&quot;:&quot;&quot;,&quot;GradientColor&quot;:null,&quot;SimpleColor&quot;:&quot;#92D050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3176</Words>
  <Application>Microsoft Office PowerPoint</Application>
  <PresentationFormat>宽屏</PresentationFormat>
  <Paragraphs>350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YaHei_MSFontService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汉涛 方</cp:lastModifiedBy>
  <cp:revision>2</cp:revision>
  <dcterms:created xsi:type="dcterms:W3CDTF">2013-01-27T09:14:16Z</dcterms:created>
  <dcterms:modified xsi:type="dcterms:W3CDTF">2026-04-05T14:27:33Z</dcterms:modified>
  <cp:category/>
</cp:coreProperties>
</file>