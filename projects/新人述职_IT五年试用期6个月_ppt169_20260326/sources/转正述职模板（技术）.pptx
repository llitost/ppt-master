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5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6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7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8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  <p:sldMasterId id="2147483672" r:id="rId3"/>
    <p:sldMasterId id="2147483684" r:id="rId4"/>
    <p:sldMasterId id="2147483695" r:id="rId5"/>
    <p:sldMasterId id="2147483707" r:id="rId6"/>
    <p:sldMasterId id="2147483719" r:id="rId7"/>
    <p:sldMasterId id="2147483731" r:id="rId8"/>
    <p:sldMasterId id="2147483743" r:id="rId9"/>
  </p:sldMasterIdLst>
  <p:notesMasterIdLst>
    <p:notesMasterId r:id="rId21"/>
  </p:notesMasterIdLst>
  <p:handoutMasterIdLst>
    <p:handoutMasterId r:id="rId22"/>
  </p:handoutMasterIdLst>
  <p:sldIdLst>
    <p:sldId id="4362" r:id="rId10"/>
    <p:sldId id="4403" r:id="rId11"/>
    <p:sldId id="4378" r:id="rId12"/>
    <p:sldId id="4342" r:id="rId13"/>
    <p:sldId id="4393" r:id="rId14"/>
    <p:sldId id="4348" r:id="rId15"/>
    <p:sldId id="4350" r:id="rId16"/>
    <p:sldId id="4352" r:id="rId17"/>
    <p:sldId id="4400" r:id="rId18"/>
    <p:sldId id="4360" r:id="rId19"/>
    <p:sldId id="4392" r:id="rId20"/>
  </p:sldIdLst>
  <p:sldSz cx="12192000" cy="6858000"/>
  <p:notesSz cx="6858000" cy="9144000"/>
  <p:embeddedFontLst>
    <p:embeddedFont>
      <p:font typeface="等线" panose="02010600030101010101" pitchFamily="2" charset="-122"/>
      <p:regular r:id="rId23"/>
      <p:bold r:id="rId24"/>
    </p:embeddedFont>
    <p:embeddedFont>
      <p:font typeface="微软雅黑" panose="020B0503020204020204" pitchFamily="34" charset="-122"/>
      <p:regular r:id="rId25"/>
      <p:bold r:id="rId26"/>
    </p:embeddedFont>
  </p:embeddedFontLst>
  <p:custDataLst>
    <p:tags r:id="rId2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32">
          <p15:clr>
            <a:srgbClr val="A4A3A4"/>
          </p15:clr>
        </p15:guide>
        <p15:guide id="2" pos="3877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ot-100" initials="R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B2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106" y="326"/>
      </p:cViewPr>
      <p:guideLst>
        <p:guide orient="horz" pos="2332"/>
        <p:guide pos="387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7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font" Target="fonts/font1.fntdata"/><Relationship Id="rId28" Type="http://schemas.openxmlformats.org/officeDocument/2006/relationships/commentAuthors" Target="commentAuthor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handoutMaster" Target="handoutMasters/handoutMaster1.xml"/><Relationship Id="rId27" Type="http://schemas.openxmlformats.org/officeDocument/2006/relationships/tags" Target="tags/tag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8F9DC-72C8-4ABB-A234-4BEA4D6C0C04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A2D3A-518F-4516-A8A4-B0E3831D178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image" Target="../media/image2.sv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image" Target="../media/image2.sv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image" Target="../media/image2.sv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14" Type="http://schemas.openxmlformats.org/officeDocument/2006/relationships/image" Target="../media/image2.sv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4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slideLayout" Target="../slideLayouts/slideLayout1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tags" Target="../tags/tag37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8" Type="http://schemas.openxmlformats.org/officeDocument/2006/relationships/tags" Target="../tags/tag9.xml"/><Relationship Id="rId3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processon.com/topic/shijianzhou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3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489" y="-982291"/>
            <a:ext cx="12305489" cy="753760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314456" y="4390954"/>
            <a:ext cx="9709204" cy="1445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lang="zh-CN" altLang="en-US" sz="8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8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8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转正答辩</a:t>
            </a:r>
          </a:p>
        </p:txBody>
      </p:sp>
      <p:sp>
        <p:nvSpPr>
          <p:cNvPr id="5" name="每天120万辆车在路面行驶，50%上过快速路，每辆车在高架上的行驶时间节省大约10%"/>
          <p:cNvSpPr txBox="1"/>
          <p:nvPr/>
        </p:nvSpPr>
        <p:spPr>
          <a:xfrm>
            <a:off x="8246110" y="6167755"/>
            <a:ext cx="379539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r>
              <a:rPr lang="zh-CN" sz="1200" dirty="0"/>
              <a:t>姓名：</a:t>
            </a:r>
            <a:r>
              <a:rPr lang="en-US" altLang="zh-CN" sz="1200" dirty="0"/>
              <a:t>XXX                    </a:t>
            </a:r>
            <a:r>
              <a:rPr lang="zh-CN" sz="1200" dirty="0"/>
              <a:t>日期：</a:t>
            </a:r>
            <a:r>
              <a:rPr lang="en-US" altLang="zh-CN" sz="1200" dirty="0"/>
              <a:t>XXXX</a:t>
            </a:r>
            <a:r>
              <a:rPr lang="zh-CN" altLang="en-US" sz="1200" dirty="0"/>
              <a:t>年</a:t>
            </a:r>
            <a:r>
              <a:rPr lang="en-US" altLang="zh-CN" sz="1200" dirty="0"/>
              <a:t>X</a:t>
            </a:r>
            <a:r>
              <a:rPr lang="zh-CN" altLang="en-US" sz="1200" dirty="0"/>
              <a:t>月</a:t>
            </a:r>
            <a:r>
              <a:rPr lang="en-US" altLang="zh-CN" sz="1200" dirty="0"/>
              <a:t>X</a:t>
            </a:r>
            <a:r>
              <a:rPr lang="zh-CN" altLang="en-US" sz="1200" dirty="0"/>
              <a:t>日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705725" y="6551295"/>
            <a:ext cx="4408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表单编号：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RF-HR-008  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版本：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A/1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94196" y="166753"/>
            <a:ext cx="7423931" cy="521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填写原则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（隐藏本页，不需要播放）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19828" y="870238"/>
            <a:ext cx="11653049" cy="58274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一、内容关键简要，不要写啰嗦的文章，转正答辩主要是自己讲，而不是别人看</a:t>
            </a:r>
          </a:p>
          <a:p>
            <a:pPr>
              <a:lnSpc>
                <a:spcPct val="120000"/>
              </a:lnSpc>
            </a:pPr>
            <a:r>
              <a:rPr lang="zh-CN" altLang="en-US"/>
              <a:t>二、举证材料要有前后成效对比，使用定量数据优于定性数据</a:t>
            </a:r>
          </a:p>
          <a:p>
            <a:pPr>
              <a:lnSpc>
                <a:spcPct val="120000"/>
              </a:lnSpc>
            </a:pPr>
            <a:r>
              <a:rPr lang="zh-CN" altLang="en-US"/>
              <a:t>三、定量数据可以从下面几个维度思考：</a:t>
            </a:r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r>
              <a:rPr lang="zh-CN" altLang="en-US"/>
              <a:t>四、定性数据一般体现在受众的满意度：</a:t>
            </a:r>
          </a:p>
          <a:p>
            <a:pPr>
              <a:lnSpc>
                <a:spcPct val="120000"/>
              </a:lnSpc>
            </a:pPr>
            <a:r>
              <a:rPr lang="zh-CN" altLang="en-US"/>
              <a:t>例如推动缺陷分级标准优化，减少了大量无效沟通，通过匿名问卷收集团队满意度为</a:t>
            </a:r>
            <a:r>
              <a:rPr lang="en-US" altLang="zh-CN"/>
              <a:t>80%</a:t>
            </a:r>
          </a:p>
          <a:p>
            <a:endParaRPr lang="zh-CN" altLang="en-US"/>
          </a:p>
        </p:txBody>
      </p:sp>
      <p:graphicFrame>
        <p:nvGraphicFramePr>
          <p:cNvPr id="5" name="表格 4"/>
          <p:cNvGraphicFramePr/>
          <p:nvPr/>
        </p:nvGraphicFramePr>
        <p:xfrm>
          <a:off x="555224" y="2007019"/>
          <a:ext cx="11182350" cy="2665095"/>
        </p:xfrm>
        <a:graphic>
          <a:graphicData uri="http://schemas.openxmlformats.org/drawingml/2006/table">
            <a:tbl>
              <a:tblPr/>
              <a:tblGrid>
                <a:gridCol w="372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7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235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分类</a:t>
                      </a: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维度</a:t>
                      </a: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r>
                        <a:rPr lang="zh-CN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案例升级</a:t>
                      </a:r>
                      <a:r>
                        <a:rPr lang="en-US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endParaRPr lang="zh-CN" altLang="en-US" sz="1200" b="1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性能提升</a:t>
                      </a: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接口性能提升、接口并发量增加等</a:t>
                      </a:r>
                      <a:endParaRPr lang="en-US" altLang="en-US" sz="12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“订单查询接口延迟↓60%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大促期间流失订单↓25%”</a:t>
                      </a:r>
                      <a:endParaRPr lang="en-US" altLang="en-US" sz="12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降本增效</a:t>
                      </a: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各职能人天减少、服务资源缩减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等</a:t>
                      </a: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“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通过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K8s容器化调度优化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年节省服务器成本￥42万+发布效率↑200%”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质量防控</a:t>
                      </a: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过程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bug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和线上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bug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减少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等</a:t>
                      </a: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“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引入自动化脚本进行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代码扫描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提测前拦截缺陷占比从15%→40%”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技术影响力</a:t>
                      </a: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文章发布、技术分享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等</a:t>
                      </a: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“推动ES日志规范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团队排查效率↑30%（问卷反馈）”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救火贡献</a:t>
                      </a: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非自身原因的线上事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等</a:t>
                      </a: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“建立告警根因分析库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P1级故障MTTR从4h→35min”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隐性价值</a:t>
                      </a: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技术债、代码坏味道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等</a:t>
                      </a: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“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通过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重构核心模块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代码可维护性评分↑2.1（SonarQube）”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40765" y="117475"/>
            <a:ext cx="17576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目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录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969101" y="1027671"/>
            <a:ext cx="4936518" cy="546377"/>
            <a:chOff x="1643063" y="1643939"/>
            <a:chExt cx="4936518" cy="546377"/>
          </a:xfrm>
        </p:grpSpPr>
        <p:sp>
          <p:nvSpPr>
            <p:cNvPr id="14" name="文本框 13"/>
            <p:cNvSpPr txBox="1"/>
            <p:nvPr>
              <p:custDataLst>
                <p:tags r:id="rId32"/>
              </p:custDataLst>
            </p:nvPr>
          </p:nvSpPr>
          <p:spPr>
            <a:xfrm>
              <a:off x="2366140" y="1643939"/>
              <a:ext cx="231648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sz="28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个人基本情况</a:t>
              </a: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1643063" y="1655624"/>
              <a:ext cx="664368" cy="534692"/>
              <a:chOff x="1643063" y="1655624"/>
              <a:chExt cx="664368" cy="534692"/>
            </a:xfrm>
          </p:grpSpPr>
          <p:sp>
            <p:nvSpPr>
              <p:cNvPr id="15" name="平行四边形 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1643063" y="1655624"/>
                <a:ext cx="664368" cy="523220"/>
              </a:xfrm>
              <a:prstGeom prst="parallelogram">
                <a:avLst/>
              </a:prstGeom>
              <a:solidFill>
                <a:srgbClr val="88C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6" name="文本框 15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1782726" y="1667096"/>
                <a:ext cx="38504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1</a:t>
                </a:r>
              </a:p>
            </p:txBody>
          </p:sp>
        </p:grpSp>
        <p:cxnSp>
          <p:nvCxnSpPr>
            <p:cNvPr id="9" name="直接连接符 8"/>
            <p:cNvCxnSpPr/>
            <p:nvPr>
              <p:custDataLst>
                <p:tags r:id="rId33"/>
              </p:custDataLst>
            </p:nvPr>
          </p:nvCxnSpPr>
          <p:spPr>
            <a:xfrm>
              <a:off x="2250281" y="2178844"/>
              <a:ext cx="4323080" cy="0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平行四边形 20"/>
            <p:cNvSpPr/>
            <p:nvPr>
              <p:custDataLst>
                <p:tags r:id="rId34"/>
              </p:custDataLst>
            </p:nvPr>
          </p:nvSpPr>
          <p:spPr>
            <a:xfrm>
              <a:off x="5456776" y="2061209"/>
              <a:ext cx="1122805" cy="47927"/>
            </a:xfrm>
            <a:prstGeom prst="parallelogram">
              <a:avLst>
                <a:gd name="adj" fmla="val 112437"/>
              </a:avLst>
            </a:prstGeom>
            <a:gradFill flip="none" rotWithShape="1">
              <a:gsLst>
                <a:gs pos="0">
                  <a:srgbClr val="9EE256"/>
                </a:gs>
                <a:gs pos="100000">
                  <a:srgbClr val="52762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969101" y="1778518"/>
            <a:ext cx="4943503" cy="546100"/>
            <a:chOff x="1643063" y="1643939"/>
            <a:chExt cx="4943503" cy="546377"/>
          </a:xfrm>
        </p:grpSpPr>
        <p:sp>
          <p:nvSpPr>
            <p:cNvPr id="13" name="文本框 12"/>
            <p:cNvSpPr txBox="1"/>
            <p:nvPr>
              <p:custDataLst>
                <p:tags r:id="rId27"/>
              </p:custDataLst>
            </p:nvPr>
          </p:nvSpPr>
          <p:spPr>
            <a:xfrm>
              <a:off x="2366140" y="1643939"/>
              <a:ext cx="1605280" cy="5222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sz="28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岗位认知</a:t>
              </a: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1643063" y="1655624"/>
              <a:ext cx="664368" cy="534692"/>
              <a:chOff x="1643063" y="1655624"/>
              <a:chExt cx="664368" cy="534692"/>
            </a:xfrm>
          </p:grpSpPr>
          <p:sp>
            <p:nvSpPr>
              <p:cNvPr id="18" name="平行四边形 17"/>
              <p:cNvSpPr/>
              <p:nvPr>
                <p:custDataLst>
                  <p:tags r:id="rId30"/>
                </p:custDataLst>
              </p:nvPr>
            </p:nvSpPr>
            <p:spPr>
              <a:xfrm>
                <a:off x="1643063" y="1655624"/>
                <a:ext cx="664368" cy="523220"/>
              </a:xfrm>
              <a:prstGeom prst="parallelogram">
                <a:avLst/>
              </a:prstGeom>
              <a:solidFill>
                <a:srgbClr val="88C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" name="文本框 18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1782726" y="1667096"/>
                <a:ext cx="38504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2</a:t>
                </a:r>
              </a:p>
            </p:txBody>
          </p:sp>
        </p:grpSp>
        <p:cxnSp>
          <p:nvCxnSpPr>
            <p:cNvPr id="26" name="直接连接符 25"/>
            <p:cNvCxnSpPr/>
            <p:nvPr>
              <p:custDataLst>
                <p:tags r:id="rId28"/>
              </p:custDataLst>
            </p:nvPr>
          </p:nvCxnSpPr>
          <p:spPr>
            <a:xfrm>
              <a:off x="2250281" y="2178844"/>
              <a:ext cx="4123690" cy="11430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平行四边形 19"/>
            <p:cNvSpPr/>
            <p:nvPr>
              <p:custDataLst>
                <p:tags r:id="rId29"/>
              </p:custDataLst>
            </p:nvPr>
          </p:nvSpPr>
          <p:spPr>
            <a:xfrm>
              <a:off x="5463761" y="2118359"/>
              <a:ext cx="1122805" cy="47927"/>
            </a:xfrm>
            <a:prstGeom prst="parallelogram">
              <a:avLst>
                <a:gd name="adj" fmla="val 112437"/>
              </a:avLst>
            </a:prstGeom>
            <a:gradFill flip="none" rotWithShape="1">
              <a:gsLst>
                <a:gs pos="0">
                  <a:srgbClr val="9EE256"/>
                </a:gs>
                <a:gs pos="100000">
                  <a:srgbClr val="52762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969101" y="2529088"/>
            <a:ext cx="4935883" cy="546100"/>
            <a:chOff x="1643063" y="1643939"/>
            <a:chExt cx="4935883" cy="546377"/>
          </a:xfrm>
        </p:grpSpPr>
        <p:sp>
          <p:nvSpPr>
            <p:cNvPr id="25" name="文本框 24"/>
            <p:cNvSpPr txBox="1"/>
            <p:nvPr>
              <p:custDataLst>
                <p:tags r:id="rId22"/>
              </p:custDataLst>
            </p:nvPr>
          </p:nvSpPr>
          <p:spPr>
            <a:xfrm>
              <a:off x="2366140" y="1643939"/>
              <a:ext cx="1605280" cy="5222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sz="28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个人绩效</a:t>
              </a: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643063" y="1655624"/>
              <a:ext cx="664368" cy="534692"/>
              <a:chOff x="1643063" y="1655624"/>
              <a:chExt cx="664368" cy="534692"/>
            </a:xfrm>
          </p:grpSpPr>
          <p:sp>
            <p:nvSpPr>
              <p:cNvPr id="37" name="平行四边形 36"/>
              <p:cNvSpPr/>
              <p:nvPr>
                <p:custDataLst>
                  <p:tags r:id="rId25"/>
                </p:custDataLst>
              </p:nvPr>
            </p:nvSpPr>
            <p:spPr>
              <a:xfrm>
                <a:off x="1643063" y="1655624"/>
                <a:ext cx="664368" cy="523220"/>
              </a:xfrm>
              <a:prstGeom prst="parallelogram">
                <a:avLst/>
              </a:prstGeom>
              <a:solidFill>
                <a:srgbClr val="88C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8" name="文本框 37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1782726" y="1667096"/>
                <a:ext cx="38504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3</a:t>
                </a:r>
              </a:p>
            </p:txBody>
          </p:sp>
        </p:grpSp>
        <p:cxnSp>
          <p:nvCxnSpPr>
            <p:cNvPr id="39" name="直接连接符 38"/>
            <p:cNvCxnSpPr/>
            <p:nvPr>
              <p:custDataLst>
                <p:tags r:id="rId23"/>
              </p:custDataLst>
            </p:nvPr>
          </p:nvCxnSpPr>
          <p:spPr>
            <a:xfrm>
              <a:off x="2250281" y="2178844"/>
              <a:ext cx="4302125" cy="8259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平行四边形 39"/>
            <p:cNvSpPr/>
            <p:nvPr>
              <p:custDataLst>
                <p:tags r:id="rId24"/>
              </p:custDataLst>
            </p:nvPr>
          </p:nvSpPr>
          <p:spPr>
            <a:xfrm>
              <a:off x="5456141" y="2061209"/>
              <a:ext cx="1122805" cy="47927"/>
            </a:xfrm>
            <a:prstGeom prst="parallelogram">
              <a:avLst>
                <a:gd name="adj" fmla="val 112437"/>
              </a:avLst>
            </a:prstGeom>
            <a:solidFill>
              <a:srgbClr val="88C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969101" y="3279658"/>
            <a:ext cx="4876828" cy="544830"/>
            <a:chOff x="1643063" y="1643939"/>
            <a:chExt cx="4876828" cy="545392"/>
          </a:xfrm>
        </p:grpSpPr>
        <p:sp>
          <p:nvSpPr>
            <p:cNvPr id="52" name="文本框 51"/>
            <p:cNvSpPr txBox="1"/>
            <p:nvPr>
              <p:custDataLst>
                <p:tags r:id="rId17"/>
              </p:custDataLst>
            </p:nvPr>
          </p:nvSpPr>
          <p:spPr>
            <a:xfrm>
              <a:off x="2366140" y="1643939"/>
              <a:ext cx="3027680" cy="5225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sz="28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关键问题突破举例</a:t>
              </a:r>
            </a:p>
          </p:txBody>
        </p:sp>
        <p:grpSp>
          <p:nvGrpSpPr>
            <p:cNvPr id="53" name="组合 52"/>
            <p:cNvGrpSpPr/>
            <p:nvPr/>
          </p:nvGrpSpPr>
          <p:grpSpPr>
            <a:xfrm>
              <a:off x="1643063" y="1655624"/>
              <a:ext cx="664368" cy="533707"/>
              <a:chOff x="1643063" y="1655624"/>
              <a:chExt cx="664368" cy="533707"/>
            </a:xfrm>
          </p:grpSpPr>
          <p:sp>
            <p:nvSpPr>
              <p:cNvPr id="54" name="平行四边形 53"/>
              <p:cNvSpPr/>
              <p:nvPr>
                <p:custDataLst>
                  <p:tags r:id="rId20"/>
                </p:custDataLst>
              </p:nvPr>
            </p:nvSpPr>
            <p:spPr>
              <a:xfrm>
                <a:off x="1643063" y="1655624"/>
                <a:ext cx="664368" cy="523220"/>
              </a:xfrm>
              <a:prstGeom prst="parallelogram">
                <a:avLst/>
              </a:prstGeom>
              <a:solidFill>
                <a:srgbClr val="88C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5" name="文本框 54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782726" y="1667096"/>
                <a:ext cx="401955" cy="522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4</a:t>
                </a:r>
              </a:p>
            </p:txBody>
          </p:sp>
        </p:grpSp>
        <p:cxnSp>
          <p:nvCxnSpPr>
            <p:cNvPr id="56" name="直接连接符 55"/>
            <p:cNvCxnSpPr/>
            <p:nvPr>
              <p:custDataLst>
                <p:tags r:id="rId18"/>
              </p:custDataLst>
            </p:nvPr>
          </p:nvCxnSpPr>
          <p:spPr>
            <a:xfrm>
              <a:off x="2250281" y="2178844"/>
              <a:ext cx="4171315" cy="3812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平行四边形 56"/>
            <p:cNvSpPr/>
            <p:nvPr>
              <p:custDataLst>
                <p:tags r:id="rId19"/>
              </p:custDataLst>
            </p:nvPr>
          </p:nvSpPr>
          <p:spPr>
            <a:xfrm>
              <a:off x="5397086" y="2061209"/>
              <a:ext cx="1122805" cy="47927"/>
            </a:xfrm>
            <a:prstGeom prst="parallelogram">
              <a:avLst>
                <a:gd name="adj" fmla="val 112437"/>
              </a:avLst>
            </a:prstGeom>
            <a:solidFill>
              <a:srgbClr val="88C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969101" y="4040617"/>
            <a:ext cx="4876828" cy="533417"/>
            <a:chOff x="1643063" y="1655624"/>
            <a:chExt cx="4876828" cy="534590"/>
          </a:xfrm>
        </p:grpSpPr>
        <p:grpSp>
          <p:nvGrpSpPr>
            <p:cNvPr id="10" name="组合 9"/>
            <p:cNvGrpSpPr/>
            <p:nvPr/>
          </p:nvGrpSpPr>
          <p:grpSpPr>
            <a:xfrm>
              <a:off x="1643063" y="1655624"/>
              <a:ext cx="664368" cy="534590"/>
              <a:chOff x="1643063" y="1655624"/>
              <a:chExt cx="664368" cy="534590"/>
            </a:xfrm>
          </p:grpSpPr>
          <p:sp>
            <p:nvSpPr>
              <p:cNvPr id="11" name="平行四边形 10"/>
              <p:cNvSpPr/>
              <p:nvPr>
                <p:custDataLst>
                  <p:tags r:id="rId15"/>
                </p:custDataLst>
              </p:nvPr>
            </p:nvSpPr>
            <p:spPr>
              <a:xfrm>
                <a:off x="1643063" y="1655624"/>
                <a:ext cx="664368" cy="523220"/>
              </a:xfrm>
              <a:prstGeom prst="parallelogram">
                <a:avLst/>
              </a:prstGeom>
              <a:solidFill>
                <a:srgbClr val="88C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" name="文本框 5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782726" y="1667096"/>
                <a:ext cx="401955" cy="523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5</a:t>
                </a:r>
              </a:p>
            </p:txBody>
          </p:sp>
        </p:grpSp>
        <p:cxnSp>
          <p:nvCxnSpPr>
            <p:cNvPr id="23" name="直接连接符 22"/>
            <p:cNvCxnSpPr/>
            <p:nvPr>
              <p:custDataLst>
                <p:tags r:id="rId13"/>
              </p:custDataLst>
            </p:nvPr>
          </p:nvCxnSpPr>
          <p:spPr>
            <a:xfrm>
              <a:off x="2250281" y="2178844"/>
              <a:ext cx="4171315" cy="3812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平行四边形 27"/>
            <p:cNvSpPr/>
            <p:nvPr>
              <p:custDataLst>
                <p:tags r:id="rId14"/>
              </p:custDataLst>
            </p:nvPr>
          </p:nvSpPr>
          <p:spPr>
            <a:xfrm>
              <a:off x="5397086" y="2061209"/>
              <a:ext cx="1122805" cy="47927"/>
            </a:xfrm>
            <a:prstGeom prst="parallelogram">
              <a:avLst>
                <a:gd name="adj" fmla="val 112437"/>
              </a:avLst>
            </a:prstGeom>
            <a:solidFill>
              <a:srgbClr val="88C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576319" y="5532638"/>
            <a:ext cx="4171315" cy="1281748"/>
            <a:chOff x="2250281" y="899587"/>
            <a:chExt cx="4171315" cy="1283069"/>
          </a:xfrm>
        </p:grpSpPr>
        <p:sp>
          <p:nvSpPr>
            <p:cNvPr id="30" name="文本框 29"/>
            <p:cNvSpPr txBox="1"/>
            <p:nvPr>
              <p:custDataLst>
                <p:tags r:id="rId11"/>
              </p:custDataLst>
            </p:nvPr>
          </p:nvSpPr>
          <p:spPr>
            <a:xfrm>
              <a:off x="2543493" y="899587"/>
              <a:ext cx="1960880" cy="528865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zh-CN" sz="28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建议与求助</a:t>
              </a:r>
            </a:p>
          </p:txBody>
        </p:sp>
        <p:cxnSp>
          <p:nvCxnSpPr>
            <p:cNvPr id="34" name="直接连接符 33"/>
            <p:cNvCxnSpPr/>
            <p:nvPr>
              <p:custDataLst>
                <p:tags r:id="rId12"/>
              </p:custDataLst>
            </p:nvPr>
          </p:nvCxnSpPr>
          <p:spPr>
            <a:xfrm>
              <a:off x="2250281" y="2178844"/>
              <a:ext cx="4171315" cy="3812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2969101" y="4800483"/>
            <a:ext cx="4876828" cy="1271543"/>
            <a:chOff x="1643063" y="916750"/>
            <a:chExt cx="4876828" cy="1272854"/>
          </a:xfrm>
        </p:grpSpPr>
        <p:sp>
          <p:nvSpPr>
            <p:cNvPr id="41" name="文本框 40"/>
            <p:cNvSpPr txBox="1"/>
            <p:nvPr>
              <p:custDataLst>
                <p:tags r:id="rId6"/>
              </p:custDataLst>
            </p:nvPr>
          </p:nvSpPr>
          <p:spPr>
            <a:xfrm>
              <a:off x="2471550" y="916750"/>
              <a:ext cx="3738880" cy="5225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sz="28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个人的不足和提升计划</a:t>
              </a: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1643063" y="1655624"/>
              <a:ext cx="664368" cy="533980"/>
              <a:chOff x="1643063" y="1655624"/>
              <a:chExt cx="664368" cy="533980"/>
            </a:xfrm>
          </p:grpSpPr>
          <p:sp>
            <p:nvSpPr>
              <p:cNvPr id="50" name="平行四边形 49"/>
              <p:cNvSpPr/>
              <p:nvPr>
                <p:custDataLst>
                  <p:tags r:id="rId9"/>
                </p:custDataLst>
              </p:nvPr>
            </p:nvSpPr>
            <p:spPr>
              <a:xfrm>
                <a:off x="1643063" y="1655624"/>
                <a:ext cx="664368" cy="523220"/>
              </a:xfrm>
              <a:prstGeom prst="parallelogram">
                <a:avLst/>
              </a:prstGeom>
              <a:solidFill>
                <a:srgbClr val="88C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8" name="文本框 5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782726" y="1667096"/>
                <a:ext cx="401955" cy="5225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7</a:t>
                </a:r>
              </a:p>
            </p:txBody>
          </p:sp>
        </p:grpSp>
        <p:cxnSp>
          <p:nvCxnSpPr>
            <p:cNvPr id="59" name="直接连接符 58"/>
            <p:cNvCxnSpPr/>
            <p:nvPr>
              <p:custDataLst>
                <p:tags r:id="rId7"/>
              </p:custDataLst>
            </p:nvPr>
          </p:nvCxnSpPr>
          <p:spPr>
            <a:xfrm>
              <a:off x="2250281" y="2178844"/>
              <a:ext cx="4171315" cy="3812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平行四边形 59"/>
            <p:cNvSpPr/>
            <p:nvPr>
              <p:custDataLst>
                <p:tags r:id="rId8"/>
              </p:custDataLst>
            </p:nvPr>
          </p:nvSpPr>
          <p:spPr>
            <a:xfrm>
              <a:off x="5397086" y="2061209"/>
              <a:ext cx="1122805" cy="47927"/>
            </a:xfrm>
            <a:prstGeom prst="parallelogram">
              <a:avLst>
                <a:gd name="adj" fmla="val 112437"/>
              </a:avLst>
            </a:prstGeom>
            <a:solidFill>
              <a:srgbClr val="88C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2969101" y="4030863"/>
            <a:ext cx="4876828" cy="1291863"/>
            <a:chOff x="1643063" y="896409"/>
            <a:chExt cx="4876828" cy="1293195"/>
          </a:xfrm>
        </p:grpSpPr>
        <p:sp>
          <p:nvSpPr>
            <p:cNvPr id="62" name="文本框 61"/>
            <p:cNvSpPr txBox="1"/>
            <p:nvPr>
              <p:custDataLst>
                <p:tags r:id="rId1"/>
              </p:custDataLst>
            </p:nvPr>
          </p:nvSpPr>
          <p:spPr>
            <a:xfrm>
              <a:off x="2471103" y="896409"/>
              <a:ext cx="2672080" cy="509795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zh-CN" sz="28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下一步工作规划</a:t>
              </a:r>
            </a:p>
          </p:txBody>
        </p:sp>
        <p:grpSp>
          <p:nvGrpSpPr>
            <p:cNvPr id="63" name="组合 62"/>
            <p:cNvGrpSpPr/>
            <p:nvPr/>
          </p:nvGrpSpPr>
          <p:grpSpPr>
            <a:xfrm>
              <a:off x="1643063" y="1655624"/>
              <a:ext cx="664368" cy="533980"/>
              <a:chOff x="1643063" y="1655624"/>
              <a:chExt cx="664368" cy="533980"/>
            </a:xfrm>
          </p:grpSpPr>
          <p:sp>
            <p:nvSpPr>
              <p:cNvPr id="64" name="平行四边形 63"/>
              <p:cNvSpPr/>
              <p:nvPr>
                <p:custDataLst>
                  <p:tags r:id="rId4"/>
                </p:custDataLst>
              </p:nvPr>
            </p:nvSpPr>
            <p:spPr>
              <a:xfrm>
                <a:off x="1643063" y="1655624"/>
                <a:ext cx="664368" cy="523220"/>
              </a:xfrm>
              <a:prstGeom prst="parallelogram">
                <a:avLst/>
              </a:prstGeom>
              <a:solidFill>
                <a:srgbClr val="88C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5" name="文本框 64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782726" y="1667096"/>
                <a:ext cx="401955" cy="5225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6</a:t>
                </a:r>
              </a:p>
            </p:txBody>
          </p:sp>
        </p:grpSp>
        <p:cxnSp>
          <p:nvCxnSpPr>
            <p:cNvPr id="66" name="直接连接符 65"/>
            <p:cNvCxnSpPr/>
            <p:nvPr>
              <p:custDataLst>
                <p:tags r:id="rId2"/>
              </p:custDataLst>
            </p:nvPr>
          </p:nvCxnSpPr>
          <p:spPr>
            <a:xfrm>
              <a:off x="2250281" y="2178844"/>
              <a:ext cx="4171315" cy="3812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平行四边形 66"/>
            <p:cNvSpPr/>
            <p:nvPr>
              <p:custDataLst>
                <p:tags r:id="rId3"/>
              </p:custDataLst>
            </p:nvPr>
          </p:nvSpPr>
          <p:spPr>
            <a:xfrm>
              <a:off x="5397086" y="2061209"/>
              <a:ext cx="1122805" cy="47927"/>
            </a:xfrm>
            <a:prstGeom prst="parallelogram">
              <a:avLst>
                <a:gd name="adj" fmla="val 112437"/>
              </a:avLst>
            </a:prstGeom>
            <a:solidFill>
              <a:srgbClr val="88C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3848735" y="41719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 txBox="1">
            <a:spLocks noGrp="1"/>
          </p:cNvSpPr>
          <p:nvPr/>
        </p:nvSpPr>
        <p:spPr>
          <a:xfrm>
            <a:off x="985520" y="111760"/>
            <a:ext cx="105156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一、个人基本情况介绍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21055" y="1156335"/>
            <a:ext cx="10850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/>
              <a:t>包括不限于基本信息、入职时间、教育背景，从业经历，工作岗位，业务专长等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936664" y="2083126"/>
            <a:ext cx="10777980" cy="4240692"/>
          </a:xfrm>
          <a:prstGeom prst="rect">
            <a:avLst/>
          </a:prstGeom>
          <a:noFill/>
          <a:ln w="12700" cap="flat" cmpd="sng" algn="ctr">
            <a:solidFill>
              <a:srgbClr val="C0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598938" y="2553128"/>
            <a:ext cx="8688070" cy="36830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建议使用时间轴的方式描述，参考 </a:t>
            </a:r>
            <a:r>
              <a:rPr lang="en-US" altLang="zh-CN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hlinkClick r:id="rId2"/>
              </a:rPr>
              <a:t>https://www.processon.com/topic/shijianzhou</a:t>
            </a:r>
            <a:endParaRPr lang="zh-CN" altLang="en-US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6" name="图片 5" descr="upload_post_object_v2_11481554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902" y="3134875"/>
            <a:ext cx="5418706" cy="28911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12495" y="262890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/>
              <a:t>二、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53515" y="262890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岗位认知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34557" y="952264"/>
            <a:ext cx="112839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/>
              <a:t>对于自己所担任岗位的认知（对照自己岗位、职级的任职资格，通过试用期工作表现进行举证阐述）；</a:t>
            </a:r>
          </a:p>
          <a:p>
            <a:pPr algn="l"/>
            <a:endParaRPr lang="zh-CN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Box 2"/>
          <p:cNvSpPr txBox="1"/>
          <p:nvPr/>
        </p:nvSpPr>
        <p:spPr>
          <a:xfrm>
            <a:off x="832485" y="930451"/>
            <a:ext cx="10769600" cy="3999616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展示《试用期绩效承诺书》及完成情况，需要列举出数据或举证关键事例，说明自己在试用期的整体履职情况和绩效水平在B以上，证明自己对组织和上级战略要求的理解和落地执行情况</a:t>
            </a: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400" dirty="0"/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br>
              <a:rPr lang="zh-CN" altLang="en-US" sz="2400" dirty="0"/>
            </a:b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zh-CN" altLang="en-US" sz="2400" dirty="0">
                <a:solidFill>
                  <a:srgbClr val="FF0000"/>
                </a:solidFill>
              </a:rPr>
              <a:t>、量化自己的工作，例如交付多少个需求、任务数一共多少个，并罗列能一眼看下去就能体现工作能力的需求</a:t>
            </a: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>
                <a:solidFill>
                  <a:srgbClr val="FF0000"/>
                </a:solidFill>
              </a:rPr>
              <a:t>、列出各月份所得绩效，如果拿到好绩效（例如</a:t>
            </a: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r>
              <a:rPr lang="zh-CN" altLang="en-US" sz="2400" dirty="0">
                <a:solidFill>
                  <a:srgbClr val="FF0000"/>
                </a:solidFill>
              </a:rPr>
              <a:t>），此时可以从</a:t>
            </a:r>
            <a:r>
              <a:rPr lang="en-US" altLang="zh-CN" sz="2400" dirty="0">
                <a:solidFill>
                  <a:srgbClr val="FF0000"/>
                </a:solidFill>
              </a:rPr>
              <a:t>leader</a:t>
            </a:r>
            <a:r>
              <a:rPr lang="zh-CN" altLang="en-US" sz="2400" dirty="0">
                <a:solidFill>
                  <a:srgbClr val="FF0000"/>
                </a:solidFill>
              </a:rPr>
              <a:t>当时的绩效评价内容中挖掘自己的亮点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4098" name="标题 1"/>
          <p:cNvSpPr txBox="1">
            <a:spLocks noGrp="1"/>
          </p:cNvSpPr>
          <p:nvPr/>
        </p:nvSpPr>
        <p:spPr>
          <a:xfrm>
            <a:off x="1086485" y="175260"/>
            <a:ext cx="105156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三、绩效目标及完成情况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 noGrp="1"/>
          </p:cNvSpPr>
          <p:nvPr/>
        </p:nvSpPr>
        <p:spPr>
          <a:xfrm>
            <a:off x="838200" y="153035"/>
            <a:ext cx="105156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四、关键问题突破举例∶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6735" y="1008467"/>
            <a:ext cx="11418573" cy="555707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400" dirty="0">
                <a:latin typeface="+mj-ea"/>
                <a:ea typeface="+mj-ea"/>
                <a:sym typeface="+mn-ea"/>
              </a:rPr>
              <a:t>举例试用期内个人在岗履职期间的关键事例，说明个人如何解决业务问题实现突破，</a:t>
            </a:r>
          </a:p>
          <a:p>
            <a:pPr algn="l">
              <a:lnSpc>
                <a:spcPct val="120000"/>
              </a:lnSpc>
            </a:pPr>
            <a:r>
              <a:rPr lang="zh-CN" altLang="en-US" sz="2400" dirty="0">
                <a:latin typeface="+mj-ea"/>
                <a:ea typeface="+mj-ea"/>
                <a:sym typeface="+mn-ea"/>
              </a:rPr>
              <a:t>以及个人的贡献和价值，证明自己的结果导向和业务能力</a:t>
            </a:r>
          </a:p>
          <a:p>
            <a:pPr algn="l">
              <a:lnSpc>
                <a:spcPct val="120000"/>
              </a:lnSpc>
            </a:pPr>
            <a:endParaRPr lang="zh-CN" altLang="en-US" sz="2400" dirty="0">
              <a:latin typeface="+mj-ea"/>
              <a:ea typeface="+mj-ea"/>
              <a:cs typeface="+mn-cs"/>
              <a:sym typeface="+mn-ea"/>
            </a:endParaRPr>
          </a:p>
          <a:p>
            <a:pPr algn="l">
              <a:lnSpc>
                <a:spcPct val="120000"/>
              </a:lnSpc>
            </a:pPr>
            <a:endParaRPr lang="zh-CN" altLang="en-US" sz="2400" dirty="0">
              <a:latin typeface="+mj-ea"/>
              <a:ea typeface="+mj-ea"/>
              <a:cs typeface="+mn-cs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本部分是整个转正答辩</a:t>
            </a:r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PPT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最为关键的部分，有以下要求：</a:t>
            </a:r>
          </a:p>
          <a:p>
            <a:pPr algn="l"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、挑选最能体现自己能力或贡献的例子，数量不少于</a:t>
            </a:r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个</a:t>
            </a:r>
          </a:p>
          <a:p>
            <a:pPr algn="l"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、一般采用 </a:t>
            </a:r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STAR 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或 </a:t>
            </a:r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STARR 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框架描述，参考 </a:t>
            </a:r>
            <a:endParaRPr lang="en-US" altLang="zh-CN" sz="2400" dirty="0">
              <a:solidFill>
                <a:srgbClr val="FF0000"/>
              </a:solidFill>
              <a:latin typeface="+mj-ea"/>
              <a:ea typeface="+mj-ea"/>
              <a:cs typeface="+mn-cs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、要有定量数据体现，退而求次就是定性数据</a:t>
            </a:r>
          </a:p>
          <a:p>
            <a:pPr algn="l">
              <a:lnSpc>
                <a:spcPct val="120000"/>
              </a:lnSpc>
            </a:pPr>
            <a:endParaRPr lang="zh-CN" altLang="en-US" sz="2400" dirty="0">
              <a:solidFill>
                <a:srgbClr val="FF0000"/>
              </a:solidFill>
              <a:latin typeface="+mj-ea"/>
              <a:ea typeface="+mj-ea"/>
              <a:cs typeface="+mn-cs"/>
              <a:sym typeface="+mn-ea"/>
            </a:endParaRPr>
          </a:p>
          <a:p>
            <a:endParaRPr lang="zh-CN" altLang="en-US" sz="2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>
            <a:spLocks noGrp="1"/>
          </p:cNvSpPr>
          <p:nvPr/>
        </p:nvSpPr>
        <p:spPr>
          <a:xfrm>
            <a:off x="963930" y="173990"/>
            <a:ext cx="105156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五、</a:t>
            </a:r>
            <a:r>
              <a:rPr lang="zh-CN" sz="2800" b="1" spc="-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未来工作计划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266" name="TextBox 2"/>
          <p:cNvSpPr txBox="1"/>
          <p:nvPr>
            <p:custDataLst>
              <p:tags r:id="rId1"/>
            </p:custDataLst>
          </p:nvPr>
        </p:nvSpPr>
        <p:spPr>
          <a:xfrm>
            <a:off x="731822" y="1164445"/>
            <a:ext cx="10842140" cy="5472426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展示未来的重点工作，需要列举出</a:t>
            </a:r>
            <a:r>
              <a:rPr lang="zh-CN" altLang="en-US" sz="2400" dirty="0">
                <a:solidFill>
                  <a:srgbClr val="FF0000"/>
                </a:solidFill>
              </a:rPr>
              <a:t>行动计划或里程碑节点，落地时间，负责人，协助人</a:t>
            </a: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400" dirty="0">
              <a:solidFill>
                <a:srgbClr val="FF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400" dirty="0"/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6975" y="197485"/>
            <a:ext cx="4450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六、个人的不足与提升计划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81809" y="1314040"/>
            <a:ext cx="10871922" cy="11988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 fontAlgn="base">
              <a:buFontTx/>
              <a:buNone/>
            </a:pPr>
            <a:r>
              <a:rPr lang="zh-CN" altLang="en-US" sz="2400"/>
              <a:t>考察个人自省能力与学习力</a:t>
            </a:r>
            <a:r>
              <a:rPr lang="zh-CN" altLang="en-US" sz="2400" dirty="0">
                <a:sym typeface="+mn-ea"/>
              </a:rPr>
              <a:t>，需要列举出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行动计划或里程碑节点，落地时间</a:t>
            </a:r>
            <a:endParaRPr lang="zh-CN" altLang="en-US" sz="2400" dirty="0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>
            <a:spLocks noGrp="1"/>
          </p:cNvSpPr>
          <p:nvPr/>
        </p:nvSpPr>
        <p:spPr>
          <a:xfrm>
            <a:off x="1002030" y="202565"/>
            <a:ext cx="105156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七、建议与求助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87198" y="1196244"/>
            <a:ext cx="10794848" cy="44651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/>
              <a:t>基于对于公司的观察和了解，提出有价值、可落地的宝贵建议</a:t>
            </a:r>
          </a:p>
          <a:p>
            <a:pPr algn="l"/>
            <a:endParaRPr lang="zh-CN" altLang="en-US" sz="2400"/>
          </a:p>
          <a:p>
            <a:pPr algn="l"/>
            <a:endParaRPr lang="zh-CN" altLang="en-US" sz="2400"/>
          </a:p>
          <a:p>
            <a:pPr algn="l"/>
            <a:r>
              <a:rPr lang="zh-CN" altLang="en-US" sz="2400">
                <a:solidFill>
                  <a:srgbClr val="FF0000"/>
                </a:solidFill>
              </a:rPr>
              <a:t>可以从自己想要做的事情思考，在达成的路上存在哪些方面的阻碍，要解决这些阻碍除自身努力外需要组织提供哪些协助，这样才能体现自己的上进心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t="11283" b="-1136"/>
          <a:stretch>
            <a:fillRect/>
          </a:stretch>
        </p:blipFill>
        <p:spPr>
          <a:xfrm>
            <a:off x="-133552" y="-993069"/>
            <a:ext cx="12325552" cy="7684852"/>
          </a:xfrm>
          <a:prstGeom prst="rect">
            <a:avLst/>
          </a:prstGeom>
          <a:effectLst>
            <a:glow rad="127000">
              <a:schemeClr val="bg1">
                <a:alpha val="3000"/>
              </a:schemeClr>
            </a:glow>
          </a:effectLst>
          <a:scene3d>
            <a:camera prst="orthographicFront"/>
            <a:lightRig rig="threePt" dir="t"/>
          </a:scene3d>
          <a:sp3d prstMaterial="softEdge"/>
        </p:spPr>
      </p:pic>
      <p:sp>
        <p:nvSpPr>
          <p:cNvPr id="5" name="矩形 4"/>
          <p:cNvSpPr/>
          <p:nvPr/>
        </p:nvSpPr>
        <p:spPr>
          <a:xfrm>
            <a:off x="-133552" y="3132306"/>
            <a:ext cx="12325552" cy="3418426"/>
          </a:xfrm>
          <a:prstGeom prst="rect">
            <a:avLst/>
          </a:prstGeom>
          <a:solidFill>
            <a:schemeClr val="bg2">
              <a:lumMod val="90000"/>
              <a:alpha val="84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44022" y="3726962"/>
            <a:ext cx="9709204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6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96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96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THANKS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czZGJiMzk3NmE4MTFmY2I0NmVkOTVhODY4OTk3OTcifQ=="/>
  <p:tag name="KSO_WPP_MARK_KEY" val="3536debe-df78-49c7-bf0c-665265cb911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7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768</Words>
  <Application>Microsoft Office PowerPoint</Application>
  <PresentationFormat>宽屏</PresentationFormat>
  <Paragraphs>86</Paragraphs>
  <Slides>11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等线</vt:lpstr>
      <vt:lpstr>腾讯体 W3</vt:lpstr>
      <vt:lpstr>Calibri</vt:lpstr>
      <vt:lpstr>Arial</vt:lpstr>
      <vt:lpstr>微软雅黑</vt:lpstr>
      <vt:lpstr>7_Office 主题​​</vt:lpstr>
      <vt:lpstr>6_Office 主题​​</vt:lpstr>
      <vt:lpstr>5_Office 主题​​</vt:lpstr>
      <vt:lpstr>4_Office 主题​​</vt:lpstr>
      <vt:lpstr>3_Office 主题​​</vt:lpstr>
      <vt:lpstr>2_Office 主题​​</vt:lpstr>
      <vt:lpstr>1_Office 主题​​</vt:lpstr>
      <vt:lpstr>Office 主题​​</vt:lpstr>
      <vt:lpstr>8_Office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May Chan</cp:lastModifiedBy>
  <cp:revision>1</cp:revision>
  <dcterms:created xsi:type="dcterms:W3CDTF">2025-07-15T03:10:04Z</dcterms:created>
  <dcterms:modified xsi:type="dcterms:W3CDTF">2025-11-11T06:18:55Z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CA7C76E29F294D83B6CF9B9FBF02C5A3</vt:lpwstr>
  </property>
  <property fmtid="{D5CDD505-2E9C-101B-9397-08002B2CF9AE}" pid="4" name="KSOSaveFontToCloudKey">
    <vt:lpwstr>304203530_embed</vt:lpwstr>
  </property>
</Properties>
</file>