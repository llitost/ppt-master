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notesSlides/notesSlide1.xml" Type="http://schemas.openxmlformats.org/officeDocument/2006/relationships/notesSlide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1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尊敬的各位领导、同事，大家好！我是后端研发工程师[你的姓名]。非常荣幸能在这里向大家汇报我试用期的工作情况。在过去的这段时间里，我始终聚焦于业务增长，并致力于通过技术手段驱动价值创造。接下来，我将从岗位认知、工作成果、关键案例、个人贡献以及未来规划几个方面，向大家详细阐述我的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汇报将分为五个部分。首先，我会阐述我对岗位的认知和价值定位；其次，将展示我试用期的整体产出和量化结果；接着，我会深入剖析几个关键项目；然后，分享我在工作中的个人贡献和方法沉淀；最后，进行自我反思并提出未来的工作规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我的岗位认知。我理解我的岗位核心价值，不仅在于按时交付功能，更在于保证系统的稳定性、方案的可扩展性，并持续降低团队的协作成本。我认为，试用期的核心目标，是证明我有能力承担更复杂的事项，为团队创造更大的价值。我的职业路径也体现了这一点，从建立基础能力，到积累复杂业务经验，再到现在快速融入新团队，完成价值贡献的衔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我试用期的整体产出。我的工作主要覆盖了交付、优化、系统建设和复用沉淀四个层面。在过去的19个工作日里，我共处理了10项重点事项，完成了8项交付，按期交付率达到100%。通过技术优化，如将CRM查询性能提升了一倍以上；通过系统建设，如积分提额覆盖了超过40万用户；通过平台化配置，如将转盘活动的配置时间从1天缩短到2小时。这些成果不仅保证了交付，更在效率、业务效果和复用价值上体现了我的贡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下面我将通过几个关键项目来具体说明我的工作。第一个是圣诞与新年活动的高压交付项目。这个项目时间紧、范围大、协同复杂。我的任务是作为项目负责人，不仅要承担核心研发工作，还要掌控项目节奏，协调各方资源。通过分阶段推进和快速响应问题，我们最终成功上线了四期活动，实现了拉新和参与人数的业务目标，证明了我在高压环境下的交付和协调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</a:rPr>
              <a:t>第二个关键项目是规则引擎从0到1的独立建设。这个项目充分体现了我独立负责和建设复杂系统的能力。我从自制原型、编写需求文档开始，到最终独立完成系统实现，形成了一个完整的闭环。这个过程不仅是开发，更是对业务需求的抽象和设计，最终将我的角色从一个需求承接者，提升为方案的定义者和独立交付者，体现了更强的技术Owner意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第三个方面，我想分享我在优化与平台化建设方面的工作。我始终坚持一个原则：不只完成需求，更要把一次性的交付升级为可复用的能力。例如，通过重构查询链路，我将CRM查询效率提升了一倍；通过将签到功能抽象为配置化能力，避免了重复开发；通过将转盘活动配置化，将新增活动的时间从1天缩短到2小时。这些工作体现了我对技术深度和长期价值的追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除了项目交付，我也非常注重个人贡献和方法沉淀。我认为，让经验可以复制、方法可以复用，是对团队更大的贡献。为此，我编写了《后端研发新人指引》，梳理了工程SOP，并积极探索AI协同研发以提升效率。我希望通过这些工作，将个人经验转化为团队的可复用资产，为团队的长期发展贡献力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总结成绩的同时，我也清醒地认识到自己的不足。主要体现在三个方面：一是部分项目的结果量化不足；二是对业务的理解深度有待加强；三是在AI工具的使用上，个人经验未能有效沉淀为团队规范。针对这些不足，我制定了明确的改进计划，包括在项目初期就定义量化指标，系统性地学习业务知识，以及推动建立团队级的AI协作规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基于以上反思，我对未来工作做了规划。未来6个月，我将重点围绕AI提效、平台建设和团队经验沉淀这三个方向持续投入。具体来说，我计划在4月份深化AI工具的应用，5月份开始沉淀团队经验，6月份全力推进营销活动平台的建设。为了更好地实现这些目标，我也希望能得到公司在排期、数据支持和资源保障方面的帮助。我相信自己已经具备承担更大职责的基础，特此申请按期转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我的汇报到此结束。感谢各位领导和同事在试用期给予我的指导和帮助。我非常期待能继续在这个优秀的团队中，为公司创造更大的价值。谢谢大家！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5.xml" Type="http://schemas.openxmlformats.org/officeDocument/2006/relationships/notesSlid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notesSlides/notesSlide11.xml" Type="http://schemas.openxmlformats.org/officeDocument/2006/relationships/notesSlide"/><Relationship Id="rId5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30200" y="266700"/>
            <a:ext cx="4191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25500" y="266700"/>
            <a:ext cx="762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81000" y="1016000"/>
            <a:ext cx="1143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试用期述职报告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8594" flipH="false" flipV="false">
            <a:off x="3556008" y="2279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92D050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381000" y="2540000"/>
            <a:ext cx="1143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92D0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聚焦业务增长，驱动价值创造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683000"/>
            <a:ext cx="10160000" cy="1524000"/>
          </a:xfrm>
          <a:prstGeom prst="roundRect">
            <a:avLst>
              <a:gd name="adj" fmla="val 8333"/>
            </a:avLst>
          </a:prstGeom>
          <a:solidFill>
            <a:srgbClr val="F2F8E9">
              <a:alpha val="100000"/>
            </a:srgbClr>
          </a:solidFill>
          <a:ln w="12700" cmpd="sng" cap="flat">
            <a:solidFill>
              <a:srgbClr val="92D0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651000" y="40005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2159000" y="40005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汇报人：[你的姓名]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953000" y="40005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461000" y="40005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岗位：后端研发工程师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001000" y="40005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509000" y="40005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日期：2026年4月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30200" y="266700"/>
            <a:ext cx="4191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266700"/>
            <a:ext cx="762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66700" y="723900"/>
            <a:ext cx="6502400" cy="127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934200" y="723900"/>
            <a:ext cx="317500" cy="127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416800" y="723900"/>
            <a:ext cx="330200" cy="127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591800" y="266700"/>
            <a:ext cx="1041400" cy="368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88C100"/>
                </a:solidFill>
                <a:latin typeface="Arial"/>
                <a:ea typeface="Arial"/>
                <a:cs typeface="Arial"/>
                <a:sym typeface="Arial"/>
              </a:rPr>
              <a:t>RECRUIT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77900" y="342900"/>
            <a:ext cx="254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目录 / AGENDA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81000" y="1524000"/>
            <a:ext cx="11430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20700" y="1905000"/>
            <a:ext cx="635000" cy="482600"/>
          </a:xfrm>
          <a:prstGeom prst="roundRect">
            <a:avLst>
              <a:gd name="adj" fmla="val 26315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20700" y="1955800"/>
            <a:ext cx="63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397000" y="1917700"/>
            <a:ext cx="406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岗位认知与价值定位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9046" flipH="false" flipV="false">
            <a:off x="5588008" y="21399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FE1A8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10541000" y="2095500"/>
            <a:ext cx="1016000" cy="101600"/>
          </a:xfrm>
          <a:prstGeom prst="roundRect">
            <a:avLst>
              <a:gd name="adj" fmla="val 0"/>
            </a:avLst>
          </a:prstGeom>
          <a:solidFill>
            <a:srgbClr val="98D6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20700" y="2667000"/>
            <a:ext cx="635000" cy="482600"/>
          </a:xfrm>
          <a:prstGeom prst="roundRect">
            <a:avLst>
              <a:gd name="adj" fmla="val 26315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20700" y="2717800"/>
            <a:ext cx="63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397000" y="2679700"/>
            <a:ext cx="406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整体产出与量化结果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9046" flipH="false" flipV="false">
            <a:off x="5588008" y="29019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FE1A8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10541000" y="2857500"/>
            <a:ext cx="1016000" cy="101600"/>
          </a:xfrm>
          <a:prstGeom prst="roundRect">
            <a:avLst>
              <a:gd name="adj" fmla="val 0"/>
            </a:avLst>
          </a:prstGeom>
          <a:solidFill>
            <a:srgbClr val="98D6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20700" y="3429000"/>
            <a:ext cx="635000" cy="482600"/>
          </a:xfrm>
          <a:prstGeom prst="roundRect">
            <a:avLst>
              <a:gd name="adj" fmla="val 26315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20700" y="3479800"/>
            <a:ext cx="63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397000" y="3441700"/>
            <a:ext cx="406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关键项目深度剖析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9046" flipH="false" flipV="false">
            <a:off x="5588008" y="36639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FE1A8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10541000" y="3619500"/>
            <a:ext cx="1016000" cy="101600"/>
          </a:xfrm>
          <a:prstGeom prst="roundRect">
            <a:avLst>
              <a:gd name="adj" fmla="val 0"/>
            </a:avLst>
          </a:prstGeom>
          <a:solidFill>
            <a:srgbClr val="98D6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20700" y="4191000"/>
            <a:ext cx="635000" cy="482600"/>
          </a:xfrm>
          <a:prstGeom prst="roundRect">
            <a:avLst>
              <a:gd name="adj" fmla="val 26315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20700" y="4241800"/>
            <a:ext cx="63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397000" y="4203700"/>
            <a:ext cx="406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个人贡献与方法沉淀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9046" flipH="false" flipV="false">
            <a:off x="5588008" y="44259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FE1A8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10541000" y="4381500"/>
            <a:ext cx="1016000" cy="101600"/>
          </a:xfrm>
          <a:prstGeom prst="roundRect">
            <a:avLst>
              <a:gd name="adj" fmla="val 0"/>
            </a:avLst>
          </a:prstGeom>
          <a:solidFill>
            <a:srgbClr val="98D6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520700" y="4953000"/>
            <a:ext cx="635000" cy="482600"/>
          </a:xfrm>
          <a:prstGeom prst="roundRect">
            <a:avLst>
              <a:gd name="adj" fmla="val 26315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520700" y="5003800"/>
            <a:ext cx="63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1397000" y="4965700"/>
            <a:ext cx="406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不足反思与未来规划</a:t>
            </a:r>
            <a:endParaRPr lang="en-US" sz="1100"/>
          </a:p>
        </p:txBody>
      </p:sp>
      <p:cxnSp>
        <p:nvCxnSpPr>
          <p:cNvPr name="Connector 33" id="33"/>
          <p:cNvCxnSpPr/>
          <p:nvPr/>
        </p:nvCxnSpPr>
        <p:spPr>
          <a:xfrm rot="-9046" flipH="false" flipV="false">
            <a:off x="5588008" y="51879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FE1A8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34" id="34"/>
          <p:cNvSpPr/>
          <p:nvPr/>
        </p:nvSpPr>
        <p:spPr>
          <a:xfrm rot="0" flipH="false" flipV="false">
            <a:off x="10541000" y="5143500"/>
            <a:ext cx="1016000" cy="101600"/>
          </a:xfrm>
          <a:prstGeom prst="roundRect">
            <a:avLst>
              <a:gd name="adj" fmla="val 0"/>
            </a:avLst>
          </a:prstGeom>
          <a:solidFill>
            <a:srgbClr val="98D6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0" y="6096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FAFB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36" id="36"/>
          <p:cNvCxnSpPr/>
          <p:nvPr/>
        </p:nvCxnSpPr>
        <p:spPr>
          <a:xfrm rot="-3580" flipH="false" flipV="false">
            <a:off x="3" y="6089650"/>
            <a:ext cx="1219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7" id="37"/>
          <p:cNvSpPr/>
          <p:nvPr/>
        </p:nvSpPr>
        <p:spPr>
          <a:xfrm rot="0" flipH="false" flipV="false">
            <a:off x="406400" y="6223000"/>
            <a:ext cx="381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Source: 2026 Probation Review Report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406400" y="6477000"/>
            <a:ext cx="381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B8C0C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试用期述职汇报目录页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10858500" y="6286500"/>
            <a:ext cx="787400" cy="292100"/>
          </a:xfrm>
          <a:prstGeom prst="roundRect">
            <a:avLst>
              <a:gd name="adj" fmla="val 21739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10858500" y="6286500"/>
            <a:ext cx="787400" cy="292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TOC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30200" y="266700"/>
            <a:ext cx="4191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266700"/>
            <a:ext cx="762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66700" y="723900"/>
            <a:ext cx="6502400" cy="127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934200" y="723900"/>
            <a:ext cx="317500" cy="127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416800" y="723900"/>
            <a:ext cx="330200" cy="127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591800" y="266700"/>
            <a:ext cx="1041400" cy="368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88C100"/>
                </a:solidFill>
                <a:latin typeface="Arial"/>
                <a:ea typeface="Arial"/>
                <a:cs typeface="Arial"/>
                <a:sym typeface="Arial"/>
              </a:rPr>
              <a:t>RECRUIT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65200" y="342900"/>
            <a:ext cx="8763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8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一、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511300" y="342900"/>
            <a:ext cx="508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6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岗位认知与价值定位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347200" y="508000"/>
            <a:ext cx="1905000" cy="241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7F7F7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岗位认知与价值创造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81000" y="977900"/>
            <a:ext cx="11430000" cy="495300"/>
          </a:xfrm>
          <a:prstGeom prst="roundRect">
            <a:avLst>
              <a:gd name="adj" fmla="val 25641"/>
            </a:avLst>
          </a:prstGeom>
          <a:solidFill>
            <a:srgbClr val="F6FBE8">
              <a:alpha val="100000"/>
            </a:srgbClr>
          </a:solidFill>
          <a:ln w="127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81000" y="977900"/>
            <a:ext cx="63500" cy="495300"/>
          </a:xfrm>
          <a:prstGeom prst="roundRect">
            <a:avLst>
              <a:gd name="adj" fmla="val 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71500" y="1143000"/>
            <a:ext cx="127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6B8E00"/>
                </a:solidFill>
                <a:latin typeface="Arial"/>
                <a:ea typeface="Arial"/>
                <a:cs typeface="Arial"/>
                <a:sym typeface="Arial"/>
              </a:rPr>
              <a:t>KEY MESSAGE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841500" y="1143000"/>
            <a:ext cx="9144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从经验迁移到价值创造，已完成从执行者到价值贡献者的衔接。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81000" y="1676400"/>
            <a:ext cx="11430000" cy="4102100"/>
          </a:xfrm>
          <a:prstGeom prst="roundRect">
            <a:avLst>
              <a:gd name="adj" fmla="val 309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85800" y="1625600"/>
            <a:ext cx="10502900" cy="1397000"/>
          </a:xfrm>
          <a:prstGeom prst="roundRect">
            <a:avLst>
              <a:gd name="adj" fmla="val 9090"/>
            </a:avLst>
          </a:prstGeom>
          <a:solidFill>
            <a:srgbClr val="F8FB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971800" y="3543300"/>
            <a:ext cx="723900" cy="723900"/>
          </a:xfrm>
          <a:prstGeom prst="ellipse">
            <a:avLst/>
          </a:prstGeom>
          <a:solidFill>
            <a:srgbClr val="A8C66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022600" y="3784600"/>
            <a:ext cx="635000" cy="393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2016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714500" y="2628900"/>
            <a:ext cx="1778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100">
                <a:solidFill>
                  <a:srgbClr val="7FA53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教育背景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206500" y="3073400"/>
            <a:ext cx="304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2016-2020</a:t>
            </a:r>
            <a:r>
              <a:rPr lang="en-US" b="false" i="false" strike="noStrike" u="none" sz="14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深圳农业大学 软件工程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206500" y="3365500"/>
            <a:ext cx="304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完成研发基础能力建立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562600" y="3911600"/>
            <a:ext cx="685800" cy="685800"/>
          </a:xfrm>
          <a:prstGeom prst="ellipse">
            <a:avLst/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588000" y="4127500"/>
            <a:ext cx="635000" cy="393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2019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699000" y="5245100"/>
            <a:ext cx="228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100">
                <a:solidFill>
                  <a:srgbClr val="88C1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前司研发经历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987800" y="5664200"/>
            <a:ext cx="2997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2019-2025</a:t>
            </a:r>
            <a:r>
              <a:rPr lang="en-US" b="false" i="false" strike="noStrike" u="none" sz="14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深圳乐信控股有限公司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3987800" y="5930900"/>
            <a:ext cx="2997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积累复杂业务交付与系统建设经验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026400" y="2768600"/>
            <a:ext cx="749300" cy="749300"/>
          </a:xfrm>
          <a:prstGeom prst="ellipse">
            <a:avLst/>
          </a:prstGeom>
          <a:solidFill>
            <a:srgbClr val="6FAE4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051800" y="3022600"/>
            <a:ext cx="711200" cy="393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213600" y="1625600"/>
            <a:ext cx="228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100">
                <a:solidFill>
                  <a:srgbClr val="5F9E3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入职当前公司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883400" y="2032000"/>
            <a:ext cx="406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2025.10-至今 快速切入核心业务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883400" y="2298700"/>
            <a:ext cx="406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从经验迁移到业务承担，实现价值创造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420100" y="3721100"/>
            <a:ext cx="3009900" cy="1778000"/>
          </a:xfrm>
          <a:prstGeom prst="roundRect">
            <a:avLst>
              <a:gd name="adj" fmla="val 7142"/>
            </a:avLst>
          </a:prstGeom>
          <a:solidFill>
            <a:srgbClr val="F7FBF4">
              <a:alpha val="100000"/>
            </a:srgbClr>
          </a:solidFill>
          <a:ln w="12700" cmpd="sng" cap="flat">
            <a:solidFill>
              <a:srgbClr val="B9D99E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420100" y="3721100"/>
            <a:ext cx="3009900" cy="101600"/>
          </a:xfrm>
          <a:prstGeom prst="roundRect">
            <a:avLst>
              <a:gd name="adj" fmla="val 0"/>
            </a:avLst>
          </a:prstGeom>
          <a:solidFill>
            <a:srgbClr val="6CC0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610600" y="3924300"/>
            <a:ext cx="2540000" cy="368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4D7E2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岗位核心与价值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610600" y="4318000"/>
            <a:ext cx="2667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后端研发：活动/会员/运营配置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610600" y="4635500"/>
            <a:ext cx="266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保交付稳系统，降本增效，承接复杂事项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458200" y="5473700"/>
            <a:ext cx="1460500" cy="342900"/>
          </a:xfrm>
          <a:prstGeom prst="roundRect">
            <a:avLst>
              <a:gd name="adj" fmla="val 3703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AC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10020300" y="5473700"/>
            <a:ext cx="1460500" cy="342900"/>
          </a:xfrm>
          <a:prstGeom prst="roundRect">
            <a:avLst>
              <a:gd name="adj" fmla="val 3703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AC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8458200" y="5905500"/>
            <a:ext cx="1460500" cy="342900"/>
          </a:xfrm>
          <a:prstGeom prst="roundRect">
            <a:avLst>
              <a:gd name="adj" fmla="val 3703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AC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10020300" y="5905500"/>
            <a:ext cx="1460500" cy="342900"/>
          </a:xfrm>
          <a:prstGeom prst="roundRect">
            <a:avLst>
              <a:gd name="adj" fmla="val 3703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AC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8458200" y="5524500"/>
            <a:ext cx="1460500" cy="241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F5B6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系统稳定性保障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10020300" y="5524500"/>
            <a:ext cx="1460500" cy="241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F5B6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方案可扩展性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8458200" y="5956300"/>
            <a:ext cx="1460500" cy="241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F5B6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协作成本降低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10020300" y="5956300"/>
            <a:ext cx="1460500" cy="241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F5B6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复杂事项承接</a:t>
            </a:r>
            <a:endParaRPr lang="en-US" sz="1100"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533400" y="5295900"/>
            <a:ext cx="7315200" cy="330200"/>
          </a:xfrm>
          <a:prstGeom prst="roundRect">
            <a:avLst>
              <a:gd name="adj" fmla="val 38461"/>
            </a:avLst>
          </a:prstGeom>
          <a:solidFill>
            <a:srgbClr val="F6FBE8">
              <a:alpha val="100000"/>
            </a:srgbClr>
          </a:solidFill>
          <a:ln w="12700" cmpd="sng" cap="flat">
            <a:solidFill>
              <a:srgbClr val="CFE1A8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533400" y="5295900"/>
            <a:ext cx="63500" cy="330200"/>
          </a:xfrm>
          <a:prstGeom prst="roundRect">
            <a:avLst>
              <a:gd name="adj" fmla="val 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711200" y="5346700"/>
            <a:ext cx="698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4F5B6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核心价值：不仅按时交付，更要保障系统稳定与方案扩展，持续降低团队协作成本。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0" y="6096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FAFB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0" y="6096000"/>
            <a:ext cx="12192000" cy="1270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0" id="50"/>
          <p:cNvSpPr/>
          <p:nvPr/>
        </p:nvSpPr>
        <p:spPr>
          <a:xfrm rot="0" flipH="false" flipV="false">
            <a:off x="406400" y="6337300"/>
            <a:ext cx="4851400" cy="17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Source: 个人述职报告-岗位认知部分</a:t>
            </a:r>
            <a:endParaRPr lang="en-US" sz="1100"/>
          </a:p>
        </p:txBody>
      </p:sp>
      <p:sp>
        <p:nvSpPr>
          <p:cNvPr name="AutoShape 51" id="51"/>
          <p:cNvSpPr/>
          <p:nvPr/>
        </p:nvSpPr>
        <p:spPr>
          <a:xfrm rot="0" flipH="false" flipV="false">
            <a:off x="406400" y="6578600"/>
            <a:ext cx="3810000" cy="165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800">
                <a:solidFill>
                  <a:srgbClr val="B8C0C2"/>
                </a:solidFill>
                <a:latin typeface="Arial"/>
                <a:ea typeface="Arial"/>
                <a:cs typeface="Arial"/>
                <a:sym typeface="Arial"/>
              </a:rPr>
              <a:t>2026 试用期述职汇报</a:t>
            </a:r>
            <a:endParaRPr lang="en-US" sz="1100"/>
          </a:p>
        </p:txBody>
      </p:sp>
      <p:sp>
        <p:nvSpPr>
          <p:cNvPr name="AutoShape 52" id="52"/>
          <p:cNvSpPr/>
          <p:nvPr/>
        </p:nvSpPr>
        <p:spPr>
          <a:xfrm rot="0" flipH="false" flipV="false">
            <a:off x="10858500" y="6235700"/>
            <a:ext cx="787400" cy="292100"/>
          </a:xfrm>
          <a:prstGeom prst="roundRect">
            <a:avLst>
              <a:gd name="adj" fmla="val 43478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3" id="53"/>
          <p:cNvSpPr/>
          <p:nvPr/>
        </p:nvSpPr>
        <p:spPr>
          <a:xfrm rot="0" flipH="false" flipV="false">
            <a:off x="10858500" y="6286500"/>
            <a:ext cx="7874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30200" y="266700"/>
            <a:ext cx="4191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25500" y="266700"/>
            <a:ext cx="762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266700" y="723900"/>
            <a:ext cx="6496050" cy="0"/>
          </a:xfrm>
          <a:custGeom>
            <a:avLst/>
            <a:gdLst/>
            <a:ahLst/>
            <a:cxnLst/>
            <a:rect r="r" b="b" t="t" l="l"/>
            <a:pathLst>
              <a:path h="0" w="6496050">
                <a:moveTo>
                  <a:pt x="0" y="0"/>
                </a:moveTo>
                <a:lnTo>
                  <a:pt x="6496050" y="0"/>
                </a:lnTo>
              </a:path>
            </a:pathLst>
          </a:custGeom>
          <a:noFill/>
          <a:ln w="254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6934200" y="723900"/>
            <a:ext cx="314325" cy="0"/>
          </a:xfrm>
          <a:custGeom>
            <a:avLst/>
            <a:gdLst/>
            <a:ahLst/>
            <a:cxnLst/>
            <a:rect r="r" b="b" t="t" l="l"/>
            <a:pathLst>
              <a:path h="0" w="3143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254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7416800" y="723900"/>
            <a:ext cx="323850" cy="0"/>
          </a:xfrm>
          <a:custGeom>
            <a:avLst/>
            <a:gdLst/>
            <a:ahLst/>
            <a:cxnLst/>
            <a:rect r="r" b="b" t="t" l="l"/>
            <a:pathLst>
              <a:path h="0" w="323850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/>
          <a:ln w="254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591800" y="266700"/>
            <a:ext cx="1041400" cy="368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88C100"/>
                </a:solidFill>
                <a:latin typeface="Arial"/>
                <a:ea typeface="Arial"/>
                <a:cs typeface="Arial"/>
                <a:sym typeface="Arial"/>
              </a:rPr>
              <a:t>RECRUIT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65200" y="342900"/>
            <a:ext cx="8763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8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二、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511300" y="342900"/>
            <a:ext cx="5715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整体产出与量化结果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299700" y="508000"/>
            <a:ext cx="952500" cy="241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02 RESULTS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381000" y="977900"/>
            <a:ext cx="11430000" cy="495300"/>
          </a:xfrm>
          <a:custGeom>
            <a:avLst/>
            <a:gdLst/>
            <a:ahLst/>
            <a:cxnLst/>
            <a:rect r="r" b="b" t="t" l="l"/>
            <a:pathLst>
              <a:path h="495300" w="11430000">
                <a:moveTo>
                  <a:pt x="57150" y="0"/>
                </a:moveTo>
                <a:lnTo>
                  <a:pt x="11372850" y="0"/>
                </a:lnTo>
                <a:cubicBezTo>
                  <a:pt x="11404413" y="0"/>
                  <a:pt x="11430000" y="25587"/>
                  <a:pt x="11430000" y="57150"/>
                </a:cubicBezTo>
                <a:lnTo>
                  <a:pt x="11430000" y="438150"/>
                </a:lnTo>
                <a:cubicBezTo>
                  <a:pt x="11430000" y="469713"/>
                  <a:pt x="11404413" y="495300"/>
                  <a:pt x="1137285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6FBE8">
              <a:alpha val="100000"/>
            </a:srgbClr>
          </a:solidFill>
          <a:ln w="127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381000" y="977900"/>
            <a:ext cx="57150" cy="495300"/>
          </a:xfrm>
          <a:custGeom>
            <a:avLst/>
            <a:gdLst/>
            <a:ahLst/>
            <a:cxnLst/>
            <a:rect r="r" b="b" t="t" l="l"/>
            <a:pathLst>
              <a:path h="495300" w="571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466725"/>
                </a:lnTo>
                <a:cubicBezTo>
                  <a:pt x="57150" y="482507"/>
                  <a:pt x="44357" y="495300"/>
                  <a:pt x="28575" y="495300"/>
                </a:cubicBezTo>
                <a:lnTo>
                  <a:pt x="28575" y="495300"/>
                </a:lnTo>
                <a:cubicBezTo>
                  <a:pt x="12793" y="495300"/>
                  <a:pt x="0" y="482507"/>
                  <a:pt x="0" y="4667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71500" y="1143000"/>
            <a:ext cx="1066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6B8E00"/>
                </a:solidFill>
                <a:latin typeface="Arial"/>
                <a:ea typeface="Arial"/>
                <a:cs typeface="Arial"/>
                <a:sym typeface="Arial"/>
              </a:rPr>
              <a:t>KEY MESSAGE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752600" y="1143000"/>
            <a:ext cx="9525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工作覆盖交付、优化、系统建设和复用沉淀四个层面，整体履职结果达到预期。</a:t>
            </a:r>
            <a:endParaRPr lang="en-US" sz="1100"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381000" y="1676400"/>
            <a:ext cx="11430000" cy="4095750"/>
          </a:xfrm>
          <a:custGeom>
            <a:avLst/>
            <a:gdLst/>
            <a:ahLst/>
            <a:cxnLst/>
            <a:rect r="r" b="b" t="t" l="l"/>
            <a:pathLst>
              <a:path h="4095750" w="11430000">
                <a:moveTo>
                  <a:pt x="76200" y="0"/>
                </a:moveTo>
                <a:lnTo>
                  <a:pt x="11353800" y="0"/>
                </a:lnTo>
                <a:cubicBezTo>
                  <a:pt x="11395884" y="0"/>
                  <a:pt x="11430000" y="34116"/>
                  <a:pt x="11430000" y="76200"/>
                </a:cubicBezTo>
                <a:lnTo>
                  <a:pt x="11430000" y="4019550"/>
                </a:lnTo>
                <a:cubicBezTo>
                  <a:pt x="11430000" y="4061634"/>
                  <a:pt x="11395884" y="4095750"/>
                  <a:pt x="11353800" y="4095750"/>
                </a:cubicBezTo>
                <a:lnTo>
                  <a:pt x="76200" y="4095750"/>
                </a:lnTo>
                <a:cubicBezTo>
                  <a:pt x="34116" y="4095750"/>
                  <a:pt x="0" y="4061634"/>
                  <a:pt x="0" y="401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12700" cmpd="sng" cap="flat">
            <a:solidFill>
              <a:srgbClr val="D8E7B4">
                <a:alpha val="100000"/>
              </a:srgbClr>
            </a:solidFill>
            <a:prstDash val="dash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558800" y="1816100"/>
            <a:ext cx="2457450" cy="1162050"/>
          </a:xfrm>
          <a:custGeom>
            <a:avLst/>
            <a:gdLst/>
            <a:ahLst/>
            <a:cxnLst/>
            <a:rect r="r" b="b" t="t" l="l"/>
            <a:pathLst>
              <a:path h="1162050" w="2457450">
                <a:moveTo>
                  <a:pt x="133350" y="0"/>
                </a:moveTo>
                <a:lnTo>
                  <a:pt x="2324100" y="0"/>
                </a:lnTo>
                <a:cubicBezTo>
                  <a:pt x="2397747" y="0"/>
                  <a:pt x="2457450" y="59703"/>
                  <a:pt x="2457450" y="133350"/>
                </a:cubicBezTo>
                <a:lnTo>
                  <a:pt x="2457450" y="1028700"/>
                </a:lnTo>
                <a:cubicBezTo>
                  <a:pt x="2457450" y="1102347"/>
                  <a:pt x="2397747" y="1162050"/>
                  <a:pt x="2324100" y="1162050"/>
                </a:cubicBezTo>
                <a:lnTo>
                  <a:pt x="133350" y="1162050"/>
                </a:lnTo>
                <a:cubicBezTo>
                  <a:pt x="59703" y="1162050"/>
                  <a:pt x="0" y="1102347"/>
                  <a:pt x="0" y="10287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723900" y="1968500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95250" y="0"/>
                </a:moveTo>
                <a:lnTo>
                  <a:pt x="361950" y="0"/>
                </a:lnTo>
                <a:cubicBezTo>
                  <a:pt x="414555" y="0"/>
                  <a:pt x="457200" y="42645"/>
                  <a:pt x="457200" y="95250"/>
                </a:cubicBezTo>
                <a:lnTo>
                  <a:pt x="457200" y="361950"/>
                </a:lnTo>
                <a:cubicBezTo>
                  <a:pt x="457200" y="414555"/>
                  <a:pt x="414555" y="457200"/>
                  <a:pt x="361950" y="457200"/>
                </a:cubicBezTo>
                <a:lnTo>
                  <a:pt x="95250" y="457200"/>
                </a:lnTo>
                <a:cubicBezTo>
                  <a:pt x="42645" y="457200"/>
                  <a:pt x="0" y="414555"/>
                  <a:pt x="0" y="3619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6FB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333500" y="2006600"/>
            <a:ext cx="152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覆盖事项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49300" y="2425700"/>
            <a:ext cx="203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b="true" i="false" strike="noStrike" u="none" sz="21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项重点事项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2819400"/>
            <a:ext cx="2032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88C1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覆盖活动、会员、系统建设</a:t>
            </a:r>
            <a:endParaRPr lang="en-US" sz="1100"/>
          </a:p>
        </p:txBody>
      </p:sp>
      <p:sp>
        <p:nvSpPr>
          <p:cNvPr name="Freeform 22" id="22"/>
          <p:cNvSpPr/>
          <p:nvPr/>
        </p:nvSpPr>
        <p:spPr>
          <a:xfrm rot="0" flipH="false" flipV="false">
            <a:off x="3340100" y="1816100"/>
            <a:ext cx="2457450" cy="1162050"/>
          </a:xfrm>
          <a:custGeom>
            <a:avLst/>
            <a:gdLst/>
            <a:ahLst/>
            <a:cxnLst/>
            <a:rect r="r" b="b" t="t" l="l"/>
            <a:pathLst>
              <a:path h="1162050" w="2457450">
                <a:moveTo>
                  <a:pt x="133350" y="0"/>
                </a:moveTo>
                <a:lnTo>
                  <a:pt x="2324100" y="0"/>
                </a:lnTo>
                <a:cubicBezTo>
                  <a:pt x="2397747" y="0"/>
                  <a:pt x="2457450" y="59703"/>
                  <a:pt x="2457450" y="133350"/>
                </a:cubicBezTo>
                <a:lnTo>
                  <a:pt x="2457450" y="1028700"/>
                </a:lnTo>
                <a:cubicBezTo>
                  <a:pt x="2457450" y="1102347"/>
                  <a:pt x="2397747" y="1162050"/>
                  <a:pt x="2324100" y="1162050"/>
                </a:cubicBezTo>
                <a:lnTo>
                  <a:pt x="133350" y="1162050"/>
                </a:lnTo>
                <a:cubicBezTo>
                  <a:pt x="59703" y="1162050"/>
                  <a:pt x="0" y="1102347"/>
                  <a:pt x="0" y="10287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23" id="23"/>
          <p:cNvSpPr/>
          <p:nvPr/>
        </p:nvSpPr>
        <p:spPr>
          <a:xfrm rot="0" flipH="false" flipV="false">
            <a:off x="3505200" y="1968500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95250" y="0"/>
                </a:moveTo>
                <a:lnTo>
                  <a:pt x="361950" y="0"/>
                </a:lnTo>
                <a:cubicBezTo>
                  <a:pt x="414555" y="0"/>
                  <a:pt x="457200" y="42645"/>
                  <a:pt x="457200" y="95250"/>
                </a:cubicBezTo>
                <a:lnTo>
                  <a:pt x="457200" y="361950"/>
                </a:lnTo>
                <a:cubicBezTo>
                  <a:pt x="457200" y="414555"/>
                  <a:pt x="414555" y="457200"/>
                  <a:pt x="361950" y="457200"/>
                </a:cubicBezTo>
                <a:lnTo>
                  <a:pt x="95250" y="457200"/>
                </a:lnTo>
                <a:cubicBezTo>
                  <a:pt x="42645" y="457200"/>
                  <a:pt x="0" y="414555"/>
                  <a:pt x="0" y="3619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6FB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114800" y="2006600"/>
            <a:ext cx="152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已完成交付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530600" y="2425700"/>
            <a:ext cx="203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lang="en-US" b="true" i="false" strike="noStrike" u="none" sz="21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项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3543300" y="2819400"/>
            <a:ext cx="2032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88C1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其余为方案演示或交接</a:t>
            </a:r>
            <a:endParaRPr lang="en-US" sz="1100"/>
          </a:p>
        </p:txBody>
      </p:sp>
      <p:sp>
        <p:nvSpPr>
          <p:cNvPr name="Freeform 27" id="27"/>
          <p:cNvSpPr/>
          <p:nvPr/>
        </p:nvSpPr>
        <p:spPr>
          <a:xfrm rot="0" flipH="false" flipV="false">
            <a:off x="6121400" y="1816100"/>
            <a:ext cx="2457450" cy="1162050"/>
          </a:xfrm>
          <a:custGeom>
            <a:avLst/>
            <a:gdLst/>
            <a:ahLst/>
            <a:cxnLst/>
            <a:rect r="r" b="b" t="t" l="l"/>
            <a:pathLst>
              <a:path h="1162050" w="2457450">
                <a:moveTo>
                  <a:pt x="133350" y="0"/>
                </a:moveTo>
                <a:lnTo>
                  <a:pt x="2324100" y="0"/>
                </a:lnTo>
                <a:cubicBezTo>
                  <a:pt x="2397747" y="0"/>
                  <a:pt x="2457450" y="59703"/>
                  <a:pt x="2457450" y="133350"/>
                </a:cubicBezTo>
                <a:lnTo>
                  <a:pt x="2457450" y="1028700"/>
                </a:lnTo>
                <a:cubicBezTo>
                  <a:pt x="2457450" y="1102347"/>
                  <a:pt x="2397747" y="1162050"/>
                  <a:pt x="2324100" y="1162050"/>
                </a:cubicBezTo>
                <a:lnTo>
                  <a:pt x="133350" y="1162050"/>
                </a:lnTo>
                <a:cubicBezTo>
                  <a:pt x="59703" y="1162050"/>
                  <a:pt x="0" y="1102347"/>
                  <a:pt x="0" y="10287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28" id="28"/>
          <p:cNvSpPr/>
          <p:nvPr/>
        </p:nvSpPr>
        <p:spPr>
          <a:xfrm rot="0" flipH="false" flipV="false">
            <a:off x="6286500" y="1968500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95250" y="0"/>
                </a:moveTo>
                <a:lnTo>
                  <a:pt x="361950" y="0"/>
                </a:lnTo>
                <a:cubicBezTo>
                  <a:pt x="414555" y="0"/>
                  <a:pt x="457200" y="42645"/>
                  <a:pt x="457200" y="95250"/>
                </a:cubicBezTo>
                <a:lnTo>
                  <a:pt x="457200" y="361950"/>
                </a:lnTo>
                <a:cubicBezTo>
                  <a:pt x="457200" y="414555"/>
                  <a:pt x="414555" y="457200"/>
                  <a:pt x="361950" y="457200"/>
                </a:cubicBezTo>
                <a:lnTo>
                  <a:pt x="95250" y="457200"/>
                </a:lnTo>
                <a:cubicBezTo>
                  <a:pt x="42645" y="457200"/>
                  <a:pt x="0" y="414555"/>
                  <a:pt x="0" y="3619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6FB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896100" y="2006600"/>
            <a:ext cx="152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按期交付率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311900" y="2425700"/>
            <a:ext cx="203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324600" y="2819400"/>
            <a:ext cx="2032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88C1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关键事项均按计划推进</a:t>
            </a:r>
            <a:endParaRPr lang="en-US" sz="1100"/>
          </a:p>
        </p:txBody>
      </p:sp>
      <p:sp>
        <p:nvSpPr>
          <p:cNvPr name="Freeform 32" id="32"/>
          <p:cNvSpPr/>
          <p:nvPr/>
        </p:nvSpPr>
        <p:spPr>
          <a:xfrm rot="0" flipH="false" flipV="false">
            <a:off x="8902700" y="1816100"/>
            <a:ext cx="2457450" cy="1162050"/>
          </a:xfrm>
          <a:custGeom>
            <a:avLst/>
            <a:gdLst/>
            <a:ahLst/>
            <a:cxnLst/>
            <a:rect r="r" b="b" t="t" l="l"/>
            <a:pathLst>
              <a:path h="1162050" w="2457450">
                <a:moveTo>
                  <a:pt x="133350" y="0"/>
                </a:moveTo>
                <a:lnTo>
                  <a:pt x="2324100" y="0"/>
                </a:lnTo>
                <a:cubicBezTo>
                  <a:pt x="2397747" y="0"/>
                  <a:pt x="2457450" y="59703"/>
                  <a:pt x="2457450" y="133350"/>
                </a:cubicBezTo>
                <a:lnTo>
                  <a:pt x="2457450" y="1028700"/>
                </a:lnTo>
                <a:cubicBezTo>
                  <a:pt x="2457450" y="1102347"/>
                  <a:pt x="2397747" y="1162050"/>
                  <a:pt x="2324100" y="1162050"/>
                </a:cubicBezTo>
                <a:lnTo>
                  <a:pt x="133350" y="1162050"/>
                </a:lnTo>
                <a:cubicBezTo>
                  <a:pt x="59703" y="1162050"/>
                  <a:pt x="0" y="1102347"/>
                  <a:pt x="0" y="10287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3" id="33"/>
          <p:cNvSpPr/>
          <p:nvPr/>
        </p:nvSpPr>
        <p:spPr>
          <a:xfrm rot="0" flipH="false" flipV="false">
            <a:off x="9067800" y="1968500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95250" y="0"/>
                </a:moveTo>
                <a:lnTo>
                  <a:pt x="361950" y="0"/>
                </a:lnTo>
                <a:cubicBezTo>
                  <a:pt x="414555" y="0"/>
                  <a:pt x="457200" y="42645"/>
                  <a:pt x="457200" y="95250"/>
                </a:cubicBezTo>
                <a:lnTo>
                  <a:pt x="457200" y="361950"/>
                </a:lnTo>
                <a:cubicBezTo>
                  <a:pt x="457200" y="414555"/>
                  <a:pt x="414555" y="457200"/>
                  <a:pt x="361950" y="457200"/>
                </a:cubicBezTo>
                <a:lnTo>
                  <a:pt x="95250" y="457200"/>
                </a:lnTo>
                <a:cubicBezTo>
                  <a:pt x="42645" y="457200"/>
                  <a:pt x="0" y="414555"/>
                  <a:pt x="0" y="3619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6FB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9677400" y="2006600"/>
            <a:ext cx="1651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CRM查询优化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9093200" y="2425700"/>
            <a:ext cx="2159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2s → 1s</a:t>
            </a:r>
            <a:r>
              <a:rPr lang="en-US" b="true" i="false" strike="noStrike" u="none" sz="21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以下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9105900" y="2819400"/>
            <a:ext cx="2032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88C1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体验显著改善</a:t>
            </a:r>
            <a:endParaRPr lang="en-US" sz="1100"/>
          </a:p>
        </p:txBody>
      </p:sp>
      <p:sp>
        <p:nvSpPr>
          <p:cNvPr name="Freeform 37" id="37"/>
          <p:cNvSpPr/>
          <p:nvPr/>
        </p:nvSpPr>
        <p:spPr>
          <a:xfrm rot="0" flipH="false" flipV="false">
            <a:off x="558800" y="3187700"/>
            <a:ext cx="2457450" cy="1162050"/>
          </a:xfrm>
          <a:custGeom>
            <a:avLst/>
            <a:gdLst/>
            <a:ahLst/>
            <a:cxnLst/>
            <a:rect r="r" b="b" t="t" l="l"/>
            <a:pathLst>
              <a:path h="1162050" w="2457450">
                <a:moveTo>
                  <a:pt x="133350" y="0"/>
                </a:moveTo>
                <a:lnTo>
                  <a:pt x="2324100" y="0"/>
                </a:lnTo>
                <a:cubicBezTo>
                  <a:pt x="2397747" y="0"/>
                  <a:pt x="2457450" y="59703"/>
                  <a:pt x="2457450" y="133350"/>
                </a:cubicBezTo>
                <a:lnTo>
                  <a:pt x="2457450" y="1028700"/>
                </a:lnTo>
                <a:cubicBezTo>
                  <a:pt x="2457450" y="1102347"/>
                  <a:pt x="2397747" y="1162050"/>
                  <a:pt x="2324100" y="1162050"/>
                </a:cubicBezTo>
                <a:lnTo>
                  <a:pt x="133350" y="1162050"/>
                </a:lnTo>
                <a:cubicBezTo>
                  <a:pt x="59703" y="1162050"/>
                  <a:pt x="0" y="1102347"/>
                  <a:pt x="0" y="10287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8" id="38"/>
          <p:cNvSpPr/>
          <p:nvPr/>
        </p:nvSpPr>
        <p:spPr>
          <a:xfrm rot="0" flipH="false" flipV="false">
            <a:off x="723900" y="3340100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95250" y="0"/>
                </a:moveTo>
                <a:lnTo>
                  <a:pt x="361950" y="0"/>
                </a:lnTo>
                <a:cubicBezTo>
                  <a:pt x="414555" y="0"/>
                  <a:pt x="457200" y="42645"/>
                  <a:pt x="457200" y="95250"/>
                </a:cubicBezTo>
                <a:lnTo>
                  <a:pt x="457200" y="361950"/>
                </a:lnTo>
                <a:cubicBezTo>
                  <a:pt x="457200" y="414555"/>
                  <a:pt x="414555" y="457200"/>
                  <a:pt x="361950" y="457200"/>
                </a:cubicBezTo>
                <a:lnTo>
                  <a:pt x="95250" y="457200"/>
                </a:lnTo>
                <a:cubicBezTo>
                  <a:pt x="42645" y="457200"/>
                  <a:pt x="0" y="414555"/>
                  <a:pt x="0" y="3619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6FB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1333500" y="3378200"/>
            <a:ext cx="152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工作日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749300" y="3797300"/>
            <a:ext cx="203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r>
              <a:rPr lang="en-US" b="true" i="false" strike="noStrike" u="none" sz="21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个工作日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762000" y="4191000"/>
            <a:ext cx="2032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88C1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从接需求到上线</a:t>
            </a:r>
            <a:endParaRPr lang="en-US" sz="1100"/>
          </a:p>
        </p:txBody>
      </p:sp>
      <p:sp>
        <p:nvSpPr>
          <p:cNvPr name="Freeform 42" id="42"/>
          <p:cNvSpPr/>
          <p:nvPr/>
        </p:nvSpPr>
        <p:spPr>
          <a:xfrm rot="0" flipH="false" flipV="false">
            <a:off x="3340100" y="3187700"/>
            <a:ext cx="2457450" cy="1162050"/>
          </a:xfrm>
          <a:custGeom>
            <a:avLst/>
            <a:gdLst/>
            <a:ahLst/>
            <a:cxnLst/>
            <a:rect r="r" b="b" t="t" l="l"/>
            <a:pathLst>
              <a:path h="1162050" w="2457450">
                <a:moveTo>
                  <a:pt x="133350" y="0"/>
                </a:moveTo>
                <a:lnTo>
                  <a:pt x="2324100" y="0"/>
                </a:lnTo>
                <a:cubicBezTo>
                  <a:pt x="2397747" y="0"/>
                  <a:pt x="2457450" y="59703"/>
                  <a:pt x="2457450" y="133350"/>
                </a:cubicBezTo>
                <a:lnTo>
                  <a:pt x="2457450" y="1028700"/>
                </a:lnTo>
                <a:cubicBezTo>
                  <a:pt x="2457450" y="1102347"/>
                  <a:pt x="2397747" y="1162050"/>
                  <a:pt x="2324100" y="1162050"/>
                </a:cubicBezTo>
                <a:lnTo>
                  <a:pt x="133350" y="1162050"/>
                </a:lnTo>
                <a:cubicBezTo>
                  <a:pt x="59703" y="1162050"/>
                  <a:pt x="0" y="1102347"/>
                  <a:pt x="0" y="10287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3" id="43"/>
          <p:cNvSpPr/>
          <p:nvPr/>
        </p:nvSpPr>
        <p:spPr>
          <a:xfrm rot="0" flipH="false" flipV="false">
            <a:off x="3505200" y="3340100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95250" y="0"/>
                </a:moveTo>
                <a:lnTo>
                  <a:pt x="361950" y="0"/>
                </a:lnTo>
                <a:cubicBezTo>
                  <a:pt x="414555" y="0"/>
                  <a:pt x="457200" y="42645"/>
                  <a:pt x="457200" y="95250"/>
                </a:cubicBezTo>
                <a:lnTo>
                  <a:pt x="457200" y="361950"/>
                </a:lnTo>
                <a:cubicBezTo>
                  <a:pt x="457200" y="414555"/>
                  <a:pt x="414555" y="457200"/>
                  <a:pt x="361950" y="457200"/>
                </a:cubicBezTo>
                <a:lnTo>
                  <a:pt x="95250" y="457200"/>
                </a:lnTo>
                <a:cubicBezTo>
                  <a:pt x="42645" y="457200"/>
                  <a:pt x="0" y="414555"/>
                  <a:pt x="0" y="3619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6FB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4114800" y="3378200"/>
            <a:ext cx="1651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积分提额覆盖</a:t>
            </a:r>
            <a:endParaRPr lang="en-US" sz="1100"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3530600" y="3797300"/>
            <a:ext cx="203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40w+</a:t>
            </a:r>
            <a:r>
              <a:rPr lang="en-US" b="true" i="false" strike="noStrike" u="none" sz="21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用户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3543300" y="4191000"/>
            <a:ext cx="2032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88C1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支撑大规模触达</a:t>
            </a:r>
            <a:endParaRPr lang="en-US" sz="1100"/>
          </a:p>
        </p:txBody>
      </p:sp>
      <p:sp>
        <p:nvSpPr>
          <p:cNvPr name="Freeform 47" id="47"/>
          <p:cNvSpPr/>
          <p:nvPr/>
        </p:nvSpPr>
        <p:spPr>
          <a:xfrm rot="0" flipH="false" flipV="false">
            <a:off x="6121400" y="3187700"/>
            <a:ext cx="2457450" cy="1162050"/>
          </a:xfrm>
          <a:custGeom>
            <a:avLst/>
            <a:gdLst/>
            <a:ahLst/>
            <a:cxnLst/>
            <a:rect r="r" b="b" t="t" l="l"/>
            <a:pathLst>
              <a:path h="1162050" w="2457450">
                <a:moveTo>
                  <a:pt x="133350" y="0"/>
                </a:moveTo>
                <a:lnTo>
                  <a:pt x="2324100" y="0"/>
                </a:lnTo>
                <a:cubicBezTo>
                  <a:pt x="2397747" y="0"/>
                  <a:pt x="2457450" y="59703"/>
                  <a:pt x="2457450" y="133350"/>
                </a:cubicBezTo>
                <a:lnTo>
                  <a:pt x="2457450" y="1028700"/>
                </a:lnTo>
                <a:cubicBezTo>
                  <a:pt x="2457450" y="1102347"/>
                  <a:pt x="2397747" y="1162050"/>
                  <a:pt x="2324100" y="1162050"/>
                </a:cubicBezTo>
                <a:lnTo>
                  <a:pt x="133350" y="1162050"/>
                </a:lnTo>
                <a:cubicBezTo>
                  <a:pt x="59703" y="1162050"/>
                  <a:pt x="0" y="1102347"/>
                  <a:pt x="0" y="10287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8" id="48"/>
          <p:cNvSpPr/>
          <p:nvPr/>
        </p:nvSpPr>
        <p:spPr>
          <a:xfrm rot="0" flipH="false" flipV="false">
            <a:off x="6286500" y="3340100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95250" y="0"/>
                </a:moveTo>
                <a:lnTo>
                  <a:pt x="361950" y="0"/>
                </a:lnTo>
                <a:cubicBezTo>
                  <a:pt x="414555" y="0"/>
                  <a:pt x="457200" y="42645"/>
                  <a:pt x="457200" y="95250"/>
                </a:cubicBezTo>
                <a:lnTo>
                  <a:pt x="457200" y="361950"/>
                </a:lnTo>
                <a:cubicBezTo>
                  <a:pt x="457200" y="414555"/>
                  <a:pt x="414555" y="457200"/>
                  <a:pt x="361950" y="457200"/>
                </a:cubicBezTo>
                <a:lnTo>
                  <a:pt x="95250" y="457200"/>
                </a:lnTo>
                <a:cubicBezTo>
                  <a:pt x="42645" y="457200"/>
                  <a:pt x="0" y="414555"/>
                  <a:pt x="0" y="3619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6FB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6896100" y="3378200"/>
            <a:ext cx="152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转盘配置化</a:t>
            </a:r>
            <a:endParaRPr lang="en-US" sz="1100"/>
          </a:p>
        </p:txBody>
      </p:sp>
      <p:sp>
        <p:nvSpPr>
          <p:cNvPr name="AutoShape 50" id="50"/>
          <p:cNvSpPr/>
          <p:nvPr/>
        </p:nvSpPr>
        <p:spPr>
          <a:xfrm rot="0" flipH="false" flipV="false">
            <a:off x="6311900" y="3797300"/>
            <a:ext cx="203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1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1天</a:t>
            </a:r>
            <a:r>
              <a:rPr lang="en-US" b="true" i="false" strike="noStrike" u="none" sz="2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→ 2h</a:t>
            </a:r>
            <a:endParaRPr lang="en-US" sz="1100"/>
          </a:p>
        </p:txBody>
      </p:sp>
      <p:sp>
        <p:nvSpPr>
          <p:cNvPr name="AutoShape 51" id="51"/>
          <p:cNvSpPr/>
          <p:nvPr/>
        </p:nvSpPr>
        <p:spPr>
          <a:xfrm rot="0" flipH="false" flipV="false">
            <a:off x="6324600" y="4191000"/>
            <a:ext cx="2032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88C1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复用能力显著提升</a:t>
            </a:r>
            <a:endParaRPr lang="en-US" sz="1100"/>
          </a:p>
        </p:txBody>
      </p:sp>
      <p:sp>
        <p:nvSpPr>
          <p:cNvPr name="Freeform 52" id="52"/>
          <p:cNvSpPr/>
          <p:nvPr/>
        </p:nvSpPr>
        <p:spPr>
          <a:xfrm rot="0" flipH="false" flipV="false">
            <a:off x="8902700" y="3187700"/>
            <a:ext cx="2457450" cy="1162050"/>
          </a:xfrm>
          <a:custGeom>
            <a:avLst/>
            <a:gdLst/>
            <a:ahLst/>
            <a:cxnLst/>
            <a:rect r="r" b="b" t="t" l="l"/>
            <a:pathLst>
              <a:path h="1162050" w="2457450">
                <a:moveTo>
                  <a:pt x="133350" y="0"/>
                </a:moveTo>
                <a:lnTo>
                  <a:pt x="2324100" y="0"/>
                </a:lnTo>
                <a:cubicBezTo>
                  <a:pt x="2397747" y="0"/>
                  <a:pt x="2457450" y="59703"/>
                  <a:pt x="2457450" y="133350"/>
                </a:cubicBezTo>
                <a:lnTo>
                  <a:pt x="2457450" y="1028700"/>
                </a:lnTo>
                <a:cubicBezTo>
                  <a:pt x="2457450" y="1102347"/>
                  <a:pt x="2397747" y="1162050"/>
                  <a:pt x="2324100" y="1162050"/>
                </a:cubicBezTo>
                <a:lnTo>
                  <a:pt x="133350" y="1162050"/>
                </a:lnTo>
                <a:cubicBezTo>
                  <a:pt x="59703" y="1162050"/>
                  <a:pt x="0" y="1102347"/>
                  <a:pt x="0" y="10287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3" id="53"/>
          <p:cNvSpPr/>
          <p:nvPr/>
        </p:nvSpPr>
        <p:spPr>
          <a:xfrm rot="0" flipH="false" flipV="false">
            <a:off x="9067800" y="3340100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95250" y="0"/>
                </a:moveTo>
                <a:lnTo>
                  <a:pt x="361950" y="0"/>
                </a:lnTo>
                <a:cubicBezTo>
                  <a:pt x="414555" y="0"/>
                  <a:pt x="457200" y="42645"/>
                  <a:pt x="457200" y="95250"/>
                </a:cubicBezTo>
                <a:lnTo>
                  <a:pt x="457200" y="361950"/>
                </a:lnTo>
                <a:cubicBezTo>
                  <a:pt x="457200" y="414555"/>
                  <a:pt x="414555" y="457200"/>
                  <a:pt x="361950" y="457200"/>
                </a:cubicBezTo>
                <a:lnTo>
                  <a:pt x="95250" y="457200"/>
                </a:lnTo>
                <a:cubicBezTo>
                  <a:pt x="42645" y="457200"/>
                  <a:pt x="0" y="414555"/>
                  <a:pt x="0" y="3619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6FB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4" id="54"/>
          <p:cNvSpPr/>
          <p:nvPr/>
        </p:nvSpPr>
        <p:spPr>
          <a:xfrm rot="0" flipH="false" flipV="false">
            <a:off x="9677400" y="3378200"/>
            <a:ext cx="177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拉新&amp;新年活动</a:t>
            </a:r>
            <a:endParaRPr lang="en-US" sz="1100"/>
          </a:p>
        </p:txBody>
      </p:sp>
      <p:sp>
        <p:nvSpPr>
          <p:cNvPr name="AutoShape 55" id="55"/>
          <p:cNvSpPr/>
          <p:nvPr/>
        </p:nvSpPr>
        <p:spPr>
          <a:xfrm rot="0" flipH="false" flipV="false">
            <a:off x="9093200" y="3797300"/>
            <a:ext cx="228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拉新1992/参与16045</a:t>
            </a:r>
            <a:endParaRPr lang="en-US" sz="1100"/>
          </a:p>
        </p:txBody>
      </p:sp>
      <p:sp>
        <p:nvSpPr>
          <p:cNvPr name="AutoShape 56" id="56"/>
          <p:cNvSpPr/>
          <p:nvPr/>
        </p:nvSpPr>
        <p:spPr>
          <a:xfrm rot="0" flipH="false" flipV="false">
            <a:off x="9105900" y="4191000"/>
            <a:ext cx="2032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88C1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业务结果可量化</a:t>
            </a:r>
            <a:endParaRPr lang="en-US" sz="1100"/>
          </a:p>
        </p:txBody>
      </p:sp>
      <p:sp>
        <p:nvSpPr>
          <p:cNvPr name="Freeform 57" id="57"/>
          <p:cNvSpPr/>
          <p:nvPr/>
        </p:nvSpPr>
        <p:spPr>
          <a:xfrm rot="0" flipH="false" flipV="false">
            <a:off x="558800" y="4762500"/>
            <a:ext cx="11087100" cy="704850"/>
          </a:xfrm>
          <a:custGeom>
            <a:avLst/>
            <a:gdLst/>
            <a:ahLst/>
            <a:cxnLst/>
            <a:rect r="r" b="b" t="t" l="l"/>
            <a:pathLst>
              <a:path h="704850" w="11087100">
                <a:moveTo>
                  <a:pt x="133350" y="0"/>
                </a:moveTo>
                <a:lnTo>
                  <a:pt x="10953750" y="0"/>
                </a:lnTo>
                <a:cubicBezTo>
                  <a:pt x="11027397" y="0"/>
                  <a:pt x="11087100" y="59703"/>
                  <a:pt x="11087100" y="133350"/>
                </a:cubicBezTo>
                <a:lnTo>
                  <a:pt x="11087100" y="571500"/>
                </a:lnTo>
                <a:cubicBezTo>
                  <a:pt x="11087100" y="645147"/>
                  <a:pt x="11027397" y="704850"/>
                  <a:pt x="10953750" y="704850"/>
                </a:cubicBezTo>
                <a:lnTo>
                  <a:pt x="133350" y="704850"/>
                </a:lnTo>
                <a:cubicBezTo>
                  <a:pt x="59703" y="704850"/>
                  <a:pt x="0" y="645147"/>
                  <a:pt x="0" y="5715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6B8E0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8" id="58"/>
          <p:cNvSpPr/>
          <p:nvPr/>
        </p:nvSpPr>
        <p:spPr>
          <a:xfrm rot="0" flipH="false" flipV="false">
            <a:off x="774700" y="4991100"/>
            <a:ext cx="10160000" cy="368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6B8E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结果同时覆盖交付、效率、业务效果和复用价值，整体履职结果达到预期。</a:t>
            </a:r>
            <a:endParaRPr lang="en-US" sz="1100"/>
          </a:p>
        </p:txBody>
      </p:sp>
      <p:sp>
        <p:nvSpPr>
          <p:cNvPr name="AutoShape 59" id="59"/>
          <p:cNvSpPr/>
          <p:nvPr/>
        </p:nvSpPr>
        <p:spPr>
          <a:xfrm rot="0" flipH="false" flipV="false">
            <a:off x="0" y="6096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FAFB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0" id="60"/>
          <p:cNvSpPr/>
          <p:nvPr/>
        </p:nvSpPr>
        <p:spPr>
          <a:xfrm rot="0" flipH="false" flipV="false">
            <a:off x="0" y="6096000"/>
            <a:ext cx="12192000" cy="0"/>
          </a:xfrm>
          <a:custGeom>
            <a:avLst/>
            <a:gdLst/>
            <a:ahLst/>
            <a:cxnLst/>
            <a:rect r="r" b="b" t="t" l="l"/>
            <a:pathLst>
              <a:path h="0"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1" id="61"/>
          <p:cNvSpPr/>
          <p:nvPr/>
        </p:nvSpPr>
        <p:spPr>
          <a:xfrm rot="0" flipH="false" flipV="false">
            <a:off x="406400" y="6337300"/>
            <a:ext cx="4851400" cy="17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Source: 试用期工作汇报数据汇总</a:t>
            </a:r>
            <a:endParaRPr lang="en-US" sz="1100"/>
          </a:p>
        </p:txBody>
      </p:sp>
      <p:sp>
        <p:nvSpPr>
          <p:cNvPr name="AutoShape 62" id="62"/>
          <p:cNvSpPr/>
          <p:nvPr/>
        </p:nvSpPr>
        <p:spPr>
          <a:xfrm rot="0" flipH="false" flipV="false">
            <a:off x="406400" y="6578600"/>
            <a:ext cx="2959100" cy="165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800">
                <a:solidFill>
                  <a:srgbClr val="B8C0C2"/>
                </a:solidFill>
                <a:latin typeface="Arial"/>
                <a:ea typeface="Arial"/>
                <a:cs typeface="Arial"/>
                <a:sym typeface="Arial"/>
              </a:rPr>
              <a:t>Template: 03_content.svg | layout: KPI cards grid</a:t>
            </a:r>
            <a:endParaRPr lang="en-US" sz="1100"/>
          </a:p>
        </p:txBody>
      </p:sp>
      <p:sp>
        <p:nvSpPr>
          <p:cNvPr name="Freeform 63" id="63"/>
          <p:cNvSpPr/>
          <p:nvPr/>
        </p:nvSpPr>
        <p:spPr>
          <a:xfrm rot="0" flipH="false" flipV="false">
            <a:off x="10858500" y="6235700"/>
            <a:ext cx="781050" cy="285750"/>
          </a:xfrm>
          <a:custGeom>
            <a:avLst/>
            <a:gdLst/>
            <a:ahLst/>
            <a:cxnLst/>
            <a:rect r="r" b="b" t="t" l="l"/>
            <a:pathLst>
              <a:path h="285750" w="781050">
                <a:moveTo>
                  <a:pt x="38100" y="0"/>
                </a:moveTo>
                <a:lnTo>
                  <a:pt x="742950" y="0"/>
                </a:lnTo>
                <a:cubicBezTo>
                  <a:pt x="763993" y="0"/>
                  <a:pt x="781050" y="17057"/>
                  <a:pt x="781050" y="38100"/>
                </a:cubicBezTo>
                <a:lnTo>
                  <a:pt x="781050" y="247650"/>
                </a:lnTo>
                <a:cubicBezTo>
                  <a:pt x="781050" y="268693"/>
                  <a:pt x="763993" y="285750"/>
                  <a:pt x="742950" y="285750"/>
                </a:cubicBezTo>
                <a:lnTo>
                  <a:pt x="38100" y="285750"/>
                </a:lnTo>
                <a:cubicBezTo>
                  <a:pt x="17057" y="285750"/>
                  <a:pt x="0" y="268693"/>
                  <a:pt x="0" y="247650"/>
                </a:cubicBezTo>
                <a:lnTo>
                  <a:pt x="0" y="38100"/>
                </a:lnTo>
                <a:cubicBezTo>
                  <a:pt x="0" y="17057"/>
                  <a:pt x="17057" y="0"/>
                  <a:pt x="38100" y="0"/>
                </a:cubicBezTo>
                <a:close/>
              </a:path>
            </a:pathLst>
          </a:cu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4" id="64"/>
          <p:cNvSpPr/>
          <p:nvPr/>
        </p:nvSpPr>
        <p:spPr>
          <a:xfrm rot="0" flipH="false" flipV="false">
            <a:off x="11150600" y="6311900"/>
            <a:ext cx="2032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81000"/>
            <a:ext cx="965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三、关键项目深度剖析（一）：圣诞与新年活动高压交付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0" y="4826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9688"/>
                </a:solidFill>
                <a:latin typeface="Noto Sans SC"/>
                <a:ea typeface="Noto Sans SC"/>
                <a:cs typeface="Noto Sans SC"/>
                <a:sym typeface="Noto Sans SC"/>
              </a:rPr>
              <a:t>RECRUIT 02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1079500"/>
            <a:ext cx="11176000" cy="635000"/>
          </a:xfrm>
          <a:prstGeom prst="roundRect">
            <a:avLst>
              <a:gd name="adj" fmla="val 20000"/>
            </a:avLst>
          </a:prstGeom>
          <a:solidFill>
            <a:srgbClr val="E6F4EA">
              <a:alpha val="100000"/>
            </a:srgbClr>
          </a:solidFill>
          <a:ln cmpd="sng" cap="flat">
            <a:solidFill>
              <a:srgbClr val="B8DBC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1684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9688"/>
                </a:solidFill>
                <a:latin typeface="Noto Sans SC"/>
                <a:ea typeface="Noto Sans SC"/>
                <a:cs typeface="Noto Sans SC"/>
                <a:sym typeface="Noto Sans SC"/>
              </a:rPr>
              <a:t>KEY MESSAGE：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在时间紧、范围大、协同复杂的条件下，完成四期活动稳定落地。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905000"/>
            <a:ext cx="2603500" cy="146050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98500" y="2095500"/>
            <a:ext cx="457200" cy="4572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70000" y="2095500"/>
            <a:ext cx="1714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项目周期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98500" y="2603500"/>
            <a:ext cx="2222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9688"/>
                </a:solidFill>
                <a:latin typeface="Noto Sans SC"/>
                <a:ea typeface="Noto Sans SC"/>
                <a:cs typeface="Noto Sans SC"/>
                <a:sym typeface="Noto Sans SC"/>
              </a:rPr>
              <a:t>2025.11 - 12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98500" y="2946400"/>
            <a:ext cx="2222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持续两个月，四期推进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302000" y="1905000"/>
            <a:ext cx="2603500" cy="146050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492500" y="2095500"/>
            <a:ext cx="457200" cy="4572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064000" y="2095500"/>
            <a:ext cx="1714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一期上线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492500" y="2603500"/>
            <a:ext cx="2222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9688"/>
                </a:solidFill>
                <a:latin typeface="Noto Sans SC"/>
                <a:ea typeface="Noto Sans SC"/>
                <a:cs typeface="Noto Sans SC"/>
                <a:sym typeface="Noto Sans SC"/>
              </a:rPr>
              <a:t>19个工作日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492500" y="2946400"/>
            <a:ext cx="2222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高压周期下按时交付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096000" y="1905000"/>
            <a:ext cx="2603500" cy="146050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286500" y="2095500"/>
            <a:ext cx="457200" cy="4572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858000" y="2095500"/>
            <a:ext cx="1714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项目投入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86500" y="2603500"/>
            <a:ext cx="2222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9688"/>
                </a:solidFill>
                <a:latin typeface="Noto Sans SC"/>
                <a:ea typeface="Noto Sans SC"/>
                <a:cs typeface="Noto Sans SC"/>
                <a:sym typeface="Noto Sans SC"/>
              </a:rPr>
              <a:t>4后端 + 3前端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86500" y="2946400"/>
            <a:ext cx="2222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多角色协同复杂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890000" y="1905000"/>
            <a:ext cx="2603500" cy="146050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080500" y="2095500"/>
            <a:ext cx="457200" cy="4572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9652000" y="2095500"/>
            <a:ext cx="1714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个人角色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080500" y="2603500"/>
            <a:ext cx="2222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9688"/>
                </a:solidFill>
                <a:latin typeface="Noto Sans SC"/>
                <a:ea typeface="Noto Sans SC"/>
                <a:cs typeface="Noto Sans SC"/>
                <a:sym typeface="Noto Sans SC"/>
              </a:rPr>
              <a:t>负责人 + 核心研发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080500" y="2946400"/>
            <a:ext cx="2222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掌控节奏与关键研发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08000" y="3683000"/>
            <a:ext cx="2603500" cy="19685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508000" y="3683000"/>
            <a:ext cx="2603500" cy="457200"/>
          </a:xfrm>
          <a:prstGeom prst="roundRect">
            <a:avLst>
              <a:gd name="adj" fmla="val 0"/>
            </a:avLst>
          </a:prstGeom>
          <a:solidFill>
            <a:srgbClr val="00968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508000" y="3683000"/>
            <a:ext cx="2603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SITUATION | 背景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35000" y="4254500"/>
            <a:ext cx="2349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需求范围大、时间紧、业务目标强，活动需兼顾拉新、活跃和转化。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3302000" y="3683000"/>
            <a:ext cx="2603500" cy="19685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3302000" y="3683000"/>
            <a:ext cx="2603500" cy="457200"/>
          </a:xfrm>
          <a:prstGeom prst="roundRect">
            <a:avLst>
              <a:gd name="adj" fmla="val 0"/>
            </a:avLst>
          </a:prstGeom>
          <a:solidFill>
            <a:srgbClr val="00968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3302000" y="3683000"/>
            <a:ext cx="2603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TASK | 任务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3429000" y="4254500"/>
            <a:ext cx="2349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拆解发布节奏，协调前后端与业务方，承担关键模块研发和风险兜底。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096000" y="3683000"/>
            <a:ext cx="2603500" cy="19685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096000" y="3683000"/>
            <a:ext cx="2603500" cy="457200"/>
          </a:xfrm>
          <a:prstGeom prst="roundRect">
            <a:avLst>
              <a:gd name="adj" fmla="val 0"/>
            </a:avLst>
          </a:prstGeom>
          <a:solidFill>
            <a:srgbClr val="00968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096000" y="3683000"/>
            <a:ext cx="2603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ACTION | 行动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223000" y="4254500"/>
            <a:ext cx="2349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识别核心链路和里程碑，分阶段推进联调、提测、上线，发现问题后快速协调修复。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890000" y="3683000"/>
            <a:ext cx="2603500" cy="19685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8890000" y="3683000"/>
            <a:ext cx="2603500" cy="457200"/>
          </a:xfrm>
          <a:prstGeom prst="roundRect">
            <a:avLst>
              <a:gd name="adj" fmla="val 0"/>
            </a:avLst>
          </a:prstGeom>
          <a:solidFill>
            <a:srgbClr val="00968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8890000" y="3683000"/>
            <a:ext cx="2603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RESULT | 结果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9017000" y="4254500"/>
            <a:ext cx="2349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12.23完成第四期发布，活动拉新1992人、参与16045人，完成线上问题快速修复与协同兜底。</a:t>
            </a:r>
            <a:endParaRPr lang="en-US" sz="1100"/>
          </a:p>
        </p:txBody>
      </p:sp>
      <p:cxnSp>
        <p:nvCxnSpPr>
          <p:cNvPr name="Connector 42" id="42"/>
          <p:cNvCxnSpPr/>
          <p:nvPr/>
        </p:nvCxnSpPr>
        <p:spPr>
          <a:xfrm rot="-3906" flipH="false" flipV="false">
            <a:off x="508004" y="5962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3" id="43"/>
          <p:cNvSpPr/>
          <p:nvPr/>
        </p:nvSpPr>
        <p:spPr>
          <a:xfrm rot="0" flipH="false" flipV="false">
            <a:off x="508000" y="6070600"/>
            <a:ext cx="762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Source: 个人项目复盘材料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10922000" y="60706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9688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30200" y="266700"/>
            <a:ext cx="4191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266700"/>
            <a:ext cx="762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266700" y="723900"/>
            <a:ext cx="6496050" cy="0"/>
          </a:xfrm>
          <a:custGeom>
            <a:avLst/>
            <a:gdLst/>
            <a:ahLst/>
            <a:cxnLst/>
            <a:rect r="r" b="b" t="t" l="l"/>
            <a:pathLst>
              <a:path h="0" w="6496050">
                <a:moveTo>
                  <a:pt x="0" y="0"/>
                </a:moveTo>
                <a:lnTo>
                  <a:pt x="6496050" y="0"/>
                </a:lnTo>
              </a:path>
            </a:pathLst>
          </a:custGeom>
          <a:noFill/>
          <a:ln w="254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6934200" y="723900"/>
            <a:ext cx="314325" cy="0"/>
          </a:xfrm>
          <a:custGeom>
            <a:avLst/>
            <a:gdLst/>
            <a:ahLst/>
            <a:cxnLst/>
            <a:rect r="r" b="b" t="t" l="l"/>
            <a:pathLst>
              <a:path h="0" w="3143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254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7416800" y="723900"/>
            <a:ext cx="323850" cy="0"/>
          </a:xfrm>
          <a:custGeom>
            <a:avLst/>
            <a:gdLst/>
            <a:ahLst/>
            <a:cxnLst/>
            <a:rect r="r" b="b" t="t" l="l"/>
            <a:pathLst>
              <a:path h="0" w="323850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/>
          <a:ln w="254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591800" y="266700"/>
            <a:ext cx="1041400" cy="368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88C100"/>
                </a:solidFill>
                <a:latin typeface="Arial"/>
                <a:ea typeface="Arial"/>
                <a:cs typeface="Arial"/>
                <a:sym typeface="Arial"/>
              </a:rPr>
              <a:t>RECRUIT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65200" y="342900"/>
            <a:ext cx="8763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8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三、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511300" y="342900"/>
            <a:ext cx="787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关键项目深度剖析（二）：规则引擎从0到1独立建设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299700" y="508000"/>
            <a:ext cx="952500" cy="241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02 PROJECT</a:t>
            </a:r>
            <a:endParaRPr lang="en-US" sz="1100"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381000" y="977900"/>
            <a:ext cx="11430000" cy="495300"/>
          </a:xfrm>
          <a:custGeom>
            <a:avLst/>
            <a:gdLst/>
            <a:ahLst/>
            <a:cxnLst/>
            <a:rect r="r" b="b" t="t" l="l"/>
            <a:pathLst>
              <a:path h="495300" w="11430000">
                <a:moveTo>
                  <a:pt x="57150" y="0"/>
                </a:moveTo>
                <a:lnTo>
                  <a:pt x="11372850" y="0"/>
                </a:lnTo>
                <a:cubicBezTo>
                  <a:pt x="11404413" y="0"/>
                  <a:pt x="11430000" y="25587"/>
                  <a:pt x="11430000" y="57150"/>
                </a:cubicBezTo>
                <a:lnTo>
                  <a:pt x="11430000" y="438150"/>
                </a:lnTo>
                <a:cubicBezTo>
                  <a:pt x="11430000" y="469713"/>
                  <a:pt x="11404413" y="495300"/>
                  <a:pt x="1137285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6FBE8">
              <a:alpha val="100000"/>
            </a:srgbClr>
          </a:solidFill>
          <a:ln w="127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381000" y="977900"/>
            <a:ext cx="57150" cy="495300"/>
          </a:xfrm>
          <a:custGeom>
            <a:avLst/>
            <a:gdLst/>
            <a:ahLst/>
            <a:cxnLst/>
            <a:rect r="r" b="b" t="t" l="l"/>
            <a:pathLst>
              <a:path h="495300" w="571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466725"/>
                </a:lnTo>
                <a:cubicBezTo>
                  <a:pt x="57150" y="482507"/>
                  <a:pt x="44357" y="495300"/>
                  <a:pt x="28575" y="495300"/>
                </a:cubicBezTo>
                <a:lnTo>
                  <a:pt x="28575" y="495300"/>
                </a:lnTo>
                <a:cubicBezTo>
                  <a:pt x="12793" y="495300"/>
                  <a:pt x="0" y="482507"/>
                  <a:pt x="0" y="4667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71500" y="1143000"/>
            <a:ext cx="127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6B8E00"/>
                </a:solidFill>
                <a:latin typeface="Arial"/>
                <a:ea typeface="Arial"/>
                <a:cs typeface="Arial"/>
                <a:sym typeface="Arial"/>
              </a:rPr>
              <a:t>KEY MESSAGE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841500" y="1143000"/>
            <a:ext cx="9398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从原型、文档到系统实现形成完整闭环，证明独立建设复杂系统的能力。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381000" y="1676400"/>
            <a:ext cx="11430000" cy="4095750"/>
          </a:xfrm>
          <a:custGeom>
            <a:avLst/>
            <a:gdLst/>
            <a:ahLst/>
            <a:cxnLst/>
            <a:rect r="r" b="b" t="t" l="l"/>
            <a:pathLst>
              <a:path h="4095750" w="11430000">
                <a:moveTo>
                  <a:pt x="76200" y="0"/>
                </a:moveTo>
                <a:lnTo>
                  <a:pt x="11353800" y="0"/>
                </a:lnTo>
                <a:cubicBezTo>
                  <a:pt x="11395884" y="0"/>
                  <a:pt x="11430000" y="34116"/>
                  <a:pt x="11430000" y="76200"/>
                </a:cubicBezTo>
                <a:lnTo>
                  <a:pt x="11430000" y="4019550"/>
                </a:lnTo>
                <a:cubicBezTo>
                  <a:pt x="11430000" y="4061634"/>
                  <a:pt x="11395884" y="4095750"/>
                  <a:pt x="11353800" y="4095750"/>
                </a:cubicBezTo>
                <a:lnTo>
                  <a:pt x="76200" y="4095750"/>
                </a:lnTo>
                <a:cubicBezTo>
                  <a:pt x="34116" y="4095750"/>
                  <a:pt x="0" y="4061634"/>
                  <a:pt x="0" y="401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12700" cmpd="sng" cap="flat">
            <a:solidFill>
              <a:srgbClr val="D8E7B4">
                <a:alpha val="100000"/>
              </a:srgbClr>
            </a:solidFill>
            <a:prstDash val="dash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558800" y="1866900"/>
            <a:ext cx="11087100" cy="1066800"/>
          </a:xfrm>
          <a:custGeom>
            <a:avLst/>
            <a:gdLst/>
            <a:ahLst/>
            <a:cxnLst/>
            <a:rect r="r" b="b" t="t" l="l"/>
            <a:pathLst>
              <a:path h="1066800" w="11087100">
                <a:moveTo>
                  <a:pt x="152400" y="0"/>
                </a:moveTo>
                <a:lnTo>
                  <a:pt x="10934700" y="0"/>
                </a:lnTo>
                <a:cubicBezTo>
                  <a:pt x="11018868" y="0"/>
                  <a:pt x="11087100" y="68232"/>
                  <a:pt x="11087100" y="152400"/>
                </a:cubicBezTo>
                <a:lnTo>
                  <a:pt x="11087100" y="914400"/>
                </a:lnTo>
                <a:cubicBezTo>
                  <a:pt x="11087100" y="998568"/>
                  <a:pt x="11018868" y="1066800"/>
                  <a:pt x="10934700" y="1066800"/>
                </a:cubicBezTo>
                <a:lnTo>
                  <a:pt x="152400" y="1066800"/>
                </a:lnTo>
                <a:cubicBezTo>
                  <a:pt x="68232" y="1066800"/>
                  <a:pt x="0" y="998568"/>
                  <a:pt x="0" y="9144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6FB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" y="2057400"/>
            <a:ext cx="10541000" cy="393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6B8E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从原型、文档到系统实现形成完整闭环，证明独立建设复杂系统的能力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25500" y="2540000"/>
            <a:ext cx="10541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系统支持调用集、规则链、规则测试执行和多环境管理，确保业务逻辑灵活配置与稳定运行。</a:t>
            </a:r>
            <a:endParaRPr lang="en-US" sz="1100"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558800" y="3276600"/>
            <a:ext cx="2381250" cy="1771650"/>
          </a:xfrm>
          <a:custGeom>
            <a:avLst/>
            <a:gdLst/>
            <a:ahLst/>
            <a:cxnLst/>
            <a:rect r="r" b="b" t="t" l="l"/>
            <a:pathLst>
              <a:path h="1771650" w="2381250">
                <a:moveTo>
                  <a:pt x="133350" y="0"/>
                </a:moveTo>
                <a:lnTo>
                  <a:pt x="2247900" y="0"/>
                </a:lnTo>
                <a:cubicBezTo>
                  <a:pt x="2321547" y="0"/>
                  <a:pt x="2381250" y="59703"/>
                  <a:pt x="2381250" y="133350"/>
                </a:cubicBezTo>
                <a:lnTo>
                  <a:pt x="2381250" y="1638300"/>
                </a:lnTo>
                <a:cubicBezTo>
                  <a:pt x="2381250" y="1711947"/>
                  <a:pt x="2321547" y="1771650"/>
                  <a:pt x="2247900" y="1771650"/>
                </a:cubicBezTo>
                <a:lnTo>
                  <a:pt x="133350" y="1771650"/>
                </a:lnTo>
                <a:cubicBezTo>
                  <a:pt x="59703" y="1771650"/>
                  <a:pt x="0" y="1711947"/>
                  <a:pt x="0" y="16383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558800" y="3276600"/>
            <a:ext cx="2381250" cy="76200"/>
          </a:xfrm>
          <a:custGeom>
            <a:avLst/>
            <a:gdLst/>
            <a:ahLst/>
            <a:cxnLst/>
            <a:rect r="r" b="b" t="t" l="l"/>
            <a:pathLst>
              <a:path h="76200" w="2381250">
                <a:moveTo>
                  <a:pt x="38100" y="0"/>
                </a:moveTo>
                <a:lnTo>
                  <a:pt x="2343150" y="0"/>
                </a:lnTo>
                <a:cubicBezTo>
                  <a:pt x="2364193" y="0"/>
                  <a:pt x="2381250" y="17057"/>
                  <a:pt x="2381250" y="38100"/>
                </a:cubicBezTo>
                <a:lnTo>
                  <a:pt x="2381250" y="38100"/>
                </a:lnTo>
                <a:cubicBezTo>
                  <a:pt x="2381250" y="59143"/>
                  <a:pt x="2364193" y="76200"/>
                  <a:pt x="2343150" y="76200"/>
                </a:cubicBezTo>
                <a:lnTo>
                  <a:pt x="38100" y="76200"/>
                </a:lnTo>
                <a:cubicBezTo>
                  <a:pt x="17057" y="76200"/>
                  <a:pt x="0" y="59143"/>
                  <a:pt x="0" y="38100"/>
                </a:cubicBezTo>
                <a:lnTo>
                  <a:pt x="0" y="38100"/>
                </a:lnTo>
                <a:cubicBezTo>
                  <a:pt x="0" y="17057"/>
                  <a:pt x="17057" y="0"/>
                  <a:pt x="38100" y="0"/>
                </a:cubicBezTo>
                <a:close/>
              </a:path>
            </a:pathLst>
          </a:custGeom>
          <a:solidFill>
            <a:srgbClr val="6B8E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23900" y="3530600"/>
            <a:ext cx="381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6B8E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23900" y="3797300"/>
            <a:ext cx="203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原型设计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23900" y="42037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自制原型交互，在方案阶段提前定义边界与流程，减少沟通成本。</a:t>
            </a:r>
            <a:endParaRPr lang="en-US" sz="1100"/>
          </a:p>
        </p:txBody>
      </p:sp>
      <p:sp>
        <p:nvSpPr>
          <p:cNvPr name="Freeform 24" id="24"/>
          <p:cNvSpPr/>
          <p:nvPr/>
        </p:nvSpPr>
        <p:spPr>
          <a:xfrm rot="0" flipH="false" flipV="false">
            <a:off x="3162300" y="3276600"/>
            <a:ext cx="2381250" cy="1771650"/>
          </a:xfrm>
          <a:custGeom>
            <a:avLst/>
            <a:gdLst/>
            <a:ahLst/>
            <a:cxnLst/>
            <a:rect r="r" b="b" t="t" l="l"/>
            <a:pathLst>
              <a:path h="1771650" w="2381250">
                <a:moveTo>
                  <a:pt x="133350" y="0"/>
                </a:moveTo>
                <a:lnTo>
                  <a:pt x="2247900" y="0"/>
                </a:lnTo>
                <a:cubicBezTo>
                  <a:pt x="2321547" y="0"/>
                  <a:pt x="2381250" y="59703"/>
                  <a:pt x="2381250" y="133350"/>
                </a:cubicBezTo>
                <a:lnTo>
                  <a:pt x="2381250" y="1638300"/>
                </a:lnTo>
                <a:cubicBezTo>
                  <a:pt x="2381250" y="1711947"/>
                  <a:pt x="2321547" y="1771650"/>
                  <a:pt x="2247900" y="1771650"/>
                </a:cubicBezTo>
                <a:lnTo>
                  <a:pt x="133350" y="1771650"/>
                </a:lnTo>
                <a:cubicBezTo>
                  <a:pt x="59703" y="1771650"/>
                  <a:pt x="0" y="1711947"/>
                  <a:pt x="0" y="16383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3162300" y="3276600"/>
            <a:ext cx="2381250" cy="76200"/>
          </a:xfrm>
          <a:custGeom>
            <a:avLst/>
            <a:gdLst/>
            <a:ahLst/>
            <a:cxnLst/>
            <a:rect r="r" b="b" t="t" l="l"/>
            <a:pathLst>
              <a:path h="76200" w="2381250">
                <a:moveTo>
                  <a:pt x="38100" y="0"/>
                </a:moveTo>
                <a:lnTo>
                  <a:pt x="2343150" y="0"/>
                </a:lnTo>
                <a:cubicBezTo>
                  <a:pt x="2364193" y="0"/>
                  <a:pt x="2381250" y="17057"/>
                  <a:pt x="2381250" y="38100"/>
                </a:cubicBezTo>
                <a:lnTo>
                  <a:pt x="2381250" y="38100"/>
                </a:lnTo>
                <a:cubicBezTo>
                  <a:pt x="2381250" y="59143"/>
                  <a:pt x="2364193" y="76200"/>
                  <a:pt x="2343150" y="76200"/>
                </a:cubicBezTo>
                <a:lnTo>
                  <a:pt x="38100" y="76200"/>
                </a:lnTo>
                <a:cubicBezTo>
                  <a:pt x="17057" y="76200"/>
                  <a:pt x="0" y="59143"/>
                  <a:pt x="0" y="38100"/>
                </a:cubicBezTo>
                <a:lnTo>
                  <a:pt x="0" y="38100"/>
                </a:lnTo>
                <a:cubicBezTo>
                  <a:pt x="0" y="17057"/>
                  <a:pt x="17057" y="0"/>
                  <a:pt x="38100" y="0"/>
                </a:cubicBezTo>
                <a:close/>
              </a:path>
            </a:pathLst>
          </a:cu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3340100" y="3530600"/>
            <a:ext cx="381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88C1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3327400" y="3797300"/>
            <a:ext cx="203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需求文档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3340100" y="42037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自编管理台需求文档，清晰界定功能细节，降低后续协作理解偏差。</a:t>
            </a:r>
            <a:endParaRPr lang="en-US" sz="1100"/>
          </a:p>
        </p:txBody>
      </p:sp>
      <p:sp>
        <p:nvSpPr>
          <p:cNvPr name="Freeform 29" id="29"/>
          <p:cNvSpPr/>
          <p:nvPr/>
        </p:nvSpPr>
        <p:spPr>
          <a:xfrm rot="0" flipH="false" flipV="false">
            <a:off x="5778500" y="3276600"/>
            <a:ext cx="2381250" cy="1771650"/>
          </a:xfrm>
          <a:custGeom>
            <a:avLst/>
            <a:gdLst/>
            <a:ahLst/>
            <a:cxnLst/>
            <a:rect r="r" b="b" t="t" l="l"/>
            <a:pathLst>
              <a:path h="1771650" w="2381250">
                <a:moveTo>
                  <a:pt x="133350" y="0"/>
                </a:moveTo>
                <a:lnTo>
                  <a:pt x="2247900" y="0"/>
                </a:lnTo>
                <a:cubicBezTo>
                  <a:pt x="2321547" y="0"/>
                  <a:pt x="2381250" y="59703"/>
                  <a:pt x="2381250" y="133350"/>
                </a:cubicBezTo>
                <a:lnTo>
                  <a:pt x="2381250" y="1638300"/>
                </a:lnTo>
                <a:cubicBezTo>
                  <a:pt x="2381250" y="1711947"/>
                  <a:pt x="2321547" y="1771650"/>
                  <a:pt x="2247900" y="1771650"/>
                </a:cubicBezTo>
                <a:lnTo>
                  <a:pt x="133350" y="1771650"/>
                </a:lnTo>
                <a:cubicBezTo>
                  <a:pt x="59703" y="1771650"/>
                  <a:pt x="0" y="1711947"/>
                  <a:pt x="0" y="16383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0" id="30"/>
          <p:cNvSpPr/>
          <p:nvPr/>
        </p:nvSpPr>
        <p:spPr>
          <a:xfrm rot="0" flipH="false" flipV="false">
            <a:off x="5778500" y="3276600"/>
            <a:ext cx="2381250" cy="76200"/>
          </a:xfrm>
          <a:custGeom>
            <a:avLst/>
            <a:gdLst/>
            <a:ahLst/>
            <a:cxnLst/>
            <a:rect r="r" b="b" t="t" l="l"/>
            <a:pathLst>
              <a:path h="76200" w="2381250">
                <a:moveTo>
                  <a:pt x="38100" y="0"/>
                </a:moveTo>
                <a:lnTo>
                  <a:pt x="2343150" y="0"/>
                </a:lnTo>
                <a:cubicBezTo>
                  <a:pt x="2364193" y="0"/>
                  <a:pt x="2381250" y="17057"/>
                  <a:pt x="2381250" y="38100"/>
                </a:cubicBezTo>
                <a:lnTo>
                  <a:pt x="2381250" y="38100"/>
                </a:lnTo>
                <a:cubicBezTo>
                  <a:pt x="2381250" y="59143"/>
                  <a:pt x="2364193" y="76200"/>
                  <a:pt x="2343150" y="76200"/>
                </a:cubicBezTo>
                <a:lnTo>
                  <a:pt x="38100" y="76200"/>
                </a:lnTo>
                <a:cubicBezTo>
                  <a:pt x="17057" y="76200"/>
                  <a:pt x="0" y="59143"/>
                  <a:pt x="0" y="38100"/>
                </a:cubicBezTo>
                <a:lnTo>
                  <a:pt x="0" y="38100"/>
                </a:lnTo>
                <a:cubicBezTo>
                  <a:pt x="0" y="17057"/>
                  <a:pt x="17057" y="0"/>
                  <a:pt x="38100" y="0"/>
                </a:cubicBezTo>
                <a:close/>
              </a:path>
            </a:pathLst>
          </a:custGeom>
          <a:solidFill>
            <a:srgbClr val="4D7E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5943600" y="3530600"/>
            <a:ext cx="381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4D7E2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5943600" y="3797300"/>
            <a:ext cx="203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系统实现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5943600" y="42037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独立实现规则引擎系统，完成管理台搭建和核心执行能力的开发落地。</a:t>
            </a:r>
            <a:endParaRPr lang="en-US" sz="1100"/>
          </a:p>
        </p:txBody>
      </p:sp>
      <p:sp>
        <p:nvSpPr>
          <p:cNvPr name="Freeform 34" id="34"/>
          <p:cNvSpPr/>
          <p:nvPr/>
        </p:nvSpPr>
        <p:spPr>
          <a:xfrm rot="0" flipH="false" flipV="false">
            <a:off x="8382000" y="3276600"/>
            <a:ext cx="3257550" cy="1771650"/>
          </a:xfrm>
          <a:custGeom>
            <a:avLst/>
            <a:gdLst/>
            <a:ahLst/>
            <a:cxnLst/>
            <a:rect r="r" b="b" t="t" l="l"/>
            <a:pathLst>
              <a:path h="1771650" w="3257550">
                <a:moveTo>
                  <a:pt x="133350" y="0"/>
                </a:moveTo>
                <a:lnTo>
                  <a:pt x="3124200" y="0"/>
                </a:lnTo>
                <a:cubicBezTo>
                  <a:pt x="3197847" y="0"/>
                  <a:pt x="3257550" y="59703"/>
                  <a:pt x="3257550" y="133350"/>
                </a:cubicBezTo>
                <a:lnTo>
                  <a:pt x="3257550" y="1638300"/>
                </a:lnTo>
                <a:cubicBezTo>
                  <a:pt x="3257550" y="1711947"/>
                  <a:pt x="3197847" y="1771650"/>
                  <a:pt x="3124200" y="1771650"/>
                </a:cubicBezTo>
                <a:lnTo>
                  <a:pt x="133350" y="1771650"/>
                </a:lnTo>
                <a:cubicBezTo>
                  <a:pt x="59703" y="1771650"/>
                  <a:pt x="0" y="1711947"/>
                  <a:pt x="0" y="16383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5" id="35"/>
          <p:cNvSpPr/>
          <p:nvPr/>
        </p:nvSpPr>
        <p:spPr>
          <a:xfrm rot="0" flipH="false" flipV="false">
            <a:off x="8382000" y="3276600"/>
            <a:ext cx="3257550" cy="76200"/>
          </a:xfrm>
          <a:custGeom>
            <a:avLst/>
            <a:gdLst/>
            <a:ahLst/>
            <a:cxnLst/>
            <a:rect r="r" b="b" t="t" l="l"/>
            <a:pathLst>
              <a:path h="76200" w="3257550">
                <a:moveTo>
                  <a:pt x="38100" y="0"/>
                </a:moveTo>
                <a:lnTo>
                  <a:pt x="3219450" y="0"/>
                </a:lnTo>
                <a:cubicBezTo>
                  <a:pt x="3240493" y="0"/>
                  <a:pt x="3257550" y="17057"/>
                  <a:pt x="3257550" y="38100"/>
                </a:cubicBezTo>
                <a:lnTo>
                  <a:pt x="3257550" y="38100"/>
                </a:lnTo>
                <a:cubicBezTo>
                  <a:pt x="3257550" y="59143"/>
                  <a:pt x="3240493" y="76200"/>
                  <a:pt x="3219450" y="76200"/>
                </a:cubicBezTo>
                <a:lnTo>
                  <a:pt x="38100" y="76200"/>
                </a:lnTo>
                <a:cubicBezTo>
                  <a:pt x="17057" y="76200"/>
                  <a:pt x="0" y="59143"/>
                  <a:pt x="0" y="38100"/>
                </a:cubicBezTo>
                <a:lnTo>
                  <a:pt x="0" y="38100"/>
                </a:lnTo>
                <a:cubicBezTo>
                  <a:pt x="0" y="17057"/>
                  <a:pt x="17057" y="0"/>
                  <a:pt x="38100" y="0"/>
                </a:cubicBezTo>
                <a:close/>
              </a:path>
            </a:pathLst>
          </a:custGeom>
          <a:solidFill>
            <a:srgbClr val="B9D99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559800" y="3530600"/>
            <a:ext cx="381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B9D99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547100" y="3797300"/>
            <a:ext cx="2794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价值结论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559800" y="42037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从需求承接升级为方案定义与独立交付，体现更强的抽象设计能力和Owner意识。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0" y="6096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FAFB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0" id="40"/>
          <p:cNvSpPr/>
          <p:nvPr/>
        </p:nvSpPr>
        <p:spPr>
          <a:xfrm rot="0" flipH="false" flipV="false">
            <a:off x="0" y="6096000"/>
            <a:ext cx="12192000" cy="0"/>
          </a:xfrm>
          <a:custGeom>
            <a:avLst/>
            <a:gdLst/>
            <a:ahLst/>
            <a:cxnLst/>
            <a:rect r="r" b="b" t="t" l="l"/>
            <a:pathLst>
              <a:path h="0"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406400" y="6337300"/>
            <a:ext cx="4851400" cy="17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Source: 2026 Q1 项目复盘报告 | 个人工作沉淀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406400" y="6578600"/>
            <a:ext cx="3454400" cy="165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800">
                <a:solidFill>
                  <a:srgbClr val="B8C0C2"/>
                </a:solidFill>
                <a:latin typeface="Arial"/>
                <a:ea typeface="Arial"/>
                <a:cs typeface="Arial"/>
                <a:sym typeface="Arial"/>
              </a:rPr>
              <a:t>Template: Project Review V1.0 | layout: sequence</a:t>
            </a:r>
            <a:endParaRPr lang="en-US" sz="1100"/>
          </a:p>
        </p:txBody>
      </p:sp>
      <p:sp>
        <p:nvSpPr>
          <p:cNvPr name="Freeform 43" id="43"/>
          <p:cNvSpPr/>
          <p:nvPr/>
        </p:nvSpPr>
        <p:spPr>
          <a:xfrm rot="0" flipH="false" flipV="false">
            <a:off x="10858500" y="6235700"/>
            <a:ext cx="781050" cy="285750"/>
          </a:xfrm>
          <a:custGeom>
            <a:avLst/>
            <a:gdLst/>
            <a:ahLst/>
            <a:cxnLst/>
            <a:rect r="r" b="b" t="t" l="l"/>
            <a:pathLst>
              <a:path h="285750" w="781050">
                <a:moveTo>
                  <a:pt x="38100" y="0"/>
                </a:moveTo>
                <a:lnTo>
                  <a:pt x="742950" y="0"/>
                </a:lnTo>
                <a:cubicBezTo>
                  <a:pt x="763993" y="0"/>
                  <a:pt x="781050" y="17057"/>
                  <a:pt x="781050" y="38100"/>
                </a:cubicBezTo>
                <a:lnTo>
                  <a:pt x="781050" y="247650"/>
                </a:lnTo>
                <a:cubicBezTo>
                  <a:pt x="781050" y="268693"/>
                  <a:pt x="763993" y="285750"/>
                  <a:pt x="742950" y="285750"/>
                </a:cubicBezTo>
                <a:lnTo>
                  <a:pt x="38100" y="285750"/>
                </a:lnTo>
                <a:cubicBezTo>
                  <a:pt x="17057" y="285750"/>
                  <a:pt x="0" y="268693"/>
                  <a:pt x="0" y="247650"/>
                </a:cubicBezTo>
                <a:lnTo>
                  <a:pt x="0" y="38100"/>
                </a:lnTo>
                <a:cubicBezTo>
                  <a:pt x="0" y="17057"/>
                  <a:pt x="17057" y="0"/>
                  <a:pt x="38100" y="0"/>
                </a:cubicBezTo>
                <a:close/>
              </a:path>
            </a:pathLst>
          </a:cu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11150600" y="6311900"/>
            <a:ext cx="2032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30200" y="266700"/>
            <a:ext cx="4191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266700"/>
            <a:ext cx="762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66700" y="723900"/>
            <a:ext cx="6502400" cy="127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934200" y="723900"/>
            <a:ext cx="317500" cy="127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416800" y="723900"/>
            <a:ext cx="330200" cy="127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591800" y="266700"/>
            <a:ext cx="1041400" cy="368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88C100"/>
                </a:solidFill>
                <a:latin typeface="Arial"/>
                <a:ea typeface="Arial"/>
                <a:cs typeface="Arial"/>
                <a:sym typeface="Arial"/>
              </a:rPr>
              <a:t>RECRUIT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65200" y="342900"/>
            <a:ext cx="8763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8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三、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511300" y="342900"/>
            <a:ext cx="762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关键项目深度剖析（三）：优化与平台化建设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045700" y="508000"/>
            <a:ext cx="1270000" cy="241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03 OPTIMIZATION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81000" y="977900"/>
            <a:ext cx="11430000" cy="495300"/>
          </a:xfrm>
          <a:prstGeom prst="roundRect">
            <a:avLst>
              <a:gd name="adj" fmla="val 25641"/>
            </a:avLst>
          </a:prstGeom>
          <a:solidFill>
            <a:srgbClr val="F6FBE8">
              <a:alpha val="100000"/>
            </a:srgbClr>
          </a:solidFill>
          <a:ln w="127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81000" y="977900"/>
            <a:ext cx="63500" cy="495300"/>
          </a:xfrm>
          <a:prstGeom prst="roundRect">
            <a:avLst>
              <a:gd name="adj" fmla="val 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71500" y="1143000"/>
            <a:ext cx="127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6B8E00"/>
                </a:solidFill>
                <a:latin typeface="Arial"/>
                <a:ea typeface="Arial"/>
                <a:cs typeface="Arial"/>
                <a:sym typeface="Arial"/>
              </a:rPr>
              <a:t>KEY MESSAGE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905000" y="1143000"/>
            <a:ext cx="889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不只完成需求，更坚持把一次性交付升级为可复用能力。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81000" y="1676400"/>
            <a:ext cx="11430000" cy="4102100"/>
          </a:xfrm>
          <a:prstGeom prst="roundRect">
            <a:avLst>
              <a:gd name="adj" fmla="val 3095"/>
            </a:avLst>
          </a:prstGeom>
          <a:noFill/>
          <a:ln w="12700" cmpd="sng" cap="flat">
            <a:solidFill>
              <a:srgbClr val="D8E7B4">
                <a:alpha val="100000"/>
              </a:srgbClr>
            </a:solidFill>
            <a:prstDash val="dash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58800" y="1943100"/>
            <a:ext cx="3429000" cy="3048000"/>
          </a:xfrm>
          <a:prstGeom prst="roundRect">
            <a:avLst>
              <a:gd name="adj" fmla="val 208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58800" y="1943100"/>
            <a:ext cx="3429000" cy="76200"/>
          </a:xfrm>
          <a:prstGeom prst="roundRect">
            <a:avLst>
              <a:gd name="adj" fmla="val 0"/>
            </a:avLst>
          </a:prstGeom>
          <a:solidFill>
            <a:srgbClr val="6B8E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23900" y="2197100"/>
            <a:ext cx="762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6B8E00"/>
                </a:solidFill>
                <a:latin typeface="Arial"/>
                <a:ea typeface="Arial"/>
                <a:cs typeface="Arial"/>
                <a:sym typeface="Arial"/>
              </a:rPr>
              <a:t>CASE A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23900" y="2463800"/>
            <a:ext cx="3048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CRM查询优化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23900" y="28702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问题：后台查询接口响应慢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23900" y="31750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动作：定位瓶颈并重构查询链路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23900" y="34798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结果：响应时间从2s降至1s以下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23900" y="37846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价值：直接提升运营使用效率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381500" y="1943100"/>
            <a:ext cx="3429000" cy="3048000"/>
          </a:xfrm>
          <a:prstGeom prst="roundRect">
            <a:avLst>
              <a:gd name="adj" fmla="val 208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381500" y="1943100"/>
            <a:ext cx="3429000" cy="76200"/>
          </a:xfrm>
          <a:prstGeom prst="roundRect">
            <a:avLst>
              <a:gd name="adj" fmla="val 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546600" y="2197100"/>
            <a:ext cx="762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88C100"/>
                </a:solidFill>
                <a:latin typeface="Arial"/>
                <a:ea typeface="Arial"/>
                <a:cs typeface="Arial"/>
                <a:sym typeface="Arial"/>
              </a:rPr>
              <a:t>CASE B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546600" y="2463800"/>
            <a:ext cx="3048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签到重构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546600" y="28702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问题：活动需求重复开发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4546600" y="31750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动作：抽象为标准配置化能力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4546600" y="34798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结果：后端无需每次重复开发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4546600" y="37846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价值：提升需求响应效率与稳定性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204200" y="1943100"/>
            <a:ext cx="3429000" cy="3048000"/>
          </a:xfrm>
          <a:prstGeom prst="roundRect">
            <a:avLst>
              <a:gd name="adj" fmla="val 208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204200" y="1943100"/>
            <a:ext cx="3429000" cy="76200"/>
          </a:xfrm>
          <a:prstGeom prst="roundRect">
            <a:avLst>
              <a:gd name="adj" fmla="val 0"/>
            </a:avLst>
          </a:prstGeom>
          <a:solidFill>
            <a:srgbClr val="4D7E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369300" y="2197100"/>
            <a:ext cx="762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4D7E2E"/>
                </a:solidFill>
                <a:latin typeface="Arial"/>
                <a:ea typeface="Arial"/>
                <a:cs typeface="Arial"/>
                <a:sym typeface="Arial"/>
              </a:rPr>
              <a:t>CASE C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369300" y="2463800"/>
            <a:ext cx="3048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转盘配置化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369300" y="28702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问题：33个子类散落在实现中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369300" y="31750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动作：抽象为配置组合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369300" y="34798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结果：配置时间从1天缩短至2小时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8369300" y="37846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价值：持续降低重复研发成本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508000" y="5207000"/>
            <a:ext cx="11176000" cy="457200"/>
          </a:xfrm>
          <a:prstGeom prst="roundRect">
            <a:avLst>
              <a:gd name="adj" fmla="val 27777"/>
            </a:avLst>
          </a:prstGeom>
          <a:solidFill>
            <a:srgbClr val="6B8E0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698500" y="5308600"/>
            <a:ext cx="1079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6B8E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通过性能优化、架构重构和配置化设计，把一次性交付持续升级为可复用能力。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0" y="6096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FAFB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0" y="6096000"/>
            <a:ext cx="12192000" cy="1270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406400" y="6286500"/>
            <a:ext cx="5080000" cy="17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Source: 个人项目复盘材料 | 2026年述职报告</a:t>
            </a:r>
            <a:endParaRPr lang="en-US" sz="1100"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406400" y="6540500"/>
            <a:ext cx="3810000" cy="165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B8C0C2"/>
                </a:solidFill>
                <a:latin typeface="Arial"/>
                <a:ea typeface="Arial"/>
                <a:cs typeface="Arial"/>
                <a:sym typeface="Arial"/>
              </a:rPr>
              <a:t>Theme: Green Tech / Layout: 3-Case Analysis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10858500" y="6235700"/>
            <a:ext cx="787400" cy="292100"/>
          </a:xfrm>
          <a:prstGeom prst="roundRect">
            <a:avLst>
              <a:gd name="adj" fmla="val 43478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10858500" y="6273800"/>
            <a:ext cx="7874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30200" y="266700"/>
            <a:ext cx="4191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266700"/>
            <a:ext cx="762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66700" y="723900"/>
            <a:ext cx="6502400" cy="1270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934200" y="723900"/>
            <a:ext cx="317500" cy="1270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416800" y="723900"/>
            <a:ext cx="330200" cy="1270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591800" y="266700"/>
            <a:ext cx="1041400" cy="368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88C100"/>
                </a:solidFill>
                <a:latin typeface="Arial"/>
                <a:ea typeface="Arial"/>
                <a:cs typeface="Arial"/>
                <a:sym typeface="Arial"/>
              </a:rPr>
              <a:t>RECRUIT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65200" y="342900"/>
            <a:ext cx="635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8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四、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587500" y="342900"/>
            <a:ext cx="508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个人贡献与方法沉淀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652000" y="533400"/>
            <a:ext cx="1524000" cy="241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03 EXTRA VALUE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81000" y="977900"/>
            <a:ext cx="11430000" cy="558800"/>
          </a:xfrm>
          <a:prstGeom prst="roundRect">
            <a:avLst>
              <a:gd name="adj" fmla="val 11363"/>
            </a:avLst>
          </a:prstGeom>
          <a:solidFill>
            <a:srgbClr val="F6FBE8">
              <a:alpha val="100000"/>
            </a:srgbClr>
          </a:solidFill>
          <a:ln w="127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81000" y="977900"/>
            <a:ext cx="76200" cy="558800"/>
          </a:xfrm>
          <a:prstGeom prst="roundRect">
            <a:avLst>
              <a:gd name="adj" fmla="val 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71500" y="11049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6B8E00"/>
                </a:solidFill>
                <a:latin typeface="Arial"/>
                <a:ea typeface="Arial"/>
                <a:cs typeface="Arial"/>
                <a:sym typeface="Arial"/>
              </a:rPr>
              <a:t>KEY MESSAGE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905000" y="1104900"/>
            <a:ext cx="889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在项目交付之外，主动补位团队机制与知识沉淀，让经验可以复制、方法可以复用。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81000" y="1714500"/>
            <a:ext cx="11430000" cy="3175000"/>
          </a:xfrm>
          <a:prstGeom prst="roundRect">
            <a:avLst>
              <a:gd name="adj" fmla="val 2000"/>
            </a:avLst>
          </a:prstGeom>
          <a:noFill/>
          <a:ln w="12700" cmpd="sng" cap="flat">
            <a:solidFill>
              <a:srgbClr val="D8E7B4">
                <a:alpha val="100000"/>
              </a:srgbClr>
            </a:solidFill>
            <a:prstDash val="dash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71500" y="1905000"/>
            <a:ext cx="2667000" cy="2667000"/>
          </a:xfrm>
          <a:prstGeom prst="roundRect">
            <a:avLst>
              <a:gd name="adj" fmla="val 238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71500" y="1905000"/>
            <a:ext cx="2667000" cy="76200"/>
          </a:xfrm>
          <a:prstGeom prst="roundRect">
            <a:avLst>
              <a:gd name="adj" fmla="val 0"/>
            </a:avLst>
          </a:prstGeom>
          <a:solidFill>
            <a:srgbClr val="6B8E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2159000"/>
            <a:ext cx="228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6B8E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沉淀 01 | 新人指引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2603500"/>
            <a:ext cx="228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编写《后端研发新人指引》，帮助新同学更快理解环境、流程和知识体系，加速融入团队。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365500" y="1905000"/>
            <a:ext cx="2667000" cy="2667000"/>
          </a:xfrm>
          <a:prstGeom prst="roundRect">
            <a:avLst>
              <a:gd name="adj" fmla="val 238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365500" y="1905000"/>
            <a:ext cx="2667000" cy="76200"/>
          </a:xfrm>
          <a:prstGeom prst="roundRect">
            <a:avLst>
              <a:gd name="adj" fmla="val 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556000" y="2159000"/>
            <a:ext cx="228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88C1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沉淀 02 | 工程 SOP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556000" y="2603500"/>
            <a:ext cx="228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梳理新增工程应用与上线应用SOP，标准化操作流程，显著降低团队重复沟通成本。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159500" y="1905000"/>
            <a:ext cx="2667000" cy="2667000"/>
          </a:xfrm>
          <a:prstGeom prst="roundRect">
            <a:avLst>
              <a:gd name="adj" fmla="val 238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159500" y="1905000"/>
            <a:ext cx="2667000" cy="76200"/>
          </a:xfrm>
          <a:prstGeom prst="roundRect">
            <a:avLst>
              <a:gd name="adj" fmla="val 0"/>
            </a:avLst>
          </a:prstGeom>
          <a:solidFill>
            <a:srgbClr val="4D7E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350000" y="2159000"/>
            <a:ext cx="228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4D7E2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沉淀 03 | AI 协同研发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350000" y="2603500"/>
            <a:ext cx="228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在需求分析、文档整理及代码编写中引入AI工具，提升信息组织效率与研发效能。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953500" y="1905000"/>
            <a:ext cx="2667000" cy="2667000"/>
          </a:xfrm>
          <a:prstGeom prst="roundRect">
            <a:avLst>
              <a:gd name="adj" fmla="val 238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953500" y="1905000"/>
            <a:ext cx="2667000" cy="76200"/>
          </a:xfrm>
          <a:prstGeom prst="roundRect">
            <a:avLst>
              <a:gd name="adj" fmla="val 0"/>
            </a:avLst>
          </a:prstGeom>
          <a:solidFill>
            <a:srgbClr val="B9D99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144000" y="2159000"/>
            <a:ext cx="228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6B8E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沉淀 04 | 团队价值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9144000" y="2603500"/>
            <a:ext cx="228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将个人经验转化为团队可复用资产，有效降低新人入职培训（Onboarding）与工作交接成本。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381000" y="4953000"/>
            <a:ext cx="11430000" cy="762000"/>
          </a:xfrm>
          <a:prstGeom prst="roundRect">
            <a:avLst>
              <a:gd name="adj" fmla="val 8333"/>
            </a:avLst>
          </a:prstGeom>
          <a:solidFill>
            <a:srgbClr val="F6FB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35000" y="5080000"/>
            <a:ext cx="1092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6B8E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核心价值：在项目交付之外，主动补位团队机制与知识沉淀，让经验可以复制、方法可以复用。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0" y="6096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FAFB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0" y="6096000"/>
            <a:ext cx="12192000" cy="1270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406400" y="6223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Source: Personal Achievements &amp; Knowledge Management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406400" y="65024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B8C0C2"/>
                </a:solidFill>
                <a:latin typeface="Arial"/>
                <a:ea typeface="Arial"/>
                <a:cs typeface="Arial"/>
                <a:sym typeface="Arial"/>
              </a:rPr>
              <a:t>Template: 03_content.svg | Layout: Contribution Cards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10896600" y="6248400"/>
            <a:ext cx="762000" cy="304800"/>
          </a:xfrm>
          <a:prstGeom prst="roundRect">
            <a:avLst>
              <a:gd name="adj" fmla="val 41666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10896600" y="62484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30200" y="266700"/>
            <a:ext cx="4191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25500" y="266700"/>
            <a:ext cx="762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266700" y="723900"/>
            <a:ext cx="6496050" cy="0"/>
          </a:xfrm>
          <a:custGeom>
            <a:avLst/>
            <a:gdLst/>
            <a:ahLst/>
            <a:cxnLst/>
            <a:rect r="r" b="b" t="t" l="l"/>
            <a:pathLst>
              <a:path h="0" w="6496050">
                <a:moveTo>
                  <a:pt x="0" y="0"/>
                </a:moveTo>
                <a:lnTo>
                  <a:pt x="6496050" y="0"/>
                </a:lnTo>
              </a:path>
            </a:pathLst>
          </a:custGeom>
          <a:noFill/>
          <a:ln w="254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6934200" y="723900"/>
            <a:ext cx="314325" cy="0"/>
          </a:xfrm>
          <a:custGeom>
            <a:avLst/>
            <a:gdLst/>
            <a:ahLst/>
            <a:cxnLst/>
            <a:rect r="r" b="b" t="t" l="l"/>
            <a:pathLst>
              <a:path h="0" w="3143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254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7416800" y="723900"/>
            <a:ext cx="323850" cy="0"/>
          </a:xfrm>
          <a:custGeom>
            <a:avLst/>
            <a:gdLst/>
            <a:ahLst/>
            <a:cxnLst/>
            <a:rect r="r" b="b" t="t" l="l"/>
            <a:pathLst>
              <a:path h="0" w="323850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/>
          <a:ln w="254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591800" y="266700"/>
            <a:ext cx="1041400" cy="368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88C100"/>
                </a:solidFill>
                <a:latin typeface="Arial"/>
                <a:ea typeface="Arial"/>
                <a:cs typeface="Arial"/>
                <a:sym typeface="Arial"/>
              </a:rPr>
              <a:t>RECRUIT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65200" y="342900"/>
            <a:ext cx="8763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8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五、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511300" y="342900"/>
            <a:ext cx="381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不足反思与未来规划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956800" y="508000"/>
            <a:ext cx="1295400" cy="241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03 EXTRA VALUE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381000" y="977900"/>
            <a:ext cx="11430000" cy="495300"/>
          </a:xfrm>
          <a:custGeom>
            <a:avLst/>
            <a:gdLst/>
            <a:ahLst/>
            <a:cxnLst/>
            <a:rect r="r" b="b" t="t" l="l"/>
            <a:pathLst>
              <a:path h="495300" w="11430000">
                <a:moveTo>
                  <a:pt x="57150" y="0"/>
                </a:moveTo>
                <a:lnTo>
                  <a:pt x="11372850" y="0"/>
                </a:lnTo>
                <a:cubicBezTo>
                  <a:pt x="11404413" y="0"/>
                  <a:pt x="11430000" y="25587"/>
                  <a:pt x="11430000" y="57150"/>
                </a:cubicBezTo>
                <a:lnTo>
                  <a:pt x="11430000" y="438150"/>
                </a:lnTo>
                <a:cubicBezTo>
                  <a:pt x="11430000" y="469713"/>
                  <a:pt x="11404413" y="495300"/>
                  <a:pt x="1137285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6FBE8">
              <a:alpha val="100000"/>
            </a:srgbClr>
          </a:solidFill>
          <a:ln w="127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381000" y="977900"/>
            <a:ext cx="57150" cy="495300"/>
          </a:xfrm>
          <a:custGeom>
            <a:avLst/>
            <a:gdLst/>
            <a:ahLst/>
            <a:cxnLst/>
            <a:rect r="r" b="b" t="t" l="l"/>
            <a:pathLst>
              <a:path h="495300" w="571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466725"/>
                </a:lnTo>
                <a:cubicBezTo>
                  <a:pt x="57150" y="482507"/>
                  <a:pt x="44357" y="495300"/>
                  <a:pt x="28575" y="495300"/>
                </a:cubicBezTo>
                <a:lnTo>
                  <a:pt x="28575" y="495300"/>
                </a:lnTo>
                <a:cubicBezTo>
                  <a:pt x="12793" y="495300"/>
                  <a:pt x="0" y="482507"/>
                  <a:pt x="0" y="4667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71500" y="1143000"/>
            <a:ext cx="1066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6B8E00"/>
                </a:solidFill>
                <a:latin typeface="Arial"/>
                <a:ea typeface="Arial"/>
                <a:cs typeface="Arial"/>
                <a:sym typeface="Arial"/>
              </a:rPr>
              <a:t>KEY MESSAGE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752600" y="1143000"/>
            <a:ext cx="8255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已识别在量化、业务纵深和团队规范方面的提升空间。</a:t>
            </a:r>
            <a:endParaRPr lang="en-US" sz="1100"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381000" y="1676400"/>
            <a:ext cx="11430000" cy="4095750"/>
          </a:xfrm>
          <a:custGeom>
            <a:avLst/>
            <a:gdLst/>
            <a:ahLst/>
            <a:cxnLst/>
            <a:rect r="r" b="b" t="t" l="l"/>
            <a:pathLst>
              <a:path h="4095750" w="11430000">
                <a:moveTo>
                  <a:pt x="76200" y="0"/>
                </a:moveTo>
                <a:lnTo>
                  <a:pt x="11353800" y="0"/>
                </a:lnTo>
                <a:cubicBezTo>
                  <a:pt x="11395884" y="0"/>
                  <a:pt x="11430000" y="34116"/>
                  <a:pt x="11430000" y="76200"/>
                </a:cubicBezTo>
                <a:lnTo>
                  <a:pt x="11430000" y="4019550"/>
                </a:lnTo>
                <a:cubicBezTo>
                  <a:pt x="11430000" y="4061634"/>
                  <a:pt x="11395884" y="4095750"/>
                  <a:pt x="11353800" y="4095750"/>
                </a:cubicBezTo>
                <a:lnTo>
                  <a:pt x="76200" y="4095750"/>
                </a:lnTo>
                <a:cubicBezTo>
                  <a:pt x="34116" y="4095750"/>
                  <a:pt x="0" y="4061634"/>
                  <a:pt x="0" y="401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12700" cmpd="sng" cap="flat">
            <a:solidFill>
              <a:srgbClr val="D8E7B4">
                <a:alpha val="100000"/>
              </a:srgbClr>
            </a:solidFill>
            <a:prstDash val="dash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558800" y="1968500"/>
            <a:ext cx="11087100" cy="971550"/>
          </a:xfrm>
          <a:custGeom>
            <a:avLst/>
            <a:gdLst/>
            <a:ahLst/>
            <a:cxnLst/>
            <a:rect r="r" b="b" t="t" l="l"/>
            <a:pathLst>
              <a:path h="971550" w="11087100">
                <a:moveTo>
                  <a:pt x="133350" y="0"/>
                </a:moveTo>
                <a:lnTo>
                  <a:pt x="10953750" y="0"/>
                </a:lnTo>
                <a:cubicBezTo>
                  <a:pt x="11027397" y="0"/>
                  <a:pt x="11087100" y="59703"/>
                  <a:pt x="11087100" y="133350"/>
                </a:cubicBezTo>
                <a:lnTo>
                  <a:pt x="11087100" y="838200"/>
                </a:lnTo>
                <a:cubicBezTo>
                  <a:pt x="11087100" y="911847"/>
                  <a:pt x="11027397" y="971550"/>
                  <a:pt x="10953750" y="971550"/>
                </a:cubicBezTo>
                <a:lnTo>
                  <a:pt x="133350" y="971550"/>
                </a:lnTo>
                <a:cubicBezTo>
                  <a:pt x="59703" y="971550"/>
                  <a:pt x="0" y="911847"/>
                  <a:pt x="0" y="8382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558800" y="1968500"/>
            <a:ext cx="133350" cy="971550"/>
          </a:xfrm>
          <a:custGeom>
            <a:avLst/>
            <a:gdLst/>
            <a:ahLst/>
            <a:cxnLst/>
            <a:rect r="r" b="b" t="t" l="l"/>
            <a:pathLst>
              <a:path h="971550" w="133350">
                <a:moveTo>
                  <a:pt x="66675" y="0"/>
                </a:moveTo>
                <a:lnTo>
                  <a:pt x="66675" y="0"/>
                </a:lnTo>
                <a:cubicBezTo>
                  <a:pt x="103499" y="0"/>
                  <a:pt x="133350" y="29851"/>
                  <a:pt x="133350" y="66675"/>
                </a:cubicBezTo>
                <a:lnTo>
                  <a:pt x="133350" y="904875"/>
                </a:lnTo>
                <a:cubicBezTo>
                  <a:pt x="133350" y="941699"/>
                  <a:pt x="103499" y="971550"/>
                  <a:pt x="66675" y="971550"/>
                </a:cubicBezTo>
                <a:lnTo>
                  <a:pt x="66675" y="971550"/>
                </a:lnTo>
                <a:cubicBezTo>
                  <a:pt x="29851" y="971550"/>
                  <a:pt x="0" y="941699"/>
                  <a:pt x="0" y="904875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>
            <a:srgbClr val="6B8E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76300" y="2133600"/>
            <a:ext cx="1905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结果量化不足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921000" y="21463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96969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表现：复盘重过程轻结果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461000" y="2146300"/>
            <a:ext cx="546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6B8E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改进：项目初期同步效果口径，量化结果</a:t>
            </a:r>
            <a:endParaRPr lang="en-US" sz="1100"/>
          </a:p>
        </p:txBody>
      </p:sp>
      <p:sp>
        <p:nvSpPr>
          <p:cNvPr name="Freeform 22" id="22"/>
          <p:cNvSpPr/>
          <p:nvPr/>
        </p:nvSpPr>
        <p:spPr>
          <a:xfrm rot="0" flipH="false" flipV="false">
            <a:off x="558800" y="3124200"/>
            <a:ext cx="11087100" cy="971550"/>
          </a:xfrm>
          <a:custGeom>
            <a:avLst/>
            <a:gdLst/>
            <a:ahLst/>
            <a:cxnLst/>
            <a:rect r="r" b="b" t="t" l="l"/>
            <a:pathLst>
              <a:path h="971550" w="11087100">
                <a:moveTo>
                  <a:pt x="133350" y="0"/>
                </a:moveTo>
                <a:lnTo>
                  <a:pt x="10953750" y="0"/>
                </a:lnTo>
                <a:cubicBezTo>
                  <a:pt x="11027397" y="0"/>
                  <a:pt x="11087100" y="59703"/>
                  <a:pt x="11087100" y="133350"/>
                </a:cubicBezTo>
                <a:lnTo>
                  <a:pt x="11087100" y="838200"/>
                </a:lnTo>
                <a:cubicBezTo>
                  <a:pt x="11087100" y="911847"/>
                  <a:pt x="11027397" y="971550"/>
                  <a:pt x="10953750" y="971550"/>
                </a:cubicBezTo>
                <a:lnTo>
                  <a:pt x="133350" y="971550"/>
                </a:lnTo>
                <a:cubicBezTo>
                  <a:pt x="59703" y="971550"/>
                  <a:pt x="0" y="911847"/>
                  <a:pt x="0" y="8382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23" id="23"/>
          <p:cNvSpPr/>
          <p:nvPr/>
        </p:nvSpPr>
        <p:spPr>
          <a:xfrm rot="0" flipH="false" flipV="false">
            <a:off x="558800" y="3124200"/>
            <a:ext cx="133350" cy="971550"/>
          </a:xfrm>
          <a:custGeom>
            <a:avLst/>
            <a:gdLst/>
            <a:ahLst/>
            <a:cxnLst/>
            <a:rect r="r" b="b" t="t" l="l"/>
            <a:pathLst>
              <a:path h="971550" w="133350">
                <a:moveTo>
                  <a:pt x="66675" y="0"/>
                </a:moveTo>
                <a:lnTo>
                  <a:pt x="66675" y="0"/>
                </a:lnTo>
                <a:cubicBezTo>
                  <a:pt x="103499" y="0"/>
                  <a:pt x="133350" y="29851"/>
                  <a:pt x="133350" y="66675"/>
                </a:cubicBezTo>
                <a:lnTo>
                  <a:pt x="133350" y="904875"/>
                </a:lnTo>
                <a:cubicBezTo>
                  <a:pt x="133350" y="941699"/>
                  <a:pt x="103499" y="971550"/>
                  <a:pt x="66675" y="971550"/>
                </a:cubicBezTo>
                <a:lnTo>
                  <a:pt x="66675" y="971550"/>
                </a:lnTo>
                <a:cubicBezTo>
                  <a:pt x="29851" y="971550"/>
                  <a:pt x="0" y="941699"/>
                  <a:pt x="0" y="904875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>
            <a:srgbClr val="6B8E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76300" y="3302000"/>
            <a:ext cx="1905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业务纵深不足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2921000" y="33020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96969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表现：会员/营销链路理解浅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461000" y="3302000"/>
            <a:ext cx="546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6B8E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改进：系统梳理链路，补足全链路业务认知</a:t>
            </a:r>
            <a:endParaRPr lang="en-US" sz="1100"/>
          </a:p>
        </p:txBody>
      </p:sp>
      <p:sp>
        <p:nvSpPr>
          <p:cNvPr name="Freeform 27" id="27"/>
          <p:cNvSpPr/>
          <p:nvPr/>
        </p:nvSpPr>
        <p:spPr>
          <a:xfrm rot="0" flipH="false" flipV="false">
            <a:off x="558800" y="4292600"/>
            <a:ext cx="11087100" cy="971550"/>
          </a:xfrm>
          <a:custGeom>
            <a:avLst/>
            <a:gdLst/>
            <a:ahLst/>
            <a:cxnLst/>
            <a:rect r="r" b="b" t="t" l="l"/>
            <a:pathLst>
              <a:path h="971550" w="11087100">
                <a:moveTo>
                  <a:pt x="133350" y="0"/>
                </a:moveTo>
                <a:lnTo>
                  <a:pt x="10953750" y="0"/>
                </a:lnTo>
                <a:cubicBezTo>
                  <a:pt x="11027397" y="0"/>
                  <a:pt x="11087100" y="59703"/>
                  <a:pt x="11087100" y="133350"/>
                </a:cubicBezTo>
                <a:lnTo>
                  <a:pt x="11087100" y="838200"/>
                </a:lnTo>
                <a:cubicBezTo>
                  <a:pt x="11087100" y="911847"/>
                  <a:pt x="11027397" y="971550"/>
                  <a:pt x="10953750" y="971550"/>
                </a:cubicBezTo>
                <a:lnTo>
                  <a:pt x="133350" y="971550"/>
                </a:lnTo>
                <a:cubicBezTo>
                  <a:pt x="59703" y="971550"/>
                  <a:pt x="0" y="911847"/>
                  <a:pt x="0" y="8382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28" id="28"/>
          <p:cNvSpPr/>
          <p:nvPr/>
        </p:nvSpPr>
        <p:spPr>
          <a:xfrm rot="0" flipH="false" flipV="false">
            <a:off x="558800" y="4292600"/>
            <a:ext cx="133350" cy="971550"/>
          </a:xfrm>
          <a:custGeom>
            <a:avLst/>
            <a:gdLst/>
            <a:ahLst/>
            <a:cxnLst/>
            <a:rect r="r" b="b" t="t" l="l"/>
            <a:pathLst>
              <a:path h="971550" w="133350">
                <a:moveTo>
                  <a:pt x="66675" y="0"/>
                </a:moveTo>
                <a:lnTo>
                  <a:pt x="66675" y="0"/>
                </a:lnTo>
                <a:cubicBezTo>
                  <a:pt x="103499" y="0"/>
                  <a:pt x="133350" y="29851"/>
                  <a:pt x="133350" y="66675"/>
                </a:cubicBezTo>
                <a:lnTo>
                  <a:pt x="133350" y="904875"/>
                </a:lnTo>
                <a:cubicBezTo>
                  <a:pt x="133350" y="941699"/>
                  <a:pt x="103499" y="971550"/>
                  <a:pt x="66675" y="971550"/>
                </a:cubicBezTo>
                <a:lnTo>
                  <a:pt x="66675" y="971550"/>
                </a:lnTo>
                <a:cubicBezTo>
                  <a:pt x="29851" y="971550"/>
                  <a:pt x="0" y="941699"/>
                  <a:pt x="0" y="904875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>
            <a:srgbClr val="6B8E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76300" y="4457700"/>
            <a:ext cx="1905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AI规范沉淀不足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2921000" y="44704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96969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表现：个人高效，无团队规范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5461000" y="4470400"/>
            <a:ext cx="546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6B8E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改进：建设项目Context，沉淀协作方法论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0" y="6096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FAFB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3" id="33"/>
          <p:cNvSpPr/>
          <p:nvPr/>
        </p:nvSpPr>
        <p:spPr>
          <a:xfrm rot="0" flipH="false" flipV="false">
            <a:off x="0" y="6096000"/>
            <a:ext cx="12192000" cy="0"/>
          </a:xfrm>
          <a:custGeom>
            <a:avLst/>
            <a:gdLst/>
            <a:ahLst/>
            <a:cxnLst/>
            <a:rect r="r" b="b" t="t" l="l"/>
            <a:pathLst>
              <a:path h="0"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4" id="34"/>
          <p:cNvSpPr/>
          <p:nvPr/>
        </p:nvSpPr>
        <p:spPr>
          <a:xfrm rot="0" flipH="false" flipV="false">
            <a:off x="10858500" y="6235700"/>
            <a:ext cx="781050" cy="285750"/>
          </a:xfrm>
          <a:custGeom>
            <a:avLst/>
            <a:gdLst/>
            <a:ahLst/>
            <a:cxnLst/>
            <a:rect r="r" b="b" t="t" l="l"/>
            <a:pathLst>
              <a:path h="285750" w="781050">
                <a:moveTo>
                  <a:pt x="38100" y="0"/>
                </a:moveTo>
                <a:lnTo>
                  <a:pt x="742950" y="0"/>
                </a:lnTo>
                <a:cubicBezTo>
                  <a:pt x="763993" y="0"/>
                  <a:pt x="781050" y="17057"/>
                  <a:pt x="781050" y="38100"/>
                </a:cubicBezTo>
                <a:lnTo>
                  <a:pt x="781050" y="247650"/>
                </a:lnTo>
                <a:cubicBezTo>
                  <a:pt x="781050" y="268693"/>
                  <a:pt x="763993" y="285750"/>
                  <a:pt x="742950" y="285750"/>
                </a:cubicBezTo>
                <a:lnTo>
                  <a:pt x="38100" y="285750"/>
                </a:lnTo>
                <a:cubicBezTo>
                  <a:pt x="17057" y="285750"/>
                  <a:pt x="0" y="268693"/>
                  <a:pt x="0" y="247650"/>
                </a:cubicBezTo>
                <a:lnTo>
                  <a:pt x="0" y="38100"/>
                </a:lnTo>
                <a:cubicBezTo>
                  <a:pt x="0" y="17057"/>
                  <a:pt x="17057" y="0"/>
                  <a:pt x="38100" y="0"/>
                </a:cubicBezTo>
                <a:close/>
              </a:path>
            </a:pathLst>
          </a:cu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11163300" y="6311900"/>
            <a:ext cx="1651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30200" y="266700"/>
            <a:ext cx="4191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266700"/>
            <a:ext cx="762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266700" y="723900"/>
            <a:ext cx="6496050" cy="0"/>
          </a:xfrm>
          <a:custGeom>
            <a:avLst/>
            <a:gdLst/>
            <a:ahLst/>
            <a:cxnLst/>
            <a:rect r="r" b="b" t="t" l="l"/>
            <a:pathLst>
              <a:path h="0" w="6496050">
                <a:moveTo>
                  <a:pt x="0" y="0"/>
                </a:moveTo>
                <a:lnTo>
                  <a:pt x="6496050" y="0"/>
                </a:lnTo>
              </a:path>
            </a:pathLst>
          </a:custGeom>
          <a:noFill/>
          <a:ln w="254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6934200" y="723900"/>
            <a:ext cx="314325" cy="0"/>
          </a:xfrm>
          <a:custGeom>
            <a:avLst/>
            <a:gdLst/>
            <a:ahLst/>
            <a:cxnLst/>
            <a:rect r="r" b="b" t="t" l="l"/>
            <a:pathLst>
              <a:path h="0" w="3143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254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7416800" y="723900"/>
            <a:ext cx="323850" cy="0"/>
          </a:xfrm>
          <a:custGeom>
            <a:avLst/>
            <a:gdLst/>
            <a:ahLst/>
            <a:cxnLst/>
            <a:rect r="r" b="b" t="t" l="l"/>
            <a:pathLst>
              <a:path h="0" w="323850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/>
          <a:ln w="254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591800" y="266700"/>
            <a:ext cx="1041400" cy="368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88C100"/>
                </a:solidFill>
                <a:latin typeface="Arial"/>
                <a:ea typeface="Arial"/>
                <a:cs typeface="Arial"/>
                <a:sym typeface="Arial"/>
              </a:rPr>
              <a:t>RECRUIT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65200" y="342900"/>
            <a:ext cx="8763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8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五、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511300" y="342900"/>
            <a:ext cx="5715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不足反思与未来规划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652000" y="508000"/>
            <a:ext cx="1524000" cy="241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04 NEXT STEP</a:t>
            </a:r>
            <a:endParaRPr lang="en-US" sz="1100"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381000" y="977900"/>
            <a:ext cx="11430000" cy="495300"/>
          </a:xfrm>
          <a:custGeom>
            <a:avLst/>
            <a:gdLst/>
            <a:ahLst/>
            <a:cxnLst/>
            <a:rect r="r" b="b" t="t" l="l"/>
            <a:pathLst>
              <a:path h="495300" w="11430000">
                <a:moveTo>
                  <a:pt x="57150" y="0"/>
                </a:moveTo>
                <a:lnTo>
                  <a:pt x="11372850" y="0"/>
                </a:lnTo>
                <a:cubicBezTo>
                  <a:pt x="11404413" y="0"/>
                  <a:pt x="11430000" y="25587"/>
                  <a:pt x="11430000" y="57150"/>
                </a:cubicBezTo>
                <a:lnTo>
                  <a:pt x="11430000" y="438150"/>
                </a:lnTo>
                <a:cubicBezTo>
                  <a:pt x="11430000" y="469713"/>
                  <a:pt x="11404413" y="495300"/>
                  <a:pt x="1137285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6FBE8">
              <a:alpha val="100000"/>
            </a:srgbClr>
          </a:solidFill>
          <a:ln w="127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381000" y="977900"/>
            <a:ext cx="57150" cy="495300"/>
          </a:xfrm>
          <a:custGeom>
            <a:avLst/>
            <a:gdLst/>
            <a:ahLst/>
            <a:cxnLst/>
            <a:rect r="r" b="b" t="t" l="l"/>
            <a:pathLst>
              <a:path h="495300" w="571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466725"/>
                </a:lnTo>
                <a:cubicBezTo>
                  <a:pt x="57150" y="482507"/>
                  <a:pt x="44357" y="495300"/>
                  <a:pt x="28575" y="495300"/>
                </a:cubicBezTo>
                <a:lnTo>
                  <a:pt x="28575" y="495300"/>
                </a:lnTo>
                <a:cubicBezTo>
                  <a:pt x="12793" y="495300"/>
                  <a:pt x="0" y="482507"/>
                  <a:pt x="0" y="4667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71500" y="1143000"/>
            <a:ext cx="127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6B8E00"/>
                </a:solidFill>
                <a:latin typeface="Arial"/>
                <a:ea typeface="Arial"/>
                <a:cs typeface="Arial"/>
                <a:sym typeface="Arial"/>
              </a:rPr>
              <a:t>KEY MESSAGE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841500" y="1143000"/>
            <a:ext cx="889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未来将继续围绕AI提效、平台建设和团队经验沉淀三个方向持续投入。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381000" y="1676400"/>
            <a:ext cx="11430000" cy="4095750"/>
          </a:xfrm>
          <a:custGeom>
            <a:avLst/>
            <a:gdLst/>
            <a:ahLst/>
            <a:cxnLst/>
            <a:rect r="r" b="b" t="t" l="l"/>
            <a:pathLst>
              <a:path h="4095750" w="11430000">
                <a:moveTo>
                  <a:pt x="76200" y="0"/>
                </a:moveTo>
                <a:lnTo>
                  <a:pt x="11353800" y="0"/>
                </a:lnTo>
                <a:cubicBezTo>
                  <a:pt x="11395884" y="0"/>
                  <a:pt x="11430000" y="34116"/>
                  <a:pt x="11430000" y="76200"/>
                </a:cubicBezTo>
                <a:lnTo>
                  <a:pt x="11430000" y="4019550"/>
                </a:lnTo>
                <a:cubicBezTo>
                  <a:pt x="11430000" y="4061634"/>
                  <a:pt x="11395884" y="4095750"/>
                  <a:pt x="11353800" y="4095750"/>
                </a:cubicBezTo>
                <a:lnTo>
                  <a:pt x="76200" y="4095750"/>
                </a:lnTo>
                <a:cubicBezTo>
                  <a:pt x="34116" y="4095750"/>
                  <a:pt x="0" y="4061634"/>
                  <a:pt x="0" y="401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12700" cmpd="sng" cap="flat">
            <a:solidFill>
              <a:srgbClr val="D8E7B4">
                <a:alpha val="100000"/>
              </a:srgbClr>
            </a:solidFill>
            <a:prstDash val="dash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558800" y="1981200"/>
            <a:ext cx="5219700" cy="2647950"/>
          </a:xfrm>
          <a:custGeom>
            <a:avLst/>
            <a:gdLst/>
            <a:ahLst/>
            <a:cxnLst/>
            <a:rect r="r" b="b" t="t" l="l"/>
            <a:pathLst>
              <a:path h="2647950" w="5219700">
                <a:moveTo>
                  <a:pt x="133350" y="0"/>
                </a:moveTo>
                <a:lnTo>
                  <a:pt x="5086350" y="0"/>
                </a:lnTo>
                <a:cubicBezTo>
                  <a:pt x="5159997" y="0"/>
                  <a:pt x="5219700" y="59703"/>
                  <a:pt x="5219700" y="133350"/>
                </a:cubicBezTo>
                <a:lnTo>
                  <a:pt x="5219700" y="2514600"/>
                </a:lnTo>
                <a:cubicBezTo>
                  <a:pt x="5219700" y="2588247"/>
                  <a:pt x="5159997" y="2647950"/>
                  <a:pt x="5086350" y="2647950"/>
                </a:cubicBezTo>
                <a:lnTo>
                  <a:pt x="133350" y="2647950"/>
                </a:lnTo>
                <a:cubicBezTo>
                  <a:pt x="59703" y="2647950"/>
                  <a:pt x="0" y="2588247"/>
                  <a:pt x="0" y="25146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558800" y="1981200"/>
            <a:ext cx="5219700" cy="76200"/>
          </a:xfrm>
          <a:custGeom>
            <a:avLst/>
            <a:gdLst/>
            <a:ahLst/>
            <a:cxnLst/>
            <a:rect r="r" b="b" t="t" l="l"/>
            <a:pathLst>
              <a:path h="76200" w="5219700">
                <a:moveTo>
                  <a:pt x="38100" y="0"/>
                </a:moveTo>
                <a:lnTo>
                  <a:pt x="5181600" y="0"/>
                </a:lnTo>
                <a:cubicBezTo>
                  <a:pt x="5202643" y="0"/>
                  <a:pt x="5219700" y="17057"/>
                  <a:pt x="5219700" y="38100"/>
                </a:cubicBezTo>
                <a:lnTo>
                  <a:pt x="5219700" y="38100"/>
                </a:lnTo>
                <a:cubicBezTo>
                  <a:pt x="5219700" y="59143"/>
                  <a:pt x="5202643" y="76200"/>
                  <a:pt x="5181600" y="76200"/>
                </a:cubicBezTo>
                <a:lnTo>
                  <a:pt x="38100" y="76200"/>
                </a:lnTo>
                <a:cubicBezTo>
                  <a:pt x="17057" y="76200"/>
                  <a:pt x="0" y="59143"/>
                  <a:pt x="0" y="38100"/>
                </a:cubicBezTo>
                <a:lnTo>
                  <a:pt x="0" y="38100"/>
                </a:lnTo>
                <a:cubicBezTo>
                  <a:pt x="0" y="17057"/>
                  <a:pt x="17057" y="0"/>
                  <a:pt x="38100" y="0"/>
                </a:cubicBezTo>
                <a:close/>
              </a:path>
            </a:pathLst>
          </a:custGeom>
          <a:solidFill>
            <a:srgbClr val="6B8E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23900" y="2235200"/>
            <a:ext cx="762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6B8E00"/>
                </a:solidFill>
                <a:latin typeface="Arial"/>
                <a:ea typeface="Arial"/>
                <a:cs typeface="Arial"/>
                <a:sym typeface="Arial"/>
              </a:rPr>
              <a:t>PLAN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23900" y="2501900"/>
            <a:ext cx="4445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未来6个月计划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23900" y="29210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4月：深化AI工具使用，继续缩短交付周期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23900" y="33020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5月：打造项目级context，沉淀团队经验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23900" y="3683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6月：推进营销活动平台建设，争取Q2完成核心能力</a:t>
            </a:r>
            <a:endParaRPr lang="en-US" sz="1100"/>
          </a:p>
        </p:txBody>
      </p:sp>
      <p:sp>
        <p:nvSpPr>
          <p:cNvPr name="Freeform 23" id="23"/>
          <p:cNvSpPr/>
          <p:nvPr/>
        </p:nvSpPr>
        <p:spPr>
          <a:xfrm rot="0" flipH="false" flipV="false">
            <a:off x="6045200" y="1981200"/>
            <a:ext cx="5410200" cy="2647950"/>
          </a:xfrm>
          <a:custGeom>
            <a:avLst/>
            <a:gdLst/>
            <a:ahLst/>
            <a:cxnLst/>
            <a:rect r="r" b="b" t="t" l="l"/>
            <a:pathLst>
              <a:path h="2647950" w="5410200">
                <a:moveTo>
                  <a:pt x="133350" y="0"/>
                </a:moveTo>
                <a:lnTo>
                  <a:pt x="5276850" y="0"/>
                </a:lnTo>
                <a:cubicBezTo>
                  <a:pt x="5350497" y="0"/>
                  <a:pt x="5410200" y="59703"/>
                  <a:pt x="5410200" y="133350"/>
                </a:cubicBezTo>
                <a:lnTo>
                  <a:pt x="5410200" y="2514600"/>
                </a:lnTo>
                <a:cubicBezTo>
                  <a:pt x="5410200" y="2588247"/>
                  <a:pt x="5350497" y="2647950"/>
                  <a:pt x="5276850" y="2647950"/>
                </a:cubicBezTo>
                <a:lnTo>
                  <a:pt x="133350" y="2647950"/>
                </a:lnTo>
                <a:cubicBezTo>
                  <a:pt x="59703" y="2647950"/>
                  <a:pt x="0" y="2588247"/>
                  <a:pt x="0" y="25146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24" id="24"/>
          <p:cNvSpPr/>
          <p:nvPr/>
        </p:nvSpPr>
        <p:spPr>
          <a:xfrm rot="0" flipH="false" flipV="false">
            <a:off x="6045200" y="1981200"/>
            <a:ext cx="5410200" cy="76200"/>
          </a:xfrm>
          <a:custGeom>
            <a:avLst/>
            <a:gdLst/>
            <a:ahLst/>
            <a:cxnLst/>
            <a:rect r="r" b="b" t="t" l="l"/>
            <a:pathLst>
              <a:path h="76200" w="5410200">
                <a:moveTo>
                  <a:pt x="38100" y="0"/>
                </a:moveTo>
                <a:lnTo>
                  <a:pt x="5372100" y="0"/>
                </a:lnTo>
                <a:cubicBezTo>
                  <a:pt x="5393143" y="0"/>
                  <a:pt x="5410200" y="17057"/>
                  <a:pt x="5410200" y="38100"/>
                </a:cubicBezTo>
                <a:lnTo>
                  <a:pt x="5410200" y="38100"/>
                </a:lnTo>
                <a:cubicBezTo>
                  <a:pt x="5410200" y="59143"/>
                  <a:pt x="5393143" y="76200"/>
                  <a:pt x="5372100" y="76200"/>
                </a:cubicBezTo>
                <a:lnTo>
                  <a:pt x="38100" y="76200"/>
                </a:lnTo>
                <a:cubicBezTo>
                  <a:pt x="17057" y="76200"/>
                  <a:pt x="0" y="59143"/>
                  <a:pt x="0" y="38100"/>
                </a:cubicBezTo>
                <a:lnTo>
                  <a:pt x="0" y="38100"/>
                </a:lnTo>
                <a:cubicBezTo>
                  <a:pt x="0" y="17057"/>
                  <a:pt x="17057" y="0"/>
                  <a:pt x="38100" y="0"/>
                </a:cubicBezTo>
                <a:close/>
              </a:path>
            </a:pathLst>
          </a:cu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210300" y="2235200"/>
            <a:ext cx="1016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88C100"/>
                </a:solidFill>
                <a:latin typeface="Arial"/>
                <a:ea typeface="Arial"/>
                <a:cs typeface="Arial"/>
                <a:sym typeface="Arial"/>
              </a:rPr>
              <a:t>SUPPORT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210300" y="2501900"/>
            <a:ext cx="381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建议与求助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210300" y="2921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1. 为平台化事项预留稳定排期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210300" y="3302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2. 提供团队协同与数据复盘支持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210300" y="3683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3. 帮助关键能力建设获得更持续的资源保障</a:t>
            </a:r>
            <a:endParaRPr lang="en-US" sz="1100"/>
          </a:p>
        </p:txBody>
      </p:sp>
      <p:sp>
        <p:nvSpPr>
          <p:cNvPr name="Freeform 30" id="30"/>
          <p:cNvSpPr/>
          <p:nvPr/>
        </p:nvSpPr>
        <p:spPr>
          <a:xfrm rot="0" flipH="false" flipV="false">
            <a:off x="558800" y="5143500"/>
            <a:ext cx="10896600" cy="514350"/>
          </a:xfrm>
          <a:custGeom>
            <a:avLst/>
            <a:gdLst/>
            <a:ahLst/>
            <a:cxnLst/>
            <a:rect r="r" b="b" t="t" l="l"/>
            <a:pathLst>
              <a:path h="514350" w="10896600">
                <a:moveTo>
                  <a:pt x="133350" y="0"/>
                </a:moveTo>
                <a:lnTo>
                  <a:pt x="10763250" y="0"/>
                </a:lnTo>
                <a:cubicBezTo>
                  <a:pt x="10836897" y="0"/>
                  <a:pt x="10896600" y="59703"/>
                  <a:pt x="10896600" y="133350"/>
                </a:cubicBezTo>
                <a:lnTo>
                  <a:pt x="10896600" y="381000"/>
                </a:lnTo>
                <a:cubicBezTo>
                  <a:pt x="10896600" y="454647"/>
                  <a:pt x="10836897" y="514350"/>
                  <a:pt x="10763250" y="514350"/>
                </a:cubicBezTo>
                <a:lnTo>
                  <a:pt x="133350" y="514350"/>
                </a:lnTo>
                <a:cubicBezTo>
                  <a:pt x="59703" y="514350"/>
                  <a:pt x="0" y="454647"/>
                  <a:pt x="0" y="3810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6B8E0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87400" y="5270500"/>
            <a:ext cx="1041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6B8E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已具备持续承担更大职责的基础，申请按期转正，并继续围绕AI提效、平台建设和经验沉淀投入。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0" y="6096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FAFB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3" id="33"/>
          <p:cNvSpPr/>
          <p:nvPr/>
        </p:nvSpPr>
        <p:spPr>
          <a:xfrm rot="0" flipH="false" flipV="false">
            <a:off x="0" y="6096000"/>
            <a:ext cx="12192000" cy="0"/>
          </a:xfrm>
          <a:custGeom>
            <a:avLst/>
            <a:gdLst/>
            <a:ahLst/>
            <a:cxnLst/>
            <a:rect r="r" b="b" t="t" l="l"/>
            <a:pathLst>
              <a:path h="0"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406400" y="6337300"/>
            <a:ext cx="4851400" cy="17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Source: 个人述职材料 | 2026年4月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406400" y="6578600"/>
            <a:ext cx="3556000" cy="165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800">
                <a:solidFill>
                  <a:srgbClr val="B8C0C2"/>
                </a:solidFill>
                <a:latin typeface="Arial"/>
                <a:ea typeface="Arial"/>
                <a:cs typeface="Arial"/>
                <a:sym typeface="Arial"/>
              </a:rPr>
              <a:t>Template: 03_content.svg | layout: future plan and support</a:t>
            </a:r>
            <a:endParaRPr lang="en-US" sz="1100"/>
          </a:p>
        </p:txBody>
      </p:sp>
      <p:sp>
        <p:nvSpPr>
          <p:cNvPr name="Freeform 36" id="36"/>
          <p:cNvSpPr/>
          <p:nvPr/>
        </p:nvSpPr>
        <p:spPr>
          <a:xfrm rot="0" flipH="false" flipV="false">
            <a:off x="10858500" y="6235700"/>
            <a:ext cx="781050" cy="285750"/>
          </a:xfrm>
          <a:custGeom>
            <a:avLst/>
            <a:gdLst/>
            <a:ahLst/>
            <a:cxnLst/>
            <a:rect r="r" b="b" t="t" l="l"/>
            <a:pathLst>
              <a:path h="285750" w="781050">
                <a:moveTo>
                  <a:pt x="38100" y="0"/>
                </a:moveTo>
                <a:lnTo>
                  <a:pt x="742950" y="0"/>
                </a:lnTo>
                <a:cubicBezTo>
                  <a:pt x="763993" y="0"/>
                  <a:pt x="781050" y="17057"/>
                  <a:pt x="781050" y="38100"/>
                </a:cubicBezTo>
                <a:lnTo>
                  <a:pt x="781050" y="247650"/>
                </a:lnTo>
                <a:cubicBezTo>
                  <a:pt x="781050" y="268693"/>
                  <a:pt x="763993" y="285750"/>
                  <a:pt x="742950" y="285750"/>
                </a:cubicBezTo>
                <a:lnTo>
                  <a:pt x="38100" y="285750"/>
                </a:lnTo>
                <a:cubicBezTo>
                  <a:pt x="17057" y="285750"/>
                  <a:pt x="0" y="268693"/>
                  <a:pt x="0" y="247650"/>
                </a:cubicBezTo>
                <a:lnTo>
                  <a:pt x="0" y="38100"/>
                </a:lnTo>
                <a:cubicBezTo>
                  <a:pt x="0" y="17057"/>
                  <a:pt x="17057" y="0"/>
                  <a:pt x="38100" y="0"/>
                </a:cubicBezTo>
                <a:close/>
              </a:path>
            </a:pathLst>
          </a:cu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11188700" y="6311900"/>
            <a:ext cx="127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0"/>
            <a:ext cx="127000" cy="25400"/>
          </a:xfrm>
          <a:prstGeom prst="roundRect">
            <a:avLst>
              <a:gd name="adj" fmla="val 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38100"/>
            <a:ext cx="25400" cy="88900"/>
          </a:xfrm>
          <a:prstGeom prst="roundRect">
            <a:avLst>
              <a:gd name="adj" fmla="val 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28600" y="63500"/>
            <a:ext cx="304800" cy="152400"/>
          </a:xfrm>
          <a:prstGeom prst="roundRect">
            <a:avLst>
              <a:gd name="adj" fmla="val 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" y="76200"/>
            <a:ext cx="152400" cy="127000"/>
          </a:xfrm>
          <a:prstGeom prst="roundRect">
            <a:avLst>
              <a:gd name="adj" fmla="val 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30200" y="266700"/>
            <a:ext cx="4191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25500" y="266700"/>
            <a:ext cx="762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" y="1270000"/>
            <a:ext cx="10922000" cy="4064000"/>
          </a:xfrm>
          <a:prstGeom prst="roundRect">
            <a:avLst>
              <a:gd name="adj" fmla="val 6250"/>
            </a:avLst>
          </a:prstGeom>
          <a:solidFill>
            <a:srgbClr val="92D050">
              <a:alpha val="8000"/>
            </a:srgbClr>
          </a:solidFill>
          <a:ln w="12700" cmpd="sng" cap="flat">
            <a:solidFill>
              <a:srgbClr val="92D0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588000" y="1778000"/>
            <a:ext cx="1016000" cy="1016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016000" y="3048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4400">
                <a:solidFill>
                  <a:srgbClr val="333F50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感谢聆听，敬请指正！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191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期待在优秀的团队中，为公司创造更大价值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