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这次汇报我主要从岗位认知、试用期结果、能力沉淀和未来计划四个方面，说明自己是否已经具备按期转正的条件。</a:t>
            </a:r>
          </a:p>
          <a:p>
            <a:r>
              <a:rPr lang="zh-CN" dirty="0"/>
              <a:t>过去 6 个月里，我完成了从快速融入业务到独立承担复杂事项的阶段性转变，也在交付之外开始沉淀可复用的方法和机制。 [Pause]</a:t>
            </a:r>
          </a:p>
          <a:p>
            <a:endParaRPr lang="zh-CN" dirty="0"/>
          </a:p>
          <a:p>
            <a:r>
              <a:rPr lang="zh-CN" dirty="0"/>
              <a:t>Key points: (1) 汇报目标是说明是否具备转正条件 (2) 过去6个月完成从融入到独立承担的转变 (3) 后续内容围绕结果与成长展开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在进入具体结果之前，我先说明整场汇报的结构。</a:t>
            </a:r>
          </a:p>
          <a:p>
            <a:r>
              <a:rPr lang="zh-CN" dirty="0"/>
              <a:t>第一部分是个人背景与岗位认知，第二部分是试用期整体产出与关键案例，第三部分是个人沉淀与不足，最后一部分是未来计划和转正申请。</a:t>
            </a:r>
          </a:p>
          <a:p>
            <a:r>
              <a:rPr lang="zh-CN" dirty="0"/>
              <a:t>这样安排是希望先回答“我是谁、岗位怎么理解”，再回答“我做出了什么结果”。</a:t>
            </a:r>
          </a:p>
          <a:p>
            <a:endParaRPr lang="zh-CN" dirty="0"/>
          </a:p>
          <a:p>
            <a:r>
              <a:rPr lang="zh-CN" dirty="0"/>
              <a:t>Key points: (1) 四部分结构清晰 (2) 先讲岗位匹配再讲结果 (3) 便于评委快速建立判断框架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先从个人背景和当前岗位定位开始。</a:t>
            </a:r>
          </a:p>
          <a:p>
            <a:r>
              <a:rPr lang="zh-CN" dirty="0"/>
              <a:t>我有 6 年后端研发经验，前期在深圳乐信控股积累了复杂业务交付和系统建设经验，入职当前公司后比较快切入了会员、营销活动和运营平台等核心业务。</a:t>
            </a:r>
          </a:p>
          <a:p>
            <a:r>
              <a:rPr lang="zh-CN" dirty="0"/>
              <a:t>这页想表达的是，我不是从零开始适应岗位，而是把既有经验快速迁移到了当前团队最需要解决的问题上。 [Pause]</a:t>
            </a:r>
          </a:p>
          <a:p>
            <a:endParaRPr lang="zh-CN" dirty="0"/>
          </a:p>
          <a:p>
            <a:r>
              <a:rPr lang="zh-CN" dirty="0"/>
              <a:t>Key points: (1) 具备成熟研发经验 (2) 入职后快速切入核心业务 (3) 具备复杂需求拆解和平台化设计能力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 6 个月的实际工作，也让我对当前岗位的要求有了更具体的理解。</a:t>
            </a:r>
          </a:p>
          <a:p>
            <a:r>
              <a:rPr lang="zh-CN" dirty="0"/>
              <a:t>比如在圣诞和新年活动里，我同时承担项目负责人和核心研发职责，在高压节奏下推动四期按期交付；在规则引擎项目里，我从原型、文档到系统实现独立完成闭环；在 CRM 优化和转盘配置化里，我也不仅完成开发，还把结果落到了性能提升和协作提效上。</a:t>
            </a:r>
          </a:p>
          <a:p>
            <a:r>
              <a:rPr lang="zh-CN" dirty="0"/>
              <a:t>所以我理解的后端研发，不只是把功能做完，而是要在关键项目里扛住结果、在复杂问题上给出方案，并把一次性交付沉淀成可复用能力。</a:t>
            </a:r>
          </a:p>
          <a:p>
            <a:endParaRPr lang="zh-CN" dirty="0"/>
          </a:p>
          <a:p>
            <a:r>
              <a:rPr lang="zh-CN" dirty="0"/>
              <a:t>Key points: (1) 用项目交付结果反证岗位理解 (2) 已覆盖项目负责、独立建设和效率优化 (3) 核心是扛结果、出方案、做沉淀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接下来进入结果部分，先看试用期 6 个月的整体产出。</a:t>
            </a:r>
          </a:p>
          <a:p>
            <a:r>
              <a:rPr lang="zh-CN" dirty="0"/>
              <a:t>这 6 个月里，我覆盖了 10 项重点事项，其中 8 项完成交付，关键事项按期交付率是 100%。</a:t>
            </a:r>
          </a:p>
          <a:p>
            <a:r>
              <a:rPr lang="zh-CN" dirty="0"/>
              <a:t>[Data] 除了交付本身，结果还体现在性能优化、配置化沉淀和业务效果上，比如 CRM 查询从 2 秒优化到 1 秒以下，节日活动实现拉新 1992 人、参与 16045 人。 [Pause]</a:t>
            </a:r>
          </a:p>
          <a:p>
            <a:endParaRPr lang="zh-CN" dirty="0"/>
          </a:p>
          <a:p>
            <a:r>
              <a:rPr lang="zh-CN" dirty="0"/>
              <a:t>Key points: (1) 覆盖事项广且完成度高 (2) 结果同时覆盖效率与业务效果 (3) 整体履职结果达到预期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在这些结果里，我想重点展开第一个案例，也就是圣诞和新年活动的高压交付。</a:t>
            </a:r>
          </a:p>
          <a:p>
            <a:r>
              <a:rPr lang="zh-CN" dirty="0"/>
              <a:t>这个项目时间紧、范围大、协同复杂，我既承担项目负责人职责，也承担关键研发工作。</a:t>
            </a:r>
          </a:p>
          <a:p>
            <a:r>
              <a:rPr lang="zh-CN" dirty="0"/>
              <a:t>[Data] 第一期从接需求到上线只有 19 个工作日，整个项目分四期推进，最终在 12 月 23 日完成第四期发布，并拿到拉新 1992 人、参与 16045 人的结果。</a:t>
            </a:r>
          </a:p>
          <a:p>
            <a:r>
              <a:rPr lang="zh-CN" dirty="0"/>
              <a:t>这个案例最能说明，我不仅能完成单点研发，也能在高压项目里扛住结果。 [Pause]</a:t>
            </a:r>
          </a:p>
          <a:p>
            <a:endParaRPr lang="zh-CN" dirty="0"/>
          </a:p>
          <a:p>
            <a:r>
              <a:rPr lang="zh-CN" dirty="0"/>
              <a:t>Key points: (1) 项目节奏紧且协同复杂 (2) 同时承担统筹和核心研发职责 (3) 最终稳定完成四期交付并产出业务结果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第二个案例是规则引擎从 0 到 1 的独立建设。</a:t>
            </a:r>
          </a:p>
          <a:p>
            <a:r>
              <a:rPr lang="zh-CN" dirty="0"/>
              <a:t>这个项目里，我不是被动接收需求，而是从原型设计、需求文档、系统方案到后端实现都独立完成，形成了完整闭环。</a:t>
            </a:r>
          </a:p>
          <a:p>
            <a:r>
              <a:rPr lang="zh-CN" dirty="0"/>
              <a:t>这说明我的角色已经从“执行需求”逐步升级为“定义问题、设计方案并独立落地”，这是我认为试用期里一个比较关键的成长点。</a:t>
            </a:r>
          </a:p>
          <a:p>
            <a:endParaRPr lang="zh-CN" dirty="0"/>
          </a:p>
          <a:p>
            <a:r>
              <a:rPr lang="zh-CN" dirty="0"/>
              <a:t>Key points: (1) 从原型到落地全链路完成 (2) 具备独立建设复杂系统的能力 (3) 体现 ownership 和抽象设计能力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除了项目交付，我也在持续做优化和平台化建设。</a:t>
            </a:r>
          </a:p>
          <a:p>
            <a:r>
              <a:rPr lang="zh-CN" dirty="0"/>
              <a:t>这里面有三类代表性工作，分别是 CRM 查询优化、签到重构和转盘配置化。</a:t>
            </a:r>
          </a:p>
          <a:p>
            <a:r>
              <a:rPr lang="zh-CN" dirty="0"/>
              <a:t>[Data] 比如 CRM 查询从 2 秒优化到 1 秒以下，转盘活动新增人力从 1 天降到约 2 小时。</a:t>
            </a:r>
          </a:p>
          <a:p>
            <a:r>
              <a:rPr lang="zh-CN" dirty="0"/>
              <a:t>这页想表达的是，我的工作方式不是做完一个需求就结束，而是尽量把重复劳动沉淀成后续可复用的能力。 [Pause]</a:t>
            </a:r>
          </a:p>
          <a:p>
            <a:endParaRPr lang="zh-CN" dirty="0"/>
          </a:p>
          <a:p>
            <a:r>
              <a:rPr lang="zh-CN" dirty="0"/>
              <a:t>Key points: (1) 持续推进性能优化和配置化建设 (2) 结果直接体现为效率提升 (3) 平台化思路能放大长期价值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在项目交付之外，我也主动承担了一些团队层面的沉淀工作。</a:t>
            </a:r>
          </a:p>
          <a:p>
            <a:r>
              <a:rPr lang="zh-CN" dirty="0"/>
              <a:t>比如编写后端研发新人指引、梳理新增工程应用和上线应用 SOP，以及在实际工作里探索 AI 协同研发方法。</a:t>
            </a:r>
          </a:p>
          <a:p>
            <a:r>
              <a:rPr lang="zh-CN" dirty="0"/>
              <a:t>这些事情本身不一定直接体现为单个项目指标，但能够降低重复沟通和上线遗漏，也能帮助新同学更快融入团队。</a:t>
            </a:r>
          </a:p>
          <a:p>
            <a:endParaRPr lang="zh-CN" dirty="0"/>
          </a:p>
          <a:p>
            <a:r>
              <a:rPr lang="zh-CN" dirty="0"/>
              <a:t>Key points: (1) 主动补位团队机制建设 (2) 把个人经验沉淀为复用资产 (3) 额外价值体现在团队效率提升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当然，我也清楚自己还有需要继续提升的地方。</a:t>
            </a:r>
          </a:p>
          <a:p>
            <a:r>
              <a:rPr lang="zh-CN" dirty="0"/>
              <a:t>目前我主要识别了三个方向，一是结果量化还可以更前置，二是对会员和营销链路的业务纵深还可以继续补强，三是 AI 协作方法还没有完全沉淀为团队级规范。</a:t>
            </a:r>
          </a:p>
          <a:p>
            <a:r>
              <a:rPr lang="zh-CN" dirty="0"/>
              <a:t>对应地，我已经给自己设定了明确动作，希望后续每个不足都能变成可以执行、可以复盘的改进行动。 [Pause]</a:t>
            </a:r>
          </a:p>
          <a:p>
            <a:endParaRPr lang="zh-CN" dirty="0"/>
          </a:p>
          <a:p>
            <a:r>
              <a:rPr lang="zh-CN" dirty="0"/>
              <a:t>Key points: (1) 不足识别比较具体 (2) 每个不足都有明确动作 (3) 改进目标是形成可执行闭环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最后一部分，我想说明未来 6 个月的计划以及希望得到的支持。</a:t>
            </a:r>
          </a:p>
          <a:p>
            <a:r>
              <a:rPr lang="zh-CN" dirty="0"/>
              <a:t>我的重点方向还是三个，第一是继续深化 AI 工具在研发流程中的使用，第二是打造项目级 context，第三是推进营销活动平台建设，形成 Q2 的阶段性成果。</a:t>
            </a:r>
          </a:p>
          <a:p>
            <a:r>
              <a:rPr lang="zh-CN" dirty="0"/>
              <a:t>同时，如果团队能为平台化事项预留更稳定的排期，并在跨团队协同和数据复盘上提供支持，我相信这些投入会更快转化为团队长期收益。</a:t>
            </a:r>
          </a:p>
          <a:p>
            <a:endParaRPr lang="zh-CN" dirty="0"/>
          </a:p>
          <a:p>
            <a:r>
              <a:rPr lang="zh-CN" dirty="0"/>
              <a:t>Key points: (1) 后续重点仍然围绕 AI、平台和沉淀 (2) 已具备承担更大职责的基础 (3) 希望获得排期和协同支持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以上就是我这次试用期转正述职的主要内容。</a:t>
            </a:r>
          </a:p>
          <a:p>
            <a:r>
              <a:rPr lang="zh-CN" dirty="0"/>
              <a:t>回看这 6 个月，我认为自己已经证明了岗位匹配度、结果导向和持续成长潜力，也具备继续承担更大职责的基础。</a:t>
            </a:r>
          </a:p>
          <a:p>
            <a:r>
              <a:rPr lang="zh-CN" dirty="0"/>
              <a:t>因此我在这里正式申请按期转正，也欢迎各位领导和同事继续提出建议，我会在后续工作里持续改进。</a:t>
            </a:r>
          </a:p>
          <a:p>
            <a:endParaRPr lang="zh-CN" dirty="0"/>
          </a:p>
          <a:p>
            <a:r>
              <a:rPr lang="zh-CN" dirty="0"/>
              <a:t>Key points: (1) 试用期已完成阶段性证明 (2) 具备继续承担更大职责的基础 (3) 正式申请按期转正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30"/>
          <p:cNvGrpSpPr/>
          <p:nvPr/>
        </p:nvGrpSpPr>
        <p:grpSpPr>
          <a:xfrm>
            <a:off x="-111760" y="-949957"/>
            <a:ext cx="12369003" cy="7807957"/>
            <a:chOff x="-111760" y="-949957"/>
            <a:chExt cx="12369003" cy="780795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-111760" y="-949957"/>
              <a:ext cx="12369003" cy="1788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8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试用期转正述职报告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姓名：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方汉涛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日期：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5240" y="-129540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2026-04-04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17780" y="-151130"/>
              <a:ext cx="105791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表单编号：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17780" y="-151130"/>
              <a:ext cx="2090487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PROBATION-20260404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17780" y="-151130"/>
              <a:ext cx="648971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版本：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-17780" y="-151130"/>
              <a:ext cx="126238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v2-template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-22860" y="-194310"/>
              <a:ext cx="6366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F6475"/>
                  </a:solidFill>
                  <a:latin typeface="Microsoft YaHei_MSFontService"/>
                  <a:ea typeface="Microsoft YaHei"/>
                  <a:cs typeface="Microsoft YaHei_MSFontService"/>
                </a:rPr>
                <a:t>后端研发工程师 | 6年行业经验 | 入职6个月工作总结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4408" y="338614"/>
            <a:ext cx="921591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333F50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81000" y="1733550"/>
            <a:ext cx="11430000" cy="3790950"/>
            <a:chOff x="381000" y="1733550"/>
            <a:chExt cx="11430000" cy="3790950"/>
          </a:xfrm>
        </p:grpSpPr>
        <p:sp>
          <p:nvSpPr>
            <p:cNvPr id="11" name="Freeform 11"/>
            <p:cNvSpPr/>
            <p:nvPr/>
          </p:nvSpPr>
          <p:spPr>
            <a:xfrm>
              <a:off x="381000" y="1733550"/>
              <a:ext cx="11430000" cy="3790950"/>
            </a:xfrm>
            <a:custGeom>
              <a:avLst/>
              <a:gdLst/>
              <a:ahLst/>
              <a:cxnLst/>
              <a:rect l="l" t="t" r="r" b="b"/>
              <a:pathLst>
                <a:path w="11430000" h="37909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3714750"/>
                  </a:lnTo>
                  <a:cubicBezTo>
                    <a:pt x="11430000" y="3756834"/>
                    <a:pt x="11395884" y="3790950"/>
                    <a:pt x="11353800" y="3790950"/>
                  </a:cubicBezTo>
                  <a:lnTo>
                    <a:pt x="76200" y="3790950"/>
                  </a:lnTo>
                  <a:cubicBezTo>
                    <a:pt x="34116" y="3790950"/>
                    <a:pt x="0" y="3756834"/>
                    <a:pt x="0" y="3714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E5E7E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3875" y="1981200"/>
              <a:ext cx="11239500" cy="523875"/>
              <a:chOff x="523875" y="1981200"/>
              <a:chExt cx="11239500" cy="523875"/>
            </a:xfrm>
          </p:grpSpPr>
          <p:sp>
            <p:nvSpPr>
              <p:cNvPr id="12" name="Polygon 12"/>
              <p:cNvSpPr/>
              <p:nvPr/>
            </p:nvSpPr>
            <p:spPr>
              <a:xfrm>
                <a:off x="523875" y="19812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74663" y="2078355"/>
                <a:ext cx="32707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4938" y="2102644"/>
                <a:ext cx="177284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个人基本情况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286250" y="22383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10487025" y="2152650"/>
                <a:ext cx="1276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95250">
                    <a:moveTo>
                      <a:pt x="161925" y="0"/>
                    </a:moveTo>
                    <a:lnTo>
                      <a:pt x="1276350" y="0"/>
                    </a:lnTo>
                    <a:lnTo>
                      <a:pt x="11144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23875" y="2476500"/>
              <a:ext cx="11239500" cy="523875"/>
              <a:chOff x="523875" y="2476500"/>
              <a:chExt cx="11239500" cy="523875"/>
            </a:xfrm>
          </p:grpSpPr>
          <p:sp>
            <p:nvSpPr>
              <p:cNvPr id="18" name="Polygon 18"/>
              <p:cNvSpPr/>
              <p:nvPr/>
            </p:nvSpPr>
            <p:spPr>
              <a:xfrm>
                <a:off x="523875" y="24765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4408" y="25736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04938" y="25979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岗位认知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286250" y="27336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10410825" y="2647950"/>
                <a:ext cx="13525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0">
                    <a:moveTo>
                      <a:pt x="161925" y="0"/>
                    </a:moveTo>
                    <a:lnTo>
                      <a:pt x="1352550" y="0"/>
                    </a:lnTo>
                    <a:lnTo>
                      <a:pt x="11906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23875" y="2971800"/>
              <a:ext cx="11239500" cy="523875"/>
              <a:chOff x="523875" y="2971800"/>
              <a:chExt cx="11239500" cy="523875"/>
            </a:xfrm>
          </p:grpSpPr>
          <p:sp>
            <p:nvSpPr>
              <p:cNvPr id="24" name="Polygon 24"/>
              <p:cNvSpPr/>
              <p:nvPr/>
            </p:nvSpPr>
            <p:spPr>
              <a:xfrm>
                <a:off x="523875" y="29718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34408" y="30689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04938" y="30932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个人绩效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286250" y="32289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467975" y="3143250"/>
                <a:ext cx="1295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95250">
                    <a:moveTo>
                      <a:pt x="161925" y="0"/>
                    </a:moveTo>
                    <a:lnTo>
                      <a:pt x="1295400" y="0"/>
                    </a:lnTo>
                    <a:lnTo>
                      <a:pt x="11334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23875" y="3467100"/>
              <a:ext cx="11239500" cy="523875"/>
              <a:chOff x="523875" y="3467100"/>
              <a:chExt cx="11239500" cy="523875"/>
            </a:xfrm>
          </p:grpSpPr>
          <p:sp>
            <p:nvSpPr>
              <p:cNvPr id="30" name="Polygon 30"/>
              <p:cNvSpPr/>
              <p:nvPr/>
            </p:nvSpPr>
            <p:spPr>
              <a:xfrm>
                <a:off x="523875" y="34671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4408" y="35642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04938" y="3588544"/>
                <a:ext cx="234791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关键问题突破举例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4286250" y="37242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10220325" y="3638550"/>
                <a:ext cx="15430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43050" h="95250">
                    <a:moveTo>
                      <a:pt x="161925" y="0"/>
                    </a:moveTo>
                    <a:lnTo>
                      <a:pt x="1543050" y="0"/>
                    </a:lnTo>
                    <a:lnTo>
                      <a:pt x="13811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523875" y="3962400"/>
              <a:ext cx="11239500" cy="523875"/>
              <a:chOff x="523875" y="3962400"/>
              <a:chExt cx="11239500" cy="523875"/>
            </a:xfrm>
          </p:grpSpPr>
          <p:sp>
            <p:nvSpPr>
              <p:cNvPr id="36" name="Polygon 36"/>
              <p:cNvSpPr/>
              <p:nvPr/>
            </p:nvSpPr>
            <p:spPr>
              <a:xfrm>
                <a:off x="523875" y="39624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4408" y="40595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404938" y="4083844"/>
                <a:ext cx="206037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下一步工作规划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286250" y="42195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10391775" y="4133850"/>
                <a:ext cx="13716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0">
                    <a:moveTo>
                      <a:pt x="161925" y="0"/>
                    </a:moveTo>
                    <a:lnTo>
                      <a:pt x="1371600" y="0"/>
                    </a:lnTo>
                    <a:lnTo>
                      <a:pt x="12096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523875" y="4457700"/>
              <a:ext cx="11239500" cy="523875"/>
              <a:chOff x="523875" y="4457700"/>
              <a:chExt cx="11239500" cy="523875"/>
            </a:xfrm>
          </p:grpSpPr>
          <p:sp>
            <p:nvSpPr>
              <p:cNvPr id="42" name="Polygon 42"/>
              <p:cNvSpPr/>
              <p:nvPr/>
            </p:nvSpPr>
            <p:spPr>
              <a:xfrm>
                <a:off x="523875" y="44577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34408" y="45548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04938" y="4579144"/>
                <a:ext cx="292298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个人的不足和提升计划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4286250" y="47148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9915525" y="4629150"/>
                <a:ext cx="1847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95250">
                    <a:moveTo>
                      <a:pt x="161925" y="0"/>
                    </a:moveTo>
                    <a:lnTo>
                      <a:pt x="1847850" y="0"/>
                    </a:lnTo>
                    <a:lnTo>
                      <a:pt x="1685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523875" y="4953000"/>
              <a:ext cx="11239500" cy="523875"/>
              <a:chOff x="523875" y="4953000"/>
              <a:chExt cx="11239500" cy="523875"/>
            </a:xfrm>
          </p:grpSpPr>
          <p:sp>
            <p:nvSpPr>
              <p:cNvPr id="48" name="Polygon 48"/>
              <p:cNvSpPr/>
              <p:nvPr/>
            </p:nvSpPr>
            <p:spPr>
              <a:xfrm>
                <a:off x="523875" y="49530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34408" y="50501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404938" y="5074444"/>
                <a:ext cx="14853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建议与求助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286250" y="52101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10296525" y="5124450"/>
                <a:ext cx="1466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95250">
                    <a:moveTo>
                      <a:pt x="161925" y="0"/>
                    </a:moveTo>
                    <a:lnTo>
                      <a:pt x="1466850" y="0"/>
                    </a:lnTo>
                    <a:lnTo>
                      <a:pt x="1304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</p:grpSp>
      <p:grpSp>
        <p:nvGrpSpPr>
          <p:cNvPr id="61" name="Group 6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5" name="Rectangle 5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7670" y="6341745"/>
              <a:ext cx="2750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Probation Presentation Structure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622" y="6578441"/>
              <a:ext cx="18283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固定目录页，不参与动态占位替换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086746" y="6316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TOC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一、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个人背景与岗位定位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46920" y="50863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个人背景与岗位认知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72826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从教育积累到 5 年研发实践，再到入职后快速切入核心业务，已完成从经验迁移到岗位担当的衔接。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81000" y="1619250"/>
            <a:ext cx="11814810" cy="4629150"/>
            <a:chOff x="381000" y="1619250"/>
            <a:chExt cx="11814810" cy="46291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85800" y="1619250"/>
              <a:ext cx="10496550" cy="1400175"/>
            </a:xfrm>
            <a:custGeom>
              <a:avLst/>
              <a:gdLst/>
              <a:ahLst/>
              <a:cxnLst/>
              <a:rect l="l" t="t" r="r" b="b"/>
              <a:pathLst>
                <a:path w="10496550" h="1400175">
                  <a:moveTo>
                    <a:pt x="0" y="419100"/>
                  </a:moveTo>
                  <a:cubicBezTo>
                    <a:pt x="1485900" y="0"/>
                    <a:pt x="3314700" y="171450"/>
                    <a:pt x="5029200" y="533400"/>
                  </a:cubicBezTo>
                  <a:cubicBezTo>
                    <a:pt x="6553200" y="847725"/>
                    <a:pt x="8105775" y="781050"/>
                    <a:pt x="10496550" y="152400"/>
                  </a:cubicBezTo>
                  <a:lnTo>
                    <a:pt x="10496550" y="838200"/>
                  </a:lnTo>
                  <a:cubicBezTo>
                    <a:pt x="8943975" y="1257300"/>
                    <a:pt x="7372350" y="1400175"/>
                    <a:pt x="5600700" y="1104900"/>
                  </a:cubicBezTo>
                  <a:cubicBezTo>
                    <a:pt x="3648075" y="781050"/>
                    <a:pt x="1609725" y="762000"/>
                    <a:pt x="0" y="1162050"/>
                  </a:cubicBezTo>
                  <a:close/>
                </a:path>
              </a:pathLst>
            </a:custGeom>
            <a:solidFill>
              <a:srgbClr val="F8FBF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190500" cap="rnd">
              <a:solidFill>
                <a:srgbClr val="E7F0D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76200" cap="rnd">
              <a:solidFill>
                <a:srgbClr val="B9D99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477500" y="211455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381000"/>
                  </a:moveTo>
                  <a:lnTo>
                    <a:pt x="457200" y="0"/>
                  </a:lnTo>
                </a:path>
              </a:pathLst>
            </a:custGeom>
            <a:noFill/>
            <a:ln w="76200" cap="rnd">
              <a:solidFill>
                <a:srgbClr val="B9D99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877550" y="2038350"/>
              <a:ext cx="342900" cy="314325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0" y="0"/>
                  </a:moveTo>
                  <a:lnTo>
                    <a:pt x="342900" y="0"/>
                  </a:lnTo>
                  <a:lnTo>
                    <a:pt x="133350" y="314325"/>
                  </a:lnTo>
                  <a:close/>
                </a:path>
              </a:pathLst>
            </a:custGeom>
            <a:solidFill>
              <a:srgbClr val="7F8C8D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71800" y="3543300"/>
              <a:ext cx="723900" cy="723900"/>
            </a:xfrm>
            <a:prstGeom prst="ellipse">
              <a:avLst/>
            </a:prstGeom>
            <a:solidFill>
              <a:srgbClr val="A8C66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562600" y="3905250"/>
              <a:ext cx="685800" cy="68580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029575" y="2771775"/>
              <a:ext cx="742950" cy="742950"/>
            </a:xfrm>
            <a:prstGeom prst="ellipse">
              <a:avLst/>
            </a:prstGeom>
            <a:solidFill>
              <a:srgbClr val="6FAE4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020300" y="2038350"/>
              <a:ext cx="914400" cy="914400"/>
            </a:xfrm>
            <a:prstGeom prst="ellipse">
              <a:avLst/>
            </a:prstGeom>
            <a:solidFill>
              <a:srgbClr val="6CC04A">
                <a:alpha val="18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096500" y="2114550"/>
              <a:ext cx="762000" cy="762000"/>
            </a:xfrm>
            <a:prstGeom prst="ellipse">
              <a:avLst/>
            </a:prstGeom>
            <a:solidFill>
              <a:srgbClr val="6CC0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17424" y="3780472"/>
              <a:ext cx="63265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2016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89174" y="4123372"/>
              <a:ext cx="63265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47344" y="3018472"/>
              <a:ext cx="7074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78605" y="2386965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78330" y="26308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7FA53A"/>
                  </a:solidFill>
                  <a:latin typeface="Arial"/>
                  <a:ea typeface="Microsoft YaHei"/>
                  <a:cs typeface="Arial"/>
                </a:rPr>
                <a:t>教育背景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02055" y="3073718"/>
              <a:ext cx="30509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2016-2020 华南农业大学 软件工程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73505" y="334041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完成研发基础能力建立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26330" y="52406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前司研发经历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83355" y="56645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2019-2025 深圳乐信控股有限公司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92905" y="59312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积累复杂业务交付与系统建设经验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12330" y="16211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F9E32"/>
                  </a:solidFill>
                  <a:latin typeface="Arial"/>
                  <a:ea typeface="Microsoft YaHei"/>
                  <a:cs typeface="Arial"/>
                </a:rPr>
                <a:t>入职当前公司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8955" y="2025968"/>
              <a:ext cx="45494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2025.10 入职后快速切入会员、营销活动、运营平台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3255" y="22926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完成从经验迁移到业务承担的过渡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20100" y="3714750"/>
              <a:ext cx="3009900" cy="1619250"/>
            </a:xfrm>
            <a:custGeom>
              <a:avLst/>
              <a:gdLst/>
              <a:ahLst/>
              <a:cxnLst/>
              <a:rect l="l" t="t" r="r" b="b"/>
              <a:pathLst>
                <a:path w="3009900" h="161925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504950"/>
                  </a:lnTo>
                  <a:cubicBezTo>
                    <a:pt x="3009900" y="1568076"/>
                    <a:pt x="2958726" y="1619250"/>
                    <a:pt x="28956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7FBF4"/>
            </a:solidFill>
            <a:ln w="13335">
              <a:solidFill>
                <a:srgbClr val="B9D99E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420100" y="3714750"/>
              <a:ext cx="3009900" cy="95250"/>
            </a:xfrm>
            <a:custGeom>
              <a:avLst/>
              <a:gdLst/>
              <a:ahLst/>
              <a:cxnLst/>
              <a:rect l="l" t="t" r="r" b="b"/>
              <a:pathLst>
                <a:path w="3009900" h="95250">
                  <a:moveTo>
                    <a:pt x="47625" y="0"/>
                  </a:moveTo>
                  <a:lnTo>
                    <a:pt x="2962275" y="0"/>
                  </a:lnTo>
                  <a:cubicBezTo>
                    <a:pt x="2988578" y="0"/>
                    <a:pt x="3009900" y="21322"/>
                    <a:pt x="3009900" y="47625"/>
                  </a:cubicBezTo>
                  <a:lnTo>
                    <a:pt x="3009900" y="47625"/>
                  </a:lnTo>
                  <a:cubicBezTo>
                    <a:pt x="3009900" y="73928"/>
                    <a:pt x="2988578" y="95250"/>
                    <a:pt x="29622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6CC0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06790" y="39204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当前岗位定位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12505" y="431196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后端开发工程师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12505" y="45786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负责活动系统、会员权益、运营配置平台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12505" y="484536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兼顾交付效率、系统质量与复用沉淀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458200" y="5467350"/>
              <a:ext cx="1619250" cy="342900"/>
            </a:xfrm>
            <a:custGeom>
              <a:avLst/>
              <a:gdLst/>
              <a:ahLst/>
              <a:cxnLst/>
              <a:rect l="l" t="t" r="r" b="b"/>
              <a:pathLst>
                <a:path w="1619250" h="342900">
                  <a:moveTo>
                    <a:pt x="171450" y="0"/>
                  </a:moveTo>
                  <a:lnTo>
                    <a:pt x="1447800" y="0"/>
                  </a:lnTo>
                  <a:cubicBezTo>
                    <a:pt x="1542489" y="0"/>
                    <a:pt x="1619250" y="76761"/>
                    <a:pt x="1619250" y="171450"/>
                  </a:cubicBezTo>
                  <a:lnTo>
                    <a:pt x="1619250" y="171450"/>
                  </a:lnTo>
                  <a:cubicBezTo>
                    <a:pt x="1619250" y="266139"/>
                    <a:pt x="1542489" y="342900"/>
                    <a:pt x="14478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020300" y="5467350"/>
              <a:ext cx="1276350" cy="342900"/>
            </a:xfrm>
            <a:custGeom>
              <a:avLst/>
              <a:gdLst/>
              <a:ahLst/>
              <a:cxnLst/>
              <a:rect l="l" t="t" r="r" b="b"/>
              <a:pathLst>
                <a:path w="1276350" h="342900">
                  <a:moveTo>
                    <a:pt x="171450" y="0"/>
                  </a:moveTo>
                  <a:lnTo>
                    <a:pt x="1104900" y="0"/>
                  </a:lnTo>
                  <a:cubicBezTo>
                    <a:pt x="1199589" y="0"/>
                    <a:pt x="1276350" y="76761"/>
                    <a:pt x="1276350" y="171450"/>
                  </a:cubicBezTo>
                  <a:lnTo>
                    <a:pt x="1276350" y="171450"/>
                  </a:lnTo>
                  <a:cubicBezTo>
                    <a:pt x="1276350" y="266139"/>
                    <a:pt x="1199589" y="342900"/>
                    <a:pt x="1104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45820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84885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00516" y="5566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复杂需求拆解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83178" y="55664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平台化设计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14791" y="60045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项目统筹推进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83651" y="6004560"/>
              <a:ext cx="9781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533400" y="5295900"/>
              <a:ext cx="7315200" cy="323850"/>
            </a:xfrm>
            <a:custGeom>
              <a:avLst/>
              <a:gdLst/>
              <a:ahLst/>
              <a:cxnLst/>
              <a:rect l="l" t="t" r="r" b="b"/>
              <a:pathLst>
                <a:path w="7315200" h="323850">
                  <a:moveTo>
                    <a:pt x="76200" y="0"/>
                  </a:moveTo>
                  <a:lnTo>
                    <a:pt x="7239000" y="0"/>
                  </a:lnTo>
                  <a:cubicBezTo>
                    <a:pt x="7281084" y="0"/>
                    <a:pt x="7315200" y="34116"/>
                    <a:pt x="7315200" y="76200"/>
                  </a:cubicBezTo>
                  <a:lnTo>
                    <a:pt x="7315200" y="247650"/>
                  </a:lnTo>
                  <a:cubicBezTo>
                    <a:pt x="7315200" y="289734"/>
                    <a:pt x="7281084" y="323850"/>
                    <a:pt x="723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6755" y="5369242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已完成从既有研发经验到当前岗位担当的衔接，具备独立承接复杂事项的基础。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1" name="Rectangle 61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08622" y="6578441"/>
              <a:ext cx="38104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background and growth path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二、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岗位认知与试用期目标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3729" y="508635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01 BACKGROUND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8076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用试用期实际交付结果，反证我对岗位要求的理解。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4885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ROLE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51602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试用期举证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29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活动项目四期按期交付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77064"/>
              <a:ext cx="2052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规则引擎从0到1独立落地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424714"/>
              <a:ext cx="2052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CRM与转盘优化体现提效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4386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4386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5815" y="22488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TARGET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914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岗位理解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2958" y="2929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关键项目里要扛住结果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2958" y="31770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复杂问题上要给出方案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2958" y="34247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一次性交付要沉淀为复用能力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3248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3248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2015" y="2248852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STANDARD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5348" y="2516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对自己的要求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9158" y="2929414"/>
              <a:ext cx="30118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覆盖项目负责、独立建设、效率优化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99158" y="31770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让团队能放心交付复杂事项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4476750"/>
              <a:ext cx="11087100" cy="895350"/>
            </a:xfrm>
            <a:custGeom>
              <a:avLst/>
              <a:gdLst/>
              <a:ahLst/>
              <a:cxnLst/>
              <a:rect l="l" t="t" r="r" b="b"/>
              <a:pathLst>
                <a:path w="11087100" h="8953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742950"/>
                  </a:lnTo>
                  <a:cubicBezTo>
                    <a:pt x="11087100" y="827118"/>
                    <a:pt x="11018868" y="895350"/>
                    <a:pt x="10934700" y="895350"/>
                  </a:cubicBezTo>
                  <a:lnTo>
                    <a:pt x="152400" y="895350"/>
                  </a:lnTo>
                  <a:cubicBezTo>
                    <a:pt x="68232" y="895350"/>
                    <a:pt x="0" y="827118"/>
                    <a:pt x="0" y="7429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4385" y="4742498"/>
              <a:ext cx="93196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试用期要证明的，不只是做了多少功能，而是能否持续承担复杂事项。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4" name="Rectangle 4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8622" y="6578441"/>
              <a:ext cx="30573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objective cards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三、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98562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6个月整体产出与量化结果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工作覆盖交付、优化、系统建设和复用沉淀四个层面。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1000" y="1676400"/>
            <a:ext cx="11862206" cy="4095750"/>
            <a:chOff x="381000" y="1676400"/>
            <a:chExt cx="11862206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39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35405" y="20069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覆盖事项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421255"/>
              <a:ext cx="20338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10 项重点事项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715" y="282035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覆盖活动、会员、系统建设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3337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5052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16705" y="20069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已完成交付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35680" y="2421255"/>
              <a:ext cx="6491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8 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490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其余为方案沉淀或交接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1150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2865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98005" y="20069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按期交付率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6980" y="2421255"/>
              <a:ext cx="6813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03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关键事项均按计划推进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896350" y="18097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67800" y="19621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79305" y="20069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8280" y="2421255"/>
              <a:ext cx="16957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2s → 1s以下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1615" y="28203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性能治理直接改善体验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239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35405" y="3378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节日活动首期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4380" y="37928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77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从接需求到上线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3337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5052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16705" y="3378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积分提醒覆盖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35680" y="3792855"/>
              <a:ext cx="15669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40w+ 用户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490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支撑大规模触达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1150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2865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98005" y="33785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16980" y="3792855"/>
              <a:ext cx="12931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 天 → 2h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30315" y="41919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复用能力显著提升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8896350" y="3181350"/>
              <a:ext cx="2457450" cy="1162050"/>
            </a:xfrm>
            <a:custGeom>
              <a:avLst/>
              <a:gdLst/>
              <a:ahLst/>
              <a:cxnLst/>
              <a:rect l="l" t="t" r="r" b="b"/>
              <a:pathLst>
                <a:path w="2457450" h="1162050">
                  <a:moveTo>
                    <a:pt x="133350" y="0"/>
                  </a:moveTo>
                  <a:lnTo>
                    <a:pt x="2324100" y="0"/>
                  </a:lnTo>
                  <a:cubicBezTo>
                    <a:pt x="2397747" y="0"/>
                    <a:pt x="2457450" y="59703"/>
                    <a:pt x="2457450" y="133350"/>
                  </a:cubicBezTo>
                  <a:lnTo>
                    <a:pt x="2457450" y="1028700"/>
                  </a:lnTo>
                  <a:cubicBezTo>
                    <a:pt x="2457450" y="1102347"/>
                    <a:pt x="2397747" y="1162050"/>
                    <a:pt x="2324100" y="1162050"/>
                  </a:cubicBezTo>
                  <a:lnTo>
                    <a:pt x="133350" y="1162050"/>
                  </a:lnTo>
                  <a:cubicBezTo>
                    <a:pt x="59703" y="1162050"/>
                    <a:pt x="0" y="1102347"/>
                    <a:pt x="0" y="1028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67800" y="33337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79305" y="3378518"/>
              <a:ext cx="1390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圣诞&amp;新年活动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98280" y="3792855"/>
              <a:ext cx="314492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拉新1992 / 参与16045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11615" y="4191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业务结果可量化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52450" y="4762500"/>
              <a:ext cx="11087100" cy="704850"/>
            </a:xfrm>
            <a:custGeom>
              <a:avLst/>
              <a:gdLst/>
              <a:ahLst/>
              <a:cxnLst/>
              <a:rect l="l" t="t" r="r" b="b"/>
              <a:pathLst>
                <a:path w="11087100" h="7048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571500"/>
                  </a:lnTo>
                  <a:cubicBezTo>
                    <a:pt x="11087100" y="645147"/>
                    <a:pt x="11027397" y="704850"/>
                    <a:pt x="10953750" y="704850"/>
                  </a:cubicBezTo>
                  <a:lnTo>
                    <a:pt x="133350" y="704850"/>
                  </a:lnTo>
                  <a:cubicBezTo>
                    <a:pt x="59703" y="704850"/>
                    <a:pt x="0" y="645147"/>
                    <a:pt x="0" y="5715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7240" y="4987290"/>
              <a:ext cx="9154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结果同时覆盖交付、效率、业务效果和复用价值，整体履职结果达到预期。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8622" y="6578441"/>
              <a:ext cx="29609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KPI cards grid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四、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304889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关键案例一｜圣诞与新年活动高压交付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在时间紧、范围大、协同复杂的条件下，完成四期活动稳定落地。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81000" y="1676400"/>
            <a:ext cx="11458099" cy="4095750"/>
            <a:chOff x="381000" y="1676400"/>
            <a:chExt cx="11458099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39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354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383155"/>
              <a:ext cx="26618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2025.11 - 2025.12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715" y="27822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持续两个月、四期推进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8003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9718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833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一期上线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02280" y="23831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5615" y="27822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高压周期下按时交付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0482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197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312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项目投入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50180" y="2383155"/>
              <a:ext cx="22593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4 后端 + 3 前端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3515" y="27822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多角色协同复杂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296150" y="1771650"/>
              <a:ext cx="4343400" cy="1028700"/>
            </a:xfrm>
            <a:custGeom>
              <a:avLst/>
              <a:gdLst/>
              <a:ahLst/>
              <a:cxnLst/>
              <a:rect l="l" t="t" r="r" b="b"/>
              <a:pathLst>
                <a:path w="4343400" h="1028700">
                  <a:moveTo>
                    <a:pt x="133350" y="0"/>
                  </a:moveTo>
                  <a:lnTo>
                    <a:pt x="4210050" y="0"/>
                  </a:lnTo>
                  <a:cubicBezTo>
                    <a:pt x="4283697" y="0"/>
                    <a:pt x="4343400" y="59703"/>
                    <a:pt x="4343400" y="133350"/>
                  </a:cubicBezTo>
                  <a:lnTo>
                    <a:pt x="4343400" y="895350"/>
                  </a:lnTo>
                  <a:cubicBezTo>
                    <a:pt x="4343400" y="968997"/>
                    <a:pt x="4283697" y="1028700"/>
                    <a:pt x="421005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4676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791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个人角色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8080" y="2383155"/>
              <a:ext cx="33220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项目负责人 + 核心研发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1415" y="278225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同时承担节奏统筹和关键研发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5245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9615" y="3353752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SITUATION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948" y="36209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高压项目背景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6758" y="40343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需求范围大、时间紧、业务目标强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6758" y="42819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活动需兼顾拉新、活跃和转化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331470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331470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91865" y="33537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TASK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85198" y="36209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承担什么责任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89008" y="40343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拆解发布节奏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89008" y="42819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协调前后端与业务方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89008" y="45296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承担关键模块研发和风险兜底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7695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7695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54115" y="3353752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ACTION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7448" y="36209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51258" y="40343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识别核心链路和里程碑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51258" y="42819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分期推进联调、提测、上线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51258" y="452961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发现问题后快速协调修复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839200" y="3105150"/>
              <a:ext cx="2800350" cy="1943100"/>
            </a:xfrm>
            <a:custGeom>
              <a:avLst/>
              <a:gdLst/>
              <a:ahLst/>
              <a:cxnLst/>
              <a:rect l="l" t="t" r="r" b="b"/>
              <a:pathLst>
                <a:path w="2800350" h="1943100">
                  <a:moveTo>
                    <a:pt x="133350" y="0"/>
                  </a:moveTo>
                  <a:lnTo>
                    <a:pt x="2667000" y="0"/>
                  </a:lnTo>
                  <a:cubicBezTo>
                    <a:pt x="2740647" y="0"/>
                    <a:pt x="2800350" y="59703"/>
                    <a:pt x="2800350" y="133350"/>
                  </a:cubicBezTo>
                  <a:lnTo>
                    <a:pt x="2800350" y="1809750"/>
                  </a:lnTo>
                  <a:cubicBezTo>
                    <a:pt x="2800350" y="1883397"/>
                    <a:pt x="2740647" y="1943100"/>
                    <a:pt x="26670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839200" y="3105150"/>
              <a:ext cx="2800350" cy="76200"/>
            </a:xfrm>
            <a:custGeom>
              <a:avLst/>
              <a:gdLst/>
              <a:ahLst/>
              <a:cxnLst/>
              <a:rect l="l" t="t" r="r" b="b"/>
              <a:pathLst>
                <a:path w="2800350" h="76200">
                  <a:moveTo>
                    <a:pt x="38100" y="0"/>
                  </a:moveTo>
                  <a:lnTo>
                    <a:pt x="2762250" y="0"/>
                  </a:lnTo>
                  <a:cubicBezTo>
                    <a:pt x="2783292" y="0"/>
                    <a:pt x="2800350" y="17058"/>
                    <a:pt x="2800350" y="38100"/>
                  </a:cubicBezTo>
                  <a:lnTo>
                    <a:pt x="2800350" y="38100"/>
                  </a:lnTo>
                  <a:cubicBezTo>
                    <a:pt x="2800350" y="59142"/>
                    <a:pt x="2783292" y="76200"/>
                    <a:pt x="2762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16365" y="33537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RESULT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09698" y="36209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最终结果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13508" y="4034314"/>
              <a:ext cx="18572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12.23 完成第四期发布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13508" y="4281964"/>
              <a:ext cx="27604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活动拉新 1992 人、参与 16045 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13508" y="45296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完成线上问题快速修复与协同兜底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9" name="Rectangle 6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08622" y="6578441"/>
              <a:ext cx="32922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project case blocks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五、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241056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关键案例二｜规则引擎从0到1独立建设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286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676400"/>
            <a:ext cx="11466434" cy="4095750"/>
            <a:chOff x="381000" y="1676400"/>
            <a:chExt cx="11466434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66900"/>
              <a:ext cx="11087100" cy="1066800"/>
            </a:xfrm>
            <a:custGeom>
              <a:avLst/>
              <a:gdLst/>
              <a:ahLst/>
              <a:cxnLst/>
              <a:rect l="l" t="t" r="r" b="b"/>
              <a:pathLst>
                <a:path w="11087100" h="106680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914400"/>
                  </a:lnTo>
                  <a:cubicBezTo>
                    <a:pt x="11087100" y="998568"/>
                    <a:pt x="11018868" y="1066800"/>
                    <a:pt x="10934700" y="1066800"/>
                  </a:cubicBezTo>
                  <a:lnTo>
                    <a:pt x="152400" y="1066800"/>
                  </a:lnTo>
                  <a:cubicBezTo>
                    <a:pt x="68232" y="1066800"/>
                    <a:pt x="0" y="998568"/>
                    <a:pt x="0" y="914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435" y="2056448"/>
              <a:ext cx="96187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1055" y="2540318"/>
              <a:ext cx="4963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系统支持调用集、规则链、规则测试执行和多环境管理。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24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24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9615" y="35252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9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原型设计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758" y="420576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自绘原型交互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6758" y="44534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在方案阶段提前定义边界与流程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316230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16230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394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327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需求文档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36608" y="42057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自编管理台需求文档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36608" y="4453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降低后续协作理解偏差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7721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7721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4931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426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46458" y="42057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独立实现规则引擎系统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46458" y="4453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完成管理台和执行能力建设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382000" y="3276600"/>
              <a:ext cx="3257550" cy="1771650"/>
            </a:xfrm>
            <a:custGeom>
              <a:avLst/>
              <a:gdLst/>
              <a:ahLst/>
              <a:cxnLst/>
              <a:rect l="l" t="t" r="r" b="b"/>
              <a:pathLst>
                <a:path w="3257550" h="1771650">
                  <a:moveTo>
                    <a:pt x="133350" y="0"/>
                  </a:moveTo>
                  <a:lnTo>
                    <a:pt x="3124200" y="0"/>
                  </a:lnTo>
                  <a:cubicBezTo>
                    <a:pt x="3197847" y="0"/>
                    <a:pt x="3257550" y="59703"/>
                    <a:pt x="3257550" y="133350"/>
                  </a:cubicBezTo>
                  <a:lnTo>
                    <a:pt x="3257550" y="1638300"/>
                  </a:lnTo>
                  <a:cubicBezTo>
                    <a:pt x="3257550" y="1711947"/>
                    <a:pt x="3197847" y="1771650"/>
                    <a:pt x="31242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82000" y="3276600"/>
              <a:ext cx="3257550" cy="76200"/>
            </a:xfrm>
            <a:custGeom>
              <a:avLst/>
              <a:gdLst/>
              <a:ahLst/>
              <a:cxnLst/>
              <a:rect l="l" t="t" r="r" b="b"/>
              <a:pathLst>
                <a:path w="3257550" h="76200">
                  <a:moveTo>
                    <a:pt x="38100" y="0"/>
                  </a:moveTo>
                  <a:lnTo>
                    <a:pt x="3219450" y="0"/>
                  </a:lnTo>
                  <a:cubicBezTo>
                    <a:pt x="3240492" y="0"/>
                    <a:pt x="3257550" y="17058"/>
                    <a:pt x="3257550" y="38100"/>
                  </a:cubicBezTo>
                  <a:lnTo>
                    <a:pt x="3257550" y="38100"/>
                  </a:lnTo>
                  <a:cubicBezTo>
                    <a:pt x="3257550" y="59142"/>
                    <a:pt x="3240492" y="76200"/>
                    <a:pt x="32194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591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524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价值结论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56308" y="4205764"/>
              <a:ext cx="3198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从需求承接升级为方案定义与独立交付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56308" y="4453414"/>
              <a:ext cx="32911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体现更强的抽象设计和 ownership 能力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9" name="Rectangle 4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622" y="6578441"/>
              <a:ext cx="3448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system build sequence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六、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6028230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关键案例三｜优化与平台化建设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不只完成需求，更持续把一次性交付升级成可复用能力。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CASE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458879"/>
              <a:ext cx="152541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8722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问题：后台查询接口响应慢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199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动作：定位瓶颈并重构查询链路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367564"/>
              <a:ext cx="15407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结果：2s → 1s以下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758" y="36152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价值：直接提升运营侧使用效率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4005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4005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777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CASE 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1048" y="24588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签到重构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4858" y="28722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问题：活动需求重复开发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4858" y="31199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动作：抽象为标准配置化能力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74858" y="33675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结果：后端无需每次重复开发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74858" y="36152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价值：提升需求响应效率与稳定性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248650" y="1943100"/>
              <a:ext cx="3200400" cy="2952750"/>
            </a:xfrm>
            <a:custGeom>
              <a:avLst/>
              <a:gdLst/>
              <a:ahLst/>
              <a:cxnLst/>
              <a:rect l="l" t="t" r="r" b="b"/>
              <a:pathLst>
                <a:path w="3200400" h="2952750">
                  <a:moveTo>
                    <a:pt x="133350" y="0"/>
                  </a:moveTo>
                  <a:lnTo>
                    <a:pt x="3067050" y="0"/>
                  </a:lnTo>
                  <a:cubicBezTo>
                    <a:pt x="3140697" y="0"/>
                    <a:pt x="3200400" y="59703"/>
                    <a:pt x="3200400" y="133350"/>
                  </a:cubicBezTo>
                  <a:lnTo>
                    <a:pt x="3200400" y="2819400"/>
                  </a:lnTo>
                  <a:cubicBezTo>
                    <a:pt x="3200400" y="2893047"/>
                    <a:pt x="3140697" y="2952750"/>
                    <a:pt x="30670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48650" y="1943100"/>
              <a:ext cx="3200400" cy="76200"/>
            </a:xfrm>
            <a:custGeom>
              <a:avLst/>
              <a:gdLst/>
              <a:ahLst/>
              <a:cxnLst/>
              <a:rect l="l" t="t" r="r" b="b"/>
              <a:pathLst>
                <a:path w="3200400" h="76200">
                  <a:moveTo>
                    <a:pt x="38100" y="0"/>
                  </a:moveTo>
                  <a:lnTo>
                    <a:pt x="3162300" y="0"/>
                  </a:lnTo>
                  <a:cubicBezTo>
                    <a:pt x="3183342" y="0"/>
                    <a:pt x="3200400" y="17058"/>
                    <a:pt x="3200400" y="38100"/>
                  </a:cubicBezTo>
                  <a:lnTo>
                    <a:pt x="3200400" y="38100"/>
                  </a:lnTo>
                  <a:cubicBezTo>
                    <a:pt x="3200400" y="59142"/>
                    <a:pt x="3183342" y="76200"/>
                    <a:pt x="31623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258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CASE 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9148" y="24588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2958" y="2872264"/>
              <a:ext cx="25276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问题：33 个子类散落在实现中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22958" y="31199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动作：收敛为配置组合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2958" y="3367564"/>
              <a:ext cx="2108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结果：新增活动 1 天 → 2h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2958" y="36152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价值：持续降低重复研发成本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52450" y="5143500"/>
              <a:ext cx="10896600" cy="419100"/>
            </a:xfrm>
            <a:custGeom>
              <a:avLst/>
              <a:gdLst/>
              <a:ahLst/>
              <a:cxnLst/>
              <a:rect l="l" t="t" r="r" b="b"/>
              <a:pathLst>
                <a:path w="10896600" h="41910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304800"/>
                  </a:lnTo>
                  <a:cubicBezTo>
                    <a:pt x="10896600" y="367926"/>
                    <a:pt x="10845426" y="419100"/>
                    <a:pt x="10782300" y="419100"/>
                  </a:cubicBezTo>
                  <a:lnTo>
                    <a:pt x="114300" y="419100"/>
                  </a:lnTo>
                  <a:cubicBezTo>
                    <a:pt x="51174" y="419100"/>
                    <a:pt x="0" y="367926"/>
                    <a:pt x="0" y="304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2950" y="5248275"/>
              <a:ext cx="80891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通过性能优化、架构重构和配置化设计，把一次性交付持续升级为可复用能力。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8" name="Rectangle 4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8622" y="6578441"/>
              <a:ext cx="35935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improvement comparison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七、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个人贡献与方法沉淀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2388" y="508635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03 EXTRA VALUE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676400"/>
            <a:ext cx="11458099" cy="4095750"/>
            <a:chOff x="381000" y="1676400"/>
            <a:chExt cx="11458099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48852"/>
              <a:ext cx="533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沉淀 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新人指引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29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编写《后端研发新人指引》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770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帮助新同学更快理解环境、流程和协作方式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31470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31470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9186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沉淀 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5198" y="2516029"/>
              <a:ext cx="104235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工程 SOP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89008" y="2929414"/>
              <a:ext cx="1922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梳理新增工程应用 SOP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9008" y="3177064"/>
              <a:ext cx="15500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梳理上线应用 SOP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89008" y="34247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降低重复沟通成本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07695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07695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5411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沉淀 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7448" y="2516029"/>
              <a:ext cx="1283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51258" y="2929414"/>
              <a:ext cx="40266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在需求分析、文档整理、代码辅助中实践 AI 方法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51258" y="31770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提升信息组织和研发效率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839200" y="2000250"/>
              <a:ext cx="2800350" cy="2305050"/>
            </a:xfrm>
            <a:custGeom>
              <a:avLst/>
              <a:gdLst/>
              <a:ahLst/>
              <a:cxnLst/>
              <a:rect l="l" t="t" r="r" b="b"/>
              <a:pathLst>
                <a:path w="2800350" h="2305050">
                  <a:moveTo>
                    <a:pt x="133350" y="0"/>
                  </a:moveTo>
                  <a:lnTo>
                    <a:pt x="2667000" y="0"/>
                  </a:lnTo>
                  <a:cubicBezTo>
                    <a:pt x="2740647" y="0"/>
                    <a:pt x="2800350" y="59703"/>
                    <a:pt x="2800350" y="133350"/>
                  </a:cubicBezTo>
                  <a:lnTo>
                    <a:pt x="2800350" y="2171700"/>
                  </a:lnTo>
                  <a:cubicBezTo>
                    <a:pt x="2800350" y="2245347"/>
                    <a:pt x="2740647" y="2305050"/>
                    <a:pt x="26670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39200" y="2000250"/>
              <a:ext cx="2800350" cy="76200"/>
            </a:xfrm>
            <a:custGeom>
              <a:avLst/>
              <a:gdLst/>
              <a:ahLst/>
              <a:cxnLst/>
              <a:rect l="l" t="t" r="r" b="b"/>
              <a:pathLst>
                <a:path w="2800350" h="76200">
                  <a:moveTo>
                    <a:pt x="38100" y="0"/>
                  </a:moveTo>
                  <a:lnTo>
                    <a:pt x="2762250" y="0"/>
                  </a:lnTo>
                  <a:cubicBezTo>
                    <a:pt x="2783292" y="0"/>
                    <a:pt x="2800350" y="17058"/>
                    <a:pt x="2800350" y="38100"/>
                  </a:cubicBezTo>
                  <a:lnTo>
                    <a:pt x="2800350" y="38100"/>
                  </a:lnTo>
                  <a:cubicBezTo>
                    <a:pt x="2800350" y="59142"/>
                    <a:pt x="2783292" y="76200"/>
                    <a:pt x="2762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1636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沉淀 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969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团队价值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13508" y="29294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把个人经验沉淀成团队可复用资产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13508" y="3177064"/>
              <a:ext cx="2425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 onboarding 和交接成本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2450" y="4629150"/>
              <a:ext cx="11087100" cy="781050"/>
            </a:xfrm>
            <a:custGeom>
              <a:avLst/>
              <a:gdLst/>
              <a:ahLst/>
              <a:cxnLst/>
              <a:rect l="l" t="t" r="r" b="b"/>
              <a:pathLst>
                <a:path w="11087100" h="7810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628650"/>
                  </a:lnTo>
                  <a:cubicBezTo>
                    <a:pt x="11087100" y="712818"/>
                    <a:pt x="11018868" y="781050"/>
                    <a:pt x="10934700" y="781050"/>
                  </a:cubicBezTo>
                  <a:lnTo>
                    <a:pt x="152400" y="781050"/>
                  </a:lnTo>
                  <a:cubicBezTo>
                    <a:pt x="68232" y="781050"/>
                    <a:pt x="0" y="712818"/>
                    <a:pt x="0" y="6286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5338" y="4845844"/>
              <a:ext cx="1068645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在项目交付之外，主动补位团队机制与知识沉淀，让经验可以复制、方法可以复用。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9" name="Rectangle 4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622" y="6578441"/>
              <a:ext cx="32561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contribution cards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八、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04935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不足与提升计划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2388" y="508635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03 EXTRA VALUE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已识别在量化、业务纵深和团队级规范方面的提升空间。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81000" y="1676400"/>
            <a:ext cx="11459528" cy="4095750"/>
            <a:chOff x="381000" y="1676400"/>
            <a:chExt cx="11459528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6215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6215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5348" y="2135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结果量化不足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52850" y="21431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提前定义效果指标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4158" y="2167414"/>
              <a:ext cx="52463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在项目开始阶段同步效果口径，避免复盘时只有过程没有结果。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52450" y="312420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2450" y="312420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5348" y="329707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业务纵深不足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52850" y="330517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系统梳理会员与营销链路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4158" y="3329464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不只完成模块交付，还进一步补足业务全链路理解。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52450" y="428625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52450" y="428625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5348" y="445912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规范沉淀不足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52850" y="4467225"/>
              <a:ext cx="33620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建设项目级 context 和协作规范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94158" y="4491514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把个人实践沉淀成团队可复用的方法论和协作约束。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7" name="Rectangle 37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622" y="6578441"/>
              <a:ext cx="32260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improvement rows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167256" y="631602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九、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未来计划、建议与求助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55174" y="508635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04 NEXT STEP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未来继续围绕 AI 提效、平台建设和团队经验沉淀三个方向持续投入。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5219700" cy="2647950"/>
            </a:xfrm>
            <a:custGeom>
              <a:avLst/>
              <a:gdLst/>
              <a:ahLst/>
              <a:cxnLst/>
              <a:rect l="l" t="t" r="r" b="b"/>
              <a:pathLst>
                <a:path w="5219700" h="2647950">
                  <a:moveTo>
                    <a:pt x="133350" y="0"/>
                  </a:moveTo>
                  <a:lnTo>
                    <a:pt x="5086350" y="0"/>
                  </a:lnTo>
                  <a:cubicBezTo>
                    <a:pt x="5159997" y="0"/>
                    <a:pt x="5219700" y="59703"/>
                    <a:pt x="5219700" y="133350"/>
                  </a:cubicBezTo>
                  <a:lnTo>
                    <a:pt x="5219700" y="2514600"/>
                  </a:lnTo>
                  <a:cubicBezTo>
                    <a:pt x="5219700" y="2588247"/>
                    <a:pt x="5159997" y="2647950"/>
                    <a:pt x="5086350" y="2647950"/>
                  </a:cubicBezTo>
                  <a:lnTo>
                    <a:pt x="133350" y="2647950"/>
                  </a:lnTo>
                  <a:cubicBezTo>
                    <a:pt x="59703" y="2647950"/>
                    <a:pt x="0" y="2588247"/>
                    <a:pt x="0" y="2514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5219700" cy="76200"/>
            </a:xfrm>
            <a:custGeom>
              <a:avLst/>
              <a:gdLst/>
              <a:ahLst/>
              <a:cxnLst/>
              <a:rect l="l" t="t" r="r" b="b"/>
              <a:pathLst>
                <a:path w="5219700" h="76200">
                  <a:moveTo>
                    <a:pt x="38100" y="0"/>
                  </a:moveTo>
                  <a:lnTo>
                    <a:pt x="5181600" y="0"/>
                  </a:lnTo>
                  <a:cubicBezTo>
                    <a:pt x="5202642" y="0"/>
                    <a:pt x="5219700" y="17058"/>
                    <a:pt x="5219700" y="38100"/>
                  </a:cubicBezTo>
                  <a:lnTo>
                    <a:pt x="5219700" y="38100"/>
                  </a:lnTo>
                  <a:cubicBezTo>
                    <a:pt x="5219700" y="59142"/>
                    <a:pt x="5202642" y="76200"/>
                    <a:pt x="5181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2980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PLAN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49697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未来 6 个月计划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103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4月：深化 AI 工具使用，继续缩短交付周期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58014"/>
              <a:ext cx="35145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5月：打造项目级 context，沉淀团队经验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405664"/>
              <a:ext cx="43990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6月：推进营销活动平台建设，争取 Q2 完成核心能力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038850" y="1981200"/>
              <a:ext cx="5410200" cy="2647950"/>
            </a:xfrm>
            <a:custGeom>
              <a:avLst/>
              <a:gdLst/>
              <a:ahLst/>
              <a:cxnLst/>
              <a:rect l="l" t="t" r="r" b="b"/>
              <a:pathLst>
                <a:path w="5410200" h="2647950">
                  <a:moveTo>
                    <a:pt x="133350" y="0"/>
                  </a:moveTo>
                  <a:lnTo>
                    <a:pt x="5276850" y="0"/>
                  </a:lnTo>
                  <a:cubicBezTo>
                    <a:pt x="5350497" y="0"/>
                    <a:pt x="5410200" y="59703"/>
                    <a:pt x="5410200" y="133350"/>
                  </a:cubicBezTo>
                  <a:lnTo>
                    <a:pt x="5410200" y="2514600"/>
                  </a:lnTo>
                  <a:cubicBezTo>
                    <a:pt x="5410200" y="2588247"/>
                    <a:pt x="5350497" y="2647950"/>
                    <a:pt x="5276850" y="2647950"/>
                  </a:cubicBezTo>
                  <a:lnTo>
                    <a:pt x="133350" y="2647950"/>
                  </a:lnTo>
                  <a:cubicBezTo>
                    <a:pt x="59703" y="2647950"/>
                    <a:pt x="0" y="2588247"/>
                    <a:pt x="0" y="2514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38850" y="1981200"/>
              <a:ext cx="5410200" cy="76200"/>
            </a:xfrm>
            <a:custGeom>
              <a:avLst/>
              <a:gdLst/>
              <a:ahLst/>
              <a:cxnLst/>
              <a:rect l="l" t="t" r="r" b="b"/>
              <a:pathLst>
                <a:path w="5410200" h="76200">
                  <a:moveTo>
                    <a:pt x="38100" y="0"/>
                  </a:moveTo>
                  <a:lnTo>
                    <a:pt x="5372100" y="0"/>
                  </a:lnTo>
                  <a:cubicBezTo>
                    <a:pt x="5393142" y="0"/>
                    <a:pt x="5410200" y="17058"/>
                    <a:pt x="5410200" y="38100"/>
                  </a:cubicBezTo>
                  <a:lnTo>
                    <a:pt x="5410200" y="38100"/>
                  </a:lnTo>
                  <a:cubicBezTo>
                    <a:pt x="5410200" y="59142"/>
                    <a:pt x="5393142" y="76200"/>
                    <a:pt x="5372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16015" y="22298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SUPPORT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09348" y="24969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建议与求助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3158" y="29103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为平台化事项预留稳定排期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13158" y="31580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提供跨团队协同与数据复盘支持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13158" y="3405664"/>
              <a:ext cx="3384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帮助关键能力建设获得更持续的资源保障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52450" y="4914900"/>
              <a:ext cx="10896600" cy="514350"/>
            </a:xfrm>
            <a:custGeom>
              <a:avLst/>
              <a:gdLst/>
              <a:ahLst/>
              <a:cxnLst/>
              <a:rect l="l" t="t" r="r" b="b"/>
              <a:pathLst>
                <a:path w="10896600" h="514350">
                  <a:moveTo>
                    <a:pt x="133350" y="0"/>
                  </a:moveTo>
                  <a:lnTo>
                    <a:pt x="10763250" y="0"/>
                  </a:lnTo>
                  <a:cubicBezTo>
                    <a:pt x="10836897" y="0"/>
                    <a:pt x="10896600" y="59703"/>
                    <a:pt x="10896600" y="133350"/>
                  </a:cubicBezTo>
                  <a:lnTo>
                    <a:pt x="10896600" y="381000"/>
                  </a:lnTo>
                  <a:cubicBezTo>
                    <a:pt x="10896600" y="454647"/>
                    <a:pt x="10836897" y="514350"/>
                    <a:pt x="10763250" y="514350"/>
                  </a:cubicBezTo>
                  <a:lnTo>
                    <a:pt x="133350" y="514350"/>
                  </a:lnTo>
                  <a:cubicBezTo>
                    <a:pt x="59703" y="514350"/>
                    <a:pt x="0" y="454647"/>
                    <a:pt x="0" y="38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2002" y="5075396"/>
              <a:ext cx="953120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已具备持续承担更大职责的基础，申请按期转正，并继续围绕 AI 提效、平台建设和经验沉淀投入。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8" name="Rectangle 3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8622" y="6578441"/>
              <a:ext cx="3557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future plan and support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87384" y="6316028"/>
              <a:ext cx="123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-128588" y="-1036320"/>
            <a:ext cx="12325350" cy="7894320"/>
            <a:chOff x="-128588" y="-1036320"/>
            <a:chExt cx="12325350" cy="789432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-128588" y="3138488"/>
              <a:ext cx="12325350" cy="3419475"/>
            </a:xfrm>
            <a:prstGeom prst="rect">
              <a:avLst/>
            </a:prstGeom>
            <a:solidFill>
              <a:srgbClr val="D0CECE">
                <a:alpha val="83921"/>
              </a:srgbClr>
            </a:solidFill>
            <a:ln w="12700">
              <a:solidFill>
                <a:srgbClr val="AFABA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-121920" y="-1036320"/>
              <a:ext cx="6132576" cy="1950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感谢聆听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28575" y="-242888"/>
              <a:ext cx="3671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欢迎各位领导和同事指正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