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notesSlides/notesSlide1.xml" Type="http://schemas.openxmlformats.org/officeDocument/2006/relationships/notesSlide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10.xml" Type="http://schemas.openxmlformats.org/officeDocument/2006/relationships/notesSlide"/><Relationship Id="rId31" Target="notesSlides/notesSlide11.xml" Type="http://schemas.openxmlformats.org/officeDocument/2006/relationships/notesSlide"/><Relationship Id="rId32" Target="notesSlides/notesSlide12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评委，下午好。我是后端开发工程师方汉涛，今天非常荣幸能在这里进行我的转正答辩。在过去的几个月里，我深入参与了团队的工作，收获颇丰。接下来，我将从个人情况、岗位认知、工作绩效、未来规划等几个方面，向各位汇报我的试用期工作情况。希望通过这次答辩，能让大家对我有一个更全面的了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汇报将围绕这七个部分展开。首先，我会简单介绍我的个人背景；其次，阐述我对后端开发工程师这个岗位的理解；接着，我会重点展示我在试用期内的工作绩效和关键项目突破；最后，我会分享对未来的工作规划、自我反思以及对团队的一些建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我毕业于华南农业大学软件工程专业，拥有超过五年的后端开发经验。在加入路特之前，我在乐信科技担任后台开发工程师，积累了丰富的复杂业务交付和系统建设经验。自去年10月加入路特以来，我迅速融入团队，参与了会员、营销活动等多个核心模块的开发工作。目前，我作为后端开发工程师，主要负责活动运营和会员权益相关的业务，并致力于提升交付效率和系统质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我看来，后端开发工程师不仅仅是代码的实现者，更是系统的构建者和守护者。我们的核心职责是构建系统的基石，通过技术手段保障业务的稳定运行和持续发展。我对自己的要求是，不仅要高质量地完成功能开发，更要具备解决复杂问题的能力，主动发现并解决系统瓶颈，最终成长为一名能为业务创造核心价值的工程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试用期内，我始终以结果为导向，全面完成了各项工作任务。我一共完成了15项任务，交付了8个需求，按期交付率达到了100%。在效率提升方面，我主导优化了CRM查询接口，将响应时间从2秒以上大幅降低到150毫秒以内，并将新抽奖活动的配置时间从一天缩短到了两小时。这些成果不仅提升了系统性能，也为业务带来了实际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，我想分享一个我在试用期内负责的关键项目——大促秒杀系统的优化。当时面临的挑战是，预估流量将是平时的10倍以上，原系统存在超卖和性能瓶颈的巨大风险。我的任务是确保系统稳定，实现零超卖。为此，我采取了一系列措施，包括前端限流、缓存预热、异步下单和服务降级。最终，我们成功应对了流量洪峰，实现了零超卖，系统稳定性高达四个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另一个关键项目是对一个老旧单体应用的微服务化重构。这个项目的挑战在于代码耦合严重，迭代效率低下。我的工作流程分为四步：首先，通过业务梳理明确边界；其次，通过依赖分析识别可拆分模块；接着，采用“绞杀者模式”逐步拆分；最后，成功将单体应用重构为多个微服务。这次重构大大提升了团队的迭代效率，将发布周期从两周缩短到了三天，也证明了我独立建设复杂系统的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除了大型项目，我也注重在日常工作中进行持续优化。例如，通过SQL优化和缓存引入，我将一个核心接口的响应时间降低了84%；通过代码优化和容器化部署，显著降低了服务器资源成本；通过编写单元测试，将负责模块的测试覆盖率从28%提升到了85%。我始终坚持，不仅要完成需求，更要将一次性的交付升级为可复用的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对于未来的工作，我有三个方面的规划。首先是技术深度的提升，我计划在未来半年内深入学习Go语言，并尝试在项目中应用。其次，对于我目前负责的模块，我将进行全面的性能优化和架构升级，并建立完善的监控体系。最后，我希望能更积极地参与团队协作，通过Code Review和技术分享，为团队贡献更多价值。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总结工作的同时，我也清醒地认识到自己的不足。比如，在复杂业务建模方面还有提升空间，系统性思维和全局视野也需要加强。针对这些不足，我制定了具体的提升计划，包括主动参与架构设计讨论、学习DDD思想、绘制系统架构图，以及持续关注行业新技术。我相信通过这些努力，我能更快地成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基于我对公司的观察和了解，我提出三点不成熟的建议：一是建立统一的技术知识库；二是优化需求变更流程；三是增加跨团队的技术交流。同时，我也希望能得到公司在技术学习和项目指导方面的更多支持，帮助我更好地成长。我的汇报到此结束，感谢各位评委的聆听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再次感谢各位评委的宝贵时间。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Relationship Id="rId4" Target="../notesSlides/notesSlide12.xml" Type="http://schemas.openxmlformats.org/officeDocument/2006/relationships/notesSlide"/><Relationship Id="rId5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680700" y="342900"/>
            <a:ext cx="990600" cy="1778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cxnSp>
        <p:nvCxnSpPr>
          <p:cNvPr name="Connector 3" id="3"/>
          <p:cNvCxnSpPr/>
          <p:nvPr/>
        </p:nvCxnSpPr>
        <p:spPr>
          <a:xfrm rot="-13402" flipH="false" flipV="false">
            <a:off x="254000" y="711200"/>
            <a:ext cx="651511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92D05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name="Connector 4" id="4"/>
          <p:cNvCxnSpPr/>
          <p:nvPr/>
        </p:nvCxnSpPr>
        <p:spPr>
          <a:xfrm rot="97" flipH="false" flipV="false">
            <a:off x="6921500" y="711205"/>
            <a:ext cx="33044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80808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name="Connector 5" id="5"/>
          <p:cNvCxnSpPr/>
          <p:nvPr/>
        </p:nvCxnSpPr>
        <p:spPr>
          <a:xfrm rot="97" flipH="false" flipV="false">
            <a:off x="7404100" y="711205"/>
            <a:ext cx="33044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80808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317500" y="266700"/>
            <a:ext cx="431800" cy="330200"/>
          </a:xfrm>
          <a:prstGeom prst="roundRect">
            <a:avLst>
              <a:gd name="adj" fmla="val 0"/>
            </a:avLst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25500" y="266700"/>
            <a:ext cx="203200" cy="330200"/>
          </a:xfrm>
          <a:prstGeom prst="roundRect">
            <a:avLst>
              <a:gd name="adj" fmla="val 0"/>
            </a:avLst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rcRect l="0" r="0" t="4084" b="4084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9" id="9"/>
          <p:cNvSpPr/>
          <p:nvPr/>
        </p:nvSpPr>
        <p:spPr>
          <a:xfrm rot="0" flipH="false" flipV="false">
            <a:off x="2286000" y="2794000"/>
            <a:ext cx="7620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63500" blurRad="127000" algn="tl" rotWithShape="false">
              <a:srgbClr val="000000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286000" y="3048000"/>
            <a:ext cx="762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88900" rIns="88900" tIns="50800" bIns="5080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480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转正答辩汇报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651000" y="4826000"/>
            <a:ext cx="8890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381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905000" y="4978400"/>
            <a:ext cx="838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88900" rIns="88900" tIns="50800" bIns="50800"/>
          <a:lstStyle/>
          <a:p>
            <a:pPr algn="ctr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汇报人：方汉涛 | 岗位：后端开发工程师 | 日期：2026年4月X日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0" y="6705600"/>
            <a:ext cx="12192000" cy="152400"/>
          </a:xfrm>
          <a:prstGeom prst="roundRect">
            <a:avLst>
              <a:gd name="adj" fmla="val 0"/>
            </a:avLst>
          </a:prstGeom>
          <a:solidFill>
            <a:srgbClr val="92D05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680700" y="342900"/>
            <a:ext cx="990600" cy="1778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cxnSp>
        <p:nvCxnSpPr>
          <p:cNvPr name="Connector 3" id="3"/>
          <p:cNvCxnSpPr/>
          <p:nvPr/>
        </p:nvCxnSpPr>
        <p:spPr>
          <a:xfrm rot="-13402" flipH="false" flipV="false">
            <a:off x="254000" y="711200"/>
            <a:ext cx="651511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92D05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name="Connector 4" id="4"/>
          <p:cNvCxnSpPr/>
          <p:nvPr/>
        </p:nvCxnSpPr>
        <p:spPr>
          <a:xfrm rot="97" flipH="false" flipV="false">
            <a:off x="6921500" y="711205"/>
            <a:ext cx="33044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80808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name="Connector 5" id="5"/>
          <p:cNvCxnSpPr/>
          <p:nvPr/>
        </p:nvCxnSpPr>
        <p:spPr>
          <a:xfrm rot="97" flipH="false" flipV="false">
            <a:off x="7404100" y="711205"/>
            <a:ext cx="33044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80808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317500" y="266700"/>
            <a:ext cx="431800" cy="330200"/>
          </a:xfrm>
          <a:prstGeom prst="actionButtonBlank">
            <a:avLst/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25500" y="266700"/>
            <a:ext cx="76200" cy="330200"/>
          </a:xfrm>
          <a:prstGeom prst="actionButtonBlank">
            <a:avLst/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41400" y="114300"/>
            <a:ext cx="2540000" cy="520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目 录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971800" y="1041400"/>
            <a:ext cx="660400" cy="520700"/>
          </a:xfrm>
          <a:prstGeom prst="parallelogram">
            <a:avLst>
              <a:gd name="adj" fmla="val 25000"/>
            </a:avLst>
          </a:pr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111500" y="1054100"/>
            <a:ext cx="381000" cy="520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88900" rIns="88900" tIns="50800" bIns="5080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1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746500" y="1028700"/>
            <a:ext cx="4445000" cy="520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88900" rIns="88900" tIns="50800" bIns="5080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2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个人基本情况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9341" flipH="false" flipV="false">
            <a:off x="3581409" y="1581150"/>
            <a:ext cx="46736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88C100">
                <a:alpha val="100000"/>
              </a:srgbClr>
            </a:solidFill>
            <a:prstDash val="dash"/>
            <a:miter lim="10000000"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7112000" y="1524000"/>
            <a:ext cx="1117600" cy="50800"/>
          </a:xfrm>
          <a:prstGeom prst="parallelogram">
            <a:avLst>
              <a:gd name="adj" fmla="val 112437"/>
            </a:avLst>
          </a:prstGeom>
          <a:gradFill rotWithShape="true">
            <a:gsLst>
              <a:gs pos="0">
                <a:srgbClr val="9EE256">
                  <a:alpha val="100000"/>
                </a:srgbClr>
              </a:gs>
              <a:gs pos="100000">
                <a:srgbClr val="52762D">
                  <a:alpha val="100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2971800" y="1803400"/>
            <a:ext cx="660400" cy="520700"/>
          </a:xfrm>
          <a:prstGeom prst="parallelogram">
            <a:avLst>
              <a:gd name="adj" fmla="val 25000"/>
            </a:avLst>
          </a:pr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111500" y="1816100"/>
            <a:ext cx="381000" cy="520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88900" rIns="88900" tIns="50800" bIns="5080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746500" y="1790700"/>
            <a:ext cx="4445000" cy="520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88900" rIns="88900" tIns="50800" bIns="5080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2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岗位认知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9341" flipH="false" flipV="false">
            <a:off x="3581409" y="2343150"/>
            <a:ext cx="46736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88C100">
                <a:alpha val="100000"/>
              </a:srgbClr>
            </a:solidFill>
            <a:prstDash val="dash"/>
            <a:miter lim="10000000"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7112000" y="2286000"/>
            <a:ext cx="1117600" cy="50800"/>
          </a:xfrm>
          <a:prstGeom prst="parallelogram">
            <a:avLst>
              <a:gd name="adj" fmla="val 112437"/>
            </a:avLst>
          </a:prstGeom>
          <a:gradFill rotWithShape="true">
            <a:gsLst>
              <a:gs pos="0">
                <a:srgbClr val="9EE256">
                  <a:alpha val="100000"/>
                </a:srgbClr>
              </a:gs>
              <a:gs pos="100000">
                <a:srgbClr val="52762D">
                  <a:alpha val="100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2971800" y="2565400"/>
            <a:ext cx="660400" cy="520700"/>
          </a:xfrm>
          <a:prstGeom prst="parallelogram">
            <a:avLst>
              <a:gd name="adj" fmla="val 25000"/>
            </a:avLst>
          </a:pr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3111500" y="2578100"/>
            <a:ext cx="381000" cy="520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88900" rIns="88900" tIns="50800" bIns="5080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3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3746500" y="2552700"/>
            <a:ext cx="4445000" cy="520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88900" rIns="88900" tIns="50800" bIns="5080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2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个人绩效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9341" flipH="false" flipV="false">
            <a:off x="3581409" y="3105150"/>
            <a:ext cx="46736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88C100">
                <a:alpha val="100000"/>
              </a:srgbClr>
            </a:solidFill>
            <a:prstDash val="dash"/>
            <a:miter lim="10000000"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7112000" y="3048000"/>
            <a:ext cx="1117600" cy="50800"/>
          </a:xfrm>
          <a:prstGeom prst="parallelogram">
            <a:avLst>
              <a:gd name="adj" fmla="val 112437"/>
            </a:avLst>
          </a:prstGeom>
          <a:gradFill rotWithShape="true">
            <a:gsLst>
              <a:gs pos="0">
                <a:srgbClr val="9EE256">
                  <a:alpha val="100000"/>
                </a:srgbClr>
              </a:gs>
              <a:gs pos="100000">
                <a:srgbClr val="52762D">
                  <a:alpha val="100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2971800" y="3327400"/>
            <a:ext cx="660400" cy="520700"/>
          </a:xfrm>
          <a:prstGeom prst="parallelogram">
            <a:avLst>
              <a:gd name="adj" fmla="val 25000"/>
            </a:avLst>
          </a:pr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3111500" y="3340100"/>
            <a:ext cx="381000" cy="520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88900" rIns="88900" tIns="50800" bIns="5080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4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3746500" y="3314700"/>
            <a:ext cx="4445000" cy="520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88900" rIns="88900" tIns="50800" bIns="5080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2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关键问题突破举例</a:t>
            </a:r>
            <a:endParaRPr lang="en-US" sz="1100"/>
          </a:p>
        </p:txBody>
      </p:sp>
      <p:cxnSp>
        <p:nvCxnSpPr>
          <p:cNvPr name="Connector 27" id="27"/>
          <p:cNvCxnSpPr/>
          <p:nvPr/>
        </p:nvCxnSpPr>
        <p:spPr>
          <a:xfrm rot="-9341" flipH="false" flipV="false">
            <a:off x="3581409" y="3867150"/>
            <a:ext cx="46736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88C100">
                <a:alpha val="100000"/>
              </a:srgbClr>
            </a:solidFill>
            <a:prstDash val="dash"/>
            <a:miter lim="10000000"/>
            <a:headEnd type="none" w="med" len="med"/>
            <a:tailEnd type="none" w="med" len="med"/>
          </a:ln>
        </p:spPr>
      </p:cxnSp>
      <p:sp>
        <p:nvSpPr>
          <p:cNvPr name="AutoShape 28" id="28"/>
          <p:cNvSpPr/>
          <p:nvPr/>
        </p:nvSpPr>
        <p:spPr>
          <a:xfrm rot="0" flipH="false" flipV="false">
            <a:off x="7112000" y="3810000"/>
            <a:ext cx="1117600" cy="50800"/>
          </a:xfrm>
          <a:prstGeom prst="parallelogram">
            <a:avLst>
              <a:gd name="adj" fmla="val 112437"/>
            </a:avLst>
          </a:prstGeom>
          <a:gradFill rotWithShape="true">
            <a:gsLst>
              <a:gs pos="0">
                <a:srgbClr val="9EE256">
                  <a:alpha val="100000"/>
                </a:srgbClr>
              </a:gs>
              <a:gs pos="100000">
                <a:srgbClr val="52762D">
                  <a:alpha val="100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2971800" y="4089400"/>
            <a:ext cx="660400" cy="520700"/>
          </a:xfrm>
          <a:prstGeom prst="parallelogram">
            <a:avLst>
              <a:gd name="adj" fmla="val 25000"/>
            </a:avLst>
          </a:pr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3111500" y="4102100"/>
            <a:ext cx="381000" cy="520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88900" rIns="88900" tIns="50800" bIns="5080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5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3746500" y="4076700"/>
            <a:ext cx="4445000" cy="520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88900" rIns="88900" tIns="50800" bIns="5080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2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下一步工作规划</a:t>
            </a:r>
            <a:endParaRPr lang="en-US" sz="1100"/>
          </a:p>
        </p:txBody>
      </p:sp>
      <p:cxnSp>
        <p:nvCxnSpPr>
          <p:cNvPr name="Connector 32" id="32"/>
          <p:cNvCxnSpPr/>
          <p:nvPr/>
        </p:nvCxnSpPr>
        <p:spPr>
          <a:xfrm rot="-9341" flipH="false" flipV="false">
            <a:off x="3581409" y="4629150"/>
            <a:ext cx="46736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88C100">
                <a:alpha val="100000"/>
              </a:srgbClr>
            </a:solidFill>
            <a:prstDash val="dash"/>
            <a:miter lim="10000000"/>
            <a:headEnd type="none" w="med" len="med"/>
            <a:tailEnd type="none" w="med" len="med"/>
          </a:ln>
        </p:spPr>
      </p:cxnSp>
      <p:sp>
        <p:nvSpPr>
          <p:cNvPr name="AutoShape 33" id="33"/>
          <p:cNvSpPr/>
          <p:nvPr/>
        </p:nvSpPr>
        <p:spPr>
          <a:xfrm rot="0" flipH="false" flipV="false">
            <a:off x="7112000" y="4572000"/>
            <a:ext cx="1117600" cy="50800"/>
          </a:xfrm>
          <a:prstGeom prst="parallelogram">
            <a:avLst>
              <a:gd name="adj" fmla="val 112437"/>
            </a:avLst>
          </a:prstGeom>
          <a:gradFill rotWithShape="true">
            <a:gsLst>
              <a:gs pos="0">
                <a:srgbClr val="9EE256">
                  <a:alpha val="100000"/>
                </a:srgbClr>
              </a:gs>
              <a:gs pos="100000">
                <a:srgbClr val="52762D">
                  <a:alpha val="100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2971800" y="4851400"/>
            <a:ext cx="660400" cy="520700"/>
          </a:xfrm>
          <a:prstGeom prst="parallelogram">
            <a:avLst>
              <a:gd name="adj" fmla="val 25000"/>
            </a:avLst>
          </a:pr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3111500" y="4864100"/>
            <a:ext cx="381000" cy="520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88900" rIns="88900" tIns="50800" bIns="5080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6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3746500" y="4838700"/>
            <a:ext cx="4826000" cy="520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88900" rIns="88900" tIns="50800" bIns="5080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2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个人的不足和提升计划</a:t>
            </a:r>
            <a:endParaRPr lang="en-US" sz="1100"/>
          </a:p>
        </p:txBody>
      </p:sp>
      <p:cxnSp>
        <p:nvCxnSpPr>
          <p:cNvPr name="Connector 37" id="37"/>
          <p:cNvCxnSpPr/>
          <p:nvPr/>
        </p:nvCxnSpPr>
        <p:spPr>
          <a:xfrm rot="-8637" flipH="false" flipV="false">
            <a:off x="3581408" y="5391150"/>
            <a:ext cx="50546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88C100">
                <a:alpha val="100000"/>
              </a:srgbClr>
            </a:solidFill>
            <a:prstDash val="dash"/>
            <a:miter lim="10000000"/>
            <a:headEnd type="none" w="med" len="med"/>
            <a:tailEnd type="none" w="med" len="med"/>
          </a:ln>
        </p:spPr>
      </p:cxnSp>
      <p:sp>
        <p:nvSpPr>
          <p:cNvPr name="AutoShape 38" id="38"/>
          <p:cNvSpPr/>
          <p:nvPr/>
        </p:nvSpPr>
        <p:spPr>
          <a:xfrm rot="0" flipH="false" flipV="false">
            <a:off x="7493000" y="5334000"/>
            <a:ext cx="1117600" cy="50800"/>
          </a:xfrm>
          <a:prstGeom prst="parallelogram">
            <a:avLst>
              <a:gd name="adj" fmla="val 112437"/>
            </a:avLst>
          </a:prstGeom>
          <a:gradFill rotWithShape="true">
            <a:gsLst>
              <a:gs pos="0">
                <a:srgbClr val="9EE256">
                  <a:alpha val="100000"/>
                </a:srgbClr>
              </a:gs>
              <a:gs pos="100000">
                <a:srgbClr val="52762D">
                  <a:alpha val="100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2971800" y="5613400"/>
            <a:ext cx="660400" cy="520700"/>
          </a:xfrm>
          <a:prstGeom prst="parallelogram">
            <a:avLst>
              <a:gd name="adj" fmla="val 25000"/>
            </a:avLst>
          </a:pr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3111500" y="5626100"/>
            <a:ext cx="381000" cy="520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88900" rIns="88900" tIns="50800" bIns="5080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7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3746500" y="5600700"/>
            <a:ext cx="4445000" cy="520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88900" rIns="88900" tIns="50800" bIns="5080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2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建议与求助</a:t>
            </a:r>
            <a:endParaRPr lang="en-US" sz="1100"/>
          </a:p>
        </p:txBody>
      </p:sp>
      <p:cxnSp>
        <p:nvCxnSpPr>
          <p:cNvPr name="Connector 42" id="42"/>
          <p:cNvCxnSpPr/>
          <p:nvPr/>
        </p:nvCxnSpPr>
        <p:spPr>
          <a:xfrm rot="-9341" flipH="false" flipV="false">
            <a:off x="3581409" y="6153150"/>
            <a:ext cx="46736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88C100">
                <a:alpha val="100000"/>
              </a:srgbClr>
            </a:solidFill>
            <a:prstDash val="dash"/>
            <a:miter lim="10000000"/>
            <a:headEnd type="none" w="med" len="med"/>
            <a:tailEnd type="none" w="med" len="med"/>
          </a:ln>
        </p:spPr>
      </p:cxnSp>
      <p:sp>
        <p:nvSpPr>
          <p:cNvPr name="AutoShape 43" id="43"/>
          <p:cNvSpPr/>
          <p:nvPr/>
        </p:nvSpPr>
        <p:spPr>
          <a:xfrm rot="0" flipH="false" flipV="false">
            <a:off x="7112000" y="6096000"/>
            <a:ext cx="1117600" cy="50800"/>
          </a:xfrm>
          <a:prstGeom prst="parallelogram">
            <a:avLst>
              <a:gd name="adj" fmla="val 112437"/>
            </a:avLst>
          </a:prstGeom>
          <a:gradFill rotWithShape="true">
            <a:gsLst>
              <a:gs pos="0">
                <a:srgbClr val="9EE256">
                  <a:alpha val="100000"/>
                </a:srgbClr>
              </a:gs>
              <a:gs pos="100000">
                <a:srgbClr val="52762D">
                  <a:alpha val="100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680700" y="342900"/>
            <a:ext cx="990600" cy="1778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cxnSp>
        <p:nvCxnSpPr>
          <p:cNvPr name="Connector 3" id="3"/>
          <p:cNvCxnSpPr/>
          <p:nvPr/>
        </p:nvCxnSpPr>
        <p:spPr>
          <a:xfrm rot="-13402" flipH="false" flipV="false">
            <a:off x="254000" y="711200"/>
            <a:ext cx="651511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92D05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name="Connector 4" id="4"/>
          <p:cNvCxnSpPr/>
          <p:nvPr/>
        </p:nvCxnSpPr>
        <p:spPr>
          <a:xfrm rot="97" flipH="false" flipV="false">
            <a:off x="6921500" y="711205"/>
            <a:ext cx="33044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80808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name="Connector 5" id="5"/>
          <p:cNvCxnSpPr/>
          <p:nvPr/>
        </p:nvCxnSpPr>
        <p:spPr>
          <a:xfrm rot="97" flipH="false" flipV="false">
            <a:off x="7404100" y="711205"/>
            <a:ext cx="33044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80808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317500" y="266700"/>
            <a:ext cx="431800" cy="330200"/>
          </a:xfrm>
          <a:prstGeom prst="actionButtonBlank">
            <a:avLst/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25500" y="266700"/>
            <a:ext cx="76200" cy="330200"/>
          </a:xfrm>
          <a:prstGeom prst="actionButtonBlank">
            <a:avLst/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90600" y="114300"/>
            <a:ext cx="10515600" cy="520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一、个人基本情况介绍</a:t>
            </a:r>
            <a:endParaRPr lang="en-US" sz="1100"/>
          </a:p>
        </p:txBody>
      </p:sp>
      <p:sp>
        <p:nvSpPr>
          <p:cNvPr name="Freeform 9" id="9"/>
          <p:cNvSpPr/>
          <p:nvPr/>
        </p:nvSpPr>
        <p:spPr>
          <a:xfrm rot="0" flipH="false" flipV="false">
            <a:off x="381000" y="965200"/>
            <a:ext cx="11430000" cy="5129310"/>
          </a:xfrm>
          <a:custGeom>
            <a:avLst/>
            <a:gdLst/>
            <a:ahLst/>
            <a:cxnLst/>
            <a:rect r="r" b="b" t="t" l="l"/>
            <a:pathLst>
              <a:path h="5129310" w="11430000">
                <a:moveTo>
                  <a:pt x="76200" y="0"/>
                </a:moveTo>
                <a:lnTo>
                  <a:pt x="11353800" y="0"/>
                </a:lnTo>
                <a:cubicBezTo>
                  <a:pt x="11395884" y="0"/>
                  <a:pt x="11430000" y="42725"/>
                  <a:pt x="11430000" y="95429"/>
                </a:cubicBezTo>
                <a:lnTo>
                  <a:pt x="11430000" y="5033881"/>
                </a:lnTo>
                <a:cubicBezTo>
                  <a:pt x="11430000" y="5086585"/>
                  <a:pt x="11395884" y="5129310"/>
                  <a:pt x="11353800" y="5129310"/>
                </a:cubicBezTo>
                <a:lnTo>
                  <a:pt x="76200" y="5129310"/>
                </a:lnTo>
                <a:cubicBezTo>
                  <a:pt x="34116" y="5129310"/>
                  <a:pt x="0" y="5086585"/>
                  <a:pt x="0" y="5033881"/>
                </a:cubicBezTo>
                <a:lnTo>
                  <a:pt x="0" y="95429"/>
                </a:lnTo>
                <a:cubicBezTo>
                  <a:pt x="0" y="42725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0" id="10"/>
          <p:cNvSpPr/>
          <p:nvPr/>
        </p:nvSpPr>
        <p:spPr>
          <a:xfrm rot="0" flipH="false" flipV="false">
            <a:off x="558800" y="1041400"/>
            <a:ext cx="11003280" cy="1400175"/>
          </a:xfrm>
          <a:custGeom>
            <a:avLst/>
            <a:gdLst/>
            <a:ahLst/>
            <a:cxnLst/>
            <a:rect r="r" b="b" t="t" l="l"/>
            <a:pathLst>
              <a:path h="1400175" w="11003280">
                <a:moveTo>
                  <a:pt x="0" y="419100"/>
                </a:moveTo>
                <a:cubicBezTo>
                  <a:pt x="1557633" y="0"/>
                  <a:pt x="3474720" y="171450"/>
                  <a:pt x="5271988" y="533400"/>
                </a:cubicBezTo>
                <a:cubicBezTo>
                  <a:pt x="6869561" y="847725"/>
                  <a:pt x="8497089" y="781050"/>
                  <a:pt x="11003280" y="152400"/>
                </a:cubicBezTo>
                <a:lnTo>
                  <a:pt x="11003280" y="838200"/>
                </a:lnTo>
                <a:cubicBezTo>
                  <a:pt x="9375753" y="1257300"/>
                  <a:pt x="7728256" y="1400175"/>
                  <a:pt x="5871079" y="1104900"/>
                </a:cubicBezTo>
                <a:cubicBezTo>
                  <a:pt x="3824188" y="781050"/>
                  <a:pt x="1687436" y="762000"/>
                  <a:pt x="0" y="1162050"/>
                </a:cubicBezTo>
                <a:close/>
              </a:path>
            </a:pathLst>
          </a:custGeom>
          <a:solidFill>
            <a:srgbClr val="F8FB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0" flipH="false" flipV="false">
            <a:off x="787400" y="1917700"/>
            <a:ext cx="9563100" cy="2133600"/>
          </a:xfrm>
          <a:custGeom>
            <a:avLst/>
            <a:gdLst/>
            <a:ahLst/>
            <a:cxnLst/>
            <a:rect r="r" b="b" t="t" l="l"/>
            <a:pathLst>
              <a:path h="2133600" w="9563100">
                <a:moveTo>
                  <a:pt x="0" y="2133600"/>
                </a:moveTo>
                <a:lnTo>
                  <a:pt x="2419350" y="1409700"/>
                </a:lnTo>
                <a:lnTo>
                  <a:pt x="4991100" y="1752600"/>
                </a:lnTo>
                <a:lnTo>
                  <a:pt x="7486650" y="647700"/>
                </a:lnTo>
                <a:lnTo>
                  <a:pt x="9563100" y="0"/>
                </a:lnTo>
              </a:path>
            </a:pathLst>
          </a:custGeom>
          <a:noFill/>
          <a:ln w="190500" cmpd="sng" cap="rnd">
            <a:solidFill>
              <a:srgbClr val="E7F0D8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787400" y="1917700"/>
            <a:ext cx="9563100" cy="2133600"/>
          </a:xfrm>
          <a:custGeom>
            <a:avLst/>
            <a:gdLst/>
            <a:ahLst/>
            <a:cxnLst/>
            <a:rect r="r" b="b" t="t" l="l"/>
            <a:pathLst>
              <a:path h="2133600" w="9563100">
                <a:moveTo>
                  <a:pt x="0" y="2133600"/>
                </a:moveTo>
                <a:lnTo>
                  <a:pt x="2419350" y="1409700"/>
                </a:lnTo>
                <a:lnTo>
                  <a:pt x="4991100" y="1752600"/>
                </a:lnTo>
                <a:lnTo>
                  <a:pt x="7486650" y="647700"/>
                </a:lnTo>
                <a:lnTo>
                  <a:pt x="9563100" y="0"/>
                </a:lnTo>
              </a:path>
            </a:pathLst>
          </a:custGeom>
          <a:noFill/>
          <a:ln w="76200" cmpd="sng" cap="rnd">
            <a:solidFill>
              <a:srgbClr val="B9D99E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10299700" y="1727200"/>
            <a:ext cx="442270" cy="420052"/>
          </a:xfrm>
          <a:custGeom>
            <a:avLst/>
            <a:gdLst/>
            <a:ahLst/>
            <a:cxnLst/>
            <a:rect r="r" b="b" t="t" l="l"/>
            <a:pathLst>
              <a:path h="420052" w="442270">
                <a:moveTo>
                  <a:pt x="0" y="0"/>
                </a:moveTo>
                <a:lnTo>
                  <a:pt x="442270" y="0"/>
                </a:lnTo>
                <a:lnTo>
                  <a:pt x="171994" y="420052"/>
                </a:lnTo>
                <a:close/>
              </a:path>
            </a:pathLst>
          </a:custGeom>
          <a:solidFill>
            <a:srgbClr val="AFABA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2844800" y="2971800"/>
            <a:ext cx="723900" cy="723900"/>
          </a:xfrm>
          <a:prstGeom prst="ellipse">
            <a:avLst/>
          </a:prstGeom>
          <a:solidFill>
            <a:srgbClr val="A8C66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435600" y="3327400"/>
            <a:ext cx="685800" cy="685800"/>
          </a:xfrm>
          <a:prstGeom prst="ellipse">
            <a:avLst/>
          </a:pr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077200" y="2032000"/>
            <a:ext cx="914400" cy="914400"/>
          </a:xfrm>
          <a:prstGeom prst="ellipse">
            <a:avLst/>
          </a:prstGeom>
          <a:solidFill>
            <a:srgbClr val="6CC04A">
              <a:alpha val="1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153400" y="2120900"/>
            <a:ext cx="762000" cy="762000"/>
          </a:xfrm>
          <a:prstGeom prst="ellipse">
            <a:avLst/>
          </a:prstGeom>
          <a:solidFill>
            <a:srgbClr val="6CC04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2933700" y="3213100"/>
            <a:ext cx="558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2020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499100" y="3556000"/>
            <a:ext cx="558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2025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318500" y="2362200"/>
            <a:ext cx="4572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至今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2667000" y="2082800"/>
            <a:ext cx="13462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100">
                <a:solidFill>
                  <a:srgbClr val="7FA53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教育背景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930400" y="2501900"/>
            <a:ext cx="304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rPr>
              <a:t>2016-2020</a:t>
            </a:r>
            <a:r>
              <a:rPr lang="en-US" b="false" i="false" strike="noStrike" u="none" sz="14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华南农业大学 软件工程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930400" y="2819400"/>
            <a:ext cx="279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完成研发基础能力建立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978400" y="4178300"/>
            <a:ext cx="1778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100">
                <a:solidFill>
                  <a:srgbClr val="88C1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过往职业经历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4140200" y="4622800"/>
            <a:ext cx="381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rPr>
              <a:t>2020-2025</a:t>
            </a:r>
            <a:r>
              <a:rPr lang="en-US" b="false" i="false" strike="noStrike" u="none" sz="14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深圳乐信科技 后台开发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4140200" y="4953000"/>
            <a:ext cx="355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积累复杂业务交付与系统建设经验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912100" y="1231900"/>
            <a:ext cx="10795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100">
                <a:solidFill>
                  <a:srgbClr val="5F9E3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入职路特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375400" y="1600200"/>
            <a:ext cx="45466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rPr>
              <a:t>2025.10</a:t>
            </a:r>
            <a:r>
              <a:rPr lang="en-US" b="false" i="false" strike="noStrike" u="none" sz="14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切入会员/营销/运营平台业务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375400" y="1905000"/>
            <a:ext cx="45466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完成从经验迁移到业务承担的过渡</a:t>
            </a:r>
            <a:endParaRPr lang="en-US" sz="1100"/>
          </a:p>
        </p:txBody>
      </p:sp>
      <p:sp>
        <p:nvSpPr>
          <p:cNvPr name="Freeform 30" id="30"/>
          <p:cNvSpPr/>
          <p:nvPr/>
        </p:nvSpPr>
        <p:spPr>
          <a:xfrm rot="0" flipH="false" flipV="false">
            <a:off x="8293100" y="3136900"/>
            <a:ext cx="3009900" cy="1619250"/>
          </a:xfrm>
          <a:custGeom>
            <a:avLst/>
            <a:gdLst/>
            <a:ahLst/>
            <a:cxnLst/>
            <a:rect r="r" b="b" t="t" l="l"/>
            <a:pathLst>
              <a:path h="1619250" w="3009900">
                <a:moveTo>
                  <a:pt x="114300" y="0"/>
                </a:moveTo>
                <a:lnTo>
                  <a:pt x="2895600" y="0"/>
                </a:lnTo>
                <a:cubicBezTo>
                  <a:pt x="2958727" y="0"/>
                  <a:pt x="3009900" y="51173"/>
                  <a:pt x="3009900" y="114300"/>
                </a:cubicBezTo>
                <a:lnTo>
                  <a:pt x="3009900" y="1504950"/>
                </a:lnTo>
                <a:cubicBezTo>
                  <a:pt x="3009900" y="1568077"/>
                  <a:pt x="2958727" y="1619250"/>
                  <a:pt x="2895600" y="1619250"/>
                </a:cubicBezTo>
                <a:lnTo>
                  <a:pt x="114300" y="1619250"/>
                </a:lnTo>
                <a:cubicBezTo>
                  <a:pt x="51173" y="1619250"/>
                  <a:pt x="0" y="1568077"/>
                  <a:pt x="0" y="1504950"/>
                </a:cubicBezTo>
                <a:lnTo>
                  <a:pt x="0" y="114300"/>
                </a:lnTo>
                <a:cubicBezTo>
                  <a:pt x="0" y="51173"/>
                  <a:pt x="51173" y="0"/>
                  <a:pt x="114300" y="0"/>
                </a:cubicBezTo>
                <a:close/>
              </a:path>
            </a:pathLst>
          </a:custGeom>
          <a:solidFill>
            <a:srgbClr val="F7FBF4">
              <a:alpha val="100000"/>
            </a:srgbClr>
          </a:solidFill>
          <a:ln w="12700" cmpd="sng" cap="flat">
            <a:solidFill>
              <a:srgbClr val="B9D99E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1" id="31"/>
          <p:cNvSpPr/>
          <p:nvPr/>
        </p:nvSpPr>
        <p:spPr>
          <a:xfrm rot="0" flipH="false" flipV="false">
            <a:off x="8293100" y="3136900"/>
            <a:ext cx="3009900" cy="95250"/>
          </a:xfrm>
          <a:custGeom>
            <a:avLst/>
            <a:gdLst/>
            <a:ahLst/>
            <a:cxnLst/>
            <a:rect r="r" b="b" t="t" l="l"/>
            <a:pathLst>
              <a:path h="95250" w="3009900">
                <a:moveTo>
                  <a:pt x="47625" y="0"/>
                </a:moveTo>
                <a:lnTo>
                  <a:pt x="2962275" y="0"/>
                </a:lnTo>
                <a:cubicBezTo>
                  <a:pt x="2988578" y="0"/>
                  <a:pt x="3009900" y="21322"/>
                  <a:pt x="3009900" y="47625"/>
                </a:cubicBezTo>
                <a:lnTo>
                  <a:pt x="3009900" y="47625"/>
                </a:lnTo>
                <a:cubicBezTo>
                  <a:pt x="3009900" y="73928"/>
                  <a:pt x="2988578" y="95250"/>
                  <a:pt x="2962275" y="95250"/>
                </a:cubicBezTo>
                <a:lnTo>
                  <a:pt x="47625" y="95250"/>
                </a:lnTo>
                <a:cubicBezTo>
                  <a:pt x="21322" y="95250"/>
                  <a:pt x="0" y="73928"/>
                  <a:pt x="0" y="476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6CC04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8483600" y="3352800"/>
            <a:ext cx="9271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4D7E2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当前岗位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9563100" y="3352800"/>
            <a:ext cx="1435100" cy="2413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333F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后端开发工程师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8496300" y="3822700"/>
            <a:ext cx="266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333F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负责活动运营、会员权益等业务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8496300" y="4165600"/>
            <a:ext cx="266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333F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兼顾交付效率、质量与复用沉淀</a:t>
            </a:r>
            <a:endParaRPr lang="en-US" sz="1100"/>
          </a:p>
        </p:txBody>
      </p:sp>
      <p:sp>
        <p:nvSpPr>
          <p:cNvPr name="Freeform 36" id="36"/>
          <p:cNvSpPr/>
          <p:nvPr/>
        </p:nvSpPr>
        <p:spPr>
          <a:xfrm rot="0" flipH="false" flipV="false">
            <a:off x="8331200" y="4635500"/>
            <a:ext cx="1619250" cy="342900"/>
          </a:xfrm>
          <a:custGeom>
            <a:avLst/>
            <a:gdLst/>
            <a:ahLst/>
            <a:cxnLst/>
            <a:rect r="r" b="b" t="t" l="l"/>
            <a:pathLst>
              <a:path h="342900" w="1619250">
                <a:moveTo>
                  <a:pt x="171450" y="0"/>
                </a:moveTo>
                <a:lnTo>
                  <a:pt x="1447800" y="0"/>
                </a:lnTo>
                <a:cubicBezTo>
                  <a:pt x="1542489" y="0"/>
                  <a:pt x="1619250" y="76761"/>
                  <a:pt x="1619250" y="171450"/>
                </a:cubicBezTo>
                <a:lnTo>
                  <a:pt x="1619250" y="171450"/>
                </a:lnTo>
                <a:cubicBezTo>
                  <a:pt x="1619250" y="266139"/>
                  <a:pt x="1542489" y="342900"/>
                  <a:pt x="1447800" y="342900"/>
                </a:cubicBezTo>
                <a:lnTo>
                  <a:pt x="171450" y="342900"/>
                </a:lnTo>
                <a:cubicBezTo>
                  <a:pt x="76761" y="342900"/>
                  <a:pt x="0" y="266139"/>
                  <a:pt x="0" y="1714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 cmpd="sng" cap="flat">
            <a:solidFill>
              <a:srgbClr val="DDEAC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7" id="37"/>
          <p:cNvSpPr/>
          <p:nvPr/>
        </p:nvSpPr>
        <p:spPr>
          <a:xfrm rot="0" flipH="false" flipV="false">
            <a:off x="10020300" y="4635500"/>
            <a:ext cx="1425131" cy="342900"/>
          </a:xfrm>
          <a:custGeom>
            <a:avLst/>
            <a:gdLst/>
            <a:ahLst/>
            <a:cxnLst/>
            <a:rect r="r" b="b" t="t" l="l"/>
            <a:pathLst>
              <a:path h="342900" w="1425131">
                <a:moveTo>
                  <a:pt x="191436" y="0"/>
                </a:moveTo>
                <a:lnTo>
                  <a:pt x="1233696" y="0"/>
                </a:lnTo>
                <a:cubicBezTo>
                  <a:pt x="1339422" y="0"/>
                  <a:pt x="1425130" y="76761"/>
                  <a:pt x="1425130" y="171450"/>
                </a:cubicBezTo>
                <a:lnTo>
                  <a:pt x="1425130" y="171450"/>
                </a:lnTo>
                <a:cubicBezTo>
                  <a:pt x="1425130" y="266139"/>
                  <a:pt x="1339422" y="342900"/>
                  <a:pt x="1233696" y="342900"/>
                </a:cubicBezTo>
                <a:lnTo>
                  <a:pt x="191436" y="342900"/>
                </a:lnTo>
                <a:cubicBezTo>
                  <a:pt x="85708" y="342900"/>
                  <a:pt x="0" y="266139"/>
                  <a:pt x="0" y="171450"/>
                </a:cubicBezTo>
                <a:lnTo>
                  <a:pt x="0" y="171450"/>
                </a:lnTo>
                <a:cubicBezTo>
                  <a:pt x="0" y="76761"/>
                  <a:pt x="85708" y="0"/>
                  <a:pt x="191436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 cmpd="sng" cap="flat">
            <a:solidFill>
              <a:srgbClr val="DDEAC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8" id="38"/>
          <p:cNvSpPr/>
          <p:nvPr/>
        </p:nvSpPr>
        <p:spPr>
          <a:xfrm rot="0" flipH="false" flipV="false">
            <a:off x="8331200" y="5080000"/>
            <a:ext cx="1595103" cy="342900"/>
          </a:xfrm>
          <a:custGeom>
            <a:avLst/>
            <a:gdLst/>
            <a:ahLst/>
            <a:cxnLst/>
            <a:rect r="r" b="b" t="t" l="l"/>
            <a:pathLst>
              <a:path h="342900" w="1595103">
                <a:moveTo>
                  <a:pt x="188893" y="0"/>
                </a:moveTo>
                <a:lnTo>
                  <a:pt x="1406210" y="0"/>
                </a:lnTo>
                <a:cubicBezTo>
                  <a:pt x="1510533" y="0"/>
                  <a:pt x="1595103" y="76761"/>
                  <a:pt x="1595103" y="171450"/>
                </a:cubicBezTo>
                <a:lnTo>
                  <a:pt x="1595103" y="171450"/>
                </a:lnTo>
                <a:cubicBezTo>
                  <a:pt x="1595103" y="266139"/>
                  <a:pt x="1510533" y="342900"/>
                  <a:pt x="1406210" y="342900"/>
                </a:cubicBezTo>
                <a:lnTo>
                  <a:pt x="188893" y="342900"/>
                </a:lnTo>
                <a:cubicBezTo>
                  <a:pt x="84571" y="342900"/>
                  <a:pt x="0" y="266139"/>
                  <a:pt x="0" y="171450"/>
                </a:cubicBezTo>
                <a:lnTo>
                  <a:pt x="0" y="171450"/>
                </a:lnTo>
                <a:cubicBezTo>
                  <a:pt x="0" y="76761"/>
                  <a:pt x="84571" y="0"/>
                  <a:pt x="18889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 cmpd="sng" cap="flat">
            <a:solidFill>
              <a:srgbClr val="DDEAC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9" id="39"/>
          <p:cNvSpPr/>
          <p:nvPr/>
        </p:nvSpPr>
        <p:spPr>
          <a:xfrm rot="0" flipH="false" flipV="false">
            <a:off x="9994900" y="5080000"/>
            <a:ext cx="1447800" cy="342900"/>
          </a:xfrm>
          <a:custGeom>
            <a:avLst/>
            <a:gdLst/>
            <a:ahLst/>
            <a:cxnLst/>
            <a:rect r="r" b="b" t="t" l="l"/>
            <a:pathLst>
              <a:path h="342900" w="1447800">
                <a:moveTo>
                  <a:pt x="171450" y="0"/>
                </a:moveTo>
                <a:lnTo>
                  <a:pt x="1276350" y="0"/>
                </a:lnTo>
                <a:cubicBezTo>
                  <a:pt x="1371039" y="0"/>
                  <a:pt x="1447800" y="76761"/>
                  <a:pt x="1447800" y="171450"/>
                </a:cubicBezTo>
                <a:lnTo>
                  <a:pt x="1447800" y="171450"/>
                </a:lnTo>
                <a:cubicBezTo>
                  <a:pt x="1447800" y="266139"/>
                  <a:pt x="1371039" y="342900"/>
                  <a:pt x="1276350" y="342900"/>
                </a:cubicBezTo>
                <a:lnTo>
                  <a:pt x="171450" y="342900"/>
                </a:lnTo>
                <a:cubicBezTo>
                  <a:pt x="76761" y="342900"/>
                  <a:pt x="0" y="266139"/>
                  <a:pt x="0" y="1714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 cmpd="sng" cap="flat">
            <a:solidFill>
              <a:srgbClr val="DDEAC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8382000" y="4699000"/>
            <a:ext cx="1524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4F5B6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复杂事项承接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10058400" y="4699000"/>
            <a:ext cx="13335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4F5B6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平台化设计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8382000" y="5143500"/>
            <a:ext cx="1524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4F5B6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项目统筹推进</a:t>
            </a:r>
            <a:endParaRPr lang="en-US" sz="1100"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10058400" y="5143500"/>
            <a:ext cx="13335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4F5B6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AI协同研发</a:t>
            </a:r>
            <a:endParaRPr lang="en-US" sz="1100"/>
          </a:p>
        </p:txBody>
      </p:sp>
      <p:sp>
        <p:nvSpPr>
          <p:cNvPr name="Freeform 44" id="44"/>
          <p:cNvSpPr/>
          <p:nvPr/>
        </p:nvSpPr>
        <p:spPr>
          <a:xfrm rot="0" flipH="false" flipV="false">
            <a:off x="444500" y="5651500"/>
            <a:ext cx="7315200" cy="323850"/>
          </a:xfrm>
          <a:custGeom>
            <a:avLst/>
            <a:gdLst/>
            <a:ahLst/>
            <a:cxnLst/>
            <a:rect r="r" b="b" t="t" l="l"/>
            <a:pathLst>
              <a:path h="323850" w="7315200">
                <a:moveTo>
                  <a:pt x="76200" y="0"/>
                </a:moveTo>
                <a:lnTo>
                  <a:pt x="7239000" y="0"/>
                </a:lnTo>
                <a:cubicBezTo>
                  <a:pt x="7281084" y="0"/>
                  <a:pt x="7315200" y="34116"/>
                  <a:pt x="7315200" y="76200"/>
                </a:cubicBezTo>
                <a:lnTo>
                  <a:pt x="7315200" y="247650"/>
                </a:lnTo>
                <a:cubicBezTo>
                  <a:pt x="7315200" y="289734"/>
                  <a:pt x="7281084" y="323850"/>
                  <a:pt x="7239000" y="323850"/>
                </a:cubicBezTo>
                <a:lnTo>
                  <a:pt x="76200" y="323850"/>
                </a:lnTo>
                <a:cubicBezTo>
                  <a:pt x="34116" y="323850"/>
                  <a:pt x="0" y="289734"/>
                  <a:pt x="0" y="2476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6FBE8">
              <a:alpha val="100000"/>
            </a:srgbClr>
          </a:solidFill>
          <a:ln w="12700" cmpd="sng" cap="flat">
            <a:solidFill>
              <a:srgbClr val="CFE1A8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5" id="45"/>
          <p:cNvSpPr/>
          <p:nvPr/>
        </p:nvSpPr>
        <p:spPr>
          <a:xfrm rot="0" flipH="false" flipV="false">
            <a:off x="508000" y="5651500"/>
            <a:ext cx="57150" cy="323850"/>
          </a:xfrm>
          <a:custGeom>
            <a:avLst/>
            <a:gdLst/>
            <a:ahLst/>
            <a:cxnLst/>
            <a:rect r="r" b="b" t="t" l="l"/>
            <a:pathLst>
              <a:path h="323850" w="571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295275"/>
                </a:lnTo>
                <a:cubicBezTo>
                  <a:pt x="57150" y="311057"/>
                  <a:pt x="44357" y="323850"/>
                  <a:pt x="28575" y="323850"/>
                </a:cubicBezTo>
                <a:lnTo>
                  <a:pt x="28575" y="323850"/>
                </a:lnTo>
                <a:cubicBezTo>
                  <a:pt x="12793" y="323850"/>
                  <a:pt x="0" y="311057"/>
                  <a:pt x="0" y="2952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6" id="46"/>
          <p:cNvSpPr/>
          <p:nvPr/>
        </p:nvSpPr>
        <p:spPr>
          <a:xfrm rot="0" flipH="false" flipV="false">
            <a:off x="698500" y="5689600"/>
            <a:ext cx="698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4F5B6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总结：已完成从既有研发经验到岗位担当的衔接，具备独立承接复杂事项能力。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680700" y="342900"/>
            <a:ext cx="990600" cy="1778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cxnSp>
        <p:nvCxnSpPr>
          <p:cNvPr name="Connector 3" id="3"/>
          <p:cNvCxnSpPr/>
          <p:nvPr/>
        </p:nvCxnSpPr>
        <p:spPr>
          <a:xfrm rot="-13402" flipH="false" flipV="false">
            <a:off x="254000" y="711200"/>
            <a:ext cx="651511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92D05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name="Connector 4" id="4"/>
          <p:cNvCxnSpPr/>
          <p:nvPr/>
        </p:nvCxnSpPr>
        <p:spPr>
          <a:xfrm rot="97" flipH="false" flipV="false">
            <a:off x="6921500" y="711205"/>
            <a:ext cx="33044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80808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name="Connector 5" id="5"/>
          <p:cNvCxnSpPr/>
          <p:nvPr/>
        </p:nvCxnSpPr>
        <p:spPr>
          <a:xfrm rot="97" flipH="false" flipV="false">
            <a:off x="7404100" y="711205"/>
            <a:ext cx="33044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80808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317500" y="266700"/>
            <a:ext cx="431800" cy="330200"/>
          </a:xfrm>
          <a:prstGeom prst="actionButtonBlank">
            <a:avLst/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25500" y="266700"/>
            <a:ext cx="76200" cy="330200"/>
          </a:xfrm>
          <a:prstGeom prst="actionButtonBlank">
            <a:avLst/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14400" y="266700"/>
            <a:ext cx="889000" cy="520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88900" rIns="88900" tIns="50800" bIns="5080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2800">
                <a:solidFill>
                  <a:srgbClr val="000000"/>
                </a:solidFill>
                <a:latin typeface="腾讯体 W3"/>
                <a:ea typeface="腾讯体 W3"/>
                <a:cs typeface="腾讯体 W3"/>
                <a:sym typeface="腾讯体 W3"/>
              </a:rPr>
              <a:t>二、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447800" y="266700"/>
            <a:ext cx="2540000" cy="520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88900" rIns="88900" tIns="50800" bIns="5080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岗位认知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93700" y="1295400"/>
            <a:ext cx="11582400" cy="431800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D8E7B4">
                <a:alpha val="100000"/>
              </a:srgbClr>
            </a:solidFill>
            <a:prstDash val="dash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71500" y="1612900"/>
            <a:ext cx="3429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71500" y="1612900"/>
            <a:ext cx="3429000" cy="76200"/>
          </a:xfrm>
          <a:prstGeom prst="roundRect">
            <a:avLst>
              <a:gd name="adj" fmla="val 0"/>
            </a:avLst>
          </a:prstGeom>
          <a:solidFill>
            <a:srgbClr val="6B8E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36600" y="18669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6B8E00"/>
                </a:solidFill>
                <a:latin typeface="Arial"/>
                <a:ea typeface="Arial"/>
                <a:cs typeface="Arial"/>
                <a:sym typeface="Arial"/>
              </a:rPr>
              <a:t>ROLE</a:t>
            </a:r>
            <a:r>
              <a:rPr lang="en-US" b="true" i="false" strike="noStrike" u="none" sz="1600">
                <a:solidFill>
                  <a:srgbClr val="2C3E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表现举证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36600" y="2349500"/>
            <a:ext cx="3111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5D6D7E"/>
                </a:solidFill>
                <a:latin typeface="Noto Sans SC"/>
                <a:ea typeface="Noto Sans SC"/>
                <a:cs typeface="Noto Sans SC"/>
                <a:sym typeface="Noto Sans SC"/>
              </a:rPr>
              <a:t>业务逻辑实现：</a:t>
            </a:r>
            <a:r>
              <a:rPr lang="en-US" b="false" i="false" strike="noStrike" u="none" sz="1300">
                <a:solidFill>
                  <a:srgbClr val="5D6D7E"/>
                </a:solidFill>
                <a:latin typeface="Noto Sans SC"/>
                <a:ea typeface="Noto Sans SC"/>
                <a:cs typeface="Noto Sans SC"/>
                <a:sym typeface="Noto Sans SC"/>
              </a:rPr>
              <a:t>将复杂需求转化为高效、可扩展的技术实现。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36600" y="2984500"/>
            <a:ext cx="3111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5D6D7E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数据持久化：</a:t>
            </a:r>
            <a:r>
              <a:rPr lang="en-US" b="false" i="false" strike="noStrike" u="none" sz="1300">
                <a:solidFill>
                  <a:srgbClr val="5D6D7E"/>
                </a:solidFill>
                <a:latin typeface="Noto Sans SC"/>
                <a:ea typeface="Noto Sans SC"/>
                <a:cs typeface="Noto Sans SC"/>
                <a:sym typeface="Noto Sans SC"/>
              </a:rPr>
              <a:t>负责数据库设计优化，确保数据安全高效。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36600" y="3619500"/>
            <a:ext cx="3111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5D6D7E"/>
                </a:solidFill>
                <a:latin typeface="Noto Sans SC"/>
                <a:ea typeface="Noto Sans SC"/>
                <a:cs typeface="Noto Sans SC"/>
                <a:sym typeface="Noto Sans SC"/>
              </a:rPr>
              <a:t>服务接口设计：</a:t>
            </a:r>
            <a:r>
              <a:rPr lang="en-US" b="false" i="false" strike="noStrike" u="none" sz="1300">
                <a:solidFill>
                  <a:srgbClr val="5D6D7E"/>
                </a:solidFill>
                <a:latin typeface="Noto Sans SC"/>
                <a:ea typeface="Noto Sans SC"/>
                <a:cs typeface="Noto Sans SC"/>
                <a:sym typeface="Noto Sans SC"/>
              </a:rPr>
              <a:t>设计规范易用的API，作为系统协作桥梁。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254500" y="1612900"/>
            <a:ext cx="3429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254500" y="1612900"/>
            <a:ext cx="3429000" cy="76200"/>
          </a:xfrm>
          <a:prstGeom prst="roundRect">
            <a:avLst>
              <a:gd name="adj" fmla="val 0"/>
            </a:avLst>
          </a:pr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419600" y="18669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88C100"/>
                </a:solidFill>
                <a:latin typeface="Arial"/>
                <a:ea typeface="Arial"/>
                <a:cs typeface="Arial"/>
                <a:sym typeface="Arial"/>
              </a:rPr>
              <a:t>TARGET</a:t>
            </a:r>
            <a:r>
              <a:rPr lang="en-US" b="true" i="false" strike="noStrike" u="none" sz="1600">
                <a:solidFill>
                  <a:srgbClr val="2C3E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岗位理解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419600" y="2349500"/>
            <a:ext cx="3111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5D6D7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核心职责：</a:t>
            </a:r>
            <a:r>
              <a:rPr lang="en-US" b="false" i="false" strike="noStrike" u="none" sz="1300">
                <a:solidFill>
                  <a:srgbClr val="5D6D7E"/>
                </a:solidFill>
                <a:latin typeface="Noto Sans SC"/>
                <a:ea typeface="Noto Sans SC"/>
                <a:cs typeface="Noto Sans SC"/>
                <a:sym typeface="Noto Sans SC"/>
              </a:rPr>
              <a:t>构建系统基石，保障高并发下稳定响应。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419600" y="2984500"/>
            <a:ext cx="3111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5D6D7E"/>
                </a:solidFill>
                <a:latin typeface="Noto Sans SC"/>
                <a:ea typeface="Noto Sans SC"/>
                <a:cs typeface="Noto Sans SC"/>
                <a:sym typeface="Noto Sans SC"/>
              </a:rPr>
              <a:t>能力要求：</a:t>
            </a:r>
            <a:r>
              <a:rPr lang="en-US" b="false" i="false" strike="noStrike" u="none" sz="1300">
                <a:solidFill>
                  <a:srgbClr val="5D6D7E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技术深度与业务广度结合，具备“T”型结构。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4419600" y="3619500"/>
            <a:ext cx="3111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5D6D7E"/>
                </a:solidFill>
                <a:latin typeface="Noto Sans SC"/>
                <a:ea typeface="Noto Sans SC"/>
                <a:cs typeface="Noto Sans SC"/>
                <a:sym typeface="Noto Sans SC"/>
              </a:rPr>
              <a:t>工作目标：</a:t>
            </a:r>
            <a:r>
              <a:rPr lang="en-US" b="false" i="false" strike="noStrike" u="none" sz="1300">
                <a:solidFill>
                  <a:srgbClr val="5D6D7E"/>
                </a:solidFill>
                <a:latin typeface="Noto Sans SC"/>
                <a:ea typeface="Noto Sans SC"/>
                <a:cs typeface="Noto Sans SC"/>
                <a:sym typeface="Noto Sans SC"/>
              </a:rPr>
              <a:t>从功能实现者转型价值创造者。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937500" y="1612900"/>
            <a:ext cx="3429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937500" y="1612900"/>
            <a:ext cx="3429000" cy="76200"/>
          </a:xfrm>
          <a:prstGeom prst="roundRect">
            <a:avLst>
              <a:gd name="adj" fmla="val 0"/>
            </a:avLst>
          </a:prstGeom>
          <a:solidFill>
            <a:srgbClr val="4D7E2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102600" y="18669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4D7E2E"/>
                </a:solidFill>
                <a:latin typeface="Arial"/>
                <a:ea typeface="Arial"/>
                <a:cs typeface="Arial"/>
                <a:sym typeface="Arial"/>
              </a:rPr>
              <a:t>STANDARD</a:t>
            </a:r>
            <a:r>
              <a:rPr lang="en-US" b="true" i="false" strike="noStrike" u="none" sz="1600">
                <a:solidFill>
                  <a:srgbClr val="2C3E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自我要求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102600" y="2349500"/>
            <a:ext cx="3111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5D6D7E"/>
                </a:solidFill>
                <a:latin typeface="Noto Sans SC"/>
                <a:ea typeface="Noto Sans SC"/>
                <a:cs typeface="Noto Sans SC"/>
                <a:sym typeface="Noto Sans SC"/>
              </a:rPr>
              <a:t>全面负责：</a:t>
            </a:r>
            <a:r>
              <a:rPr lang="en-US" b="false" i="false" strike="noStrike" u="none" sz="1300">
                <a:solidFill>
                  <a:srgbClr val="5D6D7E"/>
                </a:solidFill>
                <a:latin typeface="Noto Sans SC"/>
                <a:ea typeface="Noto Sans SC"/>
                <a:cs typeface="Noto Sans SC"/>
                <a:sym typeface="Noto Sans SC"/>
              </a:rPr>
              <a:t>独立设计模块，持续优化，对结果负责。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102600" y="2984500"/>
            <a:ext cx="3111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5D6D7E"/>
                </a:solidFill>
                <a:latin typeface="Noto Sans SC"/>
                <a:ea typeface="Noto Sans SC"/>
                <a:cs typeface="Noto Sans SC"/>
                <a:sym typeface="Noto Sans SC"/>
              </a:rPr>
              <a:t>解决难题：</a:t>
            </a:r>
            <a:r>
              <a:rPr lang="en-US" b="false" i="false" strike="noStrike" u="none" sz="1300">
                <a:solidFill>
                  <a:srgbClr val="5D6D7E"/>
                </a:solidFill>
                <a:latin typeface="Noto Sans SC"/>
                <a:ea typeface="Noto Sans SC"/>
                <a:cs typeface="Noto Sans SC"/>
                <a:sym typeface="Noto Sans SC"/>
              </a:rPr>
              <a:t>攻克复杂技术业务问题，让团队放心交付。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102600" y="3619500"/>
            <a:ext cx="3111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5D6D7E"/>
                </a:solidFill>
                <a:latin typeface="Noto Sans SC"/>
                <a:ea typeface="Noto Sans SC"/>
                <a:cs typeface="Noto Sans SC"/>
                <a:sym typeface="Noto Sans SC"/>
              </a:rPr>
              <a:t>持续学习：</a:t>
            </a:r>
            <a:r>
              <a:rPr lang="en-US" b="false" i="false" strike="noStrike" u="none" sz="1300">
                <a:solidFill>
                  <a:srgbClr val="5D6D7E"/>
                </a:solidFill>
                <a:latin typeface="Noto Sans SC"/>
                <a:ea typeface="Noto Sans SC"/>
                <a:cs typeface="Noto Sans SC"/>
                <a:sym typeface="Noto Sans SC"/>
              </a:rPr>
              <a:t>保持技术敏感度，推动团队技术栈演进。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571500" y="4572000"/>
            <a:ext cx="11049000" cy="889000"/>
          </a:xfrm>
          <a:prstGeom prst="roundRect">
            <a:avLst>
              <a:gd name="adj" fmla="val 0"/>
            </a:avLst>
          </a:prstGeom>
          <a:solidFill>
            <a:srgbClr val="F6FBE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762000" y="4699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6B8E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后端开发不仅是代码实现者，更是系统构建者与守护者，致力于为业务创造核心价值。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680700" y="342900"/>
            <a:ext cx="990600" cy="1778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cxnSp>
        <p:nvCxnSpPr>
          <p:cNvPr name="Connector 3" id="3"/>
          <p:cNvCxnSpPr/>
          <p:nvPr/>
        </p:nvCxnSpPr>
        <p:spPr>
          <a:xfrm rot="-13402" flipH="false" flipV="false">
            <a:off x="254000" y="711200"/>
            <a:ext cx="651511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92D05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name="Connector 4" id="4"/>
          <p:cNvCxnSpPr/>
          <p:nvPr/>
        </p:nvCxnSpPr>
        <p:spPr>
          <a:xfrm rot="97" flipH="false" flipV="false">
            <a:off x="6921500" y="711205"/>
            <a:ext cx="33044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80808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name="Connector 5" id="5"/>
          <p:cNvCxnSpPr/>
          <p:nvPr/>
        </p:nvCxnSpPr>
        <p:spPr>
          <a:xfrm rot="97" flipH="false" flipV="false">
            <a:off x="7404100" y="711205"/>
            <a:ext cx="33044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80808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317500" y="266700"/>
            <a:ext cx="431800" cy="330200"/>
          </a:xfrm>
          <a:prstGeom prst="actionButtonBlank">
            <a:avLst/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25500" y="266700"/>
            <a:ext cx="76200" cy="330200"/>
          </a:xfrm>
          <a:prstGeom prst="actionButtonBlank">
            <a:avLst/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92200" y="177800"/>
            <a:ext cx="10515600" cy="520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三、绩效目标及完成情况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00100" y="1308100"/>
            <a:ext cx="3390900" cy="35433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981200" y="1612900"/>
            <a:ext cx="1028700" cy="1028700"/>
          </a:xfrm>
          <a:prstGeom prst="ellipse">
            <a:avLst/>
          </a:prstGeom>
          <a:solidFill>
            <a:srgbClr val="F6FBE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273300" y="1892300"/>
            <a:ext cx="469900" cy="469900"/>
          </a:xfrm>
          <a:prstGeom prst="ellipse">
            <a:avLst/>
          </a:prstGeom>
          <a:solidFill>
            <a:srgbClr val="87B22E">
              <a:alpha val="100000"/>
            </a:srgbClr>
          </a:solidFill>
          <a:ln w="25400" cmpd="sng" cap="flat">
            <a:solidFill>
              <a:srgbClr val="87B22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77900" y="2794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2C3E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核心业绩指标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16851" flipH="false" flipV="false">
            <a:off x="1206516" y="3270250"/>
            <a:ext cx="25908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1079500" y="3492500"/>
            <a:ext cx="139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已完成任务数：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2603500" y="3467100"/>
            <a:ext cx="101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6B8E0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r>
              <a:rPr lang="en-US" b="true" i="false" strike="noStrike" u="none" sz="1800">
                <a:solidFill>
                  <a:srgbClr val="6B8E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项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79500" y="4000500"/>
            <a:ext cx="139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已交付需求：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2603500" y="3975100"/>
            <a:ext cx="101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6B8E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r>
              <a:rPr lang="en-US" b="true" i="false" strike="noStrike" u="none" sz="1800">
                <a:solidFill>
                  <a:srgbClr val="6B8E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项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79500" y="4508500"/>
            <a:ext cx="139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按期交付率：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2603500" y="4483100"/>
            <a:ext cx="101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6B8E00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368800" y="1308100"/>
            <a:ext cx="3390900" cy="35433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549900" y="1612900"/>
            <a:ext cx="1028700" cy="1028700"/>
          </a:xfrm>
          <a:prstGeom prst="ellipse">
            <a:avLst/>
          </a:prstGeom>
          <a:solidFill>
            <a:srgbClr val="F6FBE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5842000" y="1892300"/>
            <a:ext cx="469900" cy="469900"/>
          </a:xfrm>
          <a:prstGeom prst="ellipse">
            <a:avLst/>
          </a:prstGeom>
          <a:solidFill>
            <a:srgbClr val="87B22E">
              <a:alpha val="100000"/>
            </a:srgbClr>
          </a:solidFill>
          <a:ln w="25400" cmpd="sng" cap="flat">
            <a:solidFill>
              <a:srgbClr val="87B22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546600" y="2794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2C3E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效率与能力提升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-16851" flipH="false" flipV="false">
            <a:off x="4775216" y="3270250"/>
            <a:ext cx="25908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4648200" y="3492500"/>
            <a:ext cx="139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CRM查询优化：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172200" y="3467100"/>
            <a:ext cx="127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6B8E00"/>
                </a:solidFill>
                <a:latin typeface="Arial"/>
                <a:ea typeface="Arial"/>
                <a:cs typeface="Arial"/>
                <a:sym typeface="Arial"/>
              </a:rPr>
              <a:t>2s+→150ms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4648200" y="4000500"/>
            <a:ext cx="139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抽奖配置优化：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172200" y="3975100"/>
            <a:ext cx="127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6B8E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1天→2小时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4648200" y="4508500"/>
            <a:ext cx="139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整体体验评分：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172200" y="4483100"/>
            <a:ext cx="127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6B8E00"/>
                </a:solidFill>
                <a:latin typeface="Arial"/>
                <a:ea typeface="Arial"/>
                <a:cs typeface="Arial"/>
                <a:sym typeface="Arial"/>
              </a:rPr>
              <a:t>90</a:t>
            </a:r>
            <a:r>
              <a:rPr lang="en-US" b="true" i="false" strike="noStrike" u="none" sz="1600">
                <a:solidFill>
                  <a:srgbClr val="6B8E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分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7924800" y="1308100"/>
            <a:ext cx="3390900" cy="35433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9105900" y="1612900"/>
            <a:ext cx="1028700" cy="1028700"/>
          </a:xfrm>
          <a:prstGeom prst="ellipse">
            <a:avLst/>
          </a:prstGeom>
          <a:solidFill>
            <a:srgbClr val="F6FBE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9398000" y="1892300"/>
            <a:ext cx="469900" cy="469900"/>
          </a:xfrm>
          <a:prstGeom prst="ellipse">
            <a:avLst/>
          </a:prstGeom>
          <a:solidFill>
            <a:srgbClr val="87B22E">
              <a:alpha val="100000"/>
            </a:srgbClr>
          </a:solidFill>
          <a:ln w="25400" cmpd="sng" cap="flat">
            <a:solidFill>
              <a:srgbClr val="87B22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8102600" y="2794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2C3E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业务价值与信心</a:t>
            </a:r>
            <a:endParaRPr lang="en-US" sz="1100"/>
          </a:p>
        </p:txBody>
      </p:sp>
      <p:cxnSp>
        <p:nvCxnSpPr>
          <p:cNvPr name="Connector 35" id="35"/>
          <p:cNvCxnSpPr/>
          <p:nvPr/>
        </p:nvCxnSpPr>
        <p:spPr>
          <a:xfrm rot="-16851" flipH="false" flipV="false">
            <a:off x="8331216" y="3270250"/>
            <a:ext cx="25908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name="AutoShape 36" id="36"/>
          <p:cNvSpPr/>
          <p:nvPr/>
        </p:nvSpPr>
        <p:spPr>
          <a:xfrm rot="0" flipH="false" flipV="false">
            <a:off x="8166100" y="3429000"/>
            <a:ext cx="292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6B8E00"/>
                </a:solidFill>
                <a:latin typeface="Noto Sans SC"/>
                <a:ea typeface="Noto Sans SC"/>
                <a:cs typeface="Noto Sans SC"/>
                <a:sym typeface="Noto Sans SC"/>
              </a:rPr>
              <a:t>结果导向：</a:t>
            </a:r>
            <a:r>
              <a:rPr lang="en-US" b="false" i="false" strike="noStrike" u="none" sz="1400">
                <a:solidFill>
                  <a:srgbClr val="5D6D7E"/>
                </a:solidFill>
                <a:latin typeface="Noto Sans SC"/>
                <a:ea typeface="Noto Sans SC"/>
                <a:cs typeface="Noto Sans SC"/>
                <a:sym typeface="Noto Sans SC"/>
              </a:rPr>
              <a:t>覆盖交付、效率、业务效果和复用价值，全方位产出成果。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8166100" y="4191000"/>
            <a:ext cx="292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6B8E00"/>
                </a:solidFill>
                <a:latin typeface="Noto Sans SC"/>
                <a:ea typeface="Noto Sans SC"/>
                <a:cs typeface="Noto Sans SC"/>
                <a:sym typeface="Noto Sans SC"/>
              </a:rPr>
              <a:t>整体评价：</a:t>
            </a:r>
            <a:r>
              <a:rPr lang="en-US" b="false" i="false" strike="noStrike" u="none" sz="1400">
                <a:solidFill>
                  <a:srgbClr val="5D6D7E"/>
                </a:solidFill>
                <a:latin typeface="Noto Sans SC"/>
                <a:ea typeface="Noto Sans SC"/>
                <a:cs typeface="Noto Sans SC"/>
                <a:sym typeface="Noto Sans SC"/>
              </a:rPr>
              <a:t>基本达到组织期望，能履行岗位职责，偶有超预期表现。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292100" y="5257800"/>
            <a:ext cx="11087100" cy="800100"/>
          </a:xfrm>
          <a:prstGeom prst="roundRect">
            <a:avLst>
              <a:gd name="adj" fmla="val 0"/>
            </a:avLst>
          </a:prstGeom>
          <a:solidFill>
            <a:srgbClr val="6B8E0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520700" y="5410200"/>
            <a:ext cx="1079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6B8E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总结：以结果为导向，全面完成各项任务，核心指标100%达成，在效率与体验优化方面成果显著，基本达成岗位期望。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680700" y="342900"/>
            <a:ext cx="990600" cy="1778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cxnSp>
        <p:nvCxnSpPr>
          <p:cNvPr name="Connector 3" id="3"/>
          <p:cNvCxnSpPr/>
          <p:nvPr/>
        </p:nvCxnSpPr>
        <p:spPr>
          <a:xfrm rot="-13402" flipH="false" flipV="false">
            <a:off x="254000" y="711200"/>
            <a:ext cx="651511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92D05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name="Connector 4" id="4"/>
          <p:cNvCxnSpPr/>
          <p:nvPr/>
        </p:nvCxnSpPr>
        <p:spPr>
          <a:xfrm rot="97" flipH="false" flipV="false">
            <a:off x="6921500" y="711205"/>
            <a:ext cx="33044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80808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name="Connector 5" id="5"/>
          <p:cNvCxnSpPr/>
          <p:nvPr/>
        </p:nvCxnSpPr>
        <p:spPr>
          <a:xfrm rot="97" flipH="false" flipV="false">
            <a:off x="7404100" y="711205"/>
            <a:ext cx="33044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80808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317500" y="266700"/>
            <a:ext cx="431800" cy="330200"/>
          </a:xfrm>
          <a:prstGeom prst="actionButtonBlank">
            <a:avLst/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25500" y="266700"/>
            <a:ext cx="76200" cy="330200"/>
          </a:xfrm>
          <a:prstGeom prst="actionButtonBlank">
            <a:avLst/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38200" y="152400"/>
            <a:ext cx="10515600" cy="520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四、关键问题突破举例（一）：</a:t>
            </a:r>
            <a:r>
              <a:rPr lang="en-US" b="true" i="false" strike="noStrike" u="none" sz="2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高并发场景下的秒杀系统优化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08000" y="1905000"/>
            <a:ext cx="2603500" cy="1460500"/>
          </a:xfrm>
          <a:prstGeom prst="roundRect">
            <a:avLst>
              <a:gd name="adj" fmla="val 869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0E0E0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0" id="10"/>
          <p:cNvSpPr/>
          <p:nvPr/>
        </p:nvSpPr>
        <p:spPr>
          <a:xfrm rot="0" flipH="false" flipV="false">
            <a:off x="736600" y="2171700"/>
            <a:ext cx="381000" cy="342900"/>
          </a:xfrm>
          <a:custGeom>
            <a:avLst/>
            <a:gdLst/>
            <a:ahLst/>
            <a:cxnLst/>
            <a:rect r="r" b="b" t="t" l="l"/>
            <a:pathLst>
              <a:path h="342900" w="381000">
                <a:moveTo>
                  <a:pt x="361950" y="0"/>
                </a:moveTo>
                <a:cubicBezTo>
                  <a:pt x="372471" y="0"/>
                  <a:pt x="381000" y="0"/>
                  <a:pt x="381000" y="0"/>
                </a:cubicBezTo>
                <a:lnTo>
                  <a:pt x="381000" y="342900"/>
                </a:lnTo>
                <a:cubicBezTo>
                  <a:pt x="381000" y="342900"/>
                  <a:pt x="372471" y="342900"/>
                  <a:pt x="361950" y="342900"/>
                </a:cubicBezTo>
                <a:lnTo>
                  <a:pt x="19050" y="342900"/>
                </a:lnTo>
                <a:cubicBezTo>
                  <a:pt x="8529" y="342900"/>
                  <a:pt x="0" y="342900"/>
                  <a:pt x="0" y="342900"/>
                </a:cubicBezTo>
                <a:lnTo>
                  <a:pt x="0" y="0"/>
                </a:lnTo>
                <a:cubicBezTo>
                  <a:pt x="0" y="0"/>
                  <a:pt x="8529" y="0"/>
                  <a:pt x="19050" y="0"/>
                </a:cubicBezTo>
                <a:close/>
              </a:path>
            </a:pathLst>
          </a:custGeom>
          <a:solidFill>
            <a:srgbClr val="87B22E">
              <a:alpha val="100000"/>
            </a:srgbClr>
          </a:solidFill>
          <a:ln w="12700" cmpd="sng" cap="rnd">
            <a:solidFill>
              <a:srgbClr val="87B22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0" flipH="false" flipV="false">
            <a:off x="736600" y="2286000"/>
            <a:ext cx="381000" cy="0"/>
          </a:xfrm>
          <a:custGeom>
            <a:avLst/>
            <a:gdLst/>
            <a:ahLst/>
            <a:cxnLst/>
            <a:rect r="r" b="b" t="t" l="l"/>
            <a:pathLst>
              <a:path h="0" w="381000">
                <a:moveTo>
                  <a:pt x="0" y="0"/>
                </a:moveTo>
                <a:lnTo>
                  <a:pt x="381000" y="0"/>
                </a:lnTo>
              </a:path>
            </a:pathLst>
          </a:custGeom>
          <a:solidFill>
            <a:srgbClr val="87B22E">
              <a:alpha val="100000"/>
            </a:srgbClr>
          </a:solidFill>
          <a:ln w="12700" cmpd="sng" cap="rnd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736600" y="2400300"/>
            <a:ext cx="381000" cy="0"/>
          </a:xfrm>
          <a:custGeom>
            <a:avLst/>
            <a:gdLst/>
            <a:ahLst/>
            <a:cxnLst/>
            <a:rect r="r" b="b" t="t" l="l"/>
            <a:pathLst>
              <a:path h="0" w="381000">
                <a:moveTo>
                  <a:pt x="0" y="0"/>
                </a:moveTo>
                <a:lnTo>
                  <a:pt x="381000" y="0"/>
                </a:lnTo>
              </a:path>
            </a:pathLst>
          </a:custGeom>
          <a:solidFill>
            <a:srgbClr val="87B22E">
              <a:alpha val="100000"/>
            </a:srgbClr>
          </a:solidFill>
          <a:ln w="12700" cmpd="sng" cap="rnd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863600" y="2133600"/>
            <a:ext cx="0" cy="76200"/>
          </a:xfrm>
          <a:custGeom>
            <a:avLst/>
            <a:gdLst/>
            <a:ahLst/>
            <a:cxnLst/>
            <a:rect r="r" b="b" t="t" l="l"/>
            <a:pathLst>
              <a:path h="76200" w="0">
                <a:moveTo>
                  <a:pt x="0" y="0"/>
                </a:moveTo>
                <a:lnTo>
                  <a:pt x="0" y="76200"/>
                </a:lnTo>
              </a:path>
            </a:pathLst>
          </a:custGeom>
          <a:solidFill>
            <a:srgbClr val="87B22E">
              <a:alpha val="100000"/>
            </a:srgbClr>
          </a:solidFill>
          <a:ln w="12700" cmpd="sng" cap="rnd">
            <a:solidFill>
              <a:srgbClr val="87B22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0" flipH="false" flipV="false">
            <a:off x="990600" y="2133600"/>
            <a:ext cx="0" cy="76200"/>
          </a:xfrm>
          <a:custGeom>
            <a:avLst/>
            <a:gdLst/>
            <a:ahLst/>
            <a:cxnLst/>
            <a:rect r="r" b="b" t="t" l="l"/>
            <a:pathLst>
              <a:path h="76200" w="0">
                <a:moveTo>
                  <a:pt x="0" y="0"/>
                </a:moveTo>
                <a:lnTo>
                  <a:pt x="0" y="76200"/>
                </a:lnTo>
              </a:path>
            </a:pathLst>
          </a:custGeom>
          <a:solidFill>
            <a:srgbClr val="87B22E">
              <a:alpha val="100000"/>
            </a:srgbClr>
          </a:solidFill>
          <a:ln w="12700" cmpd="sng" cap="rnd">
            <a:solidFill>
              <a:srgbClr val="87B22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863600" y="2286000"/>
            <a:ext cx="0" cy="228600"/>
          </a:xfrm>
          <a:custGeom>
            <a:avLst/>
            <a:gdLst/>
            <a:ahLst/>
            <a:cxnLst/>
            <a:rect r="r" b="b" t="t" l="l"/>
            <a:pathLst>
              <a:path h="228600" w="0">
                <a:moveTo>
                  <a:pt x="0" y="0"/>
                </a:moveTo>
                <a:lnTo>
                  <a:pt x="0" y="228600"/>
                </a:lnTo>
              </a:path>
            </a:pathLst>
          </a:custGeom>
          <a:solidFill>
            <a:srgbClr val="87B22E">
              <a:alpha val="100000"/>
            </a:srgbClr>
          </a:solidFill>
          <a:ln w="12700" cmpd="sng" cap="rnd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0" flipH="false" flipV="false">
            <a:off x="990600" y="2286000"/>
            <a:ext cx="0" cy="228600"/>
          </a:xfrm>
          <a:custGeom>
            <a:avLst/>
            <a:gdLst/>
            <a:ahLst/>
            <a:cxnLst/>
            <a:rect r="r" b="b" t="t" l="l"/>
            <a:pathLst>
              <a:path h="228600" w="0">
                <a:moveTo>
                  <a:pt x="0" y="0"/>
                </a:moveTo>
                <a:lnTo>
                  <a:pt x="0" y="228600"/>
                </a:lnTo>
              </a:path>
            </a:pathLst>
          </a:custGeom>
          <a:solidFill>
            <a:srgbClr val="87B22E">
              <a:alpha val="100000"/>
            </a:srgbClr>
          </a:solidFill>
          <a:ln w="12700" cmpd="sng" cap="rnd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7" id="17"/>
          <p:cNvSpPr/>
          <p:nvPr/>
        </p:nvSpPr>
        <p:spPr>
          <a:xfrm rot="0" flipH="false" flipV="false">
            <a:off x="1117600" y="2222500"/>
            <a:ext cx="0" cy="247650"/>
          </a:xfrm>
          <a:custGeom>
            <a:avLst/>
            <a:gdLst/>
            <a:ahLst/>
            <a:cxnLst/>
            <a:rect r="r" b="b" t="t" l="l"/>
            <a:pathLst>
              <a:path h="247650" w="0">
                <a:moveTo>
                  <a:pt x="0" y="0"/>
                </a:moveTo>
                <a:lnTo>
                  <a:pt x="0" y="247650"/>
                </a:lnTo>
              </a:path>
            </a:pathLst>
          </a:custGeom>
          <a:solidFill>
            <a:srgbClr val="87B22E">
              <a:alpha val="100000"/>
            </a:srgbClr>
          </a:solidFill>
          <a:ln w="12700" cmpd="sng" cap="rnd">
            <a:solidFill>
              <a:srgbClr val="87B22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8" id="18"/>
          <p:cNvSpPr/>
          <p:nvPr/>
        </p:nvSpPr>
        <p:spPr>
          <a:xfrm rot="0" flipH="false" flipV="false">
            <a:off x="736600" y="2222500"/>
            <a:ext cx="0" cy="247650"/>
          </a:xfrm>
          <a:custGeom>
            <a:avLst/>
            <a:gdLst/>
            <a:ahLst/>
            <a:cxnLst/>
            <a:rect r="r" b="b" t="t" l="l"/>
            <a:pathLst>
              <a:path h="247650" w="0">
                <a:moveTo>
                  <a:pt x="0" y="0"/>
                </a:moveTo>
                <a:lnTo>
                  <a:pt x="0" y="247650"/>
                </a:lnTo>
              </a:path>
            </a:pathLst>
          </a:custGeom>
          <a:solidFill>
            <a:srgbClr val="87B22E">
              <a:alpha val="100000"/>
            </a:srgbClr>
          </a:solidFill>
          <a:ln w="12700" cmpd="sng" cap="rnd">
            <a:solidFill>
              <a:srgbClr val="87B22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9" id="19"/>
          <p:cNvSpPr/>
          <p:nvPr/>
        </p:nvSpPr>
        <p:spPr>
          <a:xfrm rot="0" flipH="false" flipV="false">
            <a:off x="838200" y="2514600"/>
            <a:ext cx="190500" cy="0"/>
          </a:xfrm>
          <a:custGeom>
            <a:avLst/>
            <a:gdLst/>
            <a:ahLst/>
            <a:cxnLst/>
            <a:rect r="r" b="b" t="t" l="l"/>
            <a:pathLst>
              <a:path h="0" w="190500">
                <a:moveTo>
                  <a:pt x="0" y="0"/>
                </a:moveTo>
                <a:lnTo>
                  <a:pt x="190500" y="0"/>
                </a:lnTo>
              </a:path>
            </a:pathLst>
          </a:custGeom>
          <a:solidFill>
            <a:srgbClr val="87B22E">
              <a:alpha val="100000"/>
            </a:srgbClr>
          </a:solidFill>
          <a:ln w="12700" cmpd="sng" cap="rnd">
            <a:solidFill>
              <a:srgbClr val="87B22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270000" y="2095500"/>
            <a:ext cx="1714500" cy="457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项目周期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98500" y="2603500"/>
            <a:ext cx="2222500" cy="3048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87B22E"/>
                </a:solidFill>
                <a:latin typeface="Noto Sans SC"/>
                <a:ea typeface="Noto Sans SC"/>
                <a:cs typeface="Noto Sans SC"/>
                <a:sym typeface="Noto Sans SC"/>
              </a:rPr>
              <a:t>2025.11 – 2025.12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98500" y="2946400"/>
            <a:ext cx="2222500" cy="25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持续两个月，四期推进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3302000" y="1905000"/>
            <a:ext cx="2603500" cy="1460500"/>
          </a:xfrm>
          <a:prstGeom prst="roundRect">
            <a:avLst>
              <a:gd name="adj" fmla="val 869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0E0E0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24" id="24"/>
          <p:cNvSpPr/>
          <p:nvPr/>
        </p:nvSpPr>
        <p:spPr>
          <a:xfrm rot="0" flipH="false" flipV="false">
            <a:off x="3556000" y="2197100"/>
            <a:ext cx="323850" cy="323850"/>
          </a:xfrm>
          <a:custGeom>
            <a:avLst/>
            <a:gdLst/>
            <a:ahLst/>
            <a:cxnLst/>
            <a:rect r="r" b="b" t="t" l="l"/>
            <a:pathLst>
              <a:path h="323850" w="323850">
                <a:moveTo>
                  <a:pt x="161925" y="323850"/>
                </a:moveTo>
                <a:cubicBezTo>
                  <a:pt x="251353" y="323850"/>
                  <a:pt x="323850" y="251353"/>
                  <a:pt x="323850" y="161925"/>
                </a:cubicBezTo>
                <a:cubicBezTo>
                  <a:pt x="323850" y="72497"/>
                  <a:pt x="251353" y="0"/>
                  <a:pt x="161925" y="0"/>
                </a:cubicBezTo>
                <a:cubicBezTo>
                  <a:pt x="72497" y="0"/>
                  <a:pt x="0" y="72497"/>
                  <a:pt x="0" y="161925"/>
                </a:cubicBezTo>
                <a:cubicBezTo>
                  <a:pt x="0" y="251353"/>
                  <a:pt x="72497" y="323850"/>
                  <a:pt x="161925" y="323850"/>
                </a:cubicBezTo>
                <a:close/>
              </a:path>
            </a:pathLst>
          </a:custGeom>
          <a:solidFill>
            <a:srgbClr val="87B22E">
              <a:alpha val="100000"/>
            </a:srgbClr>
          </a:solidFill>
          <a:ln w="12700" cmpd="sng" cap="flat">
            <a:solidFill>
              <a:srgbClr val="87B22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25" id="25"/>
          <p:cNvSpPr/>
          <p:nvPr/>
        </p:nvSpPr>
        <p:spPr>
          <a:xfrm rot="0" flipH="false" flipV="false">
            <a:off x="3670300" y="2133600"/>
            <a:ext cx="114300" cy="0"/>
          </a:xfrm>
          <a:custGeom>
            <a:avLst/>
            <a:gdLst/>
            <a:ahLst/>
            <a:cxnLst/>
            <a:rect r="r" b="b" t="t" l="l"/>
            <a:pathLst>
              <a:path h="0" w="114300">
                <a:moveTo>
                  <a:pt x="0" y="0"/>
                </a:moveTo>
                <a:lnTo>
                  <a:pt x="114300" y="0"/>
                </a:lnTo>
              </a:path>
            </a:pathLst>
          </a:custGeom>
          <a:solidFill>
            <a:srgbClr val="87B22E">
              <a:alpha val="100000"/>
            </a:srgbClr>
          </a:solidFill>
          <a:ln w="12700" cmpd="sng" cap="rnd">
            <a:solidFill>
              <a:srgbClr val="87B22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26" id="26"/>
          <p:cNvSpPr/>
          <p:nvPr/>
        </p:nvSpPr>
        <p:spPr>
          <a:xfrm rot="0" flipH="false" flipV="false">
            <a:off x="3721100" y="2273300"/>
            <a:ext cx="0" cy="76200"/>
          </a:xfrm>
          <a:custGeom>
            <a:avLst/>
            <a:gdLst/>
            <a:ahLst/>
            <a:cxnLst/>
            <a:rect r="r" b="b" t="t" l="l"/>
            <a:pathLst>
              <a:path h="76200" w="0">
                <a:moveTo>
                  <a:pt x="0" y="0"/>
                </a:moveTo>
                <a:lnTo>
                  <a:pt x="0" y="76200"/>
                </a:lnTo>
              </a:path>
            </a:pathLst>
          </a:custGeom>
          <a:solidFill>
            <a:srgbClr val="87B22E">
              <a:alpha val="100000"/>
            </a:srgbClr>
          </a:solidFill>
          <a:ln w="12700" cmpd="sng" cap="rnd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27" id="27"/>
          <p:cNvSpPr/>
          <p:nvPr/>
        </p:nvSpPr>
        <p:spPr>
          <a:xfrm rot="0" flipH="false" flipV="false">
            <a:off x="3721100" y="2349500"/>
            <a:ext cx="76200" cy="0"/>
          </a:xfrm>
          <a:custGeom>
            <a:avLst/>
            <a:gdLst/>
            <a:ahLst/>
            <a:cxnLst/>
            <a:rect r="r" b="b" t="t" l="l"/>
            <a:pathLst>
              <a:path h="0" w="76200">
                <a:moveTo>
                  <a:pt x="76200" y="0"/>
                </a:moveTo>
                <a:lnTo>
                  <a:pt x="0" y="0"/>
                </a:lnTo>
              </a:path>
            </a:pathLst>
          </a:custGeom>
          <a:solidFill>
            <a:srgbClr val="87B22E">
              <a:alpha val="100000"/>
            </a:srgbClr>
          </a:solidFill>
          <a:ln w="12700" cmpd="sng" cap="rnd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28" id="28"/>
          <p:cNvSpPr/>
          <p:nvPr/>
        </p:nvSpPr>
        <p:spPr>
          <a:xfrm rot="0" flipH="false" flipV="false">
            <a:off x="3721100" y="2133600"/>
            <a:ext cx="0" cy="38100"/>
          </a:xfrm>
          <a:custGeom>
            <a:avLst/>
            <a:gdLst/>
            <a:ahLst/>
            <a:cxnLst/>
            <a:rect r="r" b="b" t="t" l="l"/>
            <a:pathLst>
              <a:path h="38100" w="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87B22E">
              <a:alpha val="100000"/>
            </a:srgbClr>
          </a:solidFill>
          <a:ln w="12700" cmpd="sng" cap="rnd">
            <a:solidFill>
              <a:srgbClr val="87B22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4064000" y="2095500"/>
            <a:ext cx="1714500" cy="457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一期上线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3492500" y="2603500"/>
            <a:ext cx="2222500" cy="3048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87B22E"/>
                </a:solidFill>
                <a:latin typeface="Noto Sans SC"/>
                <a:ea typeface="Noto Sans SC"/>
                <a:cs typeface="Noto Sans SC"/>
                <a:sym typeface="Noto Sans SC"/>
              </a:rPr>
              <a:t>19个工作日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3492500" y="2946400"/>
            <a:ext cx="2222500" cy="25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高压周期下按时交付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096000" y="1905000"/>
            <a:ext cx="2603500" cy="1460500"/>
          </a:xfrm>
          <a:prstGeom prst="roundRect">
            <a:avLst>
              <a:gd name="adj" fmla="val 869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0E0E0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3" id="33"/>
          <p:cNvSpPr/>
          <p:nvPr/>
        </p:nvSpPr>
        <p:spPr>
          <a:xfrm rot="0" flipH="false" flipV="false">
            <a:off x="6400800" y="2159000"/>
            <a:ext cx="133350" cy="133350"/>
          </a:xfrm>
          <a:custGeom>
            <a:avLst/>
            <a:gdLst/>
            <a:ahLst/>
            <a:cxnLst/>
            <a:rect r="r" b="b" t="t" l="l"/>
            <a:pathLst>
              <a:path h="133350" w="133350">
                <a:moveTo>
                  <a:pt x="66675" y="133350"/>
                </a:moveTo>
                <a:cubicBezTo>
                  <a:pt x="103499" y="133350"/>
                  <a:pt x="133350" y="103499"/>
                  <a:pt x="133350" y="66675"/>
                </a:cubicBezTo>
                <a:cubicBezTo>
                  <a:pt x="133350" y="29851"/>
                  <a:pt x="103499" y="0"/>
                  <a:pt x="66675" y="0"/>
                </a:cubicBezTo>
                <a:cubicBezTo>
                  <a:pt x="29851" y="0"/>
                  <a:pt x="0" y="29851"/>
                  <a:pt x="0" y="66675"/>
                </a:cubicBezTo>
                <a:cubicBezTo>
                  <a:pt x="0" y="103499"/>
                  <a:pt x="29851" y="133350"/>
                  <a:pt x="66675" y="133350"/>
                </a:cubicBezTo>
                <a:close/>
              </a:path>
            </a:pathLst>
          </a:custGeom>
          <a:solidFill>
            <a:srgbClr val="87B22E">
              <a:alpha val="100000"/>
            </a:srgbClr>
          </a:solidFill>
          <a:ln w="12700" cmpd="sng" cap="rnd">
            <a:solidFill>
              <a:srgbClr val="87B22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4" id="34"/>
          <p:cNvSpPr/>
          <p:nvPr/>
        </p:nvSpPr>
        <p:spPr>
          <a:xfrm rot="0" flipH="false" flipV="false">
            <a:off x="6591300" y="2159000"/>
            <a:ext cx="32313" cy="114300"/>
          </a:xfrm>
          <a:custGeom>
            <a:avLst/>
            <a:gdLst/>
            <a:ahLst/>
            <a:cxnLst/>
            <a:rect r="r" b="b" t="t" l="l"/>
            <a:pathLst>
              <a:path h="114300" w="32313">
                <a:moveTo>
                  <a:pt x="0" y="0"/>
                </a:moveTo>
                <a:cubicBezTo>
                  <a:pt x="19362" y="11667"/>
                  <a:pt x="32313" y="32896"/>
                  <a:pt x="32313" y="57150"/>
                </a:cubicBezTo>
                <a:cubicBezTo>
                  <a:pt x="32313" y="81404"/>
                  <a:pt x="19362" y="102633"/>
                  <a:pt x="0" y="114300"/>
                </a:cubicBezTo>
              </a:path>
            </a:pathLst>
          </a:custGeom>
          <a:noFill/>
          <a:ln w="12700" cmpd="sng" cap="rnd">
            <a:solidFill>
              <a:srgbClr val="87B22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5" id="35"/>
          <p:cNvSpPr/>
          <p:nvPr/>
        </p:nvSpPr>
        <p:spPr>
          <a:xfrm rot="0" flipH="false" flipV="false">
            <a:off x="6324600" y="2362200"/>
            <a:ext cx="285750" cy="133350"/>
          </a:xfrm>
          <a:custGeom>
            <a:avLst/>
            <a:gdLst/>
            <a:ahLst/>
            <a:cxnLst/>
            <a:rect r="r" b="b" t="t" l="l"/>
            <a:pathLst>
              <a:path h="133350" w="285750">
                <a:moveTo>
                  <a:pt x="0" y="121920"/>
                </a:moveTo>
                <a:lnTo>
                  <a:pt x="0" y="133350"/>
                </a:lnTo>
                <a:lnTo>
                  <a:pt x="285750" y="133350"/>
                </a:lnTo>
                <a:lnTo>
                  <a:pt x="285750" y="121920"/>
                </a:lnTo>
                <a:cubicBezTo>
                  <a:pt x="285750" y="79244"/>
                  <a:pt x="285750" y="57906"/>
                  <a:pt x="277445" y="41606"/>
                </a:cubicBezTo>
                <a:cubicBezTo>
                  <a:pt x="270139" y="27268"/>
                  <a:pt x="258482" y="15611"/>
                  <a:pt x="244144" y="8305"/>
                </a:cubicBezTo>
                <a:cubicBezTo>
                  <a:pt x="227844" y="0"/>
                  <a:pt x="206506" y="0"/>
                  <a:pt x="163830" y="0"/>
                </a:cubicBezTo>
                <a:lnTo>
                  <a:pt x="121920" y="0"/>
                </a:lnTo>
                <a:cubicBezTo>
                  <a:pt x="79244" y="0"/>
                  <a:pt x="57906" y="0"/>
                  <a:pt x="41606" y="8305"/>
                </a:cubicBezTo>
                <a:cubicBezTo>
                  <a:pt x="27268" y="15611"/>
                  <a:pt x="15611" y="27268"/>
                  <a:pt x="8305" y="41606"/>
                </a:cubicBezTo>
                <a:cubicBezTo>
                  <a:pt x="0" y="57906"/>
                  <a:pt x="0" y="79244"/>
                  <a:pt x="0" y="121920"/>
                </a:cubicBezTo>
                <a:close/>
              </a:path>
            </a:pathLst>
          </a:custGeom>
          <a:solidFill>
            <a:srgbClr val="87B22E">
              <a:alpha val="100000"/>
            </a:srgbClr>
          </a:solidFill>
          <a:ln w="12700" cmpd="sng" cap="rnd">
            <a:solidFill>
              <a:srgbClr val="87B22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6" id="36"/>
          <p:cNvSpPr/>
          <p:nvPr/>
        </p:nvSpPr>
        <p:spPr>
          <a:xfrm rot="0" flipH="false" flipV="false">
            <a:off x="6667500" y="2374900"/>
            <a:ext cx="41606" cy="125044"/>
          </a:xfrm>
          <a:custGeom>
            <a:avLst/>
            <a:gdLst/>
            <a:ahLst/>
            <a:cxnLst/>
            <a:rect r="r" b="b" t="t" l="l"/>
            <a:pathLst>
              <a:path h="125044" w="41606">
                <a:moveTo>
                  <a:pt x="41606" y="125044"/>
                </a:moveTo>
                <a:lnTo>
                  <a:pt x="41606" y="113614"/>
                </a:lnTo>
                <a:cubicBezTo>
                  <a:pt x="41606" y="70938"/>
                  <a:pt x="41606" y="49600"/>
                  <a:pt x="33301" y="33299"/>
                </a:cubicBezTo>
                <a:cubicBezTo>
                  <a:pt x="25996" y="18962"/>
                  <a:pt x="14338" y="7306"/>
                  <a:pt x="0" y="0"/>
                </a:cubicBezTo>
              </a:path>
            </a:pathLst>
          </a:custGeom>
          <a:noFill/>
          <a:ln w="12700" cmpd="sng" cap="rnd">
            <a:solidFill>
              <a:srgbClr val="87B22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6858000" y="2095500"/>
            <a:ext cx="1714500" cy="457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项目投入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6286500" y="2603500"/>
            <a:ext cx="2222500" cy="3048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87B22E"/>
                </a:solidFill>
                <a:latin typeface="Noto Sans SC"/>
                <a:ea typeface="Noto Sans SC"/>
                <a:cs typeface="Noto Sans SC"/>
                <a:sym typeface="Noto Sans SC"/>
              </a:rPr>
              <a:t>4后端 + 3前端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6286500" y="2946400"/>
            <a:ext cx="2222500" cy="25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多角色协同复杂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8890000" y="1905000"/>
            <a:ext cx="2603500" cy="1460500"/>
          </a:xfrm>
          <a:prstGeom prst="roundRect">
            <a:avLst>
              <a:gd name="adj" fmla="val 869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0E0E0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1" id="41"/>
          <p:cNvSpPr/>
          <p:nvPr/>
        </p:nvSpPr>
        <p:spPr>
          <a:xfrm rot="0" flipH="false" flipV="false">
            <a:off x="9232900" y="2133600"/>
            <a:ext cx="152400" cy="152400"/>
          </a:xfrm>
          <a:custGeom>
            <a:avLst/>
            <a:gdLst/>
            <a:ahLst/>
            <a:cxnLst/>
            <a:rect r="r" b="b" t="t" l="l"/>
            <a:pathLst>
              <a:path h="152400" w="152400">
                <a:moveTo>
                  <a:pt x="152400" y="76200"/>
                </a:moveTo>
                <a:cubicBezTo>
                  <a:pt x="152400" y="118284"/>
                  <a:pt x="118284" y="152400"/>
                  <a:pt x="76200" y="152400"/>
                </a:cubicBezTo>
                <a:cubicBezTo>
                  <a:pt x="34116" y="152400"/>
                  <a:pt x="0" y="118284"/>
                  <a:pt x="0" y="76200"/>
                </a:cubicBezTo>
                <a:cubicBezTo>
                  <a:pt x="0" y="34116"/>
                  <a:pt x="34116" y="0"/>
                  <a:pt x="76200" y="0"/>
                </a:cubicBezTo>
                <a:cubicBezTo>
                  <a:pt x="118284" y="0"/>
                  <a:pt x="152400" y="34116"/>
                  <a:pt x="152400" y="76200"/>
                </a:cubicBezTo>
                <a:close/>
              </a:path>
            </a:pathLst>
          </a:custGeom>
          <a:solidFill>
            <a:srgbClr val="87B22E">
              <a:alpha val="100000"/>
            </a:srgbClr>
          </a:solidFill>
          <a:ln w="12700" cmpd="sng" cap="rnd">
            <a:solidFill>
              <a:srgbClr val="87B22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2" id="42"/>
          <p:cNvSpPr/>
          <p:nvPr/>
        </p:nvSpPr>
        <p:spPr>
          <a:xfrm rot="0" flipH="false" flipV="false">
            <a:off x="9144000" y="2349500"/>
            <a:ext cx="342900" cy="171450"/>
          </a:xfrm>
          <a:custGeom>
            <a:avLst/>
            <a:gdLst/>
            <a:ahLst/>
            <a:cxnLst/>
            <a:rect r="r" b="b" t="t" l="l"/>
            <a:pathLst>
              <a:path h="171450" w="342900">
                <a:moveTo>
                  <a:pt x="342900" y="171450"/>
                </a:moveTo>
                <a:cubicBezTo>
                  <a:pt x="342900" y="76761"/>
                  <a:pt x="266139" y="0"/>
                  <a:pt x="171450" y="0"/>
                </a:cubicBezTo>
                <a:cubicBezTo>
                  <a:pt x="76761" y="0"/>
                  <a:pt x="0" y="76761"/>
                  <a:pt x="0" y="171450"/>
                </a:cubicBezTo>
              </a:path>
            </a:pathLst>
          </a:custGeom>
          <a:noFill/>
          <a:ln w="12700" cmpd="sng" cap="rnd">
            <a:solidFill>
              <a:srgbClr val="87B22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3" id="43"/>
          <p:cNvSpPr/>
          <p:nvPr/>
        </p:nvSpPr>
        <p:spPr>
          <a:xfrm rot="0" flipH="false" flipV="false">
            <a:off x="9271000" y="2349500"/>
            <a:ext cx="76200" cy="171450"/>
          </a:xfrm>
          <a:custGeom>
            <a:avLst/>
            <a:gdLst/>
            <a:ahLst/>
            <a:cxnLst/>
            <a:rect r="r" b="b" t="t" l="l"/>
            <a:pathLst>
              <a:path h="171450" w="76200">
                <a:moveTo>
                  <a:pt x="38100" y="171450"/>
                </a:moveTo>
                <a:lnTo>
                  <a:pt x="76200" y="123825"/>
                </a:lnTo>
                <a:lnTo>
                  <a:pt x="38100" y="0"/>
                </a:lnTo>
                <a:lnTo>
                  <a:pt x="0" y="123825"/>
                </a:lnTo>
                <a:lnTo>
                  <a:pt x="38100" y="171450"/>
                </a:lnTo>
                <a:close/>
              </a:path>
            </a:pathLst>
          </a:custGeom>
          <a:solidFill>
            <a:srgbClr val="87B22E">
              <a:alpha val="100000"/>
            </a:srgbClr>
          </a:solidFill>
          <a:ln w="12700" cmpd="sng" cap="rnd">
            <a:solidFill>
              <a:srgbClr val="87B22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9652000" y="2095500"/>
            <a:ext cx="1714500" cy="457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个人角色</a:t>
            </a:r>
            <a:endParaRPr lang="en-US" sz="1100"/>
          </a:p>
        </p:txBody>
      </p:sp>
      <p:sp>
        <p:nvSpPr>
          <p:cNvPr name="AutoShape 45" id="45"/>
          <p:cNvSpPr/>
          <p:nvPr/>
        </p:nvSpPr>
        <p:spPr>
          <a:xfrm rot="0" flipH="false" flipV="false">
            <a:off x="9080500" y="2603500"/>
            <a:ext cx="2222500" cy="3048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87B22E"/>
                </a:solidFill>
                <a:latin typeface="Noto Sans SC"/>
                <a:ea typeface="Noto Sans SC"/>
                <a:cs typeface="Noto Sans SC"/>
                <a:sym typeface="Noto Sans SC"/>
              </a:rPr>
              <a:t>项目SE + 核心研发</a:t>
            </a:r>
            <a:endParaRPr lang="en-US" sz="1100"/>
          </a:p>
        </p:txBody>
      </p:sp>
      <p:sp>
        <p:nvSpPr>
          <p:cNvPr name="AutoShape 46" id="46"/>
          <p:cNvSpPr/>
          <p:nvPr/>
        </p:nvSpPr>
        <p:spPr>
          <a:xfrm rot="0" flipH="false" flipV="false">
            <a:off x="9080500" y="2946400"/>
            <a:ext cx="2222500" cy="25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掌控节奏与关键研发</a:t>
            </a:r>
            <a:endParaRPr lang="en-US" sz="1100"/>
          </a:p>
        </p:txBody>
      </p:sp>
      <p:sp>
        <p:nvSpPr>
          <p:cNvPr name="AutoShape 47" id="47"/>
          <p:cNvSpPr/>
          <p:nvPr/>
        </p:nvSpPr>
        <p:spPr>
          <a:xfrm rot="0" flipH="false" flipV="false">
            <a:off x="508000" y="3683000"/>
            <a:ext cx="2603500" cy="1968500"/>
          </a:xfrm>
          <a:prstGeom prst="roundRect">
            <a:avLst>
              <a:gd name="adj" fmla="val 645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8" id="48"/>
          <p:cNvSpPr/>
          <p:nvPr/>
        </p:nvSpPr>
        <p:spPr>
          <a:xfrm rot="0" flipH="false" flipV="false">
            <a:off x="508000" y="3683000"/>
            <a:ext cx="2603500" cy="457200"/>
          </a:xfrm>
          <a:prstGeom prst="roundRect">
            <a:avLst>
              <a:gd name="adj" fmla="val 0"/>
            </a:avLst>
          </a:prstGeom>
          <a:solidFill>
            <a:srgbClr val="87B22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SITUATION | 背景</a:t>
            </a:r>
            <a:endParaRPr lang="en-US" sz="1100"/>
          </a:p>
        </p:txBody>
      </p:sp>
      <p:sp>
        <p:nvSpPr>
          <p:cNvPr name="AutoShape 49" id="49"/>
          <p:cNvSpPr/>
          <p:nvPr/>
        </p:nvSpPr>
        <p:spPr>
          <a:xfrm rot="0" flipH="false" flipV="false">
            <a:off x="635000" y="4254500"/>
            <a:ext cx="2349500" cy="1270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年度大促秒杀，预估QPS超平时10倍，原架构存在超卖与性能瓶颈风险。</a:t>
            </a:r>
            <a:endParaRPr lang="en-US" sz="1100"/>
          </a:p>
        </p:txBody>
      </p:sp>
      <p:sp>
        <p:nvSpPr>
          <p:cNvPr name="AutoShape 50" id="50"/>
          <p:cNvSpPr/>
          <p:nvPr/>
        </p:nvSpPr>
        <p:spPr>
          <a:xfrm rot="0" flipH="false" flipV="false">
            <a:off x="3302000" y="3683000"/>
            <a:ext cx="2603500" cy="1968500"/>
          </a:xfrm>
          <a:prstGeom prst="roundRect">
            <a:avLst>
              <a:gd name="adj" fmla="val 645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1" id="51"/>
          <p:cNvSpPr/>
          <p:nvPr/>
        </p:nvSpPr>
        <p:spPr>
          <a:xfrm rot="0" flipH="false" flipV="false">
            <a:off x="3302000" y="3683000"/>
            <a:ext cx="2603500" cy="457200"/>
          </a:xfrm>
          <a:prstGeom prst="roundRect">
            <a:avLst>
              <a:gd name="adj" fmla="val 0"/>
            </a:avLst>
          </a:prstGeom>
          <a:solidFill>
            <a:srgbClr val="87B22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TASK | 任务</a:t>
            </a:r>
            <a:endParaRPr lang="en-US" sz="1100"/>
          </a:p>
        </p:txBody>
      </p:sp>
      <p:sp>
        <p:nvSpPr>
          <p:cNvPr name="AutoShape 52" id="52"/>
          <p:cNvSpPr/>
          <p:nvPr/>
        </p:nvSpPr>
        <p:spPr>
          <a:xfrm rot="0" flipH="false" flipV="false">
            <a:off x="3429000" y="4254500"/>
            <a:ext cx="2349500" cy="1270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确保活动期间系统稳定，实现零超卖，并支撑预期的流量洪峰。</a:t>
            </a:r>
            <a:endParaRPr lang="en-US" sz="1100"/>
          </a:p>
        </p:txBody>
      </p:sp>
      <p:sp>
        <p:nvSpPr>
          <p:cNvPr name="AutoShape 53" id="53"/>
          <p:cNvSpPr/>
          <p:nvPr/>
        </p:nvSpPr>
        <p:spPr>
          <a:xfrm rot="0" flipH="false" flipV="false">
            <a:off x="6096000" y="3683000"/>
            <a:ext cx="2603500" cy="1968500"/>
          </a:xfrm>
          <a:prstGeom prst="roundRect">
            <a:avLst>
              <a:gd name="adj" fmla="val 645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4" id="54"/>
          <p:cNvSpPr/>
          <p:nvPr/>
        </p:nvSpPr>
        <p:spPr>
          <a:xfrm rot="0" flipH="false" flipV="false">
            <a:off x="6096000" y="3683000"/>
            <a:ext cx="2603500" cy="457200"/>
          </a:xfrm>
          <a:prstGeom prst="roundRect">
            <a:avLst>
              <a:gd name="adj" fmla="val 0"/>
            </a:avLst>
          </a:prstGeom>
          <a:solidFill>
            <a:srgbClr val="87B22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ACTION | 行动</a:t>
            </a:r>
            <a:endParaRPr lang="en-US" sz="1100"/>
          </a:p>
        </p:txBody>
      </p:sp>
      <p:sp>
        <p:nvSpPr>
          <p:cNvPr name="AutoShape 55" id="55"/>
          <p:cNvSpPr/>
          <p:nvPr/>
        </p:nvSpPr>
        <p:spPr>
          <a:xfrm rot="0" flipH="false" flipV="false">
            <a:off x="6223000" y="4254500"/>
            <a:ext cx="2349500" cy="1270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实施前端限流、缓存预热、异步下单，同时准备服务降级预案保障核心流程。</a:t>
            </a:r>
            <a:endParaRPr lang="en-US" sz="1100"/>
          </a:p>
        </p:txBody>
      </p:sp>
      <p:sp>
        <p:nvSpPr>
          <p:cNvPr name="AutoShape 56" id="56"/>
          <p:cNvSpPr/>
          <p:nvPr/>
        </p:nvSpPr>
        <p:spPr>
          <a:xfrm rot="0" flipH="false" flipV="false">
            <a:off x="8890000" y="3683000"/>
            <a:ext cx="2603500" cy="1968500"/>
          </a:xfrm>
          <a:prstGeom prst="roundRect">
            <a:avLst>
              <a:gd name="adj" fmla="val 645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7" id="57"/>
          <p:cNvSpPr/>
          <p:nvPr/>
        </p:nvSpPr>
        <p:spPr>
          <a:xfrm rot="0" flipH="false" flipV="false">
            <a:off x="8890000" y="3683000"/>
            <a:ext cx="2603500" cy="457200"/>
          </a:xfrm>
          <a:prstGeom prst="roundRect">
            <a:avLst>
              <a:gd name="adj" fmla="val 0"/>
            </a:avLst>
          </a:prstGeom>
          <a:solidFill>
            <a:srgbClr val="87B22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RESULT | 结果</a:t>
            </a:r>
            <a:endParaRPr lang="en-US" sz="1100"/>
          </a:p>
        </p:txBody>
      </p:sp>
      <p:sp>
        <p:nvSpPr>
          <p:cNvPr name="AutoShape 58" id="58"/>
          <p:cNvSpPr/>
          <p:nvPr/>
        </p:nvSpPr>
        <p:spPr>
          <a:xfrm rot="0" flipH="false" flipV="false">
            <a:off x="9017000" y="4254500"/>
            <a:ext cx="2349500" cy="1270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成功支撑流量洪峰，峰值QPS超预期，零超卖，系统稳定性达99.99%。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680700" y="342900"/>
            <a:ext cx="990600" cy="1778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cxnSp>
        <p:nvCxnSpPr>
          <p:cNvPr name="Connector 3" id="3"/>
          <p:cNvCxnSpPr/>
          <p:nvPr/>
        </p:nvCxnSpPr>
        <p:spPr>
          <a:xfrm rot="-13402" flipH="false" flipV="false">
            <a:off x="254000" y="711200"/>
            <a:ext cx="651511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92D05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name="Connector 4" id="4"/>
          <p:cNvCxnSpPr/>
          <p:nvPr/>
        </p:nvCxnSpPr>
        <p:spPr>
          <a:xfrm rot="97" flipH="false" flipV="false">
            <a:off x="6921500" y="711205"/>
            <a:ext cx="33044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80808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name="Connector 5" id="5"/>
          <p:cNvCxnSpPr/>
          <p:nvPr/>
        </p:nvCxnSpPr>
        <p:spPr>
          <a:xfrm rot="97" flipH="false" flipV="false">
            <a:off x="7404100" y="711205"/>
            <a:ext cx="33044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80808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317500" y="266700"/>
            <a:ext cx="431800" cy="330200"/>
          </a:xfrm>
          <a:prstGeom prst="actionButtonBlank">
            <a:avLst/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25500" y="266700"/>
            <a:ext cx="76200" cy="330200"/>
          </a:xfrm>
          <a:prstGeom prst="actionButtonBlank">
            <a:avLst/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38200" y="152400"/>
            <a:ext cx="9525000" cy="520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四、关键问题突破举例（二）：老旧单体应用的微服务化重构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81000" y="977900"/>
            <a:ext cx="11430000" cy="495300"/>
          </a:xfrm>
          <a:prstGeom prst="roundRect">
            <a:avLst>
              <a:gd name="adj" fmla="val 0"/>
            </a:avLst>
          </a:prstGeom>
          <a:solidFill>
            <a:srgbClr val="F6FBE8">
              <a:alpha val="100000"/>
            </a:srgbClr>
          </a:solidFill>
          <a:ln w="12700" cmpd="sng" cap="flat">
            <a:solidFill>
              <a:srgbClr val="92D050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81000" y="977900"/>
            <a:ext cx="63500" cy="495300"/>
          </a:xfrm>
          <a:prstGeom prst="roundRect">
            <a:avLst>
              <a:gd name="adj" fmla="val 0"/>
            </a:avLst>
          </a:pr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71500" y="1143000"/>
            <a:ext cx="127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6B8E00"/>
                </a:solidFill>
                <a:latin typeface="Arial"/>
                <a:ea typeface="Arial"/>
                <a:cs typeface="Arial"/>
                <a:sym typeface="Arial"/>
              </a:rPr>
              <a:t>KEY MESSAGE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905000" y="1143000"/>
            <a:ext cx="9398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从原型、文档到系统实现形成完整闭环，证明独立建设复杂系统的能力。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81000" y="1676400"/>
            <a:ext cx="11430000" cy="410210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D8E7B4">
                <a:alpha val="100000"/>
              </a:srgbClr>
            </a:solidFill>
            <a:prstDash val="dash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58800" y="1866900"/>
            <a:ext cx="11087100" cy="1143000"/>
          </a:xfrm>
          <a:prstGeom prst="roundRect">
            <a:avLst>
              <a:gd name="adj" fmla="val 0"/>
            </a:avLst>
          </a:prstGeom>
          <a:solidFill>
            <a:srgbClr val="F6FBE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2800" y="2032000"/>
            <a:ext cx="10541000" cy="393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6B8E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从原型、文档到系统实现形成完整闭环，证明独立建设复杂系统的能力。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25500" y="2565400"/>
            <a:ext cx="10541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通过微服务化重构，成功解决了老旧单体应用耦合严重、迭代效率低的问题，显著提升交付速度。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58800" y="3276600"/>
            <a:ext cx="23876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58800" y="3276600"/>
            <a:ext cx="2387600" cy="76200"/>
          </a:xfrm>
          <a:prstGeom prst="roundRect">
            <a:avLst>
              <a:gd name="adj" fmla="val 0"/>
            </a:avLst>
          </a:prstGeom>
          <a:solidFill>
            <a:srgbClr val="6B8E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23900" y="3492500"/>
            <a:ext cx="381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6B8E0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23900" y="3810000"/>
            <a:ext cx="2032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C3E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业务梳理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23900" y="4191000"/>
            <a:ext cx="2095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Noto Sans SC"/>
                <a:ea typeface="Noto Sans SC"/>
                <a:cs typeface="Noto Sans SC"/>
                <a:sym typeface="Noto Sans SC"/>
              </a:rPr>
              <a:t>动作：与业务方深入沟通，梳理核心业务边界</a:t>
            </a:r>
            <a:r>
              <a:rPr lang="en-US" b="false" i="false" strike="noStrike" u="none" sz="1300">
                <a:solidFill>
                  <a:srgbClr val="5D6D7E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5D6D7E"/>
                </a:solidFill>
                <a:latin typeface="Noto Sans SC"/>
                <a:ea typeface="Noto Sans SC"/>
                <a:cs typeface="Noto Sans SC"/>
                <a:sym typeface="Noto Sans SC"/>
              </a:rPr>
              <a:t>价值：为拆分提供清晰依据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3162300" y="3276600"/>
            <a:ext cx="23876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3162300" y="3276600"/>
            <a:ext cx="2387600" cy="76200"/>
          </a:xfrm>
          <a:prstGeom prst="roundRect">
            <a:avLst>
              <a:gd name="adj" fmla="val 0"/>
            </a:avLst>
          </a:pr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3327400" y="3492500"/>
            <a:ext cx="381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88C10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3327400" y="3810000"/>
            <a:ext cx="2032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C3E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依赖分析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3327400" y="4191000"/>
            <a:ext cx="2095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Noto Sans SC"/>
                <a:ea typeface="Noto Sans SC"/>
                <a:cs typeface="Noto Sans SC"/>
                <a:sym typeface="Noto Sans SC"/>
              </a:rPr>
              <a:t>动作：工具分析代码依赖，识别可拆分模块</a:t>
            </a:r>
            <a:r>
              <a:rPr lang="en-US" b="false" i="false" strike="noStrike" u="none" sz="1300">
                <a:solidFill>
                  <a:srgbClr val="5D6D7E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5D6D7E"/>
                </a:solidFill>
                <a:latin typeface="Noto Sans SC"/>
                <a:ea typeface="Noto Sans SC"/>
                <a:cs typeface="Noto Sans SC"/>
                <a:sym typeface="Noto Sans SC"/>
              </a:rPr>
              <a:t>价值：降低拆分风险，确保平滑过渡</a:t>
            </a:r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5778500" y="3276600"/>
            <a:ext cx="23876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5778500" y="3276600"/>
            <a:ext cx="2387600" cy="76200"/>
          </a:xfrm>
          <a:prstGeom prst="roundRect">
            <a:avLst>
              <a:gd name="adj" fmla="val 0"/>
            </a:avLst>
          </a:prstGeom>
          <a:solidFill>
            <a:srgbClr val="4D7E2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5943600" y="3492500"/>
            <a:ext cx="381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4D7E2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5943600" y="3810000"/>
            <a:ext cx="2032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C3E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拆分策略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5943600" y="4191000"/>
            <a:ext cx="2095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Noto Sans SC"/>
                <a:ea typeface="Noto Sans SC"/>
                <a:cs typeface="Noto Sans SC"/>
                <a:sym typeface="Noto Sans SC"/>
              </a:rPr>
              <a:t>动作：采用“绞杀者模式”拆分核心业务</a:t>
            </a:r>
            <a:r>
              <a:rPr lang="en-US" b="false" i="false" strike="noStrike" u="none" sz="1300">
                <a:solidFill>
                  <a:srgbClr val="5D6D7E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5D6D7E"/>
                </a:solidFill>
                <a:latin typeface="Noto Sans SC"/>
                <a:ea typeface="Noto Sans SC"/>
                <a:cs typeface="Noto Sans SC"/>
                <a:sym typeface="Noto Sans SC"/>
              </a:rPr>
              <a:t>价值：实现服务解耦，提升迭代效率</a:t>
            </a:r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8382000" y="3276600"/>
            <a:ext cx="266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8382000" y="3276600"/>
            <a:ext cx="2667000" cy="76200"/>
          </a:xfrm>
          <a:prstGeom prst="roundRect">
            <a:avLst>
              <a:gd name="adj" fmla="val 0"/>
            </a:avLst>
          </a:prstGeom>
          <a:solidFill>
            <a:srgbClr val="B9D99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8559800" y="3492500"/>
            <a:ext cx="381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B9D99E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8559800" y="3810000"/>
            <a:ext cx="2159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C3E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价值结论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8559800" y="4191000"/>
            <a:ext cx="241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Noto Sans SC"/>
                <a:ea typeface="Noto Sans SC"/>
                <a:cs typeface="Noto Sans SC"/>
                <a:sym typeface="Noto Sans SC"/>
              </a:rPr>
              <a:t>成果：迭代周期从2周缩短至3天</a:t>
            </a:r>
            <a:r>
              <a:rPr lang="en-US" b="false" i="false" strike="noStrike" u="none" sz="1300">
                <a:solidFill>
                  <a:srgbClr val="5D6D7E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5D6D7E"/>
                </a:solidFill>
                <a:latin typeface="Noto Sans SC"/>
                <a:ea typeface="Noto Sans SC"/>
                <a:cs typeface="Noto Sans SC"/>
                <a:sym typeface="Noto Sans SC"/>
              </a:rPr>
              <a:t>体现：更强的抽象设计和Ownership能力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680700" y="342900"/>
            <a:ext cx="990600" cy="1778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cxnSp>
        <p:nvCxnSpPr>
          <p:cNvPr name="Connector 3" id="3"/>
          <p:cNvCxnSpPr/>
          <p:nvPr/>
        </p:nvCxnSpPr>
        <p:spPr>
          <a:xfrm rot="-13402" flipH="false" flipV="false">
            <a:off x="254000" y="711200"/>
            <a:ext cx="651511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92D05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name="Connector 4" id="4"/>
          <p:cNvCxnSpPr/>
          <p:nvPr/>
        </p:nvCxnSpPr>
        <p:spPr>
          <a:xfrm rot="97" flipH="false" flipV="false">
            <a:off x="6921500" y="711205"/>
            <a:ext cx="33044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80808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name="Connector 5" id="5"/>
          <p:cNvCxnSpPr/>
          <p:nvPr/>
        </p:nvCxnSpPr>
        <p:spPr>
          <a:xfrm rot="97" flipH="false" flipV="false">
            <a:off x="7404100" y="711205"/>
            <a:ext cx="33044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80808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317500" y="266700"/>
            <a:ext cx="431800" cy="330200"/>
          </a:xfrm>
          <a:prstGeom prst="actionButtonBlank">
            <a:avLst/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25500" y="266700"/>
            <a:ext cx="76200" cy="330200"/>
          </a:xfrm>
          <a:prstGeom prst="actionButtonBlank">
            <a:avLst/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38200" y="152400"/>
            <a:ext cx="10515600" cy="520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四、关键问题突破举例（三）：系统优化与平台化建设</a:t>
            </a:r>
            <a:endParaRPr lang="en-US" sz="1100"/>
          </a:p>
        </p:txBody>
      </p:sp>
      <p:sp>
        <p:nvSpPr>
          <p:cNvPr name="Freeform 9" id="9"/>
          <p:cNvSpPr/>
          <p:nvPr/>
        </p:nvSpPr>
        <p:spPr>
          <a:xfrm rot="0" flipH="false" flipV="false">
            <a:off x="381000" y="977900"/>
            <a:ext cx="11430000" cy="495300"/>
          </a:xfrm>
          <a:custGeom>
            <a:avLst/>
            <a:gdLst/>
            <a:ahLst/>
            <a:cxnLst/>
            <a:rect r="r" b="b" t="t" l="l"/>
            <a:pathLst>
              <a:path h="495300" w="11430000">
                <a:moveTo>
                  <a:pt x="57150" y="0"/>
                </a:moveTo>
                <a:lnTo>
                  <a:pt x="11372850" y="0"/>
                </a:lnTo>
                <a:cubicBezTo>
                  <a:pt x="11404413" y="0"/>
                  <a:pt x="11430000" y="25587"/>
                  <a:pt x="11430000" y="57150"/>
                </a:cubicBezTo>
                <a:lnTo>
                  <a:pt x="11430000" y="438150"/>
                </a:lnTo>
                <a:cubicBezTo>
                  <a:pt x="11430000" y="469713"/>
                  <a:pt x="11404413" y="495300"/>
                  <a:pt x="11372850" y="495300"/>
                </a:cubicBezTo>
                <a:lnTo>
                  <a:pt x="57150" y="495300"/>
                </a:lnTo>
                <a:cubicBezTo>
                  <a:pt x="25587" y="495300"/>
                  <a:pt x="0" y="469713"/>
                  <a:pt x="0" y="4381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6FBE8">
              <a:alpha val="100000"/>
            </a:srgbClr>
          </a:solidFill>
          <a:ln w="12700" cmpd="sng" cap="flat">
            <a:solidFill>
              <a:srgbClr val="92D050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0" id="10"/>
          <p:cNvSpPr/>
          <p:nvPr/>
        </p:nvSpPr>
        <p:spPr>
          <a:xfrm rot="0" flipH="false" flipV="false">
            <a:off x="381000" y="977900"/>
            <a:ext cx="57150" cy="495300"/>
          </a:xfrm>
          <a:custGeom>
            <a:avLst/>
            <a:gdLst/>
            <a:ahLst/>
            <a:cxnLst/>
            <a:rect r="r" b="b" t="t" l="l"/>
            <a:pathLst>
              <a:path h="495300" w="5715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466725"/>
                </a:lnTo>
                <a:cubicBezTo>
                  <a:pt x="57150" y="482507"/>
                  <a:pt x="44357" y="495300"/>
                  <a:pt x="28575" y="495300"/>
                </a:cubicBezTo>
                <a:lnTo>
                  <a:pt x="28575" y="495300"/>
                </a:lnTo>
                <a:cubicBezTo>
                  <a:pt x="12793" y="495300"/>
                  <a:pt x="0" y="482507"/>
                  <a:pt x="0" y="4667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71500" y="1143000"/>
            <a:ext cx="10668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6B8E00"/>
                </a:solidFill>
                <a:latin typeface="Arial"/>
                <a:ea typeface="Arial"/>
                <a:cs typeface="Arial"/>
                <a:sym typeface="Arial"/>
              </a:rPr>
              <a:t>KEY MESSAGE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752600" y="1143000"/>
            <a:ext cx="9144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不只完成需求，更坚持把一次性交付升级成可复用能力。</a:t>
            </a:r>
            <a:endParaRPr lang="en-US" sz="1100"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381000" y="1676400"/>
            <a:ext cx="11430000" cy="4095750"/>
          </a:xfrm>
          <a:custGeom>
            <a:avLst/>
            <a:gdLst/>
            <a:ahLst/>
            <a:cxnLst/>
            <a:rect r="r" b="b" t="t" l="l"/>
            <a:pathLst>
              <a:path h="4095750" w="11430000">
                <a:moveTo>
                  <a:pt x="76200" y="0"/>
                </a:moveTo>
                <a:lnTo>
                  <a:pt x="11353800" y="0"/>
                </a:lnTo>
                <a:cubicBezTo>
                  <a:pt x="11395884" y="0"/>
                  <a:pt x="11430000" y="34116"/>
                  <a:pt x="11430000" y="76200"/>
                </a:cubicBezTo>
                <a:lnTo>
                  <a:pt x="11430000" y="4019550"/>
                </a:lnTo>
                <a:cubicBezTo>
                  <a:pt x="11430000" y="4061634"/>
                  <a:pt x="11395884" y="4095750"/>
                  <a:pt x="11353800" y="4095750"/>
                </a:cubicBezTo>
                <a:lnTo>
                  <a:pt x="76200" y="4095750"/>
                </a:lnTo>
                <a:cubicBezTo>
                  <a:pt x="34116" y="4095750"/>
                  <a:pt x="0" y="4061634"/>
                  <a:pt x="0" y="4019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noFill/>
          <a:ln w="12700" cmpd="sng" cap="flat">
            <a:solidFill>
              <a:srgbClr val="D8E7B4">
                <a:alpha val="100000"/>
              </a:srgbClr>
            </a:solidFill>
            <a:prstDash val="dash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0" flipH="false" flipV="false">
            <a:off x="558800" y="1943100"/>
            <a:ext cx="3390900" cy="2952750"/>
          </a:xfrm>
          <a:custGeom>
            <a:avLst/>
            <a:gdLst/>
            <a:ahLst/>
            <a:cxnLst/>
            <a:rect r="r" b="b" t="t" l="l"/>
            <a:pathLst>
              <a:path h="2952750" w="3390900">
                <a:moveTo>
                  <a:pt x="133350" y="0"/>
                </a:moveTo>
                <a:lnTo>
                  <a:pt x="3257550" y="0"/>
                </a:lnTo>
                <a:cubicBezTo>
                  <a:pt x="3331197" y="0"/>
                  <a:pt x="3390900" y="59703"/>
                  <a:pt x="3390900" y="133350"/>
                </a:cubicBezTo>
                <a:lnTo>
                  <a:pt x="3390900" y="2819400"/>
                </a:lnTo>
                <a:cubicBezTo>
                  <a:pt x="3390900" y="2893047"/>
                  <a:pt x="3331197" y="2952750"/>
                  <a:pt x="3257550" y="2952750"/>
                </a:cubicBezTo>
                <a:lnTo>
                  <a:pt x="133350" y="2952750"/>
                </a:lnTo>
                <a:cubicBezTo>
                  <a:pt x="59703" y="2952750"/>
                  <a:pt x="0" y="2893047"/>
                  <a:pt x="0" y="2819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558800" y="1943100"/>
            <a:ext cx="3390900" cy="76200"/>
          </a:xfrm>
          <a:custGeom>
            <a:avLst/>
            <a:gdLst/>
            <a:ahLst/>
            <a:cxnLst/>
            <a:rect r="r" b="b" t="t" l="l"/>
            <a:pathLst>
              <a:path h="76200" w="3390900">
                <a:moveTo>
                  <a:pt x="38100" y="0"/>
                </a:moveTo>
                <a:lnTo>
                  <a:pt x="3352800" y="0"/>
                </a:lnTo>
                <a:cubicBezTo>
                  <a:pt x="3373843" y="0"/>
                  <a:pt x="3390900" y="17057"/>
                  <a:pt x="3390900" y="38100"/>
                </a:cubicBezTo>
                <a:lnTo>
                  <a:pt x="3390900" y="38100"/>
                </a:lnTo>
                <a:cubicBezTo>
                  <a:pt x="3390900" y="59143"/>
                  <a:pt x="3373843" y="76200"/>
                  <a:pt x="3352800" y="76200"/>
                </a:cubicBezTo>
                <a:lnTo>
                  <a:pt x="38100" y="76200"/>
                </a:lnTo>
                <a:cubicBezTo>
                  <a:pt x="17057" y="76200"/>
                  <a:pt x="0" y="59143"/>
                  <a:pt x="0" y="38100"/>
                </a:cubicBezTo>
                <a:lnTo>
                  <a:pt x="0" y="38100"/>
                </a:lnTo>
                <a:cubicBezTo>
                  <a:pt x="0" y="17057"/>
                  <a:pt x="17057" y="0"/>
                  <a:pt x="38100" y="0"/>
                </a:cubicBezTo>
                <a:close/>
              </a:path>
            </a:pathLst>
          </a:custGeom>
          <a:solidFill>
            <a:srgbClr val="6B8E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23900" y="2197100"/>
            <a:ext cx="635000" cy="215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6B8E00"/>
                </a:solidFill>
                <a:latin typeface="Arial"/>
                <a:ea typeface="Arial"/>
                <a:cs typeface="Arial"/>
                <a:sym typeface="Arial"/>
              </a:rPr>
              <a:t>CASE A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23900" y="2463800"/>
            <a:ext cx="2921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C3E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性能提升：接口响应优化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23900" y="2870200"/>
            <a:ext cx="304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问题：核心接口响应时间&gt;500ms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23900" y="3187700"/>
            <a:ext cx="304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动作：优化慢SQL，引入Redis缓存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23900" y="3505200"/>
            <a:ext cx="304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结果：P95延迟520ms→80ms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23900" y="3822700"/>
            <a:ext cx="304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价值：性能提升84.6%，体验更流畅</a:t>
            </a:r>
            <a:endParaRPr lang="en-US" sz="1100"/>
          </a:p>
        </p:txBody>
      </p:sp>
      <p:sp>
        <p:nvSpPr>
          <p:cNvPr name="Freeform 22" id="22"/>
          <p:cNvSpPr/>
          <p:nvPr/>
        </p:nvSpPr>
        <p:spPr>
          <a:xfrm rot="0" flipH="false" flipV="false">
            <a:off x="4381500" y="1943100"/>
            <a:ext cx="3390900" cy="2952750"/>
          </a:xfrm>
          <a:custGeom>
            <a:avLst/>
            <a:gdLst/>
            <a:ahLst/>
            <a:cxnLst/>
            <a:rect r="r" b="b" t="t" l="l"/>
            <a:pathLst>
              <a:path h="2952750" w="3390900">
                <a:moveTo>
                  <a:pt x="133350" y="0"/>
                </a:moveTo>
                <a:lnTo>
                  <a:pt x="3257550" y="0"/>
                </a:lnTo>
                <a:cubicBezTo>
                  <a:pt x="3331197" y="0"/>
                  <a:pt x="3390900" y="59703"/>
                  <a:pt x="3390900" y="133350"/>
                </a:cubicBezTo>
                <a:lnTo>
                  <a:pt x="3390900" y="2819400"/>
                </a:lnTo>
                <a:cubicBezTo>
                  <a:pt x="3390900" y="2893047"/>
                  <a:pt x="3331197" y="2952750"/>
                  <a:pt x="3257550" y="2952750"/>
                </a:cubicBezTo>
                <a:lnTo>
                  <a:pt x="133350" y="2952750"/>
                </a:lnTo>
                <a:cubicBezTo>
                  <a:pt x="59703" y="2952750"/>
                  <a:pt x="0" y="2893047"/>
                  <a:pt x="0" y="2819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23" id="23"/>
          <p:cNvSpPr/>
          <p:nvPr/>
        </p:nvSpPr>
        <p:spPr>
          <a:xfrm rot="0" flipH="false" flipV="false">
            <a:off x="4381500" y="1943100"/>
            <a:ext cx="3390900" cy="76200"/>
          </a:xfrm>
          <a:custGeom>
            <a:avLst/>
            <a:gdLst/>
            <a:ahLst/>
            <a:cxnLst/>
            <a:rect r="r" b="b" t="t" l="l"/>
            <a:pathLst>
              <a:path h="76200" w="3390900">
                <a:moveTo>
                  <a:pt x="38100" y="0"/>
                </a:moveTo>
                <a:lnTo>
                  <a:pt x="3352800" y="0"/>
                </a:lnTo>
                <a:cubicBezTo>
                  <a:pt x="3373843" y="0"/>
                  <a:pt x="3390900" y="17057"/>
                  <a:pt x="3390900" y="38100"/>
                </a:cubicBezTo>
                <a:lnTo>
                  <a:pt x="3390900" y="38100"/>
                </a:lnTo>
                <a:cubicBezTo>
                  <a:pt x="3390900" y="59143"/>
                  <a:pt x="3373843" y="76200"/>
                  <a:pt x="3352800" y="76200"/>
                </a:cubicBezTo>
                <a:lnTo>
                  <a:pt x="38100" y="76200"/>
                </a:lnTo>
                <a:cubicBezTo>
                  <a:pt x="17057" y="76200"/>
                  <a:pt x="0" y="59143"/>
                  <a:pt x="0" y="38100"/>
                </a:cubicBezTo>
                <a:lnTo>
                  <a:pt x="0" y="38100"/>
                </a:lnTo>
                <a:cubicBezTo>
                  <a:pt x="0" y="17057"/>
                  <a:pt x="17057" y="0"/>
                  <a:pt x="38100" y="0"/>
                </a:cubicBezTo>
                <a:close/>
              </a:path>
            </a:pathLst>
          </a:custGeom>
          <a:solidFill>
            <a:srgbClr val="88C1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546600" y="2197100"/>
            <a:ext cx="635000" cy="215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88C100"/>
                </a:solidFill>
                <a:latin typeface="Arial"/>
                <a:ea typeface="Arial"/>
                <a:cs typeface="Arial"/>
                <a:sym typeface="Arial"/>
              </a:rPr>
              <a:t>CASE B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4546600" y="2463800"/>
            <a:ext cx="2921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C3E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降本增效：资源成本优化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4546600" y="2870200"/>
            <a:ext cx="304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问题：服务器资源成本居高不下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4546600" y="3187700"/>
            <a:ext cx="304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动作：修复内存泄漏，容器化部署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4546600" y="3505200"/>
            <a:ext cx="304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结果：CPU使用率70%→35%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4546600" y="3822700"/>
            <a:ext cx="304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价值：大幅降低云资源开销成本</a:t>
            </a:r>
            <a:endParaRPr lang="en-US" sz="1100"/>
          </a:p>
        </p:txBody>
      </p:sp>
      <p:sp>
        <p:nvSpPr>
          <p:cNvPr name="Freeform 30" id="30"/>
          <p:cNvSpPr/>
          <p:nvPr/>
        </p:nvSpPr>
        <p:spPr>
          <a:xfrm rot="0" flipH="false" flipV="false">
            <a:off x="8191500" y="1943100"/>
            <a:ext cx="3200400" cy="2952750"/>
          </a:xfrm>
          <a:custGeom>
            <a:avLst/>
            <a:gdLst/>
            <a:ahLst/>
            <a:cxnLst/>
            <a:rect r="r" b="b" t="t" l="l"/>
            <a:pathLst>
              <a:path h="2952750" w="3200400">
                <a:moveTo>
                  <a:pt x="133350" y="0"/>
                </a:moveTo>
                <a:lnTo>
                  <a:pt x="3067050" y="0"/>
                </a:lnTo>
                <a:cubicBezTo>
                  <a:pt x="3140697" y="0"/>
                  <a:pt x="3200400" y="59703"/>
                  <a:pt x="3200400" y="133350"/>
                </a:cubicBezTo>
                <a:lnTo>
                  <a:pt x="3200400" y="2819400"/>
                </a:lnTo>
                <a:cubicBezTo>
                  <a:pt x="3200400" y="2893047"/>
                  <a:pt x="3140697" y="2952750"/>
                  <a:pt x="3067050" y="2952750"/>
                </a:cubicBezTo>
                <a:lnTo>
                  <a:pt x="133350" y="2952750"/>
                </a:lnTo>
                <a:cubicBezTo>
                  <a:pt x="59703" y="2952750"/>
                  <a:pt x="0" y="2893047"/>
                  <a:pt x="0" y="2819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 cmpd="sng" cap="flat">
            <a:solidFill>
              <a:srgbClr val="D8E7B4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1" id="31"/>
          <p:cNvSpPr/>
          <p:nvPr/>
        </p:nvSpPr>
        <p:spPr>
          <a:xfrm rot="0" flipH="false" flipV="false">
            <a:off x="8191500" y="1943100"/>
            <a:ext cx="3200400" cy="76200"/>
          </a:xfrm>
          <a:custGeom>
            <a:avLst/>
            <a:gdLst/>
            <a:ahLst/>
            <a:cxnLst/>
            <a:rect r="r" b="b" t="t" l="l"/>
            <a:pathLst>
              <a:path h="76200" w="3200400">
                <a:moveTo>
                  <a:pt x="38100" y="0"/>
                </a:moveTo>
                <a:lnTo>
                  <a:pt x="3162300" y="0"/>
                </a:lnTo>
                <a:cubicBezTo>
                  <a:pt x="3183343" y="0"/>
                  <a:pt x="3200400" y="17057"/>
                  <a:pt x="3200400" y="38100"/>
                </a:cubicBezTo>
                <a:lnTo>
                  <a:pt x="3200400" y="38100"/>
                </a:lnTo>
                <a:cubicBezTo>
                  <a:pt x="3200400" y="59143"/>
                  <a:pt x="3183343" y="76200"/>
                  <a:pt x="3162300" y="76200"/>
                </a:cubicBezTo>
                <a:lnTo>
                  <a:pt x="38100" y="76200"/>
                </a:lnTo>
                <a:cubicBezTo>
                  <a:pt x="17057" y="76200"/>
                  <a:pt x="0" y="59143"/>
                  <a:pt x="0" y="38100"/>
                </a:cubicBezTo>
                <a:lnTo>
                  <a:pt x="0" y="38100"/>
                </a:lnTo>
                <a:cubicBezTo>
                  <a:pt x="0" y="17057"/>
                  <a:pt x="17057" y="0"/>
                  <a:pt x="38100" y="0"/>
                </a:cubicBezTo>
                <a:close/>
              </a:path>
            </a:pathLst>
          </a:custGeom>
          <a:solidFill>
            <a:srgbClr val="4D7E2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8356600" y="2197100"/>
            <a:ext cx="635000" cy="2159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4D7E2E"/>
                </a:solidFill>
                <a:latin typeface="Arial"/>
                <a:ea typeface="Arial"/>
                <a:cs typeface="Arial"/>
                <a:sym typeface="Arial"/>
              </a:rPr>
              <a:t>CASE C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8356600" y="2463800"/>
            <a:ext cx="2921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C3E5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质量防控：测试体系建设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8356600" y="2870200"/>
            <a:ext cx="304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问题：模块单元测试覆盖率&lt;30%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8356600" y="3187700"/>
            <a:ext cx="304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动作：编写核心业务逻辑单元测试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8356600" y="3505200"/>
            <a:ext cx="304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结果：覆盖率28%→85%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8356600" y="3822700"/>
            <a:ext cx="304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D6D7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价值：有效拦截Bug，提升代码质量</a:t>
            </a:r>
            <a:endParaRPr lang="en-US" sz="1100"/>
          </a:p>
        </p:txBody>
      </p:sp>
      <p:sp>
        <p:nvSpPr>
          <p:cNvPr name="Freeform 38" id="38"/>
          <p:cNvSpPr/>
          <p:nvPr/>
        </p:nvSpPr>
        <p:spPr>
          <a:xfrm rot="0" flipH="false" flipV="false">
            <a:off x="558800" y="5334000"/>
            <a:ext cx="10896600" cy="419100"/>
          </a:xfrm>
          <a:custGeom>
            <a:avLst/>
            <a:gdLst/>
            <a:ahLst/>
            <a:cxnLst/>
            <a:rect r="r" b="b" t="t" l="l"/>
            <a:pathLst>
              <a:path h="419100" w="10896600">
                <a:moveTo>
                  <a:pt x="114300" y="0"/>
                </a:moveTo>
                <a:lnTo>
                  <a:pt x="10782300" y="0"/>
                </a:lnTo>
                <a:cubicBezTo>
                  <a:pt x="10845427" y="0"/>
                  <a:pt x="10896600" y="51173"/>
                  <a:pt x="10896600" y="114300"/>
                </a:cubicBezTo>
                <a:lnTo>
                  <a:pt x="10896600" y="304800"/>
                </a:lnTo>
                <a:cubicBezTo>
                  <a:pt x="10896600" y="367927"/>
                  <a:pt x="10845427" y="419100"/>
                  <a:pt x="10782300" y="419100"/>
                </a:cubicBezTo>
                <a:lnTo>
                  <a:pt x="114300" y="419100"/>
                </a:lnTo>
                <a:cubicBezTo>
                  <a:pt x="51173" y="419100"/>
                  <a:pt x="0" y="367927"/>
                  <a:pt x="0" y="304800"/>
                </a:cubicBezTo>
                <a:lnTo>
                  <a:pt x="0" y="114300"/>
                </a:lnTo>
                <a:cubicBezTo>
                  <a:pt x="0" y="51173"/>
                  <a:pt x="51173" y="0"/>
                  <a:pt x="114300" y="0"/>
                </a:cubicBezTo>
                <a:close/>
              </a:path>
            </a:pathLst>
          </a:custGeom>
          <a:solidFill>
            <a:srgbClr val="6B8E00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749300" y="5435600"/>
            <a:ext cx="1079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6B8E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通过性能优化、资源管控和质量体系建设，将一次性交付转化为可持续复用的技术能力。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11557" r="11557" t="0" b="0"/>
          <a:stretch>
            <a:fillRect/>
          </a:stretch>
        </p:blipFill>
        <p:spPr>
          <a:xfrm rot="0" flipH="false" flipV="false">
            <a:off x="10680700" y="342900"/>
            <a:ext cx="990600" cy="1778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317500" y="266700"/>
            <a:ext cx="431800" cy="330200"/>
          </a:xfrm>
          <a:prstGeom prst="roundRect">
            <a:avLst>
              <a:gd name="adj" fmla="val 0"/>
            </a:avLst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8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25500" y="266700"/>
            <a:ext cx="152400" cy="330200"/>
          </a:xfrm>
          <a:prstGeom prst="roundRect">
            <a:avLst>
              <a:gd name="adj" fmla="val 0"/>
            </a:avLst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8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143000" y="228600"/>
            <a:ext cx="889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63500" rIns="63500" tIns="25400" bIns="2540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五、未来工作计划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3906" flipH="false" flipV="false">
            <a:off x="508004" y="946150"/>
            <a:ext cx="1117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92D05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508000" y="1270000"/>
            <a:ext cx="11176000" cy="1524000"/>
          </a:xfrm>
          <a:prstGeom prst="roundRect">
            <a:avLst>
              <a:gd name="adj" fmla="val 8333"/>
            </a:avLst>
          </a:prstGeom>
          <a:solidFill>
            <a:srgbClr val="F6FAF3">
              <a:alpha val="100000"/>
            </a:srgbClr>
          </a:solidFill>
          <a:ln w="12700" cmpd="sng" cap="flat">
            <a:solidFill>
              <a:srgbClr val="92D05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1524000"/>
            <a:ext cx="1016000" cy="1016000"/>
          </a:xfrm>
          <a:prstGeom prst="ellipse">
            <a:avLst/>
          </a:prstGeom>
          <a:solidFill>
            <a:srgbClr val="92D050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65200" y="1727200"/>
            <a:ext cx="609600" cy="609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968500" y="1397000"/>
            <a:ext cx="965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63500" bIns="6350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85BB05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技术深度提升 (未来3-6个月)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目标：深入学习Go语言及其微服务应用。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计划：阅读2本技术书籍，参与内部预研实践并输出技术分享。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08000" y="2984500"/>
            <a:ext cx="11176000" cy="1524000"/>
          </a:xfrm>
          <a:prstGeom prst="roundRect">
            <a:avLst>
              <a:gd name="adj" fmla="val 8333"/>
            </a:avLst>
          </a:prstGeom>
          <a:solidFill>
            <a:srgbClr val="F6FAF3">
              <a:alpha val="100000"/>
            </a:srgbClr>
          </a:solidFill>
          <a:ln w="12700" cmpd="sng" cap="flat">
            <a:solidFill>
              <a:srgbClr val="92D05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3238500"/>
            <a:ext cx="1016000" cy="1016000"/>
          </a:xfrm>
          <a:prstGeom prst="ellipse">
            <a:avLst/>
          </a:prstGeom>
          <a:solidFill>
            <a:srgbClr val="92D050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965200" y="3441700"/>
            <a:ext cx="609600" cy="609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968500" y="3111500"/>
            <a:ext cx="965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63500" bIns="6350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85BB05"/>
                </a:solidFill>
                <a:latin typeface="Noto Sans SC"/>
                <a:ea typeface="Noto Sans SC"/>
                <a:cs typeface="Noto Sans SC"/>
                <a:sym typeface="Noto Sans SC"/>
              </a:rPr>
              <a:t>负责模块的规划与演进 (未来3-6个月)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Q2：完成性能瓶颈分析与优化，测试覆盖率提升至90%+。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Q3：推动架构升级，引入缓存一致性方案，建立监控告警体系。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08000" y="4699000"/>
            <a:ext cx="11176000" cy="1524000"/>
          </a:xfrm>
          <a:prstGeom prst="roundRect">
            <a:avLst>
              <a:gd name="adj" fmla="val 8333"/>
            </a:avLst>
          </a:prstGeom>
          <a:solidFill>
            <a:srgbClr val="F6FAF3">
              <a:alpha val="100000"/>
            </a:srgbClr>
          </a:solidFill>
          <a:ln w="12700" cmpd="sng" cap="flat">
            <a:solidFill>
              <a:srgbClr val="92D05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953000"/>
            <a:ext cx="1016000" cy="1016000"/>
          </a:xfrm>
          <a:prstGeom prst="ellipse">
            <a:avLst/>
          </a:prstGeom>
          <a:solidFill>
            <a:srgbClr val="92D050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65200" y="5156200"/>
            <a:ext cx="609600" cy="6096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1968500" y="4826000"/>
            <a:ext cx="965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63500" bIns="6350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85BB05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团队协作与知识共享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目标：积极参与团队建设，贡献个人力量。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计划：主动承担Code Review任务，分享技术经验，参与技术选型。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0" y="6756400"/>
            <a:ext cx="12192000" cy="101600"/>
          </a:xfrm>
          <a:prstGeom prst="roundRect">
            <a:avLst>
              <a:gd name="adj" fmla="val 0"/>
            </a:avLst>
          </a:prstGeom>
          <a:solidFill>
            <a:srgbClr val="92D05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680700" y="342900"/>
            <a:ext cx="990600" cy="1778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cxnSp>
        <p:nvCxnSpPr>
          <p:cNvPr name="Connector 3" id="3"/>
          <p:cNvCxnSpPr/>
          <p:nvPr/>
        </p:nvCxnSpPr>
        <p:spPr>
          <a:xfrm rot="-13402" flipH="false" flipV="false">
            <a:off x="254000" y="711200"/>
            <a:ext cx="651511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92D05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name="Connector 4" id="4"/>
          <p:cNvCxnSpPr/>
          <p:nvPr/>
        </p:nvCxnSpPr>
        <p:spPr>
          <a:xfrm rot="97" flipH="false" flipV="false">
            <a:off x="6921500" y="711205"/>
            <a:ext cx="33044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80808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name="Connector 5" id="5"/>
          <p:cNvCxnSpPr/>
          <p:nvPr/>
        </p:nvCxnSpPr>
        <p:spPr>
          <a:xfrm rot="97" flipH="false" flipV="false">
            <a:off x="7404100" y="711205"/>
            <a:ext cx="33044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80808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317500" y="266700"/>
            <a:ext cx="431800" cy="330200"/>
          </a:xfrm>
          <a:prstGeom prst="roundRect">
            <a:avLst>
              <a:gd name="adj" fmla="val 0"/>
            </a:avLst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25500" y="266700"/>
            <a:ext cx="76200" cy="330200"/>
          </a:xfrm>
          <a:prstGeom prst="roundRect">
            <a:avLst>
              <a:gd name="adj" fmla="val 0"/>
            </a:avLst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193800" y="203200"/>
            <a:ext cx="7620000" cy="520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88900" rIns="88900" tIns="50800" bIns="5080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六、个人的不足与提升计划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84200" y="1270000"/>
            <a:ext cx="5334000" cy="4826000"/>
          </a:xfrm>
          <a:prstGeom prst="roundRect">
            <a:avLst>
              <a:gd name="adj" fmla="val 2631"/>
            </a:avLst>
          </a:prstGeom>
          <a:solidFill>
            <a:srgbClr val="F6FAF2">
              <a:alpha val="100000"/>
            </a:srgbClr>
          </a:solidFill>
          <a:ln w="12700" cmpd="sng" cap="flat">
            <a:solidFill>
              <a:srgbClr val="92D050">
                <a:alpha val="5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65200" y="1651000"/>
            <a:ext cx="508000" cy="508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651000" y="1676400"/>
            <a:ext cx="3810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63500" rIns="6350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92D050"/>
                </a:solidFill>
                <a:latin typeface="微软雅黑"/>
                <a:ea typeface="微软雅黑"/>
                <a:cs typeface="微软雅黑"/>
                <a:sym typeface="微软雅黑"/>
              </a:rPr>
              <a:t>不足之处 · 待改进项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9549" flipH="false" flipV="false">
            <a:off x="965209" y="2343150"/>
            <a:ext cx="457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2D05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965200" y="2476500"/>
            <a:ext cx="4572000" cy="342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101600" rIns="101600" tIns="101600" bIns="10160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1. 复杂业务建模能力：</a:t>
            </a:r>
            <a:r>
              <a:rPr lang="en-US" b="false" i="false" strike="noStrike" u="none" sz="14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面对复杂场景初期设计考虑不够周全，缺乏系统性拆解能力。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true" i="false" strike="noStrike" u="none" sz="15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2. 全局视野不足：</a:t>
            </a:r>
            <a:r>
              <a:rPr lang="en-US" b="false" i="false" strike="noStrike" u="none" sz="14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有时过度专注单一模块细节，对系统整体架构与上下游影响考虑不够。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16666"/>
              </a:lnSpc>
            </a:pPr>
            <a:r>
              <a:rPr lang="en-US" b="true" i="false" strike="noStrike" u="none" sz="15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3. 技术敏感度待提升：</a:t>
            </a:r>
            <a:r>
              <a:rPr lang="en-US" b="false" i="false" strike="noStrike" u="none" sz="14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对前沿技术缺乏主动探索意识，知识更新滞后于行业发展。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73800" y="1270000"/>
            <a:ext cx="5334000" cy="4826000"/>
          </a:xfrm>
          <a:prstGeom prst="roundRect">
            <a:avLst>
              <a:gd name="adj" fmla="val 2631"/>
            </a:avLst>
          </a:prstGeom>
          <a:solidFill>
            <a:srgbClr val="F0F9FF">
              <a:alpha val="100000"/>
            </a:srgbClr>
          </a:solidFill>
          <a:ln w="12700" cmpd="sng" cap="flat">
            <a:solidFill>
              <a:srgbClr val="3B82F6">
                <a:alpha val="5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654800" y="1651000"/>
            <a:ext cx="508000" cy="5080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7340600" y="1676400"/>
            <a:ext cx="3810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63500" rIns="6350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B82F6"/>
                </a:solidFill>
                <a:latin typeface="微软雅黑"/>
                <a:ea typeface="微软雅黑"/>
                <a:cs typeface="微软雅黑"/>
                <a:sym typeface="微软雅黑"/>
              </a:rPr>
              <a:t>提升计划 · 落地行动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9549" flipH="false" flipV="false">
            <a:off x="6654809" y="2343150"/>
            <a:ext cx="457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B82F6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6654800" y="2476500"/>
            <a:ext cx="4572000" cy="342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101600" rIns="101600" tIns="101600" bIns="10160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1. 业务建模强化：</a:t>
            </a:r>
            <a:r>
              <a:rPr lang="en-US" b="false" i="false" strike="noStrike" u="none" sz="14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深度参与需求评审与架构设计，系统学习DDD领域驱动设计并实践。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true" i="false" strike="noStrike" u="none" sz="15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2. 拓宽全局思维：</a:t>
            </a:r>
            <a:r>
              <a:rPr lang="en-US" b="false" i="false" strike="noStrike" u="none" sz="14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定期绘制系统架构与调用链路图，主动调研上下游服务实现逻辑。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16666"/>
              </a:lnSpc>
            </a:pPr>
            <a:r>
              <a:rPr lang="en-US" b="true" i="false" strike="noStrike" u="none" sz="15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3. 保持技术敏锐：</a:t>
            </a:r>
            <a:r>
              <a:rPr lang="en-US" b="false" i="false" strike="noStrike" u="none" sz="14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订阅行业技术周刊，周读技术文章，每季度攻克一个核心新技术点。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84200" y="6223000"/>
            <a:ext cx="11023600" cy="381000"/>
          </a:xfrm>
          <a:prstGeom prst="roundRect">
            <a:avLst>
              <a:gd name="adj" fmla="val 33333"/>
            </a:avLst>
          </a:prstGeom>
          <a:solidFill>
            <a:srgbClr val="92D050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57851E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总结：正视不足，以行动为导向，持续迭代个人技术能力与思维格局。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680700" y="342900"/>
            <a:ext cx="990600" cy="1778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cxnSp>
        <p:nvCxnSpPr>
          <p:cNvPr name="Connector 3" id="3"/>
          <p:cNvCxnSpPr/>
          <p:nvPr/>
        </p:nvCxnSpPr>
        <p:spPr>
          <a:xfrm rot="-13402" flipH="false" flipV="false">
            <a:off x="254000" y="711200"/>
            <a:ext cx="651511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92D05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name="Connector 4" id="4"/>
          <p:cNvCxnSpPr/>
          <p:nvPr/>
        </p:nvCxnSpPr>
        <p:spPr>
          <a:xfrm rot="97" flipH="false" flipV="false">
            <a:off x="6921500" y="711205"/>
            <a:ext cx="33044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80808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name="Connector 5" id="5"/>
          <p:cNvCxnSpPr/>
          <p:nvPr/>
        </p:nvCxnSpPr>
        <p:spPr>
          <a:xfrm rot="97" flipH="false" flipV="false">
            <a:off x="7404100" y="711205"/>
            <a:ext cx="33044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80808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317500" y="266700"/>
            <a:ext cx="431800" cy="330200"/>
          </a:xfrm>
          <a:prstGeom prst="actionButtonBlank">
            <a:avLst/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25500" y="266700"/>
            <a:ext cx="76200" cy="330200"/>
          </a:xfrm>
          <a:prstGeom prst="actionButtonBlank">
            <a:avLst/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03300" y="203200"/>
            <a:ext cx="10515600" cy="5207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88900" rIns="88900" tIns="50800" bIns="5080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七、建议与求助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84200" y="1143000"/>
            <a:ext cx="10922000" cy="495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127000" rIns="127000" tIns="127000" bIns="127000"/>
          <a:lstStyle/>
          <a:p>
            <a:pPr algn="l" indent="0">
              <a:lnSpc>
                <a:spcPct val="108333"/>
              </a:lnSpc>
              <a:spcBef>
                <a:spcPts val="500"/>
              </a:spcBef>
              <a:defRPr/>
            </a:pPr>
            <a:r>
              <a:rPr lang="en-US" b="true" i="false" strike="noStrike" u="none" sz="2000">
                <a:solidFill>
                  <a:srgbClr val="92D050"/>
                </a:solidFill>
                <a:latin typeface="微软雅黑"/>
                <a:ea typeface="微软雅黑"/>
                <a:cs typeface="微软雅黑"/>
                <a:sym typeface="微软雅黑"/>
              </a:rPr>
              <a:t>▍ 对公司/团队的建议</a:t>
            </a:r>
            <a:r>
              <a:rPr lang="en-US" b="fals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 marL="190500">
              <a:lnSpc>
                <a:spcPct val="108333"/>
              </a:lnSpc>
            </a:pPr>
            <a:r>
              <a:rPr lang="en-US" b="true" i="false" strike="noStrike" u="none" sz="1500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● 技术层面：</a:t>
            </a:r>
            <a:r>
              <a:rPr lang="en-US" b="false" i="false" strike="noStrike" u="none" sz="15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建立统一的技术文档规范和知识库（如Confluence），沉淀项目经验，方便团队知识传承与查阅。</a:t>
            </a:r>
            <a:r>
              <a:rPr lang="en-US" b="fals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 marL="190500">
              <a:lnSpc>
                <a:spcPct val="108333"/>
              </a:lnSpc>
            </a:pPr>
            <a:r>
              <a:rPr lang="en-US" b="true" i="false" strike="noStrike" u="none" sz="1500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● 流程层面：</a:t>
            </a:r>
            <a:r>
              <a:rPr lang="en-US" b="false" i="false" strike="noStrike" u="none" sz="15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优化项目排期管理与需求变更流程，引入更严格的变更评估机制，减少开发返工与资源浪费。</a:t>
            </a:r>
            <a:r>
              <a:rPr lang="en-US" b="fals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 marL="190500">
              <a:lnSpc>
                <a:spcPct val="108333"/>
              </a:lnSpc>
            </a:pPr>
            <a:r>
              <a:rPr lang="en-US" b="true" i="false" strike="noStrike" u="none" sz="1500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● 协作层面：</a:t>
            </a:r>
            <a:r>
              <a:rPr lang="en-US" b="false" i="false" strike="noStrike" u="none" sz="15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定期组织跨团队技术分享会，成立内部技术兴趣小组，促进信息流动与技术氛围建设。</a:t>
            </a:r>
            <a:r>
              <a:rPr lang="en-US" b="fals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08333"/>
              </a:lnSpc>
              <a:spcBef>
                <a:spcPts val="500"/>
              </a:spcBef>
            </a:pPr>
            <a:r>
              <a:rPr lang="en-US" b="true" i="false" strike="noStrike" u="none" sz="2000">
                <a:solidFill>
                  <a:srgbClr val="92D050"/>
                </a:solidFill>
                <a:latin typeface="微软雅黑"/>
                <a:ea typeface="微软雅黑"/>
                <a:cs typeface="微软雅黑"/>
                <a:sym typeface="微软雅黑"/>
              </a:rPr>
              <a:t>▍ 需要的支持</a:t>
            </a:r>
            <a:r>
              <a:rPr lang="en-US" b="fals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 marL="190500">
              <a:lnSpc>
                <a:spcPct val="108333"/>
              </a:lnSpc>
            </a:pPr>
            <a:r>
              <a:rPr lang="en-US" b="true" i="false" strike="noStrike" u="none" sz="15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● 技术学习：</a:t>
            </a:r>
            <a:r>
              <a:rPr lang="en-US" b="false" i="false" strike="noStrike" u="none" sz="15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希望公司能提供前沿技术培训资源，或开通主流技术学习平台的企业账号，助力个人技术深耕。</a:t>
            </a:r>
            <a:r>
              <a:rPr lang="en-US" b="fals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 marL="190500">
              <a:lnSpc>
                <a:spcPct val="108333"/>
              </a:lnSpc>
            </a:pPr>
            <a:r>
              <a:rPr lang="en-US" b="true" i="false" strike="noStrike" u="none" sz="15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● 项目指导：</a:t>
            </a:r>
            <a:r>
              <a:rPr lang="en-US" b="false" i="false" strike="noStrike" u="none" sz="15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在负责高复杂度核心项目时，期望获得资深架构师或专家的阶段性技术指导与方案评审。</a:t>
            </a:r>
            <a:r>
              <a:rPr lang="en-US" b="fals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 marL="190500">
              <a:lnSpc>
                <a:spcPct val="108333"/>
              </a:lnSpc>
            </a:pPr>
            <a:r>
              <a:rPr lang="en-US" b="true" i="false" strike="noStrike" u="none" sz="15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● 团队氛围：</a:t>
            </a:r>
            <a:r>
              <a:rPr lang="en-US" b="false" i="false" strike="noStrike" u="none" sz="15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建议增加线下团队建设活动频率，增强团队成员间的信任与凝聚力，提升协作效率。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0680700" y="342900"/>
            <a:ext cx="990600" cy="1778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cxnSp>
        <p:nvCxnSpPr>
          <p:cNvPr name="Connector 3" id="3"/>
          <p:cNvCxnSpPr/>
          <p:nvPr/>
        </p:nvCxnSpPr>
        <p:spPr>
          <a:xfrm rot="-13402" flipH="false" flipV="false">
            <a:off x="254000" y="711200"/>
            <a:ext cx="651511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92D05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name="Connector 4" id="4"/>
          <p:cNvCxnSpPr/>
          <p:nvPr/>
        </p:nvCxnSpPr>
        <p:spPr>
          <a:xfrm rot="97" flipH="false" flipV="false">
            <a:off x="6921500" y="711205"/>
            <a:ext cx="33044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80808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name="Connector 5" id="5"/>
          <p:cNvCxnSpPr/>
          <p:nvPr/>
        </p:nvCxnSpPr>
        <p:spPr>
          <a:xfrm rot="97" flipH="false" flipV="false">
            <a:off x="7404100" y="711205"/>
            <a:ext cx="33044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808080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317500" y="266700"/>
            <a:ext cx="431800" cy="330200"/>
          </a:xfrm>
          <a:prstGeom prst="actionButtonBlank">
            <a:avLst/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25500" y="266700"/>
            <a:ext cx="76200" cy="330200"/>
          </a:xfrm>
          <a:prstGeom prst="actionButtonBlank">
            <a:avLst/>
          </a:prstGeom>
          <a:solidFill>
            <a:srgbClr val="92D050">
              <a:alpha val="100000"/>
            </a:srgbClr>
          </a:solidFill>
          <a:ln w="12700" cmpd="sng" cap="flat">
            <a:solidFill>
              <a:srgbClr val="85BB05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rcRect l="0" r="0" t="11160" b="0"/>
          <a:stretch>
            <a:fillRect/>
          </a:stretch>
        </p:blipFill>
        <p:spPr>
          <a:xfrm rot="0" flipH="false" flipV="false">
            <a:off x="-139700" y="-990600"/>
            <a:ext cx="12331700" cy="76835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9" id="9"/>
          <p:cNvSpPr/>
          <p:nvPr/>
        </p:nvSpPr>
        <p:spPr>
          <a:xfrm rot="0" flipH="false" flipV="false">
            <a:off x="-139700" y="3136900"/>
            <a:ext cx="12331700" cy="3416300"/>
          </a:xfrm>
          <a:prstGeom prst="roundRect">
            <a:avLst>
              <a:gd name="adj" fmla="val 0"/>
            </a:avLst>
          </a:prstGeom>
          <a:solidFill>
            <a:srgbClr val="F5F7FA">
              <a:alpha val="90000"/>
            </a:srgbClr>
          </a:solidFill>
          <a:ln w="12700" cmpd="sng" cap="flat">
            <a:solidFill>
              <a:srgbClr val="92D050">
                <a:alpha val="3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" y="3619500"/>
            <a:ext cx="10922000" cy="177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88900" rIns="88900" tIns="50800" bIns="5080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8000">
                <a:solidFill>
                  <a:srgbClr val="92D050"/>
                </a:solidFill>
                <a:latin typeface="微软雅黑"/>
                <a:ea typeface="微软雅黑"/>
                <a:cs typeface="微软雅黑"/>
                <a:sym typeface="微软雅黑"/>
              </a:rPr>
              <a:t>THANKS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5461000"/>
            <a:ext cx="10160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感谢各位评委的聆听与指导，期待您的建议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