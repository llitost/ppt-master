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6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7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8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8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2" r:id="rId3"/>
    <p:sldMasterId id="2147483684" r:id="rId4"/>
    <p:sldMasterId id="2147483695" r:id="rId5"/>
    <p:sldMasterId id="2147483707" r:id="rId6"/>
    <p:sldMasterId id="2147483719" r:id="rId7"/>
    <p:sldMasterId id="2147483731" r:id="rId8"/>
    <p:sldMasterId id="2147483743" r:id="rId9"/>
  </p:sldMasterIdLst>
  <p:notesMasterIdLst>
    <p:notesMasterId r:id="rId24"/>
  </p:notesMasterIdLst>
  <p:handoutMasterIdLst>
    <p:handoutMasterId r:id="rId25"/>
  </p:handoutMasterIdLst>
  <p:sldIdLst>
    <p:sldId id="4362" r:id="rId10"/>
    <p:sldId id="4403" r:id="rId11"/>
    <p:sldId id="4378" r:id="rId12"/>
    <p:sldId id="4406" r:id="rId13"/>
    <p:sldId id="4407" r:id="rId14"/>
    <p:sldId id="4409" r:id="rId15"/>
    <p:sldId id="4350" r:id="rId16"/>
    <p:sldId id="4410" r:id="rId17"/>
    <p:sldId id="4412" r:id="rId18"/>
    <p:sldId id="4411" r:id="rId19"/>
    <p:sldId id="4352" r:id="rId20"/>
    <p:sldId id="4400" r:id="rId21"/>
    <p:sldId id="4360" r:id="rId22"/>
    <p:sldId id="4392" r:id="rId23"/>
  </p:sldIdLst>
  <p:sldSz cx="12192000" cy="6858000"/>
  <p:notesSz cx="6858000" cy="9144000"/>
  <p:embeddedFontLst>
    <p:embeddedFont>
      <p:font typeface="Noto Sans SC" panose="020B0200000000000000" pitchFamily="34" charset="-122"/>
      <p:regular r:id="rId26"/>
      <p:bold r:id="rId27"/>
    </p:embeddedFont>
    <p:embeddedFont>
      <p:font typeface="等线" panose="02010600030101010101" pitchFamily="2" charset="-122"/>
      <p:regular r:id="rId28"/>
      <p:bold r:id="rId29"/>
    </p:embeddedFont>
    <p:embeddedFont>
      <p:font typeface="微软雅黑" panose="020B0503020204020204" pitchFamily="34" charset="-122"/>
      <p:regular r:id="rId30"/>
      <p:bold r:id="rId31"/>
    </p:embeddedFont>
  </p:embeddedFontLst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32">
          <p15:clr>
            <a:srgbClr val="A4A3A4"/>
          </p15:clr>
        </p15:guide>
        <p15:guide id="2" pos="387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ot-100" initials="R" lastIdx="2" clrIdx="0"/>
  <p:cmAuthor id="2" name="汉涛 方" initials="汉方" lastIdx="5" clrIdx="1">
    <p:extLst>
      <p:ext uri="{19B8F6BF-5375-455C-9EA6-DF929625EA0E}">
        <p15:presenceInfo xmlns:p15="http://schemas.microsoft.com/office/powerpoint/2012/main" userId="fcf74d6c5bb48b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B2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3501" autoAdjust="0"/>
  </p:normalViewPr>
  <p:slideViewPr>
    <p:cSldViewPr snapToGrid="0" showGuides="1">
      <p:cViewPr varScale="1">
        <p:scale>
          <a:sx n="61" d="100"/>
          <a:sy n="61" d="100"/>
        </p:scale>
        <p:origin x="165" y="45"/>
      </p:cViewPr>
      <p:guideLst>
        <p:guide orient="horz" pos="2332"/>
        <p:guide pos="387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7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font" Target="fonts/font1.fntdata"/><Relationship Id="rId21" Type="http://schemas.openxmlformats.org/officeDocument/2006/relationships/slide" Target="slides/slide12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handoutMaster" Target="handoutMasters/handoutMaster1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notesMaster" Target="notesMasters/notesMaster1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4-04T22:38:36.372" idx="2">
    <p:pos x="10" y="10"/>
    <p:text>这页下方空白较大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4-04T22:48:50.544" idx="4">
    <p:pos x="6356" y="2678"/>
    <p:text>列出每一期的发布节奏</p:text>
    <p:extLst>
      <p:ext uri="{C676402C-5697-4E1C-873F-D02D1690AC5C}">
        <p15:threadingInfo xmlns:p15="http://schemas.microsoft.com/office/powerpoint/2012/main" timeZoneBias="-480"/>
      </p:ext>
    </p:extLst>
  </p:cm>
  <p:cm authorId="2" dt="2026-04-04T22:49:26.343" idx="5">
    <p:pos x="2604" y="1644"/>
    <p:text>19工作日听起来很长，不够</p:text>
    <p:extLst>
      <p:ext uri="{C676402C-5697-4E1C-873F-D02D1690AC5C}">
        <p15:threadingInfo xmlns:p15="http://schemas.microsoft.com/office/powerpoint/2012/main" timeZoneBias="-4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8F9DC-72C8-4ABB-A234-4BEA4D6C0C04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A2D3A-518F-4516-A8A4-B0E3831D178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[Transition] 先从个人背景和当前岗位定位开始。</a:t>
            </a:r>
          </a:p>
          <a:p>
            <a:r>
              <a:rPr lang="zh-CN" altLang="zh-CN" dirty="0"/>
              <a:t>我有 </a:t>
            </a:r>
            <a:r>
              <a:rPr lang="en-US" altLang="zh-CN" dirty="0"/>
              <a:t>5</a:t>
            </a:r>
            <a:r>
              <a:rPr lang="zh-CN" altLang="zh-CN" dirty="0"/>
              <a:t> 年后端研发经验，前期在深圳乐信</a:t>
            </a:r>
            <a:r>
              <a:rPr lang="zh-CN" altLang="en-US" dirty="0"/>
              <a:t>科技（也叫分期乐）</a:t>
            </a:r>
            <a:r>
              <a:rPr lang="zh-CN" altLang="zh-CN" dirty="0"/>
              <a:t>积累了复杂业务交付和系统建设经验，入职当前公司后比较快切入了会员、营销活动和运营平台等核心业务。</a:t>
            </a:r>
          </a:p>
          <a:p>
            <a:r>
              <a:rPr lang="zh-CN" altLang="zh-CN" dirty="0"/>
              <a:t>这页想表达的是，我不是从零开始适应岗位，而是把既有经验快速迁移到了当前团队最需要解决的问题上。 [Pause]</a:t>
            </a:r>
          </a:p>
          <a:p>
            <a:endParaRPr lang="zh-CN" altLang="zh-CN" dirty="0"/>
          </a:p>
          <a:p>
            <a:r>
              <a:rPr lang="zh-CN" altLang="zh-CN" dirty="0"/>
              <a:t>Key points: (1) 具备成熟研发经验 (2) 入职后快速切入核心业务 (3) 具备复杂需求拆解和平台化设计能力</a:t>
            </a:r>
          </a:p>
          <a:p>
            <a:r>
              <a:rPr lang="zh-CN" altLang="zh-CN" dirty="0"/>
              <a:t>Duration: 1 minutes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dirty="0">
                <a:solidFill>
                  <a:srgbClr val="000000"/>
                </a:solidFill>
              </a:rPr>
              <a:t>首先是我的岗位认知。我理解我的岗位核心价值，不仅在于按时交付功能，更在于保证系统的稳定性、方案的可扩展性，并持续降低团队的协作成本。我认为，试用期的核心目标，是证明我有能力承担更复杂的事项，为团队创造更大的价值。我的职业路径也体现了这一点，从建立基础能力，到积累复杂业务经验，再到现在快速融入新团队，完成价值贡献的衔接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669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[Transition] 基于这样的背景，我对当前岗位的理解也比较明确。</a:t>
            </a:r>
          </a:p>
          <a:p>
            <a:r>
              <a:rPr lang="zh-CN" altLang="zh-CN" dirty="0"/>
              <a:t>我认为后端研发不只是完成需求开发，更要对交付结果、系统质量以及协作成本负责。</a:t>
            </a:r>
          </a:p>
          <a:p>
            <a:r>
              <a:rPr lang="zh-CN" altLang="zh-CN" dirty="0"/>
              <a:t>所以试用期对我来说，不是简单证明“做了多少功能”，而是证明自己能不能让团队更放心地把复杂事项交给我。</a:t>
            </a:r>
          </a:p>
          <a:p>
            <a:endParaRPr lang="zh-CN" altLang="zh-CN" dirty="0"/>
          </a:p>
          <a:p>
            <a:r>
              <a:rPr lang="zh-CN" altLang="zh-CN" dirty="0"/>
              <a:t>Key points: (1) 岗位理解不止于开发 (2) 试用期目标是独立承接复杂事项 (3) 核心标准是让团队放心</a:t>
            </a:r>
          </a:p>
          <a:p>
            <a:r>
              <a:rPr lang="zh-CN" altLang="zh-CN" dirty="0"/>
              <a:t>Duration: 1 minutes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[Transition] 这 6 个月的实际工作，也让我对当前岗位的要求有了更具体的理解。</a:t>
            </a:r>
          </a:p>
          <a:p>
            <a:r>
              <a:rPr lang="zh-CN" altLang="zh-CN" dirty="0"/>
              <a:t>比如在圣诞和新年活动里，我同时承担项目负责人和核心研发职责，在高压节奏下推动四期按期交付；在规则引擎项目里，我从原型、文档到系统实现独立完成闭环；在 CRM 优化和转盘配置化里，我也不仅完成开发，还把结果落到了性能提升和协作提效上。</a:t>
            </a:r>
          </a:p>
          <a:p>
            <a:r>
              <a:rPr lang="zh-CN" altLang="zh-CN" dirty="0"/>
              <a:t>所以我理解的后端研发，不只是把功能做完，而是要在关键项目里扛住结果、在复杂问题上给出方案，并把一次性交付沉淀成可复用能力。</a:t>
            </a:r>
          </a:p>
          <a:p>
            <a:endParaRPr lang="zh-CN" altLang="zh-CN" dirty="0"/>
          </a:p>
          <a:p>
            <a:r>
              <a:rPr lang="zh-CN" altLang="zh-CN" dirty="0"/>
              <a:t>Key points: (1) 用项目交付结果反证岗位理解 (2) 已覆盖项目负责、独立建设和效率优化 (3) 核心是扛结果、出方案、做沉淀</a:t>
            </a:r>
          </a:p>
          <a:p>
            <a:r>
              <a:rPr lang="zh-CN" altLang="zh-CN" dirty="0"/>
              <a:t>Duration: 1 minutes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08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[Transition] 接下来进入结果部分，先看试用期 6 个月的整体产出。</a:t>
            </a:r>
          </a:p>
          <a:p>
            <a:r>
              <a:rPr lang="zh-CN" altLang="zh-CN" dirty="0"/>
              <a:t>这 6 个月里，我覆盖了 10 项重点事项，其中 8 项完成交付，关键事项按期交付率是 100%。</a:t>
            </a:r>
          </a:p>
          <a:p>
            <a:r>
              <a:rPr lang="zh-CN" altLang="zh-CN" dirty="0"/>
              <a:t>[Data] 除了交付本身，结果还体现在性能优化、配置化沉淀和业务效果上，比如 CRM 查询从 2 秒优化到 1 秒以下，节日活动实现拉新 1992 人、参与 16045 人。 [Pause]</a:t>
            </a:r>
          </a:p>
          <a:p>
            <a:endParaRPr lang="zh-CN" altLang="zh-CN" dirty="0"/>
          </a:p>
          <a:p>
            <a:r>
              <a:rPr lang="zh-CN" altLang="zh-CN" dirty="0"/>
              <a:t>Key points: (1) 覆盖事项广且完成度高 (2) 结果同时覆盖效率与业务效果 (3) 整体履职结果达到预期</a:t>
            </a:r>
          </a:p>
          <a:p>
            <a:r>
              <a:rPr lang="zh-CN" altLang="zh-CN" dirty="0"/>
              <a:t>Duration: 2 minutes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850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dirty="0">
                <a:solidFill>
                  <a:srgbClr val="000000"/>
                </a:solidFill>
              </a:rPr>
              <a:t>下面我将通过几个关键项目来具体说明我的工作。第一个是圣诞与新年活动的高压交付项目。这个项目时间紧、范围大、协同复杂。我的任务是作为项目负责人，不仅要承担核心研发工作，还要掌控项目节奏，协调各方资源。通过分阶段推进和快速响应问题，我们最终成功上线了四期活动，实现了拉新和参与人数的业务目标，证明了我在高压环境下的交付和协调能力。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[Transition] 在这些结果里，我想重点展开第一个案例，也就是圣诞和新年活动的高压交付。</a:t>
            </a:r>
          </a:p>
          <a:p>
            <a:r>
              <a:rPr lang="zh-CN" altLang="zh-CN" dirty="0"/>
              <a:t>这个项目时间紧、范围大、协同复杂，我既承担项目负责人职责，也承担关键研发工作。</a:t>
            </a:r>
          </a:p>
          <a:p>
            <a:r>
              <a:rPr lang="zh-CN" altLang="zh-CN" dirty="0"/>
              <a:t>[Data] 第一期从接需求到上线只有 19 个工作日，整个项目分四期推进，最终在 12 月 23 日完成第四期发布，并拿到拉新 1992 人、参与 16045 人的结果。</a:t>
            </a:r>
          </a:p>
          <a:p>
            <a:r>
              <a:rPr lang="zh-CN" altLang="zh-CN" dirty="0"/>
              <a:t>这个案例最能说明，我不仅能完成单点研发，也能在高压项目里扛住结果。 [Pause]</a:t>
            </a:r>
          </a:p>
          <a:p>
            <a:endParaRPr lang="zh-CN" altLang="zh-CN" dirty="0"/>
          </a:p>
          <a:p>
            <a:r>
              <a:rPr lang="zh-CN" altLang="zh-CN" dirty="0"/>
              <a:t>Key points: (1) 项目节奏紧且协同复杂 (2) 同时承担统筹和核心研发职责 (3) 最终稳定完成四期交付并产出业务结果</a:t>
            </a:r>
          </a:p>
          <a:p>
            <a:r>
              <a:rPr lang="zh-CN" altLang="zh-CN" dirty="0"/>
              <a:t>Duration: 2 minutes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348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[Transition] 第二个案例是规则引擎从 0 到 1 的独立建设。</a:t>
            </a:r>
          </a:p>
          <a:p>
            <a:r>
              <a:rPr lang="zh-CN" altLang="zh-CN" dirty="0"/>
              <a:t>这个项目里，我不是被动接收需求，而是从原型设计、需求文档、系统方案到后端实现都独立完成，形成了完整闭环。</a:t>
            </a:r>
          </a:p>
          <a:p>
            <a:r>
              <a:rPr lang="zh-CN" altLang="zh-CN" dirty="0"/>
              <a:t>这说明我的角色已经从“执行需求”逐步升级为“定义问题、设计方案并独立落地”，这是我认为试用期里一个比较关键的成长点。</a:t>
            </a:r>
          </a:p>
          <a:p>
            <a:endParaRPr lang="zh-CN" altLang="zh-CN" dirty="0"/>
          </a:p>
          <a:p>
            <a:r>
              <a:rPr lang="zh-CN" altLang="zh-CN" dirty="0"/>
              <a:t>Key points: (1) 从原型到落地全链路完成 (2) 具备独立建设复杂系统的能力 (3) 体现 ownership 和抽象设计能力</a:t>
            </a:r>
          </a:p>
          <a:p>
            <a:r>
              <a:rPr lang="zh-CN" altLang="zh-CN" dirty="0"/>
              <a:t>Duration: 1 minutes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701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A2D3A-518F-4516-A8A4-B0E3831D178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939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545" y="320675"/>
            <a:ext cx="1536065" cy="212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>
    <p:wheel spokes="1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ame Side Corner Rectangle 5"/>
          <p:cNvSpPr/>
          <p:nvPr userDrawn="1"/>
        </p:nvSpPr>
        <p:spPr>
          <a:xfrm rot="16200000" flipH="1">
            <a:off x="11731147" y="405793"/>
            <a:ext cx="384047" cy="53766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2870"/>
            <a:endParaRPr lang="en-US" sz="2665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662446" y="482606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1372870"/>
            <a:fld id="{C136B7D2-B98C-44FD-8D04-7EC62A564975}" type="slidenum">
              <a:rPr lang="en-US" smtClean="0">
                <a:solidFill>
                  <a:srgbClr val="262626">
                    <a:lumMod val="50000"/>
                    <a:lumOff val="50000"/>
                  </a:srgbClr>
                </a:solidFill>
              </a:rPr>
              <a:t>‹#›</a:t>
            </a:fld>
            <a:endParaRPr lang="en-US" dirty="0">
              <a:solidFill>
                <a:srgbClr val="262626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image" Target="../media/image2.sv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image" Target="../media/image2.sv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image" Target="../media/image2.sv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image" Target="../media/image2.sv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ROOT-logo-1"/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80065" y="338455"/>
            <a:ext cx="996315" cy="178435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259715" y="716915"/>
            <a:ext cx="6508750" cy="1905"/>
          </a:xfrm>
          <a:prstGeom prst="line">
            <a:avLst/>
          </a:prstGeom>
          <a:ln w="31750" cmpd="sng">
            <a:solidFill>
              <a:srgbClr val="92D05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6925310" y="716280"/>
            <a:ext cx="323215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7405370" y="716280"/>
            <a:ext cx="326390" cy="5715"/>
          </a:xfrm>
          <a:prstGeom prst="line">
            <a:avLst/>
          </a:prstGeom>
          <a:ln w="3175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动作按钮: 自定义 10"/>
          <p:cNvSpPr/>
          <p:nvPr userDrawn="1"/>
        </p:nvSpPr>
        <p:spPr>
          <a:xfrm>
            <a:off x="319405" y="268605"/>
            <a:ext cx="427355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动作按钮: 自定义 12"/>
          <p:cNvSpPr/>
          <p:nvPr userDrawn="1"/>
        </p:nvSpPr>
        <p:spPr>
          <a:xfrm>
            <a:off x="820420" y="268605"/>
            <a:ext cx="76200" cy="327025"/>
          </a:xfrm>
          <a:prstGeom prst="actionButtonBlank">
            <a:avLst/>
          </a:prstGeom>
          <a:solidFill>
            <a:srgbClr val="92D050"/>
          </a:solidFill>
          <a:ln>
            <a:solidFill>
              <a:srgbClr val="85BB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8" Type="http://schemas.openxmlformats.org/officeDocument/2006/relationships/tags" Target="../tags/tag9.xml"/><Relationship Id="rId3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489" y="-982291"/>
            <a:ext cx="12305489" cy="753760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314456" y="4390954"/>
            <a:ext cx="9709204" cy="144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zh-CN" altLang="en-US" sz="8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8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8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转正答辩</a:t>
            </a:r>
          </a:p>
        </p:txBody>
      </p:sp>
      <p:sp>
        <p:nvSpPr>
          <p:cNvPr id="5" name="每天120万辆车在路面行驶，50%上过快速路，每辆车在高架上的行驶时间节省大约10%"/>
          <p:cNvSpPr txBox="1"/>
          <p:nvPr/>
        </p:nvSpPr>
        <p:spPr>
          <a:xfrm>
            <a:off x="8246110" y="6167755"/>
            <a:ext cx="379539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r>
              <a:rPr lang="zh-CN" sz="1200" dirty="0"/>
              <a:t>姓名：</a:t>
            </a:r>
            <a:r>
              <a:rPr lang="zh-CN" altLang="en-US" sz="1200" dirty="0"/>
              <a:t>方汉涛</a:t>
            </a:r>
            <a:r>
              <a:rPr lang="en-US" altLang="zh-CN" sz="1200" dirty="0"/>
              <a:t>                    </a:t>
            </a:r>
            <a:r>
              <a:rPr lang="zh-CN" sz="1200" dirty="0"/>
              <a:t>日期：</a:t>
            </a:r>
            <a:r>
              <a:rPr lang="en-US" altLang="zh-CN" sz="1200" dirty="0"/>
              <a:t>2026</a:t>
            </a:r>
            <a:r>
              <a:rPr lang="zh-CN" altLang="en-US" sz="1200" dirty="0"/>
              <a:t>年</a:t>
            </a:r>
            <a:r>
              <a:rPr lang="en-US" altLang="zh-CN" sz="1200" dirty="0"/>
              <a:t>4</a:t>
            </a:r>
            <a:r>
              <a:rPr lang="zh-CN" altLang="en-US" sz="1200" dirty="0"/>
              <a:t>月</a:t>
            </a:r>
            <a:r>
              <a:rPr lang="en-US" altLang="zh-CN" sz="1200" dirty="0"/>
              <a:t>X</a:t>
            </a:r>
            <a:r>
              <a:rPr lang="zh-CN" altLang="en-US" sz="1200" dirty="0"/>
              <a:t>日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705725" y="6551295"/>
            <a:ext cx="44081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表单编号：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RF-HR-008  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A/1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94196" y="166753"/>
            <a:ext cx="7423931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填写原则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（隐藏本页，不需要播放）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19828" y="870238"/>
            <a:ext cx="11653049" cy="58274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一、内容关键简要，不要写啰嗦的文章，转正答辩主要是自己讲，而不是别人看</a:t>
            </a:r>
          </a:p>
          <a:p>
            <a:pPr>
              <a:lnSpc>
                <a:spcPct val="120000"/>
              </a:lnSpc>
            </a:pPr>
            <a:r>
              <a:rPr lang="zh-CN" altLang="en-US"/>
              <a:t>二、举证材料要有前后成效对比，使用定量数据优于定性数据</a:t>
            </a:r>
          </a:p>
          <a:p>
            <a:pPr>
              <a:lnSpc>
                <a:spcPct val="120000"/>
              </a:lnSpc>
            </a:pPr>
            <a:r>
              <a:rPr lang="zh-CN" altLang="en-US"/>
              <a:t>三、定量数据可以从下面几个维度思考：</a:t>
            </a:r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endParaRPr lang="zh-CN" altLang="en-US"/>
          </a:p>
          <a:p>
            <a:pPr>
              <a:lnSpc>
                <a:spcPct val="120000"/>
              </a:lnSpc>
            </a:pPr>
            <a:r>
              <a:rPr lang="zh-CN" altLang="en-US"/>
              <a:t>四、定性数据一般体现在受众的满意度：</a:t>
            </a:r>
          </a:p>
          <a:p>
            <a:pPr>
              <a:lnSpc>
                <a:spcPct val="120000"/>
              </a:lnSpc>
            </a:pPr>
            <a:r>
              <a:rPr lang="zh-CN" altLang="en-US"/>
              <a:t>例如推动缺陷分级标准优化，减少了大量无效沟通，通过匿名问卷收集团队满意度为</a:t>
            </a:r>
            <a:r>
              <a:rPr lang="en-US" altLang="zh-CN"/>
              <a:t>80%</a:t>
            </a:r>
          </a:p>
          <a:p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555224" y="2007019"/>
          <a:ext cx="11182350" cy="2665095"/>
        </p:xfrm>
        <a:graphic>
          <a:graphicData uri="http://schemas.openxmlformats.org/drawingml/2006/table">
            <a:tbl>
              <a:tblPr/>
              <a:tblGrid>
                <a:gridCol w="372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235">
                <a:tc>
                  <a:txBody>
                    <a:bodyPr/>
                    <a:lstStyle/>
                    <a:p>
                      <a:pPr indent="0"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分类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维度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案例升级</a:t>
                      </a:r>
                      <a:r>
                        <a:rPr 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 b="1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5A5A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性能提升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接口性能提升、接口并发量增加等</a:t>
                      </a:r>
                      <a:endParaRPr lang="en-US" altLang="en-US" sz="12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“订单查询接口延迟↓60%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大促期间流失订单↓25%”</a:t>
                      </a:r>
                      <a:endParaRPr lang="en-US" altLang="en-US" sz="12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降本增效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各职能人天减少、服务资源缩减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通过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K8s容器化调度优化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年节省服务器成本￥42万+发布效率↑200%”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质量防控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过程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bug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和线上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bug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减少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引入自动化脚本进行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代码扫描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提测前拦截缺陷占比从15%→40%”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技术影响力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文章发布、技术分享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“推动ES日志规范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团队排查效率↑30%（问卷反馈）”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救火贡献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非自身原因的线上事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“建立告警根因分析库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P1级故障MTTR从4h→35min”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隐性价值</a:t>
                      </a:r>
                      <a:r>
                        <a:rPr 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​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技术债、代码坏味道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“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通过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重构核心模块</a:t>
                      </a:r>
                      <a:r>
                        <a:rPr lang="zh-CN" altLang="en-US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sz="12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代码可维护性评分↑2.1（SonarQube）”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2700" marR="12700" marT="9525" marB="9525" anchor="ctr">
                    <a:lnL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L>
                    <a:lnR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E0E0E0">
                          <a:alpha val="100000"/>
                        </a:srgbClr>
                      </a:solidFill>
                      <a:prstDash val="solid"/>
                      <a:miter lim="800000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1040765" y="117475"/>
            <a:ext cx="17576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录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969101" y="1027671"/>
            <a:ext cx="4936518" cy="546377"/>
            <a:chOff x="1643063" y="1643939"/>
            <a:chExt cx="4936518" cy="546377"/>
          </a:xfrm>
        </p:grpSpPr>
        <p:sp>
          <p:nvSpPr>
            <p:cNvPr id="14" name="文本框 13"/>
            <p:cNvSpPr txBox="1"/>
            <p:nvPr>
              <p:custDataLst>
                <p:tags r:id="rId32"/>
              </p:custDataLst>
            </p:nvPr>
          </p:nvSpPr>
          <p:spPr>
            <a:xfrm>
              <a:off x="2366140" y="1643939"/>
              <a:ext cx="23164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个人基本情况</a:t>
              </a: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1643063" y="1655624"/>
              <a:ext cx="664368" cy="534692"/>
              <a:chOff x="1643063" y="1655624"/>
              <a:chExt cx="664368" cy="534692"/>
            </a:xfrm>
          </p:grpSpPr>
          <p:sp>
            <p:nvSpPr>
              <p:cNvPr id="15" name="平行四边形 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1782726" y="1667096"/>
                <a:ext cx="3850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1</a:t>
                </a:r>
              </a:p>
            </p:txBody>
          </p:sp>
        </p:grpSp>
        <p:cxnSp>
          <p:nvCxnSpPr>
            <p:cNvPr id="9" name="直接连接符 8"/>
            <p:cNvCxnSpPr/>
            <p:nvPr>
              <p:custDataLst>
                <p:tags r:id="rId33"/>
              </p:custDataLst>
            </p:nvPr>
          </p:nvCxnSpPr>
          <p:spPr>
            <a:xfrm>
              <a:off x="2250281" y="2178844"/>
              <a:ext cx="4323080" cy="0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平行四边形 20"/>
            <p:cNvSpPr/>
            <p:nvPr>
              <p:custDataLst>
                <p:tags r:id="rId34"/>
              </p:custDataLst>
            </p:nvPr>
          </p:nvSpPr>
          <p:spPr>
            <a:xfrm>
              <a:off x="5456776" y="2061209"/>
              <a:ext cx="1122805" cy="47927"/>
            </a:xfrm>
            <a:prstGeom prst="parallelogram">
              <a:avLst>
                <a:gd name="adj" fmla="val 112437"/>
              </a:avLst>
            </a:prstGeom>
            <a:gradFill flip="none" rotWithShape="1">
              <a:gsLst>
                <a:gs pos="0">
                  <a:srgbClr val="9EE256"/>
                </a:gs>
                <a:gs pos="100000">
                  <a:srgbClr val="52762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969101" y="1778518"/>
            <a:ext cx="4943503" cy="546100"/>
            <a:chOff x="1643063" y="1643939"/>
            <a:chExt cx="4943503" cy="546377"/>
          </a:xfrm>
        </p:grpSpPr>
        <p:sp>
          <p:nvSpPr>
            <p:cNvPr id="13" name="文本框 12"/>
            <p:cNvSpPr txBox="1"/>
            <p:nvPr>
              <p:custDataLst>
                <p:tags r:id="rId27"/>
              </p:custDataLst>
            </p:nvPr>
          </p:nvSpPr>
          <p:spPr>
            <a:xfrm>
              <a:off x="2366140" y="1643939"/>
              <a:ext cx="1605280" cy="5222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岗位认知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643063" y="1655624"/>
              <a:ext cx="664368" cy="534692"/>
              <a:chOff x="1643063" y="1655624"/>
              <a:chExt cx="664368" cy="534692"/>
            </a:xfrm>
          </p:grpSpPr>
          <p:sp>
            <p:nvSpPr>
              <p:cNvPr id="18" name="平行四边形 17"/>
              <p:cNvSpPr/>
              <p:nvPr>
                <p:custDataLst>
                  <p:tags r:id="rId30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" name="文本框 18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782726" y="1667096"/>
                <a:ext cx="3850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2</a:t>
                </a:r>
              </a:p>
            </p:txBody>
          </p:sp>
        </p:grpSp>
        <p:cxnSp>
          <p:nvCxnSpPr>
            <p:cNvPr id="26" name="直接连接符 25"/>
            <p:cNvCxnSpPr/>
            <p:nvPr>
              <p:custDataLst>
                <p:tags r:id="rId28"/>
              </p:custDataLst>
            </p:nvPr>
          </p:nvCxnSpPr>
          <p:spPr>
            <a:xfrm>
              <a:off x="2250281" y="2178844"/>
              <a:ext cx="4123690" cy="11430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平行四边形 19"/>
            <p:cNvSpPr/>
            <p:nvPr>
              <p:custDataLst>
                <p:tags r:id="rId29"/>
              </p:custDataLst>
            </p:nvPr>
          </p:nvSpPr>
          <p:spPr>
            <a:xfrm>
              <a:off x="5463761" y="2118359"/>
              <a:ext cx="1122805" cy="47927"/>
            </a:xfrm>
            <a:prstGeom prst="parallelogram">
              <a:avLst>
                <a:gd name="adj" fmla="val 112437"/>
              </a:avLst>
            </a:prstGeom>
            <a:gradFill flip="none" rotWithShape="1">
              <a:gsLst>
                <a:gs pos="0">
                  <a:srgbClr val="9EE256"/>
                </a:gs>
                <a:gs pos="100000">
                  <a:srgbClr val="52762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969101" y="2529088"/>
            <a:ext cx="4935883" cy="546100"/>
            <a:chOff x="1643063" y="1643939"/>
            <a:chExt cx="4935883" cy="546377"/>
          </a:xfrm>
        </p:grpSpPr>
        <p:sp>
          <p:nvSpPr>
            <p:cNvPr id="25" name="文本框 24"/>
            <p:cNvSpPr txBox="1"/>
            <p:nvPr>
              <p:custDataLst>
                <p:tags r:id="rId22"/>
              </p:custDataLst>
            </p:nvPr>
          </p:nvSpPr>
          <p:spPr>
            <a:xfrm>
              <a:off x="2366140" y="1643939"/>
              <a:ext cx="1605280" cy="5222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个人绩效</a:t>
              </a: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643063" y="1655624"/>
              <a:ext cx="664368" cy="534692"/>
              <a:chOff x="1643063" y="1655624"/>
              <a:chExt cx="664368" cy="534692"/>
            </a:xfrm>
          </p:grpSpPr>
          <p:sp>
            <p:nvSpPr>
              <p:cNvPr id="37" name="平行四边形 36"/>
              <p:cNvSpPr/>
              <p:nvPr>
                <p:custDataLst>
                  <p:tags r:id="rId25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8" name="文本框 37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1782726" y="1667096"/>
                <a:ext cx="3850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3</a:t>
                </a:r>
              </a:p>
            </p:txBody>
          </p:sp>
        </p:grpSp>
        <p:cxnSp>
          <p:nvCxnSpPr>
            <p:cNvPr id="39" name="直接连接符 38"/>
            <p:cNvCxnSpPr/>
            <p:nvPr>
              <p:custDataLst>
                <p:tags r:id="rId23"/>
              </p:custDataLst>
            </p:nvPr>
          </p:nvCxnSpPr>
          <p:spPr>
            <a:xfrm>
              <a:off x="2250281" y="2178844"/>
              <a:ext cx="4302125" cy="8259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平行四边形 39"/>
            <p:cNvSpPr/>
            <p:nvPr>
              <p:custDataLst>
                <p:tags r:id="rId24"/>
              </p:custDataLst>
            </p:nvPr>
          </p:nvSpPr>
          <p:spPr>
            <a:xfrm>
              <a:off x="5456141" y="2061209"/>
              <a:ext cx="1122805" cy="47927"/>
            </a:xfrm>
            <a:prstGeom prst="parallelogram">
              <a:avLst>
                <a:gd name="adj" fmla="val 112437"/>
              </a:avLst>
            </a:prstGeom>
            <a:solidFill>
              <a:srgbClr val="88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969101" y="3279658"/>
            <a:ext cx="4876828" cy="544830"/>
            <a:chOff x="1643063" y="1643939"/>
            <a:chExt cx="4876828" cy="545392"/>
          </a:xfrm>
        </p:grpSpPr>
        <p:sp>
          <p:nvSpPr>
            <p:cNvPr id="52" name="文本框 51"/>
            <p:cNvSpPr txBox="1"/>
            <p:nvPr>
              <p:custDataLst>
                <p:tags r:id="rId17"/>
              </p:custDataLst>
            </p:nvPr>
          </p:nvSpPr>
          <p:spPr>
            <a:xfrm>
              <a:off x="2366140" y="1643939"/>
              <a:ext cx="3027680" cy="5225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关键问题突破举例</a:t>
              </a:r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1643063" y="1655624"/>
              <a:ext cx="664368" cy="533707"/>
              <a:chOff x="1643063" y="1655624"/>
              <a:chExt cx="664368" cy="533707"/>
            </a:xfrm>
          </p:grpSpPr>
          <p:sp>
            <p:nvSpPr>
              <p:cNvPr id="54" name="平行四边形 53"/>
              <p:cNvSpPr/>
              <p:nvPr>
                <p:custDataLst>
                  <p:tags r:id="rId20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5" name="文本框 5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782726" y="1667096"/>
                <a:ext cx="401955" cy="522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4</a:t>
                </a:r>
              </a:p>
            </p:txBody>
          </p:sp>
        </p:grpSp>
        <p:cxnSp>
          <p:nvCxnSpPr>
            <p:cNvPr id="56" name="直接连接符 55"/>
            <p:cNvCxnSpPr/>
            <p:nvPr>
              <p:custDataLst>
                <p:tags r:id="rId18"/>
              </p:custDataLst>
            </p:nvPr>
          </p:nvCxnSpPr>
          <p:spPr>
            <a:xfrm>
              <a:off x="2250281" y="2178844"/>
              <a:ext cx="4171315" cy="3812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平行四边形 56"/>
            <p:cNvSpPr/>
            <p:nvPr>
              <p:custDataLst>
                <p:tags r:id="rId19"/>
              </p:custDataLst>
            </p:nvPr>
          </p:nvSpPr>
          <p:spPr>
            <a:xfrm>
              <a:off x="5397086" y="2061209"/>
              <a:ext cx="1122805" cy="47927"/>
            </a:xfrm>
            <a:prstGeom prst="parallelogram">
              <a:avLst>
                <a:gd name="adj" fmla="val 112437"/>
              </a:avLst>
            </a:prstGeom>
            <a:solidFill>
              <a:srgbClr val="88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969101" y="4040617"/>
            <a:ext cx="4876828" cy="533417"/>
            <a:chOff x="1643063" y="1655624"/>
            <a:chExt cx="4876828" cy="534590"/>
          </a:xfrm>
        </p:grpSpPr>
        <p:grpSp>
          <p:nvGrpSpPr>
            <p:cNvPr id="10" name="组合 9"/>
            <p:cNvGrpSpPr/>
            <p:nvPr/>
          </p:nvGrpSpPr>
          <p:grpSpPr>
            <a:xfrm>
              <a:off x="1643063" y="1655624"/>
              <a:ext cx="664368" cy="534590"/>
              <a:chOff x="1643063" y="1655624"/>
              <a:chExt cx="664368" cy="534590"/>
            </a:xfrm>
          </p:grpSpPr>
          <p:sp>
            <p:nvSpPr>
              <p:cNvPr id="11" name="平行四边形 10"/>
              <p:cNvSpPr/>
              <p:nvPr>
                <p:custDataLst>
                  <p:tags r:id="rId15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" name="文本框 5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782726" y="1667096"/>
                <a:ext cx="401955" cy="523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5</a:t>
                </a:r>
              </a:p>
            </p:txBody>
          </p:sp>
        </p:grpSp>
        <p:cxnSp>
          <p:nvCxnSpPr>
            <p:cNvPr id="23" name="直接连接符 22"/>
            <p:cNvCxnSpPr/>
            <p:nvPr>
              <p:custDataLst>
                <p:tags r:id="rId13"/>
              </p:custDataLst>
            </p:nvPr>
          </p:nvCxnSpPr>
          <p:spPr>
            <a:xfrm>
              <a:off x="2250281" y="2178844"/>
              <a:ext cx="4171315" cy="3812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平行四边形 27"/>
            <p:cNvSpPr/>
            <p:nvPr>
              <p:custDataLst>
                <p:tags r:id="rId14"/>
              </p:custDataLst>
            </p:nvPr>
          </p:nvSpPr>
          <p:spPr>
            <a:xfrm>
              <a:off x="5397086" y="2061209"/>
              <a:ext cx="1122805" cy="47927"/>
            </a:xfrm>
            <a:prstGeom prst="parallelogram">
              <a:avLst>
                <a:gd name="adj" fmla="val 112437"/>
              </a:avLst>
            </a:prstGeom>
            <a:solidFill>
              <a:srgbClr val="88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576319" y="5532638"/>
            <a:ext cx="4171315" cy="1281748"/>
            <a:chOff x="2250281" y="899587"/>
            <a:chExt cx="4171315" cy="1283069"/>
          </a:xfrm>
        </p:grpSpPr>
        <p:sp>
          <p:nvSpPr>
            <p:cNvPr id="30" name="文本框 29"/>
            <p:cNvSpPr txBox="1"/>
            <p:nvPr>
              <p:custDataLst>
                <p:tags r:id="rId11"/>
              </p:custDataLst>
            </p:nvPr>
          </p:nvSpPr>
          <p:spPr>
            <a:xfrm>
              <a:off x="2543493" y="899587"/>
              <a:ext cx="1960880" cy="528865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zh-CN" sz="28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建议与求助</a:t>
              </a:r>
            </a:p>
          </p:txBody>
        </p:sp>
        <p:cxnSp>
          <p:nvCxnSpPr>
            <p:cNvPr id="34" name="直接连接符 33"/>
            <p:cNvCxnSpPr/>
            <p:nvPr>
              <p:custDataLst>
                <p:tags r:id="rId12"/>
              </p:custDataLst>
            </p:nvPr>
          </p:nvCxnSpPr>
          <p:spPr>
            <a:xfrm>
              <a:off x="2250281" y="2178844"/>
              <a:ext cx="4171315" cy="3812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2969101" y="4800483"/>
            <a:ext cx="4876828" cy="1271543"/>
            <a:chOff x="1643063" y="916750"/>
            <a:chExt cx="4876828" cy="1272854"/>
          </a:xfrm>
        </p:grpSpPr>
        <p:sp>
          <p:nvSpPr>
            <p:cNvPr id="41" name="文本框 40"/>
            <p:cNvSpPr txBox="1"/>
            <p:nvPr>
              <p:custDataLst>
                <p:tags r:id="rId6"/>
              </p:custDataLst>
            </p:nvPr>
          </p:nvSpPr>
          <p:spPr>
            <a:xfrm>
              <a:off x="2471550" y="916750"/>
              <a:ext cx="3738880" cy="5225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8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个人的不足和提升计划</a:t>
              </a: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643063" y="1655624"/>
              <a:ext cx="664368" cy="533980"/>
              <a:chOff x="1643063" y="1655624"/>
              <a:chExt cx="664368" cy="533980"/>
            </a:xfrm>
          </p:grpSpPr>
          <p:sp>
            <p:nvSpPr>
              <p:cNvPr id="50" name="平行四边形 49"/>
              <p:cNvSpPr/>
              <p:nvPr>
                <p:custDataLst>
                  <p:tags r:id="rId9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8" name="文本框 5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782726" y="1667096"/>
                <a:ext cx="401955" cy="5225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7</a:t>
                </a:r>
              </a:p>
            </p:txBody>
          </p:sp>
        </p:grpSp>
        <p:cxnSp>
          <p:nvCxnSpPr>
            <p:cNvPr id="59" name="直接连接符 58"/>
            <p:cNvCxnSpPr/>
            <p:nvPr>
              <p:custDataLst>
                <p:tags r:id="rId7"/>
              </p:custDataLst>
            </p:nvPr>
          </p:nvCxnSpPr>
          <p:spPr>
            <a:xfrm>
              <a:off x="2250281" y="2178844"/>
              <a:ext cx="4171315" cy="3812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平行四边形 59"/>
            <p:cNvSpPr/>
            <p:nvPr>
              <p:custDataLst>
                <p:tags r:id="rId8"/>
              </p:custDataLst>
            </p:nvPr>
          </p:nvSpPr>
          <p:spPr>
            <a:xfrm>
              <a:off x="5397086" y="2061209"/>
              <a:ext cx="1122805" cy="47927"/>
            </a:xfrm>
            <a:prstGeom prst="parallelogram">
              <a:avLst>
                <a:gd name="adj" fmla="val 112437"/>
              </a:avLst>
            </a:prstGeom>
            <a:solidFill>
              <a:srgbClr val="88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2969101" y="4030863"/>
            <a:ext cx="4876828" cy="1291863"/>
            <a:chOff x="1643063" y="896409"/>
            <a:chExt cx="4876828" cy="1293195"/>
          </a:xfrm>
        </p:grpSpPr>
        <p:sp>
          <p:nvSpPr>
            <p:cNvPr id="62" name="文本框 61"/>
            <p:cNvSpPr txBox="1"/>
            <p:nvPr>
              <p:custDataLst>
                <p:tags r:id="rId1"/>
              </p:custDataLst>
            </p:nvPr>
          </p:nvSpPr>
          <p:spPr>
            <a:xfrm>
              <a:off x="2471103" y="896409"/>
              <a:ext cx="2672080" cy="509795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zh-CN" sz="28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下一步工作规划</a:t>
              </a:r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1643063" y="1655624"/>
              <a:ext cx="664368" cy="533980"/>
              <a:chOff x="1643063" y="1655624"/>
              <a:chExt cx="664368" cy="533980"/>
            </a:xfrm>
          </p:grpSpPr>
          <p:sp>
            <p:nvSpPr>
              <p:cNvPr id="64" name="平行四边形 63"/>
              <p:cNvSpPr/>
              <p:nvPr>
                <p:custDataLst>
                  <p:tags r:id="rId4"/>
                </p:custDataLst>
              </p:nvPr>
            </p:nvSpPr>
            <p:spPr>
              <a:xfrm>
                <a:off x="1643063" y="1655624"/>
                <a:ext cx="664368" cy="523220"/>
              </a:xfrm>
              <a:prstGeom prst="parallelogram">
                <a:avLst/>
              </a:prstGeom>
              <a:solidFill>
                <a:srgbClr val="88C1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5" name="文本框 64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782726" y="1667096"/>
                <a:ext cx="401955" cy="5225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6</a:t>
                </a:r>
              </a:p>
            </p:txBody>
          </p:sp>
        </p:grpSp>
        <p:cxnSp>
          <p:nvCxnSpPr>
            <p:cNvPr id="66" name="直接连接符 65"/>
            <p:cNvCxnSpPr/>
            <p:nvPr>
              <p:custDataLst>
                <p:tags r:id="rId2"/>
              </p:custDataLst>
            </p:nvPr>
          </p:nvCxnSpPr>
          <p:spPr>
            <a:xfrm>
              <a:off x="2250281" y="2178844"/>
              <a:ext cx="4171315" cy="3812"/>
            </a:xfrm>
            <a:prstGeom prst="line">
              <a:avLst/>
            </a:prstGeom>
            <a:ln>
              <a:solidFill>
                <a:srgbClr val="88C1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平行四边形 66"/>
            <p:cNvSpPr/>
            <p:nvPr>
              <p:custDataLst>
                <p:tags r:id="rId3"/>
              </p:custDataLst>
            </p:nvPr>
          </p:nvSpPr>
          <p:spPr>
            <a:xfrm>
              <a:off x="5397086" y="2061209"/>
              <a:ext cx="1122805" cy="47927"/>
            </a:xfrm>
            <a:prstGeom prst="parallelogram">
              <a:avLst>
                <a:gd name="adj" fmla="val 112437"/>
              </a:avLst>
            </a:prstGeom>
            <a:solidFill>
              <a:srgbClr val="88C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3848735" y="41719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E59CC-E22B-4463-E77C-2607B27F5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9E2C4640-7DC1-EB63-62C4-3B83BB483958}"/>
              </a:ext>
            </a:extLst>
          </p:cNvPr>
          <p:cNvSpPr txBox="1">
            <a:spLocks noGrp="1"/>
          </p:cNvSpPr>
          <p:nvPr/>
        </p:nvSpPr>
        <p:spPr>
          <a:xfrm>
            <a:off x="985520" y="111760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一、个人基本情况介绍</a:t>
            </a:r>
          </a:p>
        </p:txBody>
      </p:sp>
      <p:grpSp>
        <p:nvGrpSpPr>
          <p:cNvPr id="4" name="Group 60">
            <a:extLst>
              <a:ext uri="{FF2B5EF4-FFF2-40B4-BE49-F238E27FC236}">
                <a16:creationId xmlns:a16="http://schemas.microsoft.com/office/drawing/2014/main" id="{A36D60B8-7FFB-4F44-B831-18A4F768434E}"/>
              </a:ext>
            </a:extLst>
          </p:cNvPr>
          <p:cNvGrpSpPr/>
          <p:nvPr/>
        </p:nvGrpSpPr>
        <p:grpSpPr>
          <a:xfrm>
            <a:off x="381000" y="964163"/>
            <a:ext cx="11430000" cy="5129310"/>
            <a:chOff x="502920" y="1536441"/>
            <a:chExt cx="11430000" cy="5129310"/>
          </a:xfrm>
        </p:grpSpPr>
        <p:sp>
          <p:nvSpPr>
            <p:cNvPr id="7" name="Freeform 19">
              <a:extLst>
                <a:ext uri="{FF2B5EF4-FFF2-40B4-BE49-F238E27FC236}">
                  <a16:creationId xmlns:a16="http://schemas.microsoft.com/office/drawing/2014/main" id="{408625DF-04C1-3689-CB1B-F875D6307B6E}"/>
                </a:ext>
              </a:extLst>
            </p:cNvPr>
            <p:cNvSpPr/>
            <p:nvPr/>
          </p:nvSpPr>
          <p:spPr>
            <a:xfrm>
              <a:off x="502920" y="1536441"/>
              <a:ext cx="11430000" cy="512931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" name="Freeform 20">
              <a:extLst>
                <a:ext uri="{FF2B5EF4-FFF2-40B4-BE49-F238E27FC236}">
                  <a16:creationId xmlns:a16="http://schemas.microsoft.com/office/drawing/2014/main" id="{E65B46EF-6230-7C95-1C31-261AF8453A0B}"/>
                </a:ext>
              </a:extLst>
            </p:cNvPr>
            <p:cNvSpPr/>
            <p:nvPr/>
          </p:nvSpPr>
          <p:spPr>
            <a:xfrm>
              <a:off x="685800" y="1619250"/>
              <a:ext cx="11003280" cy="1400175"/>
            </a:xfrm>
            <a:custGeom>
              <a:avLst/>
              <a:gdLst/>
              <a:ahLst/>
              <a:cxnLst/>
              <a:rect l="l" t="t" r="r" b="b"/>
              <a:pathLst>
                <a:path w="10496550" h="1400175">
                  <a:moveTo>
                    <a:pt x="0" y="419100"/>
                  </a:moveTo>
                  <a:cubicBezTo>
                    <a:pt x="1485900" y="0"/>
                    <a:pt x="3314700" y="171450"/>
                    <a:pt x="5029200" y="533400"/>
                  </a:cubicBezTo>
                  <a:cubicBezTo>
                    <a:pt x="6553200" y="847725"/>
                    <a:pt x="8105775" y="781050"/>
                    <a:pt x="10496550" y="152400"/>
                  </a:cubicBezTo>
                  <a:lnTo>
                    <a:pt x="10496550" y="838200"/>
                  </a:lnTo>
                  <a:cubicBezTo>
                    <a:pt x="8943975" y="1257300"/>
                    <a:pt x="7372350" y="1400175"/>
                    <a:pt x="5600700" y="1104900"/>
                  </a:cubicBezTo>
                  <a:cubicBezTo>
                    <a:pt x="3648075" y="781050"/>
                    <a:pt x="1609725" y="762000"/>
                    <a:pt x="0" y="1162050"/>
                  </a:cubicBezTo>
                  <a:close/>
                </a:path>
              </a:pathLst>
            </a:custGeom>
            <a:solidFill>
              <a:srgbClr val="F8FBF0"/>
            </a:solidFill>
            <a:ln>
              <a:noFill/>
            </a:ln>
          </p:spPr>
        </p:sp>
        <p:sp>
          <p:nvSpPr>
            <p:cNvPr id="9" name="Freeform 21">
              <a:extLst>
                <a:ext uri="{FF2B5EF4-FFF2-40B4-BE49-F238E27FC236}">
                  <a16:creationId xmlns:a16="http://schemas.microsoft.com/office/drawing/2014/main" id="{0E528003-1AB8-FCBF-3929-BE4AFF526303}"/>
                </a:ext>
              </a:extLst>
            </p:cNvPr>
            <p:cNvSpPr/>
            <p:nvPr/>
          </p:nvSpPr>
          <p:spPr>
            <a:xfrm>
              <a:off x="914400" y="2495550"/>
              <a:ext cx="9563100" cy="2133600"/>
            </a:xfrm>
            <a:custGeom>
              <a:avLst/>
              <a:gdLst/>
              <a:ahLst/>
              <a:cxnLst/>
              <a:rect l="l" t="t" r="r" b="b"/>
              <a:pathLst>
                <a:path w="9563100" h="2133600">
                  <a:moveTo>
                    <a:pt x="0" y="2133600"/>
                  </a:moveTo>
                  <a:lnTo>
                    <a:pt x="2419350" y="1409700"/>
                  </a:lnTo>
                  <a:lnTo>
                    <a:pt x="4991100" y="1752600"/>
                  </a:lnTo>
                  <a:lnTo>
                    <a:pt x="7486650" y="647700"/>
                  </a:lnTo>
                  <a:lnTo>
                    <a:pt x="9563100" y="0"/>
                  </a:lnTo>
                </a:path>
              </a:pathLst>
            </a:custGeom>
            <a:noFill/>
            <a:ln w="190500" cap="rnd">
              <a:solidFill>
                <a:srgbClr val="E7F0D8"/>
              </a:solidFill>
            </a:ln>
          </p:spPr>
        </p:sp>
        <p:sp>
          <p:nvSpPr>
            <p:cNvPr id="10" name="Freeform 22">
              <a:extLst>
                <a:ext uri="{FF2B5EF4-FFF2-40B4-BE49-F238E27FC236}">
                  <a16:creationId xmlns:a16="http://schemas.microsoft.com/office/drawing/2014/main" id="{C56CECCF-D1DA-4646-EE28-F68111B9496C}"/>
                </a:ext>
              </a:extLst>
            </p:cNvPr>
            <p:cNvSpPr/>
            <p:nvPr/>
          </p:nvSpPr>
          <p:spPr>
            <a:xfrm>
              <a:off x="914400" y="2495550"/>
              <a:ext cx="9563100" cy="2133600"/>
            </a:xfrm>
            <a:custGeom>
              <a:avLst/>
              <a:gdLst/>
              <a:ahLst/>
              <a:cxnLst/>
              <a:rect l="l" t="t" r="r" b="b"/>
              <a:pathLst>
                <a:path w="9563100" h="2133600">
                  <a:moveTo>
                    <a:pt x="0" y="2133600"/>
                  </a:moveTo>
                  <a:lnTo>
                    <a:pt x="2419350" y="1409700"/>
                  </a:lnTo>
                  <a:lnTo>
                    <a:pt x="4991100" y="1752600"/>
                  </a:lnTo>
                  <a:lnTo>
                    <a:pt x="7486650" y="647700"/>
                  </a:lnTo>
                  <a:lnTo>
                    <a:pt x="9563100" y="0"/>
                  </a:lnTo>
                </a:path>
              </a:pathLst>
            </a:custGeom>
            <a:noFill/>
            <a:ln w="76200" cap="rnd">
              <a:solidFill>
                <a:srgbClr val="B9D99E"/>
              </a:solidFill>
            </a:ln>
          </p:spPr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684049B5-C8F1-415B-9821-09CCDCDB0310}"/>
                </a:ext>
              </a:extLst>
            </p:cNvPr>
            <p:cNvSpPr/>
            <p:nvPr/>
          </p:nvSpPr>
          <p:spPr>
            <a:xfrm>
              <a:off x="10418038" y="2302329"/>
              <a:ext cx="442270" cy="420052"/>
            </a:xfrm>
            <a:custGeom>
              <a:avLst/>
              <a:gdLst/>
              <a:ahLst/>
              <a:cxnLst/>
              <a:rect l="l" t="t" r="r" b="b"/>
              <a:pathLst>
                <a:path w="342900" h="314325">
                  <a:moveTo>
                    <a:pt x="0" y="0"/>
                  </a:moveTo>
                  <a:lnTo>
                    <a:pt x="342900" y="0"/>
                  </a:lnTo>
                  <a:lnTo>
                    <a:pt x="133350" y="314325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</p:sp>
        <p:sp>
          <p:nvSpPr>
            <p:cNvPr id="12" name="Ellipse 25">
              <a:extLst>
                <a:ext uri="{FF2B5EF4-FFF2-40B4-BE49-F238E27FC236}">
                  <a16:creationId xmlns:a16="http://schemas.microsoft.com/office/drawing/2014/main" id="{49BC359F-E3ED-3D60-3207-36F2851C9044}"/>
                </a:ext>
              </a:extLst>
            </p:cNvPr>
            <p:cNvSpPr/>
            <p:nvPr/>
          </p:nvSpPr>
          <p:spPr>
            <a:xfrm>
              <a:off x="2971800" y="3543300"/>
              <a:ext cx="723900" cy="723900"/>
            </a:xfrm>
            <a:prstGeom prst="ellipse">
              <a:avLst/>
            </a:prstGeom>
            <a:solidFill>
              <a:srgbClr val="A8C66C"/>
            </a:solidFill>
            <a:ln>
              <a:noFill/>
            </a:ln>
          </p:spPr>
        </p:sp>
        <p:sp>
          <p:nvSpPr>
            <p:cNvPr id="13" name="Ellipse 26">
              <a:extLst>
                <a:ext uri="{FF2B5EF4-FFF2-40B4-BE49-F238E27FC236}">
                  <a16:creationId xmlns:a16="http://schemas.microsoft.com/office/drawing/2014/main" id="{96228B31-7606-95C1-0FF5-C863833ACC4A}"/>
                </a:ext>
              </a:extLst>
            </p:cNvPr>
            <p:cNvSpPr/>
            <p:nvPr/>
          </p:nvSpPr>
          <p:spPr>
            <a:xfrm>
              <a:off x="5562600" y="3905250"/>
              <a:ext cx="685800" cy="685800"/>
            </a:xfrm>
            <a:prstGeom prst="ellipse">
              <a:avLst/>
            </a:prstGeom>
            <a:solidFill>
              <a:srgbClr val="88C100"/>
            </a:solidFill>
            <a:ln>
              <a:noFill/>
            </a:ln>
          </p:spPr>
        </p:sp>
        <p:sp>
          <p:nvSpPr>
            <p:cNvPr id="14" name="Ellipse 28">
              <a:extLst>
                <a:ext uri="{FF2B5EF4-FFF2-40B4-BE49-F238E27FC236}">
                  <a16:creationId xmlns:a16="http://schemas.microsoft.com/office/drawing/2014/main" id="{041CCFC5-4950-7487-8764-46CF1D60EC19}"/>
                </a:ext>
              </a:extLst>
            </p:cNvPr>
            <p:cNvSpPr/>
            <p:nvPr/>
          </p:nvSpPr>
          <p:spPr>
            <a:xfrm>
              <a:off x="8201858" y="2609850"/>
              <a:ext cx="914400" cy="914400"/>
            </a:xfrm>
            <a:prstGeom prst="ellipse">
              <a:avLst/>
            </a:prstGeom>
            <a:solidFill>
              <a:srgbClr val="6CC04A">
                <a:alpha val="18000"/>
              </a:srgbClr>
            </a:solidFill>
            <a:ln>
              <a:noFill/>
            </a:ln>
          </p:spPr>
        </p:sp>
        <p:sp>
          <p:nvSpPr>
            <p:cNvPr id="15" name="Ellipse 29">
              <a:extLst>
                <a:ext uri="{FF2B5EF4-FFF2-40B4-BE49-F238E27FC236}">
                  <a16:creationId xmlns:a16="http://schemas.microsoft.com/office/drawing/2014/main" id="{D2077890-CD8D-F8AC-6AFA-865AD6E40E27}"/>
                </a:ext>
              </a:extLst>
            </p:cNvPr>
            <p:cNvSpPr/>
            <p:nvPr/>
          </p:nvSpPr>
          <p:spPr>
            <a:xfrm>
              <a:off x="8278058" y="2692718"/>
              <a:ext cx="762000" cy="762000"/>
            </a:xfrm>
            <a:prstGeom prst="ellipse">
              <a:avLst/>
            </a:prstGeom>
            <a:solidFill>
              <a:srgbClr val="6CC04A"/>
            </a:solidFill>
            <a:ln>
              <a:noFill/>
            </a:ln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2B4E510F-8805-9A4C-B575-234258D74D66}"/>
                </a:ext>
              </a:extLst>
            </p:cNvPr>
            <p:cNvSpPr txBox="1"/>
            <p:nvPr/>
          </p:nvSpPr>
          <p:spPr>
            <a:xfrm>
              <a:off x="3054829" y="3780472"/>
              <a:ext cx="557845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</a:t>
              </a:r>
              <a:r>
                <a:rPr lang="en-US" alt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</a:t>
              </a:r>
              <a:endPara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7" name="TextBox 31">
              <a:extLst>
                <a:ext uri="{FF2B5EF4-FFF2-40B4-BE49-F238E27FC236}">
                  <a16:creationId xmlns:a16="http://schemas.microsoft.com/office/drawing/2014/main" id="{DEE4BA9E-3AD0-1ADE-8599-64CC72F8B2EA}"/>
                </a:ext>
              </a:extLst>
            </p:cNvPr>
            <p:cNvSpPr txBox="1"/>
            <p:nvPr/>
          </p:nvSpPr>
          <p:spPr>
            <a:xfrm>
              <a:off x="5626579" y="4123372"/>
              <a:ext cx="557845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2025</a:t>
              </a:r>
              <a:endPara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8" name="TextBox 32">
              <a:extLst>
                <a:ext uri="{FF2B5EF4-FFF2-40B4-BE49-F238E27FC236}">
                  <a16:creationId xmlns:a16="http://schemas.microsoft.com/office/drawing/2014/main" id="{00F7D29C-8C16-DCA7-3E98-37FB9A709638}"/>
                </a:ext>
              </a:extLst>
            </p:cNvPr>
            <p:cNvSpPr txBox="1"/>
            <p:nvPr/>
          </p:nvSpPr>
          <p:spPr>
            <a:xfrm>
              <a:off x="5556488" y="2695110"/>
              <a:ext cx="278923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</a:t>
              </a:r>
            </a:p>
          </p:txBody>
        </p:sp>
        <p:sp>
          <p:nvSpPr>
            <p:cNvPr id="19" name="TextBox 33">
              <a:extLst>
                <a:ext uri="{FF2B5EF4-FFF2-40B4-BE49-F238E27FC236}">
                  <a16:creationId xmlns:a16="http://schemas.microsoft.com/office/drawing/2014/main" id="{9530287D-6289-9712-E6D6-BD1D89865444}"/>
                </a:ext>
              </a:extLst>
            </p:cNvPr>
            <p:cNvSpPr txBox="1"/>
            <p:nvPr/>
          </p:nvSpPr>
          <p:spPr>
            <a:xfrm>
              <a:off x="8442811" y="2932926"/>
              <a:ext cx="4616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至今</a:t>
              </a:r>
              <a:endPara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0" name="TextBox 34">
              <a:extLst>
                <a:ext uri="{FF2B5EF4-FFF2-40B4-BE49-F238E27FC236}">
                  <a16:creationId xmlns:a16="http://schemas.microsoft.com/office/drawing/2014/main" id="{0B1C72E6-4B7F-7001-460F-B4E1393BBC50}"/>
                </a:ext>
              </a:extLst>
            </p:cNvPr>
            <p:cNvSpPr txBox="1"/>
            <p:nvPr/>
          </p:nvSpPr>
          <p:spPr>
            <a:xfrm>
              <a:off x="2787289" y="2651602"/>
              <a:ext cx="1341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7FA53A"/>
                  </a:solidFill>
                  <a:latin typeface="Arial"/>
                  <a:ea typeface="Microsoft YaHei"/>
                  <a:cs typeface="Arial"/>
                </a:rPr>
                <a:t>教育背景</a:t>
              </a:r>
            </a:p>
          </p:txBody>
        </p: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7366483C-7F81-4A85-3750-DB9A89D1D992}"/>
                </a:ext>
              </a:extLst>
            </p:cNvPr>
            <p:cNvSpPr txBox="1"/>
            <p:nvPr/>
          </p:nvSpPr>
          <p:spPr>
            <a:xfrm>
              <a:off x="2054828" y="3072765"/>
              <a:ext cx="30509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2016-2020 华南农业大学 软件工程</a:t>
              </a:r>
            </a:p>
          </p:txBody>
        </p:sp>
        <p:sp>
          <p:nvSpPr>
            <p:cNvPr id="22" name="TextBox 36">
              <a:extLst>
                <a:ext uri="{FF2B5EF4-FFF2-40B4-BE49-F238E27FC236}">
                  <a16:creationId xmlns:a16="http://schemas.microsoft.com/office/drawing/2014/main" id="{C3B2173E-5EA3-7840-8FD7-A829284D1002}"/>
                </a:ext>
              </a:extLst>
            </p:cNvPr>
            <p:cNvSpPr txBox="1"/>
            <p:nvPr/>
          </p:nvSpPr>
          <p:spPr>
            <a:xfrm>
              <a:off x="2506124" y="3302160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完成研发基础能力建立</a:t>
              </a:r>
            </a:p>
          </p:txBody>
        </p:sp>
        <p:sp>
          <p:nvSpPr>
            <p:cNvPr id="23" name="TextBox 37">
              <a:extLst>
                <a:ext uri="{FF2B5EF4-FFF2-40B4-BE49-F238E27FC236}">
                  <a16:creationId xmlns:a16="http://schemas.microsoft.com/office/drawing/2014/main" id="{05BEAC23-A75C-A95B-1161-7458A47815A5}"/>
                </a:ext>
              </a:extLst>
            </p:cNvPr>
            <p:cNvSpPr txBox="1"/>
            <p:nvPr/>
          </p:nvSpPr>
          <p:spPr>
            <a:xfrm>
              <a:off x="5105781" y="4755969"/>
              <a:ext cx="1615827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1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过往职业</a:t>
              </a:r>
              <a:r>
                <a:rPr lang="zh-CN" sz="21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经历</a:t>
              </a:r>
            </a:p>
          </p:txBody>
        </p:sp>
        <p:sp>
          <p:nvSpPr>
            <p:cNvPr id="24" name="TextBox 38">
              <a:extLst>
                <a:ext uri="{FF2B5EF4-FFF2-40B4-BE49-F238E27FC236}">
                  <a16:creationId xmlns:a16="http://schemas.microsoft.com/office/drawing/2014/main" id="{445ADD53-689C-7F32-91F7-468B9D3FF3BF}"/>
                </a:ext>
              </a:extLst>
            </p:cNvPr>
            <p:cNvSpPr txBox="1"/>
            <p:nvPr/>
          </p:nvSpPr>
          <p:spPr>
            <a:xfrm>
              <a:off x="4264465" y="5191802"/>
              <a:ext cx="391453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</a:t>
              </a:r>
              <a:r>
                <a:rPr lang="en-US" alt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</a:t>
              </a:r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-2025 深圳乐信</a:t>
              </a:r>
              <a:r>
                <a:rPr lang="zh-CN" altLang="en-US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科技</a:t>
              </a:r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有限公司</a:t>
              </a:r>
              <a:r>
                <a:rPr lang="en-US" alt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 </a:t>
              </a:r>
              <a:r>
                <a:rPr lang="zh-CN" altLang="en-US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后台开发工程师</a:t>
              </a:r>
              <a:r>
                <a:rPr lang="en-US" alt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 </a:t>
              </a:r>
              <a:endParaRPr lang="zh-CN" sz="1350" dirty="0">
                <a:solidFill>
                  <a:srgbClr val="5D6D7E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5" name="TextBox 39">
              <a:extLst>
                <a:ext uri="{FF2B5EF4-FFF2-40B4-BE49-F238E27FC236}">
                  <a16:creationId xmlns:a16="http://schemas.microsoft.com/office/drawing/2014/main" id="{829C2982-E300-78F4-B202-E19792FC97FA}"/>
                </a:ext>
              </a:extLst>
            </p:cNvPr>
            <p:cNvSpPr txBox="1"/>
            <p:nvPr/>
          </p:nvSpPr>
          <p:spPr>
            <a:xfrm>
              <a:off x="4792758" y="5429250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积累复杂业务交付与系统建设经验</a:t>
              </a:r>
            </a:p>
          </p:txBody>
        </p:sp>
        <p:sp>
          <p:nvSpPr>
            <p:cNvPr id="26" name="TextBox 40">
              <a:extLst>
                <a:ext uri="{FF2B5EF4-FFF2-40B4-BE49-F238E27FC236}">
                  <a16:creationId xmlns:a16="http://schemas.microsoft.com/office/drawing/2014/main" id="{39D471BC-ADF9-04F6-B61F-593719317AED}"/>
                </a:ext>
              </a:extLst>
            </p:cNvPr>
            <p:cNvSpPr txBox="1"/>
            <p:nvPr/>
          </p:nvSpPr>
          <p:spPr>
            <a:xfrm>
              <a:off x="8039040" y="1798053"/>
              <a:ext cx="107721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5F9E32"/>
                  </a:solidFill>
                  <a:latin typeface="Arial"/>
                  <a:ea typeface="Microsoft YaHei"/>
                  <a:cs typeface="Arial"/>
                </a:rPr>
                <a:t>入职</a:t>
              </a:r>
              <a:r>
                <a:rPr lang="zh-CN" altLang="en-US" sz="2100" b="1" dirty="0">
                  <a:solidFill>
                    <a:srgbClr val="5F9E32"/>
                  </a:solidFill>
                  <a:latin typeface="Arial"/>
                  <a:ea typeface="Microsoft YaHei"/>
                  <a:cs typeface="Arial"/>
                </a:rPr>
                <a:t>路特</a:t>
              </a:r>
              <a:endParaRPr lang="zh-CN" sz="2100" b="1" dirty="0">
                <a:solidFill>
                  <a:srgbClr val="5F9E32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7" name="TextBox 41">
              <a:extLst>
                <a:ext uri="{FF2B5EF4-FFF2-40B4-BE49-F238E27FC236}">
                  <a16:creationId xmlns:a16="http://schemas.microsoft.com/office/drawing/2014/main" id="{82173D17-1BB2-F34E-5771-F3EF2D3578E7}"/>
                </a:ext>
              </a:extLst>
            </p:cNvPr>
            <p:cNvSpPr txBox="1"/>
            <p:nvPr/>
          </p:nvSpPr>
          <p:spPr>
            <a:xfrm>
              <a:off x="6499860" y="2173516"/>
              <a:ext cx="45494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2025.10 入职后快速切入会员、营销活动、运营平台</a:t>
              </a:r>
            </a:p>
          </p:txBody>
        </p:sp>
        <p:sp>
          <p:nvSpPr>
            <p:cNvPr id="28" name="TextBox 42">
              <a:extLst>
                <a:ext uri="{FF2B5EF4-FFF2-40B4-BE49-F238E27FC236}">
                  <a16:creationId xmlns:a16="http://schemas.microsoft.com/office/drawing/2014/main" id="{6F8E9B86-3E19-4987-3E6A-14BAAB1FB762}"/>
                </a:ext>
              </a:extLst>
            </p:cNvPr>
            <p:cNvSpPr txBox="1"/>
            <p:nvPr/>
          </p:nvSpPr>
          <p:spPr>
            <a:xfrm>
              <a:off x="7186970" y="2388096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完成从经验迁移到业务承担的过渡</a:t>
              </a:r>
            </a:p>
          </p:txBody>
        </p:sp>
        <p:sp>
          <p:nvSpPr>
            <p:cNvPr id="29" name="Freeform 43">
              <a:extLst>
                <a:ext uri="{FF2B5EF4-FFF2-40B4-BE49-F238E27FC236}">
                  <a16:creationId xmlns:a16="http://schemas.microsoft.com/office/drawing/2014/main" id="{A7DFD95F-A4D6-4FCB-4FDD-75BF15483818}"/>
                </a:ext>
              </a:extLst>
            </p:cNvPr>
            <p:cNvSpPr/>
            <p:nvPr/>
          </p:nvSpPr>
          <p:spPr>
            <a:xfrm>
              <a:off x="8420100" y="3714750"/>
              <a:ext cx="3009900" cy="1619250"/>
            </a:xfrm>
            <a:custGeom>
              <a:avLst/>
              <a:gdLst/>
              <a:ahLst/>
              <a:cxnLst/>
              <a:rect l="l" t="t" r="r" b="b"/>
              <a:pathLst>
                <a:path w="3009900" h="1619250">
                  <a:moveTo>
                    <a:pt x="114300" y="0"/>
                  </a:moveTo>
                  <a:lnTo>
                    <a:pt x="2895600" y="0"/>
                  </a:lnTo>
                  <a:cubicBezTo>
                    <a:pt x="2958726" y="0"/>
                    <a:pt x="3009900" y="51174"/>
                    <a:pt x="3009900" y="114300"/>
                  </a:cubicBezTo>
                  <a:lnTo>
                    <a:pt x="3009900" y="1504950"/>
                  </a:lnTo>
                  <a:cubicBezTo>
                    <a:pt x="3009900" y="1568076"/>
                    <a:pt x="2958726" y="1619250"/>
                    <a:pt x="2895600" y="1619250"/>
                  </a:cubicBezTo>
                  <a:lnTo>
                    <a:pt x="114300" y="1619250"/>
                  </a:lnTo>
                  <a:cubicBezTo>
                    <a:pt x="51174" y="1619250"/>
                    <a:pt x="0" y="1568076"/>
                    <a:pt x="0" y="1504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7FBF4"/>
            </a:solidFill>
            <a:ln w="13335">
              <a:solidFill>
                <a:srgbClr val="B9D99E"/>
              </a:solidFill>
            </a:ln>
          </p:spPr>
        </p:sp>
        <p:sp>
          <p:nvSpPr>
            <p:cNvPr id="30" name="Freeform 44">
              <a:extLst>
                <a:ext uri="{FF2B5EF4-FFF2-40B4-BE49-F238E27FC236}">
                  <a16:creationId xmlns:a16="http://schemas.microsoft.com/office/drawing/2014/main" id="{5EE2FCD9-71C6-6B1E-1480-4AEFB233EB96}"/>
                </a:ext>
              </a:extLst>
            </p:cNvPr>
            <p:cNvSpPr/>
            <p:nvPr/>
          </p:nvSpPr>
          <p:spPr>
            <a:xfrm>
              <a:off x="8420100" y="3714750"/>
              <a:ext cx="3009900" cy="95250"/>
            </a:xfrm>
            <a:custGeom>
              <a:avLst/>
              <a:gdLst/>
              <a:ahLst/>
              <a:cxnLst/>
              <a:rect l="l" t="t" r="r" b="b"/>
              <a:pathLst>
                <a:path w="3009900" h="95250">
                  <a:moveTo>
                    <a:pt x="47625" y="0"/>
                  </a:moveTo>
                  <a:lnTo>
                    <a:pt x="2962275" y="0"/>
                  </a:lnTo>
                  <a:cubicBezTo>
                    <a:pt x="2988578" y="0"/>
                    <a:pt x="3009900" y="21322"/>
                    <a:pt x="3009900" y="47625"/>
                  </a:cubicBezTo>
                  <a:lnTo>
                    <a:pt x="3009900" y="47625"/>
                  </a:lnTo>
                  <a:cubicBezTo>
                    <a:pt x="3009900" y="73928"/>
                    <a:pt x="2988578" y="95250"/>
                    <a:pt x="29622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6CC04A"/>
            </a:solidFill>
            <a:ln>
              <a:noFill/>
            </a:ln>
          </p:spPr>
        </p:sp>
        <p:sp>
          <p:nvSpPr>
            <p:cNvPr id="31" name="TextBox 45">
              <a:extLst>
                <a:ext uri="{FF2B5EF4-FFF2-40B4-BE49-F238E27FC236}">
                  <a16:creationId xmlns:a16="http://schemas.microsoft.com/office/drawing/2014/main" id="{7F7AFCEE-B701-29CF-0C7F-A34EC129BFA9}"/>
                </a:ext>
              </a:extLst>
            </p:cNvPr>
            <p:cNvSpPr txBox="1"/>
            <p:nvPr/>
          </p:nvSpPr>
          <p:spPr>
            <a:xfrm>
              <a:off x="8606790" y="3920490"/>
              <a:ext cx="9233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当前岗位</a:t>
              </a:r>
            </a:p>
          </p:txBody>
        </p:sp>
        <p:sp>
          <p:nvSpPr>
            <p:cNvPr id="32" name="TextBox 46">
              <a:extLst>
                <a:ext uri="{FF2B5EF4-FFF2-40B4-BE49-F238E27FC236}">
                  <a16:creationId xmlns:a16="http://schemas.microsoft.com/office/drawing/2014/main" id="{14E34D7C-EDD6-54DD-DB07-C50C892C1F43}"/>
                </a:ext>
              </a:extLst>
            </p:cNvPr>
            <p:cNvSpPr txBox="1"/>
            <p:nvPr/>
          </p:nvSpPr>
          <p:spPr>
            <a:xfrm>
              <a:off x="9682083" y="3923289"/>
              <a:ext cx="1436291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后端开发工程师</a:t>
              </a:r>
            </a:p>
          </p:txBody>
        </p:sp>
        <p:sp>
          <p:nvSpPr>
            <p:cNvPr id="33" name="TextBox 47">
              <a:extLst>
                <a:ext uri="{FF2B5EF4-FFF2-40B4-BE49-F238E27FC236}">
                  <a16:creationId xmlns:a16="http://schemas.microsoft.com/office/drawing/2014/main" id="{39FC4909-374F-095C-888A-863E05D327E6}"/>
                </a:ext>
              </a:extLst>
            </p:cNvPr>
            <p:cNvSpPr txBox="1"/>
            <p:nvPr/>
          </p:nvSpPr>
          <p:spPr>
            <a:xfrm>
              <a:off x="8614791" y="4394501"/>
              <a:ext cx="2077492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负责活动</a:t>
              </a:r>
              <a:r>
                <a:rPr lang="zh-CN" altLang="en-US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运营</a:t>
              </a:r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、会员权益</a:t>
              </a:r>
              <a:r>
                <a:rPr lang="zh-CN" altLang="en-US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等</a:t>
              </a:r>
              <a:endParaRPr lang="zh-CN" sz="1350" dirty="0">
                <a:solidFill>
                  <a:srgbClr val="333F50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4" name="TextBox 48">
              <a:extLst>
                <a:ext uri="{FF2B5EF4-FFF2-40B4-BE49-F238E27FC236}">
                  <a16:creationId xmlns:a16="http://schemas.microsoft.com/office/drawing/2014/main" id="{2CDE0F12-5CB5-D32A-5722-4FB86BA25096}"/>
                </a:ext>
              </a:extLst>
            </p:cNvPr>
            <p:cNvSpPr txBox="1"/>
            <p:nvPr/>
          </p:nvSpPr>
          <p:spPr>
            <a:xfrm>
              <a:off x="8584287" y="4776788"/>
              <a:ext cx="3188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兼顾交付效率、系统质量与复用沉淀</a:t>
              </a:r>
            </a:p>
          </p:txBody>
        </p:sp>
        <p:sp>
          <p:nvSpPr>
            <p:cNvPr id="35" name="Freeform 49">
              <a:extLst>
                <a:ext uri="{FF2B5EF4-FFF2-40B4-BE49-F238E27FC236}">
                  <a16:creationId xmlns:a16="http://schemas.microsoft.com/office/drawing/2014/main" id="{F61BF7B8-A7D2-866D-D47D-7CBE9DB99D14}"/>
                </a:ext>
              </a:extLst>
            </p:cNvPr>
            <p:cNvSpPr/>
            <p:nvPr/>
          </p:nvSpPr>
          <p:spPr>
            <a:xfrm>
              <a:off x="8458200" y="5467350"/>
              <a:ext cx="1619250" cy="342900"/>
            </a:xfrm>
            <a:custGeom>
              <a:avLst/>
              <a:gdLst/>
              <a:ahLst/>
              <a:cxnLst/>
              <a:rect l="l" t="t" r="r" b="b"/>
              <a:pathLst>
                <a:path w="1619250" h="342900">
                  <a:moveTo>
                    <a:pt x="171450" y="0"/>
                  </a:moveTo>
                  <a:lnTo>
                    <a:pt x="1447800" y="0"/>
                  </a:lnTo>
                  <a:cubicBezTo>
                    <a:pt x="1542489" y="0"/>
                    <a:pt x="1619250" y="76761"/>
                    <a:pt x="1619250" y="171450"/>
                  </a:cubicBezTo>
                  <a:lnTo>
                    <a:pt x="1619250" y="171450"/>
                  </a:lnTo>
                  <a:cubicBezTo>
                    <a:pt x="1619250" y="266139"/>
                    <a:pt x="1542489" y="342900"/>
                    <a:pt x="14478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36" name="Freeform 50">
              <a:extLst>
                <a:ext uri="{FF2B5EF4-FFF2-40B4-BE49-F238E27FC236}">
                  <a16:creationId xmlns:a16="http://schemas.microsoft.com/office/drawing/2014/main" id="{0F1A9797-755A-97F0-C46F-8718A587E48A}"/>
                </a:ext>
              </a:extLst>
            </p:cNvPr>
            <p:cNvSpPr/>
            <p:nvPr/>
          </p:nvSpPr>
          <p:spPr>
            <a:xfrm>
              <a:off x="10138218" y="5467350"/>
              <a:ext cx="1425131" cy="342900"/>
            </a:xfrm>
            <a:custGeom>
              <a:avLst/>
              <a:gdLst/>
              <a:ahLst/>
              <a:cxnLst/>
              <a:rect l="l" t="t" r="r" b="b"/>
              <a:pathLst>
                <a:path w="1276350" h="342900">
                  <a:moveTo>
                    <a:pt x="171450" y="0"/>
                  </a:moveTo>
                  <a:lnTo>
                    <a:pt x="1104900" y="0"/>
                  </a:lnTo>
                  <a:cubicBezTo>
                    <a:pt x="1199589" y="0"/>
                    <a:pt x="1276350" y="76761"/>
                    <a:pt x="1276350" y="171450"/>
                  </a:cubicBezTo>
                  <a:lnTo>
                    <a:pt x="1276350" y="171450"/>
                  </a:lnTo>
                  <a:cubicBezTo>
                    <a:pt x="1276350" y="266139"/>
                    <a:pt x="1199589" y="342900"/>
                    <a:pt x="11049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37" name="Freeform 51">
              <a:extLst>
                <a:ext uri="{FF2B5EF4-FFF2-40B4-BE49-F238E27FC236}">
                  <a16:creationId xmlns:a16="http://schemas.microsoft.com/office/drawing/2014/main" id="{633525C2-6B28-4133-A15E-E3C25DC01F92}"/>
                </a:ext>
              </a:extLst>
            </p:cNvPr>
            <p:cNvSpPr/>
            <p:nvPr/>
          </p:nvSpPr>
          <p:spPr>
            <a:xfrm>
              <a:off x="8458200" y="5905500"/>
              <a:ext cx="1595104" cy="342900"/>
            </a:xfrm>
            <a:custGeom>
              <a:avLst/>
              <a:gdLst/>
              <a:ahLst/>
              <a:cxnLst/>
              <a:rect l="l" t="t" r="r" b="b"/>
              <a:pathLst>
                <a:path w="1447800" h="342900">
                  <a:moveTo>
                    <a:pt x="171450" y="0"/>
                  </a:moveTo>
                  <a:lnTo>
                    <a:pt x="1276350" y="0"/>
                  </a:lnTo>
                  <a:cubicBezTo>
                    <a:pt x="1371039" y="0"/>
                    <a:pt x="1447800" y="76761"/>
                    <a:pt x="1447800" y="171450"/>
                  </a:cubicBezTo>
                  <a:lnTo>
                    <a:pt x="1447800" y="171450"/>
                  </a:lnTo>
                  <a:cubicBezTo>
                    <a:pt x="1447800" y="266139"/>
                    <a:pt x="1371039" y="342900"/>
                    <a:pt x="12763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38" name="Freeform 52">
              <a:extLst>
                <a:ext uri="{FF2B5EF4-FFF2-40B4-BE49-F238E27FC236}">
                  <a16:creationId xmlns:a16="http://schemas.microsoft.com/office/drawing/2014/main" id="{26F913A8-1451-9EC1-9AB3-D58BEFC261F9}"/>
                </a:ext>
              </a:extLst>
            </p:cNvPr>
            <p:cNvSpPr/>
            <p:nvPr/>
          </p:nvSpPr>
          <p:spPr>
            <a:xfrm>
              <a:off x="10115550" y="5905500"/>
              <a:ext cx="1447800" cy="342900"/>
            </a:xfrm>
            <a:custGeom>
              <a:avLst/>
              <a:gdLst/>
              <a:ahLst/>
              <a:cxnLst/>
              <a:rect l="l" t="t" r="r" b="b"/>
              <a:pathLst>
                <a:path w="1447800" h="342900">
                  <a:moveTo>
                    <a:pt x="171450" y="0"/>
                  </a:moveTo>
                  <a:lnTo>
                    <a:pt x="1276350" y="0"/>
                  </a:lnTo>
                  <a:cubicBezTo>
                    <a:pt x="1371039" y="0"/>
                    <a:pt x="1447800" y="76761"/>
                    <a:pt x="1447800" y="171450"/>
                  </a:cubicBezTo>
                  <a:lnTo>
                    <a:pt x="1447800" y="171450"/>
                  </a:lnTo>
                  <a:cubicBezTo>
                    <a:pt x="1447800" y="266139"/>
                    <a:pt x="1371039" y="342900"/>
                    <a:pt x="12763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39" name="TextBox 53">
              <a:extLst>
                <a:ext uri="{FF2B5EF4-FFF2-40B4-BE49-F238E27FC236}">
                  <a16:creationId xmlns:a16="http://schemas.microsoft.com/office/drawing/2014/main" id="{FE9BC09F-9045-6BE5-D3A5-047A1BB3433A}"/>
                </a:ext>
              </a:extLst>
            </p:cNvPr>
            <p:cNvSpPr txBox="1"/>
            <p:nvPr/>
          </p:nvSpPr>
          <p:spPr>
            <a:xfrm>
              <a:off x="8806160" y="5566410"/>
              <a:ext cx="92333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复杂</a:t>
              </a:r>
              <a:r>
                <a:rPr lang="zh-CN" altLang="en-US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事项承接</a:t>
              </a:r>
              <a:endParaRPr lang="zh-CN" sz="1200" b="1" dirty="0">
                <a:solidFill>
                  <a:srgbClr val="4F5B66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40" name="TextBox 54">
              <a:extLst>
                <a:ext uri="{FF2B5EF4-FFF2-40B4-BE49-F238E27FC236}">
                  <a16:creationId xmlns:a16="http://schemas.microsoft.com/office/drawing/2014/main" id="{C292763D-25ED-187C-FA13-9173D6CDB5C4}"/>
                </a:ext>
              </a:extLst>
            </p:cNvPr>
            <p:cNvSpPr txBox="1"/>
            <p:nvPr/>
          </p:nvSpPr>
          <p:spPr>
            <a:xfrm>
              <a:off x="10375485" y="553593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平台化设计</a:t>
              </a:r>
            </a:p>
          </p:txBody>
        </p:sp>
        <p:sp>
          <p:nvSpPr>
            <p:cNvPr id="41" name="TextBox 55">
              <a:extLst>
                <a:ext uri="{FF2B5EF4-FFF2-40B4-BE49-F238E27FC236}">
                  <a16:creationId xmlns:a16="http://schemas.microsoft.com/office/drawing/2014/main" id="{0A83A133-921C-C302-AB31-9DDA2AB05D9F}"/>
                </a:ext>
              </a:extLst>
            </p:cNvPr>
            <p:cNvSpPr txBox="1"/>
            <p:nvPr/>
          </p:nvSpPr>
          <p:spPr>
            <a:xfrm>
              <a:off x="8729472" y="5969318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项目统筹推进</a:t>
              </a:r>
            </a:p>
          </p:txBody>
        </p:sp>
        <p:sp>
          <p:nvSpPr>
            <p:cNvPr id="42" name="TextBox 56">
              <a:extLst>
                <a:ext uri="{FF2B5EF4-FFF2-40B4-BE49-F238E27FC236}">
                  <a16:creationId xmlns:a16="http://schemas.microsoft.com/office/drawing/2014/main" id="{0C4E79E2-549A-DA60-59D4-C02A45C2C33F}"/>
                </a:ext>
              </a:extLst>
            </p:cNvPr>
            <p:cNvSpPr txBox="1"/>
            <p:nvPr/>
          </p:nvSpPr>
          <p:spPr>
            <a:xfrm>
              <a:off x="10319228" y="5988049"/>
              <a:ext cx="9781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AI 协同研发</a:t>
              </a:r>
            </a:p>
          </p:txBody>
        </p:sp>
        <p:sp>
          <p:nvSpPr>
            <p:cNvPr id="43" name="Freeform 57">
              <a:extLst>
                <a:ext uri="{FF2B5EF4-FFF2-40B4-BE49-F238E27FC236}">
                  <a16:creationId xmlns:a16="http://schemas.microsoft.com/office/drawing/2014/main" id="{B3EE95AC-0AEA-7715-7066-714D1E913E5A}"/>
                </a:ext>
              </a:extLst>
            </p:cNvPr>
            <p:cNvSpPr/>
            <p:nvPr/>
          </p:nvSpPr>
          <p:spPr>
            <a:xfrm>
              <a:off x="561975" y="6059804"/>
              <a:ext cx="7315200" cy="323850"/>
            </a:xfrm>
            <a:custGeom>
              <a:avLst/>
              <a:gdLst/>
              <a:ahLst/>
              <a:cxnLst/>
              <a:rect l="l" t="t" r="r" b="b"/>
              <a:pathLst>
                <a:path w="7315200" h="323850">
                  <a:moveTo>
                    <a:pt x="76200" y="0"/>
                  </a:moveTo>
                  <a:lnTo>
                    <a:pt x="7239000" y="0"/>
                  </a:lnTo>
                  <a:cubicBezTo>
                    <a:pt x="7281084" y="0"/>
                    <a:pt x="7315200" y="34116"/>
                    <a:pt x="7315200" y="76200"/>
                  </a:cubicBezTo>
                  <a:lnTo>
                    <a:pt x="7315200" y="247650"/>
                  </a:lnTo>
                  <a:cubicBezTo>
                    <a:pt x="7315200" y="289734"/>
                    <a:pt x="7281084" y="323850"/>
                    <a:pt x="723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44" name="Freeform 58">
              <a:extLst>
                <a:ext uri="{FF2B5EF4-FFF2-40B4-BE49-F238E27FC236}">
                  <a16:creationId xmlns:a16="http://schemas.microsoft.com/office/drawing/2014/main" id="{356BB3F7-039C-B294-565C-A49026290797}"/>
                </a:ext>
              </a:extLst>
            </p:cNvPr>
            <p:cNvSpPr/>
            <p:nvPr/>
          </p:nvSpPr>
          <p:spPr>
            <a:xfrm>
              <a:off x="628650" y="6059804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5" name="TextBox 59">
              <a:extLst>
                <a:ext uri="{FF2B5EF4-FFF2-40B4-BE49-F238E27FC236}">
                  <a16:creationId xmlns:a16="http://schemas.microsoft.com/office/drawing/2014/main" id="{6ABD8F23-3A88-FDFB-300A-CB6FBDC4E486}"/>
                </a:ext>
              </a:extLst>
            </p:cNvPr>
            <p:cNvSpPr txBox="1"/>
            <p:nvPr/>
          </p:nvSpPr>
          <p:spPr>
            <a:xfrm>
              <a:off x="764776" y="6111240"/>
              <a:ext cx="72801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已完成从既有研发经验到当前岗位担当的衔接，具备独立承接复杂事项的基础。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806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6B669-6E97-08EA-02BC-6373334E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02B06B-BBFB-7B15-3681-BB108381420E}"/>
              </a:ext>
            </a:extLst>
          </p:cNvPr>
          <p:cNvSpPr txBox="1"/>
          <p:nvPr/>
        </p:nvSpPr>
        <p:spPr>
          <a:xfrm>
            <a:off x="912495" y="262890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/>
              <a:t>二、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D1B9E3-02EB-5648-9D19-0DBEEC3285CB}"/>
              </a:ext>
            </a:extLst>
          </p:cNvPr>
          <p:cNvSpPr txBox="1"/>
          <p:nvPr/>
        </p:nvSpPr>
        <p:spPr>
          <a:xfrm>
            <a:off x="1453515" y="26289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岗位认知</a:t>
            </a:r>
          </a:p>
        </p:txBody>
      </p:sp>
      <p:grpSp>
        <p:nvGrpSpPr>
          <p:cNvPr id="5" name="Group 43">
            <a:extLst>
              <a:ext uri="{FF2B5EF4-FFF2-40B4-BE49-F238E27FC236}">
                <a16:creationId xmlns:a16="http://schemas.microsoft.com/office/drawing/2014/main" id="{A94BAA3F-8B90-910C-35C6-39DC76C8AE7E}"/>
              </a:ext>
            </a:extLst>
          </p:cNvPr>
          <p:cNvGrpSpPr/>
          <p:nvPr/>
        </p:nvGrpSpPr>
        <p:grpSpPr>
          <a:xfrm>
            <a:off x="393700" y="1289050"/>
            <a:ext cx="11583988" cy="4095750"/>
            <a:chOff x="381000" y="1676400"/>
            <a:chExt cx="11583988" cy="4095750"/>
          </a:xfrm>
        </p:grpSpPr>
        <p:sp>
          <p:nvSpPr>
            <p:cNvPr id="6" name="Freeform 19">
              <a:extLst>
                <a:ext uri="{FF2B5EF4-FFF2-40B4-BE49-F238E27FC236}">
                  <a16:creationId xmlns:a16="http://schemas.microsoft.com/office/drawing/2014/main" id="{5076DFD7-D467-925F-4BDB-3DD03C0904F1}"/>
                </a:ext>
              </a:extLst>
            </p:cNvPr>
            <p:cNvSpPr/>
            <p:nvPr/>
          </p:nvSpPr>
          <p:spPr>
            <a:xfrm>
              <a:off x="381000" y="1676400"/>
              <a:ext cx="11583988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177EFF7F-4DD3-0394-B1C8-EE2DBB864A90}"/>
                </a:ext>
              </a:extLst>
            </p:cNvPr>
            <p:cNvSpPr/>
            <p:nvPr/>
          </p:nvSpPr>
          <p:spPr>
            <a:xfrm>
              <a:off x="5524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45177AF9-A4F2-4093-CCA6-3C544765377D}"/>
                </a:ext>
              </a:extLst>
            </p:cNvPr>
            <p:cNvSpPr/>
            <p:nvPr/>
          </p:nvSpPr>
          <p:spPr>
            <a:xfrm>
              <a:off x="5524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9" name="TextBox 22">
              <a:extLst>
                <a:ext uri="{FF2B5EF4-FFF2-40B4-BE49-F238E27FC236}">
                  <a16:creationId xmlns:a16="http://schemas.microsoft.com/office/drawing/2014/main" id="{CB86D645-947C-FD38-6C92-CF0DC246C9B3}"/>
                </a:ext>
              </a:extLst>
            </p:cNvPr>
            <p:cNvSpPr txBox="1"/>
            <p:nvPr/>
          </p:nvSpPr>
          <p:spPr>
            <a:xfrm>
              <a:off x="729615" y="2248852"/>
              <a:ext cx="413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ROLE</a:t>
              </a:r>
            </a:p>
          </p:txBody>
        </p:sp>
        <p:sp>
          <p:nvSpPr>
            <p:cNvPr id="10" name="TextBox 23">
              <a:extLst>
                <a:ext uri="{FF2B5EF4-FFF2-40B4-BE49-F238E27FC236}">
                  <a16:creationId xmlns:a16="http://schemas.microsoft.com/office/drawing/2014/main" id="{D012EB2E-4CA5-62B1-D357-B6D5DB05008D}"/>
                </a:ext>
              </a:extLst>
            </p:cNvPr>
            <p:cNvSpPr txBox="1"/>
            <p:nvPr/>
          </p:nvSpPr>
          <p:spPr>
            <a:xfrm>
              <a:off x="722948" y="2516029"/>
              <a:ext cx="807913" cy="2423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表现举证</a:t>
              </a:r>
              <a:endParaRPr lang="zh-CN" sz="1575" b="1" dirty="0">
                <a:solidFill>
                  <a:srgbClr val="2C3E50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1" name="TextBox 24">
              <a:extLst>
                <a:ext uri="{FF2B5EF4-FFF2-40B4-BE49-F238E27FC236}">
                  <a16:creationId xmlns:a16="http://schemas.microsoft.com/office/drawing/2014/main" id="{C00F657F-BB24-FF4F-40CF-B692C983BBF1}"/>
                </a:ext>
              </a:extLst>
            </p:cNvPr>
            <p:cNvSpPr txBox="1"/>
            <p:nvPr/>
          </p:nvSpPr>
          <p:spPr>
            <a:xfrm>
              <a:off x="726758" y="2929414"/>
              <a:ext cx="2398092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圣诞</a:t>
              </a:r>
              <a:r>
                <a:rPr lang="en-US" alt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&amp;</a:t>
              </a:r>
              <a:r>
                <a:rPr lang="zh-CN" altLang="en-US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新年</a:t>
              </a:r>
              <a:r>
                <a:rPr lang="zh-CN" alt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活动项目四期按期交付</a:t>
              </a:r>
            </a:p>
          </p:txBody>
        </p:sp>
        <p:sp>
          <p:nvSpPr>
            <p:cNvPr id="12" name="TextBox 25">
              <a:extLst>
                <a:ext uri="{FF2B5EF4-FFF2-40B4-BE49-F238E27FC236}">
                  <a16:creationId xmlns:a16="http://schemas.microsoft.com/office/drawing/2014/main" id="{4FCD764B-39C0-39CE-0F46-E1940ED3E055}"/>
                </a:ext>
              </a:extLst>
            </p:cNvPr>
            <p:cNvSpPr txBox="1"/>
            <p:nvPr/>
          </p:nvSpPr>
          <p:spPr>
            <a:xfrm>
              <a:off x="726758" y="3177064"/>
              <a:ext cx="1817805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规则引擎从0到1独立落地</a:t>
              </a:r>
            </a:p>
          </p:txBody>
        </p:sp>
        <p:sp>
          <p:nvSpPr>
            <p:cNvPr id="13" name="TextBox 26">
              <a:extLst>
                <a:ext uri="{FF2B5EF4-FFF2-40B4-BE49-F238E27FC236}">
                  <a16:creationId xmlns:a16="http://schemas.microsoft.com/office/drawing/2014/main" id="{89D0246B-04B1-5F89-4997-ADEC283E87E7}"/>
                </a:ext>
              </a:extLst>
            </p:cNvPr>
            <p:cNvSpPr txBox="1"/>
            <p:nvPr/>
          </p:nvSpPr>
          <p:spPr>
            <a:xfrm>
              <a:off x="726758" y="3424714"/>
              <a:ext cx="1518044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CRM与转盘优化提效</a:t>
              </a:r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525851BA-EE05-3EA8-AA04-1FD98EA44159}"/>
                </a:ext>
              </a:extLst>
            </p:cNvPr>
            <p:cNvSpPr/>
            <p:nvPr/>
          </p:nvSpPr>
          <p:spPr>
            <a:xfrm>
              <a:off x="44386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15" name="Freeform 28">
              <a:extLst>
                <a:ext uri="{FF2B5EF4-FFF2-40B4-BE49-F238E27FC236}">
                  <a16:creationId xmlns:a16="http://schemas.microsoft.com/office/drawing/2014/main" id="{7F6EA193-6E5E-CF87-C93B-DD4E9F00403C}"/>
                </a:ext>
              </a:extLst>
            </p:cNvPr>
            <p:cNvSpPr/>
            <p:nvPr/>
          </p:nvSpPr>
          <p:spPr>
            <a:xfrm>
              <a:off x="44386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29">
              <a:extLst>
                <a:ext uri="{FF2B5EF4-FFF2-40B4-BE49-F238E27FC236}">
                  <a16:creationId xmlns:a16="http://schemas.microsoft.com/office/drawing/2014/main" id="{8255E5D2-F743-7058-3E3E-792044952215}"/>
                </a:ext>
              </a:extLst>
            </p:cNvPr>
            <p:cNvSpPr txBox="1"/>
            <p:nvPr/>
          </p:nvSpPr>
          <p:spPr>
            <a:xfrm>
              <a:off x="4615815" y="224885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TARGET</a:t>
              </a:r>
            </a:p>
          </p:txBody>
        </p:sp>
        <p:sp>
          <p:nvSpPr>
            <p:cNvPr id="17" name="TextBox 30">
              <a:extLst>
                <a:ext uri="{FF2B5EF4-FFF2-40B4-BE49-F238E27FC236}">
                  <a16:creationId xmlns:a16="http://schemas.microsoft.com/office/drawing/2014/main" id="{EAD372D3-89B4-A0E2-6AE8-A2F230F62AEB}"/>
                </a:ext>
              </a:extLst>
            </p:cNvPr>
            <p:cNvSpPr txBox="1"/>
            <p:nvPr/>
          </p:nvSpPr>
          <p:spPr>
            <a:xfrm>
              <a:off x="4609148" y="2516029"/>
              <a:ext cx="807913" cy="2423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岗位理解</a:t>
              </a:r>
              <a:endParaRPr lang="zh-CN" sz="1575" b="1" dirty="0">
                <a:solidFill>
                  <a:srgbClr val="2C3E50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18" name="TextBox 31">
              <a:extLst>
                <a:ext uri="{FF2B5EF4-FFF2-40B4-BE49-F238E27FC236}">
                  <a16:creationId xmlns:a16="http://schemas.microsoft.com/office/drawing/2014/main" id="{25174C0B-6483-D51C-525F-51BD1687E2D6}"/>
                </a:ext>
              </a:extLst>
            </p:cNvPr>
            <p:cNvSpPr txBox="1"/>
            <p:nvPr/>
          </p:nvSpPr>
          <p:spPr>
            <a:xfrm>
              <a:off x="4612958" y="2929414"/>
              <a:ext cx="1635063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关键项目里要扛住结果</a:t>
              </a:r>
            </a:p>
          </p:txBody>
        </p:sp>
        <p:sp>
          <p:nvSpPr>
            <p:cNvPr id="19" name="TextBox 32">
              <a:extLst>
                <a:ext uri="{FF2B5EF4-FFF2-40B4-BE49-F238E27FC236}">
                  <a16:creationId xmlns:a16="http://schemas.microsoft.com/office/drawing/2014/main" id="{98B42FAE-4E00-CCB7-DF2E-0A95D16828A9}"/>
                </a:ext>
              </a:extLst>
            </p:cNvPr>
            <p:cNvSpPr txBox="1"/>
            <p:nvPr/>
          </p:nvSpPr>
          <p:spPr>
            <a:xfrm>
              <a:off x="4612958" y="3177064"/>
              <a:ext cx="1635063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复杂问题上要给出方案</a:t>
              </a:r>
            </a:p>
          </p:txBody>
        </p:sp>
        <p:sp>
          <p:nvSpPr>
            <p:cNvPr id="20" name="TextBox 33">
              <a:extLst>
                <a:ext uri="{FF2B5EF4-FFF2-40B4-BE49-F238E27FC236}">
                  <a16:creationId xmlns:a16="http://schemas.microsoft.com/office/drawing/2014/main" id="{8DBBB0B5-97D1-0347-5DF9-4D74907678EF}"/>
                </a:ext>
              </a:extLst>
            </p:cNvPr>
            <p:cNvSpPr txBox="1"/>
            <p:nvPr/>
          </p:nvSpPr>
          <p:spPr>
            <a:xfrm>
              <a:off x="4612958" y="3424714"/>
              <a:ext cx="2125582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一次性交付要沉淀为复用能力</a:t>
              </a:r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311086D8-8660-98C7-A069-53C7B62778F4}"/>
                </a:ext>
              </a:extLst>
            </p:cNvPr>
            <p:cNvSpPr/>
            <p:nvPr/>
          </p:nvSpPr>
          <p:spPr>
            <a:xfrm>
              <a:off x="8324850" y="2011204"/>
              <a:ext cx="346075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2" name="Freeform 35">
              <a:extLst>
                <a:ext uri="{FF2B5EF4-FFF2-40B4-BE49-F238E27FC236}">
                  <a16:creationId xmlns:a16="http://schemas.microsoft.com/office/drawing/2014/main" id="{D21AD5F5-4DF5-869B-5A57-9A0F2344684B}"/>
                </a:ext>
              </a:extLst>
            </p:cNvPr>
            <p:cNvSpPr/>
            <p:nvPr/>
          </p:nvSpPr>
          <p:spPr>
            <a:xfrm>
              <a:off x="8324849" y="2000250"/>
              <a:ext cx="3441303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23" name="TextBox 36">
              <a:extLst>
                <a:ext uri="{FF2B5EF4-FFF2-40B4-BE49-F238E27FC236}">
                  <a16:creationId xmlns:a16="http://schemas.microsoft.com/office/drawing/2014/main" id="{5F1BD067-4895-500C-D114-E410CC542E6E}"/>
                </a:ext>
              </a:extLst>
            </p:cNvPr>
            <p:cNvSpPr txBox="1"/>
            <p:nvPr/>
          </p:nvSpPr>
          <p:spPr>
            <a:xfrm>
              <a:off x="8502015" y="2248852"/>
              <a:ext cx="735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STANDARD</a:t>
              </a:r>
            </a:p>
          </p:txBody>
        </p:sp>
        <p:sp>
          <p:nvSpPr>
            <p:cNvPr id="24" name="TextBox 37">
              <a:extLst>
                <a:ext uri="{FF2B5EF4-FFF2-40B4-BE49-F238E27FC236}">
                  <a16:creationId xmlns:a16="http://schemas.microsoft.com/office/drawing/2014/main" id="{7A1A377B-968A-2218-24D7-EFB1D27B4DED}"/>
                </a:ext>
              </a:extLst>
            </p:cNvPr>
            <p:cNvSpPr txBox="1"/>
            <p:nvPr/>
          </p:nvSpPr>
          <p:spPr>
            <a:xfrm>
              <a:off x="8495348" y="25160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对自己的要求</a:t>
              </a:r>
            </a:p>
          </p:txBody>
        </p:sp>
        <p:sp>
          <p:nvSpPr>
            <p:cNvPr id="25" name="TextBox 38">
              <a:extLst>
                <a:ext uri="{FF2B5EF4-FFF2-40B4-BE49-F238E27FC236}">
                  <a16:creationId xmlns:a16="http://schemas.microsoft.com/office/drawing/2014/main" id="{5962720F-B637-8D3E-92A2-9A2C6D182492}"/>
                </a:ext>
              </a:extLst>
            </p:cNvPr>
            <p:cNvSpPr txBox="1"/>
            <p:nvPr/>
          </p:nvSpPr>
          <p:spPr>
            <a:xfrm>
              <a:off x="8499158" y="2929414"/>
              <a:ext cx="2616101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覆盖项目负责、独立建设、效率优化</a:t>
              </a:r>
            </a:p>
          </p:txBody>
        </p:sp>
        <p:sp>
          <p:nvSpPr>
            <p:cNvPr id="26" name="TextBox 39">
              <a:extLst>
                <a:ext uri="{FF2B5EF4-FFF2-40B4-BE49-F238E27FC236}">
                  <a16:creationId xmlns:a16="http://schemas.microsoft.com/office/drawing/2014/main" id="{0DEC2D96-397C-3CDC-C63C-1C3CAFB50790}"/>
                </a:ext>
              </a:extLst>
            </p:cNvPr>
            <p:cNvSpPr txBox="1"/>
            <p:nvPr/>
          </p:nvSpPr>
          <p:spPr>
            <a:xfrm>
              <a:off x="8499158" y="3177064"/>
              <a:ext cx="1962076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让团队能放心交付复杂事项</a:t>
              </a:r>
            </a:p>
          </p:txBody>
        </p:sp>
        <p:sp>
          <p:nvSpPr>
            <p:cNvPr id="27" name="Freeform 40">
              <a:extLst>
                <a:ext uri="{FF2B5EF4-FFF2-40B4-BE49-F238E27FC236}">
                  <a16:creationId xmlns:a16="http://schemas.microsoft.com/office/drawing/2014/main" id="{3E5830E9-05E2-D4BD-80F7-86FE66F35746}"/>
                </a:ext>
              </a:extLst>
            </p:cNvPr>
            <p:cNvSpPr/>
            <p:nvPr/>
          </p:nvSpPr>
          <p:spPr>
            <a:xfrm>
              <a:off x="552450" y="4476750"/>
              <a:ext cx="11087100" cy="895350"/>
            </a:xfrm>
            <a:custGeom>
              <a:avLst/>
              <a:gdLst/>
              <a:ahLst/>
              <a:cxnLst/>
              <a:rect l="l" t="t" r="r" b="b"/>
              <a:pathLst>
                <a:path w="11087100" h="895350">
                  <a:moveTo>
                    <a:pt x="152400" y="0"/>
                  </a:moveTo>
                  <a:lnTo>
                    <a:pt x="10934700" y="0"/>
                  </a:lnTo>
                  <a:cubicBezTo>
                    <a:pt x="11018868" y="0"/>
                    <a:pt x="11087100" y="68232"/>
                    <a:pt x="11087100" y="152400"/>
                  </a:cubicBezTo>
                  <a:lnTo>
                    <a:pt x="11087100" y="742950"/>
                  </a:lnTo>
                  <a:cubicBezTo>
                    <a:pt x="11087100" y="827118"/>
                    <a:pt x="11018868" y="895350"/>
                    <a:pt x="10934700" y="895350"/>
                  </a:cubicBezTo>
                  <a:lnTo>
                    <a:pt x="152400" y="895350"/>
                  </a:lnTo>
                  <a:cubicBezTo>
                    <a:pt x="68232" y="895350"/>
                    <a:pt x="0" y="827118"/>
                    <a:pt x="0" y="7429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28" name="TextBox 41">
              <a:extLst>
                <a:ext uri="{FF2B5EF4-FFF2-40B4-BE49-F238E27FC236}">
                  <a16:creationId xmlns:a16="http://schemas.microsoft.com/office/drawing/2014/main" id="{AC43023E-BB6D-3883-437D-4546AB7C5209}"/>
                </a:ext>
              </a:extLst>
            </p:cNvPr>
            <p:cNvSpPr txBox="1"/>
            <p:nvPr/>
          </p:nvSpPr>
          <p:spPr>
            <a:xfrm>
              <a:off x="794385" y="4742498"/>
              <a:ext cx="7752122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zh-CN" sz="19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试用期要证明的，不只是做了多少功能，而是能否持续承担复杂事项。</a:t>
              </a:r>
            </a:p>
          </p:txBody>
        </p:sp>
        <p:sp>
          <p:nvSpPr>
            <p:cNvPr id="29" name="TextBox 42">
              <a:extLst>
                <a:ext uri="{FF2B5EF4-FFF2-40B4-BE49-F238E27FC236}">
                  <a16:creationId xmlns:a16="http://schemas.microsoft.com/office/drawing/2014/main" id="{307E25D4-5A3C-88BE-A212-704E8760900F}"/>
                </a:ext>
              </a:extLst>
            </p:cNvPr>
            <p:cNvSpPr txBox="1"/>
            <p:nvPr/>
          </p:nvSpPr>
          <p:spPr>
            <a:xfrm>
              <a:off x="6095968" y="3925252"/>
              <a:ext cx="6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dirty="0">
                <a:solidFill>
                  <a:srgbClr val="C7CFD1"/>
                </a:solidFill>
                <a:latin typeface="Arial"/>
                <a:ea typeface="Microsoft YaHei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5134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7D0B9-179D-1F51-B4DE-FA0751082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9C20F00D-0DA3-8544-DB32-E3710823B82B}"/>
              </a:ext>
            </a:extLst>
          </p:cNvPr>
          <p:cNvSpPr txBox="1">
            <a:spLocks noGrp="1"/>
          </p:cNvSpPr>
          <p:nvPr/>
        </p:nvSpPr>
        <p:spPr>
          <a:xfrm>
            <a:off x="1086485" y="175260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三、绩效目标及完成情况</a:t>
            </a:r>
          </a:p>
        </p:txBody>
      </p:sp>
      <p:grpSp>
        <p:nvGrpSpPr>
          <p:cNvPr id="11327" name="组合 11326">
            <a:extLst>
              <a:ext uri="{FF2B5EF4-FFF2-40B4-BE49-F238E27FC236}">
                <a16:creationId xmlns:a16="http://schemas.microsoft.com/office/drawing/2014/main" id="{D8922905-F2E0-6CC0-A6B9-91C191B73EAE}"/>
              </a:ext>
            </a:extLst>
          </p:cNvPr>
          <p:cNvGrpSpPr/>
          <p:nvPr/>
        </p:nvGrpSpPr>
        <p:grpSpPr>
          <a:xfrm>
            <a:off x="629285" y="1199662"/>
            <a:ext cx="11430000" cy="4095750"/>
            <a:chOff x="662354" y="1645139"/>
            <a:chExt cx="11430000" cy="4095750"/>
          </a:xfrm>
        </p:grpSpPr>
        <p:grpSp>
          <p:nvGrpSpPr>
            <p:cNvPr id="55" name="Group 65">
              <a:extLst>
                <a:ext uri="{FF2B5EF4-FFF2-40B4-BE49-F238E27FC236}">
                  <a16:creationId xmlns:a16="http://schemas.microsoft.com/office/drawing/2014/main" id="{A6F8DF99-5192-66B9-E4F2-AA0F9B73172D}"/>
                </a:ext>
              </a:extLst>
            </p:cNvPr>
            <p:cNvGrpSpPr/>
            <p:nvPr/>
          </p:nvGrpSpPr>
          <p:grpSpPr>
            <a:xfrm>
              <a:off x="662354" y="1645139"/>
              <a:ext cx="11430000" cy="4095750"/>
              <a:chOff x="381000" y="1676400"/>
              <a:chExt cx="11430000" cy="4095750"/>
            </a:xfrm>
          </p:grpSpPr>
          <p:sp>
            <p:nvSpPr>
              <p:cNvPr id="56" name="Freeform 19">
                <a:extLst>
                  <a:ext uri="{FF2B5EF4-FFF2-40B4-BE49-F238E27FC236}">
                    <a16:creationId xmlns:a16="http://schemas.microsoft.com/office/drawing/2014/main" id="{DE62019B-1B4D-B26A-A2D2-58308128C1D9}"/>
                  </a:ext>
                </a:extLst>
              </p:cNvPr>
              <p:cNvSpPr/>
              <p:nvPr/>
            </p:nvSpPr>
            <p:spPr>
              <a:xfrm>
                <a:off x="381000" y="1676400"/>
                <a:ext cx="11430000" cy="4095750"/>
              </a:xfrm>
              <a:custGeom>
                <a:avLst/>
                <a:gdLst/>
                <a:ahLst/>
                <a:cxnLst/>
                <a:rect l="l" t="t" r="r" b="b"/>
                <a:pathLst>
                  <a:path w="11430000" h="4095750">
                    <a:moveTo>
                      <a:pt x="76200" y="0"/>
                    </a:moveTo>
                    <a:lnTo>
                      <a:pt x="11353800" y="0"/>
                    </a:lnTo>
                    <a:cubicBezTo>
                      <a:pt x="11395884" y="0"/>
                      <a:pt x="11430000" y="34116"/>
                      <a:pt x="11430000" y="76200"/>
                    </a:cubicBezTo>
                    <a:lnTo>
                      <a:pt x="11430000" y="4019550"/>
                    </a:lnTo>
                    <a:cubicBezTo>
                      <a:pt x="11430000" y="4061634"/>
                      <a:pt x="11395884" y="4095750"/>
                      <a:pt x="11353800" y="4095750"/>
                    </a:cubicBezTo>
                    <a:lnTo>
                      <a:pt x="76200" y="4095750"/>
                    </a:lnTo>
                    <a:cubicBezTo>
                      <a:pt x="34116" y="4095750"/>
                      <a:pt x="0" y="4061634"/>
                      <a:pt x="0" y="4019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7" name="Freeform 20">
                <a:extLst>
                  <a:ext uri="{FF2B5EF4-FFF2-40B4-BE49-F238E27FC236}">
                    <a16:creationId xmlns:a16="http://schemas.microsoft.com/office/drawing/2014/main" id="{8F28BEC1-54B5-9B98-919E-5116F76E5F21}"/>
                  </a:ext>
                </a:extLst>
              </p:cNvPr>
              <p:cNvSpPr/>
              <p:nvPr/>
            </p:nvSpPr>
            <p:spPr>
              <a:xfrm>
                <a:off x="552450" y="1790700"/>
                <a:ext cx="3390900" cy="3543300"/>
              </a:xfrm>
              <a:custGeom>
                <a:avLst/>
                <a:gdLst/>
                <a:ahLst/>
                <a:cxnLst/>
                <a:rect l="l" t="t" r="r" b="b"/>
                <a:pathLst>
                  <a:path w="3390900" h="3543300">
                    <a:moveTo>
                      <a:pt x="171450" y="0"/>
                    </a:moveTo>
                    <a:lnTo>
                      <a:pt x="3219450" y="0"/>
                    </a:lnTo>
                    <a:cubicBezTo>
                      <a:pt x="3314139" y="0"/>
                      <a:pt x="3390900" y="76761"/>
                      <a:pt x="3390900" y="171450"/>
                    </a:cubicBezTo>
                    <a:lnTo>
                      <a:pt x="3390900" y="3371850"/>
                    </a:lnTo>
                    <a:cubicBezTo>
                      <a:pt x="3390900" y="3466539"/>
                      <a:pt x="3314139" y="3543300"/>
                      <a:pt x="3219450" y="3543300"/>
                    </a:cubicBezTo>
                    <a:lnTo>
                      <a:pt x="171450" y="3543300"/>
                    </a:lnTo>
                    <a:cubicBezTo>
                      <a:pt x="76761" y="3543300"/>
                      <a:pt x="0" y="3466539"/>
                      <a:pt x="0" y="33718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>
                <a:solidFill>
                  <a:srgbClr val="D8E7B4"/>
                </a:solidFill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58" name="Ellipse 21">
                <a:extLst>
                  <a:ext uri="{FF2B5EF4-FFF2-40B4-BE49-F238E27FC236}">
                    <a16:creationId xmlns:a16="http://schemas.microsoft.com/office/drawing/2014/main" id="{BEC56264-8F81-4406-6A79-208F805BC784}"/>
                  </a:ext>
                </a:extLst>
              </p:cNvPr>
              <p:cNvSpPr/>
              <p:nvPr/>
            </p:nvSpPr>
            <p:spPr>
              <a:xfrm>
                <a:off x="1733550" y="2095500"/>
                <a:ext cx="1028700" cy="1028700"/>
              </a:xfrm>
              <a:prstGeom prst="ellipse">
                <a:avLst/>
              </a:prstGeom>
              <a:solidFill>
                <a:srgbClr val="F6FBE8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59" name="TextBox 27">
                <a:extLst>
                  <a:ext uri="{FF2B5EF4-FFF2-40B4-BE49-F238E27FC236}">
                    <a16:creationId xmlns:a16="http://schemas.microsoft.com/office/drawing/2014/main" id="{F97AD91E-9427-F3B5-ABB8-BF71965D26DE}"/>
                  </a:ext>
                </a:extLst>
              </p:cNvPr>
              <p:cNvSpPr txBox="1"/>
              <p:nvPr/>
            </p:nvSpPr>
            <p:spPr>
              <a:xfrm>
                <a:off x="1467850" y="3308032"/>
                <a:ext cx="156010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C3E50"/>
                    </a:solidFill>
                    <a:latin typeface="Arial"/>
                    <a:ea typeface="Microsoft YaHei"/>
                    <a:cs typeface="Arial"/>
                  </a:rPr>
                  <a:t>核心业绩指标</a:t>
                </a:r>
              </a:p>
            </p:txBody>
          </p:sp>
          <p:sp>
            <p:nvSpPr>
              <p:cNvPr id="60" name="Line 28">
                <a:extLst>
                  <a:ext uri="{FF2B5EF4-FFF2-40B4-BE49-F238E27FC236}">
                    <a16:creationId xmlns:a16="http://schemas.microsoft.com/office/drawing/2014/main" id="{ED4FE0A8-76C1-AADC-819D-06E3351C7AB7}"/>
                  </a:ext>
                </a:extLst>
              </p:cNvPr>
              <p:cNvSpPr/>
              <p:nvPr/>
            </p:nvSpPr>
            <p:spPr>
              <a:xfrm>
                <a:off x="952500" y="3752850"/>
                <a:ext cx="259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90800" h="9525">
                    <a:moveTo>
                      <a:pt x="0" y="0"/>
                    </a:moveTo>
                    <a:lnTo>
                      <a:pt x="2590800" y="0"/>
                    </a:lnTo>
                  </a:path>
                </a:pathLst>
              </a:custGeom>
              <a:noFill/>
              <a:ln w="14288">
                <a:solidFill>
                  <a:srgbClr val="D8E7B4"/>
                </a:solidFill>
              </a:ln>
            </p:spPr>
          </p:sp>
          <p:sp>
            <p:nvSpPr>
              <p:cNvPr id="61" name="TextBox 29">
                <a:extLst>
                  <a:ext uri="{FF2B5EF4-FFF2-40B4-BE49-F238E27FC236}">
                    <a16:creationId xmlns:a16="http://schemas.microsoft.com/office/drawing/2014/main" id="{584C5DEC-F31D-6126-AEEB-7A1C9995F36A}"/>
                  </a:ext>
                </a:extLst>
              </p:cNvPr>
              <p:cNvSpPr txBox="1"/>
              <p:nvPr/>
            </p:nvSpPr>
            <p:spPr>
              <a:xfrm>
                <a:off x="1142919" y="4034314"/>
                <a:ext cx="1025923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altLang="en-US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已完成任务数</a:t>
                </a:r>
                <a:r>
                  <a:rPr lang="en-US" altLang="zh-CN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:</a:t>
                </a:r>
                <a:endPara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  <p:sp>
            <p:nvSpPr>
              <p:cNvPr id="62" name="TextBox 30">
                <a:extLst>
                  <a:ext uri="{FF2B5EF4-FFF2-40B4-BE49-F238E27FC236}">
                    <a16:creationId xmlns:a16="http://schemas.microsoft.com/office/drawing/2014/main" id="{D4B4C812-2D06-AC57-2CC0-38EEC3C29EBC}"/>
                  </a:ext>
                </a:extLst>
              </p:cNvPr>
              <p:cNvSpPr txBox="1"/>
              <p:nvPr/>
            </p:nvSpPr>
            <p:spPr>
              <a:xfrm>
                <a:off x="2222182" y="3953351"/>
                <a:ext cx="692497" cy="311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6B8E00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  <a:r>
                  <a:rPr lang="en-US" altLang="zh-CN" sz="2025" b="1" dirty="0">
                    <a:solidFill>
                      <a:srgbClr val="6B8E00"/>
                    </a:solidFill>
                    <a:latin typeface="Arial"/>
                    <a:ea typeface="Microsoft YaHei"/>
                    <a:cs typeface="Arial"/>
                  </a:rPr>
                  <a:t>xx</a:t>
                </a:r>
                <a:r>
                  <a:rPr lang="zh-CN" sz="2025" b="1" dirty="0">
                    <a:solidFill>
                      <a:srgbClr val="6B8E00"/>
                    </a:solidFill>
                    <a:latin typeface="Arial"/>
                    <a:ea typeface="Microsoft YaHei"/>
                    <a:cs typeface="Arial"/>
                  </a:rPr>
                  <a:t>项</a:t>
                </a:r>
              </a:p>
            </p:txBody>
          </p:sp>
          <p:sp>
            <p:nvSpPr>
              <p:cNvPr id="63" name="TextBox 31">
                <a:extLst>
                  <a:ext uri="{FF2B5EF4-FFF2-40B4-BE49-F238E27FC236}">
                    <a16:creationId xmlns:a16="http://schemas.microsoft.com/office/drawing/2014/main" id="{1C8ADD32-E98C-EB50-BB54-701EF09516A3}"/>
                  </a:ext>
                </a:extLst>
              </p:cNvPr>
              <p:cNvSpPr txBox="1"/>
              <p:nvPr/>
            </p:nvSpPr>
            <p:spPr>
              <a:xfrm>
                <a:off x="1306426" y="4434364"/>
                <a:ext cx="862416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已交付</a:t>
                </a:r>
                <a:r>
                  <a:rPr lang="zh-CN" altLang="en-US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需求</a:t>
                </a:r>
                <a:r>
                  <a:rPr lang="zh-CN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:</a:t>
                </a:r>
              </a:p>
            </p:txBody>
          </p:sp>
          <p:sp>
            <p:nvSpPr>
              <p:cNvPr id="11264" name="TextBox 32">
                <a:extLst>
                  <a:ext uri="{FF2B5EF4-FFF2-40B4-BE49-F238E27FC236}">
                    <a16:creationId xmlns:a16="http://schemas.microsoft.com/office/drawing/2014/main" id="{EBCBC3CB-D5F7-9889-9CD8-B34A1C915BB8}"/>
                  </a:ext>
                </a:extLst>
              </p:cNvPr>
              <p:cNvSpPr txBox="1"/>
              <p:nvPr/>
            </p:nvSpPr>
            <p:spPr>
              <a:xfrm>
                <a:off x="2222182" y="4353401"/>
                <a:ext cx="53277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6B8E00"/>
                    </a:solidFill>
                    <a:latin typeface="Arial"/>
                    <a:ea typeface="Microsoft YaHei"/>
                    <a:cs typeface="Arial"/>
                  </a:rPr>
                  <a:t>8项</a:t>
                </a:r>
              </a:p>
            </p:txBody>
          </p:sp>
          <p:sp>
            <p:nvSpPr>
              <p:cNvPr id="11265" name="TextBox 33">
                <a:extLst>
                  <a:ext uri="{FF2B5EF4-FFF2-40B4-BE49-F238E27FC236}">
                    <a16:creationId xmlns:a16="http://schemas.microsoft.com/office/drawing/2014/main" id="{8BF6714C-4C63-7D7E-4830-D535B222F443}"/>
                  </a:ext>
                </a:extLst>
              </p:cNvPr>
              <p:cNvSpPr txBox="1"/>
              <p:nvPr/>
            </p:nvSpPr>
            <p:spPr>
              <a:xfrm>
                <a:off x="979413" y="4834414"/>
                <a:ext cx="1189429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altLang="en-US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需求</a:t>
                </a:r>
                <a:r>
                  <a:rPr lang="zh-CN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按期交付率:</a:t>
                </a:r>
              </a:p>
            </p:txBody>
          </p:sp>
          <p:sp>
            <p:nvSpPr>
              <p:cNvPr id="11267" name="TextBox 34">
                <a:extLst>
                  <a:ext uri="{FF2B5EF4-FFF2-40B4-BE49-F238E27FC236}">
                    <a16:creationId xmlns:a16="http://schemas.microsoft.com/office/drawing/2014/main" id="{A75F0B19-4DFC-4AC6-BAE8-AE25A4B7CC48}"/>
                  </a:ext>
                </a:extLst>
              </p:cNvPr>
              <p:cNvSpPr txBox="1"/>
              <p:nvPr/>
            </p:nvSpPr>
            <p:spPr>
              <a:xfrm>
                <a:off x="2222182" y="4753451"/>
                <a:ext cx="656986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6B8E00"/>
                    </a:solidFill>
                    <a:latin typeface="Arial"/>
                    <a:ea typeface="Microsoft YaHei"/>
                    <a:cs typeface="Arial"/>
                  </a:rPr>
                  <a:t>100%</a:t>
                </a:r>
              </a:p>
            </p:txBody>
          </p:sp>
          <p:sp>
            <p:nvSpPr>
              <p:cNvPr id="11268" name="Freeform 35">
                <a:extLst>
                  <a:ext uri="{FF2B5EF4-FFF2-40B4-BE49-F238E27FC236}">
                    <a16:creationId xmlns:a16="http://schemas.microsoft.com/office/drawing/2014/main" id="{D3F1BA97-DD68-CC78-9845-E814629F24FA}"/>
                  </a:ext>
                </a:extLst>
              </p:cNvPr>
              <p:cNvSpPr/>
              <p:nvPr/>
            </p:nvSpPr>
            <p:spPr>
              <a:xfrm>
                <a:off x="4114800" y="1766142"/>
                <a:ext cx="3390900" cy="3543300"/>
              </a:xfrm>
              <a:custGeom>
                <a:avLst/>
                <a:gdLst/>
                <a:ahLst/>
                <a:cxnLst/>
                <a:rect l="l" t="t" r="r" b="b"/>
                <a:pathLst>
                  <a:path w="3390900" h="3543300">
                    <a:moveTo>
                      <a:pt x="171450" y="0"/>
                    </a:moveTo>
                    <a:lnTo>
                      <a:pt x="3219450" y="0"/>
                    </a:lnTo>
                    <a:cubicBezTo>
                      <a:pt x="3314139" y="0"/>
                      <a:pt x="3390900" y="76761"/>
                      <a:pt x="3390900" y="171450"/>
                    </a:cubicBezTo>
                    <a:lnTo>
                      <a:pt x="3390900" y="3371850"/>
                    </a:lnTo>
                    <a:cubicBezTo>
                      <a:pt x="3390900" y="3466539"/>
                      <a:pt x="3314139" y="3543300"/>
                      <a:pt x="3219450" y="3543300"/>
                    </a:cubicBezTo>
                    <a:lnTo>
                      <a:pt x="171450" y="3543300"/>
                    </a:lnTo>
                    <a:cubicBezTo>
                      <a:pt x="76761" y="3543300"/>
                      <a:pt x="0" y="3466539"/>
                      <a:pt x="0" y="33718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>
                <a:solidFill>
                  <a:srgbClr val="D8E7B4"/>
                </a:solidFill>
              </a:ln>
            </p:spPr>
          </p:sp>
          <p:sp>
            <p:nvSpPr>
              <p:cNvPr id="11269" name="Ellipse 36">
                <a:extLst>
                  <a:ext uri="{FF2B5EF4-FFF2-40B4-BE49-F238E27FC236}">
                    <a16:creationId xmlns:a16="http://schemas.microsoft.com/office/drawing/2014/main" id="{CDF7D4B5-56DB-C612-1CCA-C7FA0779B7B1}"/>
                  </a:ext>
                </a:extLst>
              </p:cNvPr>
              <p:cNvSpPr/>
              <p:nvPr/>
            </p:nvSpPr>
            <p:spPr>
              <a:xfrm>
                <a:off x="5295900" y="2095500"/>
                <a:ext cx="1028700" cy="1028700"/>
              </a:xfrm>
              <a:prstGeom prst="ellipse">
                <a:avLst/>
              </a:prstGeom>
              <a:solidFill>
                <a:srgbClr val="F6FBE8"/>
              </a:solidFill>
              <a:ln>
                <a:noFill/>
              </a:ln>
            </p:spPr>
          </p:sp>
          <p:sp>
            <p:nvSpPr>
              <p:cNvPr id="11270" name="TextBox 43">
                <a:extLst>
                  <a:ext uri="{FF2B5EF4-FFF2-40B4-BE49-F238E27FC236}">
                    <a16:creationId xmlns:a16="http://schemas.microsoft.com/office/drawing/2014/main" id="{32100F61-9480-7FC0-8103-652BB99E8144}"/>
                  </a:ext>
                </a:extLst>
              </p:cNvPr>
              <p:cNvSpPr txBox="1"/>
              <p:nvPr/>
            </p:nvSpPr>
            <p:spPr>
              <a:xfrm>
                <a:off x="4903684" y="3308032"/>
                <a:ext cx="181313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C3E50"/>
                    </a:solidFill>
                    <a:latin typeface="Arial"/>
                    <a:ea typeface="Microsoft YaHei"/>
                    <a:cs typeface="Arial"/>
                  </a:rPr>
                  <a:t>效率与能力提升</a:t>
                </a:r>
              </a:p>
            </p:txBody>
          </p:sp>
          <p:sp>
            <p:nvSpPr>
              <p:cNvPr id="11271" name="Line 44">
                <a:extLst>
                  <a:ext uri="{FF2B5EF4-FFF2-40B4-BE49-F238E27FC236}">
                    <a16:creationId xmlns:a16="http://schemas.microsoft.com/office/drawing/2014/main" id="{34F768B9-EB2A-54FC-4E43-A7800AE7D7E9}"/>
                  </a:ext>
                </a:extLst>
              </p:cNvPr>
              <p:cNvSpPr/>
              <p:nvPr/>
            </p:nvSpPr>
            <p:spPr>
              <a:xfrm>
                <a:off x="4514850" y="3752850"/>
                <a:ext cx="259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90800" h="9525">
                    <a:moveTo>
                      <a:pt x="0" y="0"/>
                    </a:moveTo>
                    <a:lnTo>
                      <a:pt x="2590800" y="0"/>
                    </a:lnTo>
                  </a:path>
                </a:pathLst>
              </a:custGeom>
              <a:noFill/>
              <a:ln w="14288">
                <a:solidFill>
                  <a:srgbClr val="D8E7B4"/>
                </a:solidFill>
              </a:ln>
            </p:spPr>
          </p:sp>
          <p:sp>
            <p:nvSpPr>
              <p:cNvPr id="11272" name="TextBox 45">
                <a:extLst>
                  <a:ext uri="{FF2B5EF4-FFF2-40B4-BE49-F238E27FC236}">
                    <a16:creationId xmlns:a16="http://schemas.microsoft.com/office/drawing/2014/main" id="{557ACB40-E84E-91CB-49A0-3F726117B716}"/>
                  </a:ext>
                </a:extLst>
              </p:cNvPr>
              <p:cNvSpPr txBox="1"/>
              <p:nvPr/>
            </p:nvSpPr>
            <p:spPr>
              <a:xfrm>
                <a:off x="4658785" y="4034314"/>
                <a:ext cx="1072408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altLang="zh-CN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CRM</a:t>
                </a:r>
                <a:r>
                  <a:rPr lang="zh-CN" altLang="en-US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杂志</a:t>
                </a:r>
                <a:r>
                  <a:rPr lang="zh-CN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查询:</a:t>
                </a:r>
              </a:p>
            </p:txBody>
          </p:sp>
          <p:sp>
            <p:nvSpPr>
              <p:cNvPr id="11273" name="TextBox 46">
                <a:extLst>
                  <a:ext uri="{FF2B5EF4-FFF2-40B4-BE49-F238E27FC236}">
                    <a16:creationId xmlns:a16="http://schemas.microsoft.com/office/drawing/2014/main" id="{62DB61CA-863F-1036-5FC0-26F49692C831}"/>
                  </a:ext>
                </a:extLst>
              </p:cNvPr>
              <p:cNvSpPr txBox="1"/>
              <p:nvPr/>
            </p:nvSpPr>
            <p:spPr>
              <a:xfrm>
                <a:off x="5784532" y="3953351"/>
                <a:ext cx="1635183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6B8E00"/>
                    </a:solidFill>
                    <a:latin typeface="Arial"/>
                    <a:ea typeface="Microsoft YaHei"/>
                    <a:cs typeface="Arial"/>
                  </a:rPr>
                  <a:t>2s → 1s以下</a:t>
                </a:r>
              </a:p>
            </p:txBody>
          </p:sp>
          <p:sp>
            <p:nvSpPr>
              <p:cNvPr id="11274" name="TextBox 47">
                <a:extLst>
                  <a:ext uri="{FF2B5EF4-FFF2-40B4-BE49-F238E27FC236}">
                    <a16:creationId xmlns:a16="http://schemas.microsoft.com/office/drawing/2014/main" id="{4B0A3167-2E11-C2C6-0F92-759E86A99887}"/>
                  </a:ext>
                </a:extLst>
              </p:cNvPr>
              <p:cNvSpPr txBox="1"/>
              <p:nvPr/>
            </p:nvSpPr>
            <p:spPr>
              <a:xfrm>
                <a:off x="4541765" y="4434364"/>
                <a:ext cx="1189428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altLang="en-US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新抽奖</a:t>
                </a:r>
                <a:r>
                  <a:rPr lang="zh-CN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配置时间:</a:t>
                </a:r>
              </a:p>
            </p:txBody>
          </p:sp>
          <p:sp>
            <p:nvSpPr>
              <p:cNvPr id="11275" name="TextBox 48">
                <a:extLst>
                  <a:ext uri="{FF2B5EF4-FFF2-40B4-BE49-F238E27FC236}">
                    <a16:creationId xmlns:a16="http://schemas.microsoft.com/office/drawing/2014/main" id="{5C65D1D7-145A-BFA5-F996-AA42B6330406}"/>
                  </a:ext>
                </a:extLst>
              </p:cNvPr>
              <p:cNvSpPr txBox="1"/>
              <p:nvPr/>
            </p:nvSpPr>
            <p:spPr>
              <a:xfrm>
                <a:off x="5784532" y="4353401"/>
                <a:ext cx="1604129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6B8E00"/>
                    </a:solidFill>
                    <a:latin typeface="Arial"/>
                    <a:ea typeface="Microsoft YaHei"/>
                    <a:cs typeface="Arial"/>
                  </a:rPr>
                  <a:t>1天 → 2小时</a:t>
                </a:r>
              </a:p>
            </p:txBody>
          </p:sp>
          <p:sp>
            <p:nvSpPr>
              <p:cNvPr id="11276" name="TextBox 49">
                <a:extLst>
                  <a:ext uri="{FF2B5EF4-FFF2-40B4-BE49-F238E27FC236}">
                    <a16:creationId xmlns:a16="http://schemas.microsoft.com/office/drawing/2014/main" id="{B16F6761-ADFD-F609-C828-A9851DCC4174}"/>
                  </a:ext>
                </a:extLst>
              </p:cNvPr>
              <p:cNvSpPr txBox="1"/>
              <p:nvPr/>
            </p:nvSpPr>
            <p:spPr>
              <a:xfrm>
                <a:off x="4733032" y="4823460"/>
                <a:ext cx="2154436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8C100"/>
                    </a:solidFill>
                    <a:latin typeface="Arial"/>
                    <a:ea typeface="Microsoft YaHei"/>
                    <a:cs typeface="Arial"/>
                  </a:rPr>
                  <a:t>体验显著改善，</a:t>
                </a:r>
                <a:r>
                  <a:rPr lang="zh-CN" altLang="en-US" sz="1200" b="1" dirty="0">
                    <a:solidFill>
                      <a:srgbClr val="88C100"/>
                    </a:solidFill>
                    <a:latin typeface="Arial"/>
                    <a:ea typeface="Microsoft YaHei"/>
                    <a:cs typeface="Arial"/>
                  </a:rPr>
                  <a:t>代码</a:t>
                </a:r>
                <a:r>
                  <a:rPr lang="zh-CN" sz="1200" b="1" dirty="0">
                    <a:solidFill>
                      <a:srgbClr val="88C100"/>
                    </a:solidFill>
                    <a:latin typeface="Arial"/>
                    <a:ea typeface="Microsoft YaHei"/>
                    <a:cs typeface="Arial"/>
                  </a:rPr>
                  <a:t>复用性提升</a:t>
                </a:r>
              </a:p>
            </p:txBody>
          </p:sp>
          <p:sp>
            <p:nvSpPr>
              <p:cNvPr id="11277" name="Freeform 50">
                <a:extLst>
                  <a:ext uri="{FF2B5EF4-FFF2-40B4-BE49-F238E27FC236}">
                    <a16:creationId xmlns:a16="http://schemas.microsoft.com/office/drawing/2014/main" id="{61491CEE-6C8C-6636-45A0-28785065DE96}"/>
                  </a:ext>
                </a:extLst>
              </p:cNvPr>
              <p:cNvSpPr/>
              <p:nvPr/>
            </p:nvSpPr>
            <p:spPr>
              <a:xfrm>
                <a:off x="7677150" y="1790700"/>
                <a:ext cx="3390900" cy="3543300"/>
              </a:xfrm>
              <a:custGeom>
                <a:avLst/>
                <a:gdLst/>
                <a:ahLst/>
                <a:cxnLst/>
                <a:rect l="l" t="t" r="r" b="b"/>
                <a:pathLst>
                  <a:path w="3390900" h="3543300">
                    <a:moveTo>
                      <a:pt x="171450" y="0"/>
                    </a:moveTo>
                    <a:lnTo>
                      <a:pt x="3219450" y="0"/>
                    </a:lnTo>
                    <a:cubicBezTo>
                      <a:pt x="3314139" y="0"/>
                      <a:pt x="3390900" y="76761"/>
                      <a:pt x="3390900" y="171450"/>
                    </a:cubicBezTo>
                    <a:lnTo>
                      <a:pt x="3390900" y="3371850"/>
                    </a:lnTo>
                    <a:cubicBezTo>
                      <a:pt x="3390900" y="3466539"/>
                      <a:pt x="3314139" y="3543300"/>
                      <a:pt x="3219450" y="3543300"/>
                    </a:cubicBezTo>
                    <a:lnTo>
                      <a:pt x="171450" y="3543300"/>
                    </a:lnTo>
                    <a:cubicBezTo>
                      <a:pt x="76761" y="3543300"/>
                      <a:pt x="0" y="3466539"/>
                      <a:pt x="0" y="33718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>
                <a:solidFill>
                  <a:srgbClr val="D8E7B4"/>
                </a:solidFill>
              </a:ln>
            </p:spPr>
          </p:sp>
          <p:sp>
            <p:nvSpPr>
              <p:cNvPr id="11278" name="Ellipse 51">
                <a:extLst>
                  <a:ext uri="{FF2B5EF4-FFF2-40B4-BE49-F238E27FC236}">
                    <a16:creationId xmlns:a16="http://schemas.microsoft.com/office/drawing/2014/main" id="{94435FC6-212F-6182-0B43-E9AFDC019091}"/>
                  </a:ext>
                </a:extLst>
              </p:cNvPr>
              <p:cNvSpPr/>
              <p:nvPr/>
            </p:nvSpPr>
            <p:spPr>
              <a:xfrm>
                <a:off x="8858250" y="2095500"/>
                <a:ext cx="1028700" cy="1028700"/>
              </a:xfrm>
              <a:prstGeom prst="ellipse">
                <a:avLst/>
              </a:prstGeom>
              <a:solidFill>
                <a:srgbClr val="F6FBE8"/>
              </a:solidFill>
              <a:ln>
                <a:noFill/>
              </a:ln>
            </p:spPr>
          </p:sp>
          <p:sp>
            <p:nvSpPr>
              <p:cNvPr id="11279" name="TextBox 57">
                <a:extLst>
                  <a:ext uri="{FF2B5EF4-FFF2-40B4-BE49-F238E27FC236}">
                    <a16:creationId xmlns:a16="http://schemas.microsoft.com/office/drawing/2014/main" id="{4597A866-9CBC-A1C4-DF5C-85A6BFE2B3F7}"/>
                  </a:ext>
                </a:extLst>
              </p:cNvPr>
              <p:cNvSpPr txBox="1"/>
              <p:nvPr/>
            </p:nvSpPr>
            <p:spPr>
              <a:xfrm>
                <a:off x="8466034" y="3308032"/>
                <a:ext cx="181313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C3E50"/>
                    </a:solidFill>
                    <a:latin typeface="Arial"/>
                    <a:ea typeface="Microsoft YaHei"/>
                    <a:cs typeface="Arial"/>
                  </a:rPr>
                  <a:t>业务成果与价值</a:t>
                </a:r>
              </a:p>
            </p:txBody>
          </p:sp>
          <p:sp>
            <p:nvSpPr>
              <p:cNvPr id="11280" name="Line 58">
                <a:extLst>
                  <a:ext uri="{FF2B5EF4-FFF2-40B4-BE49-F238E27FC236}">
                    <a16:creationId xmlns:a16="http://schemas.microsoft.com/office/drawing/2014/main" id="{1294F580-6553-C625-E798-74B7F8B7110F}"/>
                  </a:ext>
                </a:extLst>
              </p:cNvPr>
              <p:cNvSpPr/>
              <p:nvPr/>
            </p:nvSpPr>
            <p:spPr>
              <a:xfrm>
                <a:off x="8077200" y="3752850"/>
                <a:ext cx="259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90800" h="9525">
                    <a:moveTo>
                      <a:pt x="0" y="0"/>
                    </a:moveTo>
                    <a:lnTo>
                      <a:pt x="2590800" y="0"/>
                    </a:lnTo>
                  </a:path>
                </a:pathLst>
              </a:custGeom>
              <a:noFill/>
              <a:ln w="14288">
                <a:solidFill>
                  <a:srgbClr val="D8E7B4"/>
                </a:solidFill>
              </a:ln>
            </p:spPr>
          </p:sp>
          <p:sp>
            <p:nvSpPr>
              <p:cNvPr id="11281" name="TextBox 59">
                <a:extLst>
                  <a:ext uri="{FF2B5EF4-FFF2-40B4-BE49-F238E27FC236}">
                    <a16:creationId xmlns:a16="http://schemas.microsoft.com/office/drawing/2014/main" id="{E70608F5-F04B-43C8-1E18-AE2783091BBB}"/>
                  </a:ext>
                </a:extLst>
              </p:cNvPr>
              <p:cNvSpPr txBox="1"/>
              <p:nvPr/>
            </p:nvSpPr>
            <p:spPr>
              <a:xfrm>
                <a:off x="7940608" y="4034314"/>
                <a:ext cx="1352934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积分</a:t>
                </a:r>
                <a:r>
                  <a:rPr lang="zh-CN" altLang="en-US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过期</a:t>
                </a:r>
                <a:r>
                  <a:rPr lang="zh-CN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提醒覆盖:</a:t>
                </a:r>
              </a:p>
            </p:txBody>
          </p:sp>
          <p:sp>
            <p:nvSpPr>
              <p:cNvPr id="11282" name="TextBox 60">
                <a:extLst>
                  <a:ext uri="{FF2B5EF4-FFF2-40B4-BE49-F238E27FC236}">
                    <a16:creationId xmlns:a16="http://schemas.microsoft.com/office/drawing/2014/main" id="{6357B997-96EC-481F-6F97-EEA7A757A782}"/>
                  </a:ext>
                </a:extLst>
              </p:cNvPr>
              <p:cNvSpPr txBox="1"/>
              <p:nvPr/>
            </p:nvSpPr>
            <p:spPr>
              <a:xfrm>
                <a:off x="9346882" y="3953351"/>
                <a:ext cx="1421864" cy="311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2025" b="1" dirty="0">
                    <a:solidFill>
                      <a:srgbClr val="6B8E00"/>
                    </a:solidFill>
                    <a:latin typeface="Arial"/>
                    <a:ea typeface="Microsoft YaHei"/>
                    <a:cs typeface="Arial"/>
                  </a:rPr>
                  <a:t>每月</a:t>
                </a:r>
                <a:r>
                  <a:rPr lang="zh-CN" sz="2025" b="1" dirty="0">
                    <a:solidFill>
                      <a:srgbClr val="6B8E00"/>
                    </a:solidFill>
                    <a:latin typeface="Arial"/>
                    <a:ea typeface="Microsoft YaHei"/>
                    <a:cs typeface="Arial"/>
                  </a:rPr>
                  <a:t>40w+</a:t>
                </a:r>
                <a:r>
                  <a:rPr lang="zh-CN" altLang="en-US" sz="2025" b="1" dirty="0">
                    <a:solidFill>
                      <a:srgbClr val="6B8E00"/>
                    </a:solidFill>
                    <a:latin typeface="Arial"/>
                    <a:ea typeface="Microsoft YaHei"/>
                    <a:cs typeface="Arial"/>
                  </a:rPr>
                  <a:t>人</a:t>
                </a:r>
                <a:endParaRPr lang="zh-CN" sz="20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  <p:sp>
            <p:nvSpPr>
              <p:cNvPr id="11283" name="TextBox 61">
                <a:extLst>
                  <a:ext uri="{FF2B5EF4-FFF2-40B4-BE49-F238E27FC236}">
                    <a16:creationId xmlns:a16="http://schemas.microsoft.com/office/drawing/2014/main" id="{CA77F809-6182-4C4B-D778-C135613A1DC3}"/>
                  </a:ext>
                </a:extLst>
              </p:cNvPr>
              <p:cNvSpPr txBox="1"/>
              <p:nvPr/>
            </p:nvSpPr>
            <p:spPr>
              <a:xfrm>
                <a:off x="7940608" y="4434364"/>
                <a:ext cx="1352934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altLang="en-US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圣诞</a:t>
                </a:r>
                <a:r>
                  <a:rPr lang="zh-CN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活动</a:t>
                </a:r>
                <a:r>
                  <a:rPr lang="zh-CN" altLang="en-US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拉新</a:t>
                </a:r>
                <a:r>
                  <a:rPr lang="zh-CN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转化:</a:t>
                </a:r>
              </a:p>
            </p:txBody>
          </p:sp>
          <p:sp>
            <p:nvSpPr>
              <p:cNvPr id="11284" name="TextBox 62">
                <a:extLst>
                  <a:ext uri="{FF2B5EF4-FFF2-40B4-BE49-F238E27FC236}">
                    <a16:creationId xmlns:a16="http://schemas.microsoft.com/office/drawing/2014/main" id="{45F3B9CB-9EDC-0667-3E12-DB57B92491A8}"/>
                  </a:ext>
                </a:extLst>
              </p:cNvPr>
              <p:cNvSpPr txBox="1"/>
              <p:nvPr/>
            </p:nvSpPr>
            <p:spPr>
              <a:xfrm>
                <a:off x="9346882" y="4353401"/>
                <a:ext cx="967524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6B8E00"/>
                    </a:solidFill>
                    <a:latin typeface="Arial"/>
                    <a:ea typeface="Microsoft YaHei"/>
                    <a:cs typeface="Arial"/>
                  </a:rPr>
                  <a:t>1992人</a:t>
                </a:r>
              </a:p>
            </p:txBody>
          </p:sp>
          <p:sp>
            <p:nvSpPr>
              <p:cNvPr id="11285" name="TextBox 63">
                <a:extLst>
                  <a:ext uri="{FF2B5EF4-FFF2-40B4-BE49-F238E27FC236}">
                    <a16:creationId xmlns:a16="http://schemas.microsoft.com/office/drawing/2014/main" id="{3C0735CC-11AE-C833-30BB-47F41B36DA3D}"/>
                  </a:ext>
                </a:extLst>
              </p:cNvPr>
              <p:cNvSpPr txBox="1"/>
              <p:nvPr/>
            </p:nvSpPr>
            <p:spPr>
              <a:xfrm>
                <a:off x="7940608" y="4834414"/>
                <a:ext cx="1352934" cy="196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altLang="en-US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圣诞</a:t>
                </a:r>
                <a:r>
                  <a:rPr lang="zh-CN" sz="1275" dirty="0">
                    <a:solidFill>
                      <a:srgbClr val="5D6D7E"/>
                    </a:solidFill>
                    <a:latin typeface="Arial"/>
                    <a:ea typeface="Microsoft YaHei"/>
                    <a:cs typeface="Arial"/>
                  </a:rPr>
                  <a:t>活动参与人数:</a:t>
                </a:r>
              </a:p>
            </p:txBody>
          </p:sp>
          <p:sp>
            <p:nvSpPr>
              <p:cNvPr id="11286" name="TextBox 64">
                <a:extLst>
                  <a:ext uri="{FF2B5EF4-FFF2-40B4-BE49-F238E27FC236}">
                    <a16:creationId xmlns:a16="http://schemas.microsoft.com/office/drawing/2014/main" id="{91B72FFF-7FC8-6B67-EC3E-9DC6C3DAADC4}"/>
                  </a:ext>
                </a:extLst>
              </p:cNvPr>
              <p:cNvSpPr txBox="1"/>
              <p:nvPr/>
            </p:nvSpPr>
            <p:spPr>
              <a:xfrm>
                <a:off x="9346882" y="4753451"/>
                <a:ext cx="1138321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6B8E00"/>
                    </a:solidFill>
                    <a:latin typeface="Arial"/>
                    <a:ea typeface="Microsoft YaHei"/>
                    <a:cs typeface="Arial"/>
                  </a:rPr>
                  <a:t>16045人</a:t>
                </a:r>
              </a:p>
            </p:txBody>
          </p:sp>
        </p:grpSp>
        <p:grpSp>
          <p:nvGrpSpPr>
            <p:cNvPr id="11326" name="组合 11325">
              <a:extLst>
                <a:ext uri="{FF2B5EF4-FFF2-40B4-BE49-F238E27FC236}">
                  <a16:creationId xmlns:a16="http://schemas.microsoft.com/office/drawing/2014/main" id="{BD7F663B-4346-5944-61F9-3C0ECA284D26}"/>
                </a:ext>
              </a:extLst>
            </p:cNvPr>
            <p:cNvGrpSpPr/>
            <p:nvPr/>
          </p:nvGrpSpPr>
          <p:grpSpPr>
            <a:xfrm>
              <a:off x="2301080" y="2267016"/>
              <a:ext cx="7649206" cy="607483"/>
              <a:chOff x="2301080" y="2267016"/>
              <a:chExt cx="7649206" cy="607483"/>
            </a:xfrm>
          </p:grpSpPr>
          <p:grpSp>
            <p:nvGrpSpPr>
              <p:cNvPr id="11294" name="组合 11293">
                <a:extLst>
                  <a:ext uri="{FF2B5EF4-FFF2-40B4-BE49-F238E27FC236}">
                    <a16:creationId xmlns:a16="http://schemas.microsoft.com/office/drawing/2014/main" id="{764F27B7-7C6C-560E-F846-FC3F1B4050D2}"/>
                  </a:ext>
                </a:extLst>
              </p:cNvPr>
              <p:cNvGrpSpPr/>
              <p:nvPr/>
            </p:nvGrpSpPr>
            <p:grpSpPr>
              <a:xfrm>
                <a:off x="5780453" y="2281848"/>
                <a:ext cx="622300" cy="531165"/>
                <a:chOff x="-124618" y="2336800"/>
                <a:chExt cx="622300" cy="531165"/>
              </a:xfrm>
            </p:grpSpPr>
            <p:sp>
              <p:nvSpPr>
                <p:cNvPr id="11295" name="任意多边形: 形状 11294">
                  <a:extLst>
                    <a:ext uri="{FF2B5EF4-FFF2-40B4-BE49-F238E27FC236}">
                      <a16:creationId xmlns:a16="http://schemas.microsoft.com/office/drawing/2014/main" id="{505D944D-C616-D341-3367-0144A9BE1870}"/>
                    </a:ext>
                  </a:extLst>
                </p:cNvPr>
                <p:cNvSpPr/>
                <p:nvPr/>
              </p:nvSpPr>
              <p:spPr>
                <a:xfrm>
                  <a:off x="107351" y="2570586"/>
                  <a:ext cx="172484" cy="176507"/>
                </a:xfrm>
                <a:custGeom>
                  <a:avLst/>
                  <a:gdLst>
                    <a:gd name="connsiteX0" fmla="*/ 172484 w 172484"/>
                    <a:gd name="connsiteY0" fmla="*/ 0 h 176507"/>
                    <a:gd name="connsiteX1" fmla="*/ 101901 w 172484"/>
                    <a:gd name="connsiteY1" fmla="*/ 158411 h 176507"/>
                    <a:gd name="connsiteX2" fmla="*/ 18098 w 172484"/>
                    <a:gd name="connsiteY2" fmla="*/ 159873 h 176507"/>
                    <a:gd name="connsiteX3" fmla="*/ 16634 w 172484"/>
                    <a:gd name="connsiteY3" fmla="*/ 76070 h 176507"/>
                    <a:gd name="connsiteX4" fmla="*/ 172484 w 172484"/>
                    <a:gd name="connsiteY4" fmla="*/ 0 h 1765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484" h="176507">
                      <a:moveTo>
                        <a:pt x="172484" y="0"/>
                      </a:moveTo>
                      <a:cubicBezTo>
                        <a:pt x="172484" y="0"/>
                        <a:pt x="124637" y="134866"/>
                        <a:pt x="101901" y="158411"/>
                      </a:cubicBezTo>
                      <a:cubicBezTo>
                        <a:pt x="79163" y="181956"/>
                        <a:pt x="41643" y="182611"/>
                        <a:pt x="18098" y="159873"/>
                      </a:cubicBezTo>
                      <a:cubicBezTo>
                        <a:pt x="-5449" y="137136"/>
                        <a:pt x="-6104" y="99617"/>
                        <a:pt x="16634" y="76070"/>
                      </a:cubicBezTo>
                      <a:cubicBezTo>
                        <a:pt x="39371" y="52525"/>
                        <a:pt x="172484" y="0"/>
                        <a:pt x="172484" y="0"/>
                      </a:cubicBezTo>
                      <a:close/>
                    </a:path>
                  </a:pathLst>
                </a:custGeom>
                <a:solidFill>
                  <a:srgbClr val="87B22E"/>
                </a:solidFill>
                <a:ln w="29369" cap="flat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sp>
              <p:nvSpPr>
                <p:cNvPr id="11296" name="任意多边形: 形状 11295">
                  <a:extLst>
                    <a:ext uri="{FF2B5EF4-FFF2-40B4-BE49-F238E27FC236}">
                      <a16:creationId xmlns:a16="http://schemas.microsoft.com/office/drawing/2014/main" id="{D1234F69-4E54-91EB-C845-673E7F430F08}"/>
                    </a:ext>
                  </a:extLst>
                </p:cNvPr>
                <p:cNvSpPr/>
                <p:nvPr/>
              </p:nvSpPr>
              <p:spPr>
                <a:xfrm>
                  <a:off x="-124618" y="2336800"/>
                  <a:ext cx="622300" cy="531165"/>
                </a:xfrm>
                <a:custGeom>
                  <a:avLst/>
                  <a:gdLst>
                    <a:gd name="connsiteX0" fmla="*/ 531166 w 622300"/>
                    <a:gd name="connsiteY0" fmla="*/ 531166 h 531165"/>
                    <a:gd name="connsiteX1" fmla="*/ 622300 w 622300"/>
                    <a:gd name="connsiteY1" fmla="*/ 311150 h 531165"/>
                    <a:gd name="connsiteX2" fmla="*/ 311150 w 622300"/>
                    <a:gd name="connsiteY2" fmla="*/ 0 h 531165"/>
                    <a:gd name="connsiteX3" fmla="*/ 0 w 622300"/>
                    <a:gd name="connsiteY3" fmla="*/ 311150 h 531165"/>
                    <a:gd name="connsiteX4" fmla="*/ 91134 w 622300"/>
                    <a:gd name="connsiteY4" fmla="*/ 531166 h 5311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2300" h="531165">
                      <a:moveTo>
                        <a:pt x="531166" y="531166"/>
                      </a:moveTo>
                      <a:cubicBezTo>
                        <a:pt x="587473" y="474859"/>
                        <a:pt x="622300" y="397072"/>
                        <a:pt x="622300" y="311150"/>
                      </a:cubicBezTo>
                      <a:cubicBezTo>
                        <a:pt x="622300" y="139306"/>
                        <a:pt x="482994" y="0"/>
                        <a:pt x="311150" y="0"/>
                      </a:cubicBezTo>
                      <a:cubicBezTo>
                        <a:pt x="139306" y="0"/>
                        <a:pt x="0" y="139306"/>
                        <a:pt x="0" y="311150"/>
                      </a:cubicBezTo>
                      <a:cubicBezTo>
                        <a:pt x="0" y="397072"/>
                        <a:pt x="34827" y="474859"/>
                        <a:pt x="91134" y="531166"/>
                      </a:cubicBez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297" name="任意多边形: 形状 11296">
                  <a:extLst>
                    <a:ext uri="{FF2B5EF4-FFF2-40B4-BE49-F238E27FC236}">
                      <a16:creationId xmlns:a16="http://schemas.microsoft.com/office/drawing/2014/main" id="{B2CE47D5-CC85-0103-3B31-5D2A157F91C0}"/>
                    </a:ext>
                  </a:extLst>
                </p:cNvPr>
                <p:cNvSpPr/>
                <p:nvPr/>
              </p:nvSpPr>
              <p:spPr>
                <a:xfrm>
                  <a:off x="186532" y="2351616"/>
                  <a:ext cx="14816" cy="59266"/>
                </a:xfrm>
                <a:custGeom>
                  <a:avLst/>
                  <a:gdLst>
                    <a:gd name="connsiteX0" fmla="*/ 0 w 14816"/>
                    <a:gd name="connsiteY0" fmla="*/ 0 h 59266"/>
                    <a:gd name="connsiteX1" fmla="*/ 0 w 14816"/>
                    <a:gd name="connsiteY1" fmla="*/ 59267 h 59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816" h="59266">
                      <a:moveTo>
                        <a:pt x="0" y="0"/>
                      </a:moveTo>
                      <a:lnTo>
                        <a:pt x="0" y="59267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298" name="任意多边形: 形状 11297">
                  <a:extLst>
                    <a:ext uri="{FF2B5EF4-FFF2-40B4-BE49-F238E27FC236}">
                      <a16:creationId xmlns:a16="http://schemas.microsoft.com/office/drawing/2014/main" id="{9594AB3D-E020-7C79-0981-411E67FE0E4C}"/>
                    </a:ext>
                  </a:extLst>
                </p:cNvPr>
                <p:cNvSpPr/>
                <p:nvPr/>
              </p:nvSpPr>
              <p:spPr>
                <a:xfrm>
                  <a:off x="360432" y="2457438"/>
                  <a:ext cx="46059" cy="37296"/>
                </a:xfrm>
                <a:custGeom>
                  <a:avLst/>
                  <a:gdLst>
                    <a:gd name="connsiteX0" fmla="*/ 46059 w 46059"/>
                    <a:gd name="connsiteY0" fmla="*/ 0 h 37296"/>
                    <a:gd name="connsiteX1" fmla="*/ 0 w 46059"/>
                    <a:gd name="connsiteY1" fmla="*/ 37297 h 372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6059" h="37296">
                      <a:moveTo>
                        <a:pt x="46059" y="0"/>
                      </a:moveTo>
                      <a:lnTo>
                        <a:pt x="0" y="37297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299" name="任意多边形: 形状 11298">
                  <a:extLst>
                    <a:ext uri="{FF2B5EF4-FFF2-40B4-BE49-F238E27FC236}">
                      <a16:creationId xmlns:a16="http://schemas.microsoft.com/office/drawing/2014/main" id="{335870B8-1072-F829-3029-421E3AE69442}"/>
                    </a:ext>
                  </a:extLst>
                </p:cNvPr>
                <p:cNvSpPr/>
                <p:nvPr/>
              </p:nvSpPr>
              <p:spPr>
                <a:xfrm>
                  <a:off x="403222" y="2682517"/>
                  <a:ext cx="57747" cy="13332"/>
                </a:xfrm>
                <a:custGeom>
                  <a:avLst/>
                  <a:gdLst>
                    <a:gd name="connsiteX0" fmla="*/ 57748 w 57747"/>
                    <a:gd name="connsiteY0" fmla="*/ 13332 h 13332"/>
                    <a:gd name="connsiteX1" fmla="*/ 0 w 57747"/>
                    <a:gd name="connsiteY1" fmla="*/ 0 h 13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7747" h="13332">
                      <a:moveTo>
                        <a:pt x="57748" y="1333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300" name="任意多边形: 形状 11299">
                  <a:extLst>
                    <a:ext uri="{FF2B5EF4-FFF2-40B4-BE49-F238E27FC236}">
                      <a16:creationId xmlns:a16="http://schemas.microsoft.com/office/drawing/2014/main" id="{1490DA09-0C28-C996-9B57-20B90001A98A}"/>
                    </a:ext>
                  </a:extLst>
                </p:cNvPr>
                <p:cNvSpPr/>
                <p:nvPr/>
              </p:nvSpPr>
              <p:spPr>
                <a:xfrm>
                  <a:off x="-87911" y="2682517"/>
                  <a:ext cx="57747" cy="13332"/>
                </a:xfrm>
                <a:custGeom>
                  <a:avLst/>
                  <a:gdLst>
                    <a:gd name="connsiteX0" fmla="*/ 0 w 57747"/>
                    <a:gd name="connsiteY0" fmla="*/ 13332 h 13332"/>
                    <a:gd name="connsiteX1" fmla="*/ 57748 w 57747"/>
                    <a:gd name="connsiteY1" fmla="*/ 0 h 13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7747" h="13332">
                      <a:moveTo>
                        <a:pt x="0" y="13332"/>
                      </a:moveTo>
                      <a:lnTo>
                        <a:pt x="57748" y="0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301" name="任意多边形: 形状 11300">
                  <a:extLst>
                    <a:ext uri="{FF2B5EF4-FFF2-40B4-BE49-F238E27FC236}">
                      <a16:creationId xmlns:a16="http://schemas.microsoft.com/office/drawing/2014/main" id="{BBB1A818-A0F0-6913-5E95-03A966237C29}"/>
                    </a:ext>
                  </a:extLst>
                </p:cNvPr>
                <p:cNvSpPr/>
                <p:nvPr/>
              </p:nvSpPr>
              <p:spPr>
                <a:xfrm>
                  <a:off x="-33426" y="2457437"/>
                  <a:ext cx="46058" cy="37297"/>
                </a:xfrm>
                <a:custGeom>
                  <a:avLst/>
                  <a:gdLst>
                    <a:gd name="connsiteX0" fmla="*/ 0 w 46058"/>
                    <a:gd name="connsiteY0" fmla="*/ 0 h 37297"/>
                    <a:gd name="connsiteX1" fmla="*/ 46059 w 46058"/>
                    <a:gd name="connsiteY1" fmla="*/ 37298 h 372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6058" h="37297">
                      <a:moveTo>
                        <a:pt x="0" y="0"/>
                      </a:moveTo>
                      <a:lnTo>
                        <a:pt x="46059" y="37298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02" name="组合 11301">
                <a:extLst>
                  <a:ext uri="{FF2B5EF4-FFF2-40B4-BE49-F238E27FC236}">
                    <a16:creationId xmlns:a16="http://schemas.microsoft.com/office/drawing/2014/main" id="{2B6262A3-9BF6-7061-2800-183EE965DA78}"/>
                  </a:ext>
                </a:extLst>
              </p:cNvPr>
              <p:cNvGrpSpPr/>
              <p:nvPr/>
            </p:nvGrpSpPr>
            <p:grpSpPr>
              <a:xfrm>
                <a:off x="9357619" y="2267016"/>
                <a:ext cx="592667" cy="607483"/>
                <a:chOff x="11608329" y="2718092"/>
                <a:chExt cx="592667" cy="607483"/>
              </a:xfrm>
            </p:grpSpPr>
            <p:sp>
              <p:nvSpPr>
                <p:cNvPr id="11303" name="任意多边形: 形状 11302">
                  <a:extLst>
                    <a:ext uri="{FF2B5EF4-FFF2-40B4-BE49-F238E27FC236}">
                      <a16:creationId xmlns:a16="http://schemas.microsoft.com/office/drawing/2014/main" id="{CD88E422-BD2F-08AB-7629-C60E8F45C908}"/>
                    </a:ext>
                  </a:extLst>
                </p:cNvPr>
                <p:cNvSpPr/>
                <p:nvPr/>
              </p:nvSpPr>
              <p:spPr>
                <a:xfrm>
                  <a:off x="11608329" y="3310759"/>
                  <a:ext cx="592666" cy="14816"/>
                </a:xfrm>
                <a:custGeom>
                  <a:avLst/>
                  <a:gdLst>
                    <a:gd name="connsiteX0" fmla="*/ 0 w 592666"/>
                    <a:gd name="connsiteY0" fmla="*/ 0 h 14816"/>
                    <a:gd name="connsiteX1" fmla="*/ 592667 w 592666"/>
                    <a:gd name="connsiteY1" fmla="*/ 0 h 148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92666" h="14816">
                      <a:moveTo>
                        <a:pt x="0" y="0"/>
                      </a:moveTo>
                      <a:lnTo>
                        <a:pt x="592667" y="0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11304" name="任意多边形: 形状 11303">
                  <a:extLst>
                    <a:ext uri="{FF2B5EF4-FFF2-40B4-BE49-F238E27FC236}">
                      <a16:creationId xmlns:a16="http://schemas.microsoft.com/office/drawing/2014/main" id="{B1FD7B88-7375-FBA1-2336-B40200CC759B}"/>
                    </a:ext>
                  </a:extLst>
                </p:cNvPr>
                <p:cNvSpPr/>
                <p:nvPr/>
              </p:nvSpPr>
              <p:spPr>
                <a:xfrm>
                  <a:off x="11608329" y="3044059"/>
                  <a:ext cx="118533" cy="177800"/>
                </a:xfrm>
                <a:custGeom>
                  <a:avLst/>
                  <a:gdLst>
                    <a:gd name="connsiteX0" fmla="*/ 0 w 118533"/>
                    <a:gd name="connsiteY0" fmla="*/ 0 h 177800"/>
                    <a:gd name="connsiteX1" fmla="*/ 118533 w 118533"/>
                    <a:gd name="connsiteY1" fmla="*/ 29633 h 177800"/>
                    <a:gd name="connsiteX2" fmla="*/ 118533 w 118533"/>
                    <a:gd name="connsiteY2" fmla="*/ 177800 h 177800"/>
                    <a:gd name="connsiteX3" fmla="*/ 0 w 118533"/>
                    <a:gd name="connsiteY3" fmla="*/ 177800 h 177800"/>
                    <a:gd name="connsiteX4" fmla="*/ 0 w 118533"/>
                    <a:gd name="connsiteY4" fmla="*/ 0 h 177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533" h="177800">
                      <a:moveTo>
                        <a:pt x="0" y="0"/>
                      </a:moveTo>
                      <a:lnTo>
                        <a:pt x="118533" y="29633"/>
                      </a:lnTo>
                      <a:lnTo>
                        <a:pt x="118533" y="177800"/>
                      </a:lnTo>
                      <a:lnTo>
                        <a:pt x="0" y="1778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7B22E"/>
                </a:solidFill>
                <a:ln w="29369" cap="flat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11305" name="任意多边形: 形状 11304">
                  <a:extLst>
                    <a:ext uri="{FF2B5EF4-FFF2-40B4-BE49-F238E27FC236}">
                      <a16:creationId xmlns:a16="http://schemas.microsoft.com/office/drawing/2014/main" id="{BD7F7120-3B61-2B66-2715-AC41C4A270AA}"/>
                    </a:ext>
                  </a:extLst>
                </p:cNvPr>
                <p:cNvSpPr/>
                <p:nvPr/>
              </p:nvSpPr>
              <p:spPr>
                <a:xfrm>
                  <a:off x="11845396" y="2955159"/>
                  <a:ext cx="118533" cy="266700"/>
                </a:xfrm>
                <a:custGeom>
                  <a:avLst/>
                  <a:gdLst>
                    <a:gd name="connsiteX0" fmla="*/ 0 w 118533"/>
                    <a:gd name="connsiteY0" fmla="*/ 59267 h 266700"/>
                    <a:gd name="connsiteX1" fmla="*/ 118533 w 118533"/>
                    <a:gd name="connsiteY1" fmla="*/ 0 h 266700"/>
                    <a:gd name="connsiteX2" fmla="*/ 118533 w 118533"/>
                    <a:gd name="connsiteY2" fmla="*/ 266700 h 266700"/>
                    <a:gd name="connsiteX3" fmla="*/ 0 w 118533"/>
                    <a:gd name="connsiteY3" fmla="*/ 266700 h 266700"/>
                    <a:gd name="connsiteX4" fmla="*/ 0 w 118533"/>
                    <a:gd name="connsiteY4" fmla="*/ 59267 h 266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533" h="266700">
                      <a:moveTo>
                        <a:pt x="0" y="59267"/>
                      </a:moveTo>
                      <a:lnTo>
                        <a:pt x="118533" y="0"/>
                      </a:lnTo>
                      <a:lnTo>
                        <a:pt x="118533" y="266700"/>
                      </a:lnTo>
                      <a:lnTo>
                        <a:pt x="0" y="266700"/>
                      </a:lnTo>
                      <a:lnTo>
                        <a:pt x="0" y="59267"/>
                      </a:lnTo>
                      <a:close/>
                    </a:path>
                  </a:pathLst>
                </a:custGeom>
                <a:solidFill>
                  <a:srgbClr val="87B22E"/>
                </a:solidFill>
                <a:ln w="29369" cap="flat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11306" name="任意多边形: 形状 11305">
                  <a:extLst>
                    <a:ext uri="{FF2B5EF4-FFF2-40B4-BE49-F238E27FC236}">
                      <a16:creationId xmlns:a16="http://schemas.microsoft.com/office/drawing/2014/main" id="{6AF4D5FC-C830-C9C0-446D-FC95E13862C7}"/>
                    </a:ext>
                  </a:extLst>
                </p:cNvPr>
                <p:cNvSpPr/>
                <p:nvPr/>
              </p:nvSpPr>
              <p:spPr>
                <a:xfrm>
                  <a:off x="12082463" y="2836626"/>
                  <a:ext cx="118533" cy="385233"/>
                </a:xfrm>
                <a:custGeom>
                  <a:avLst/>
                  <a:gdLst>
                    <a:gd name="connsiteX0" fmla="*/ 0 w 118533"/>
                    <a:gd name="connsiteY0" fmla="*/ 59267 h 385233"/>
                    <a:gd name="connsiteX1" fmla="*/ 118533 w 118533"/>
                    <a:gd name="connsiteY1" fmla="*/ 0 h 385233"/>
                    <a:gd name="connsiteX2" fmla="*/ 118533 w 118533"/>
                    <a:gd name="connsiteY2" fmla="*/ 385233 h 385233"/>
                    <a:gd name="connsiteX3" fmla="*/ 0 w 118533"/>
                    <a:gd name="connsiteY3" fmla="*/ 385233 h 385233"/>
                    <a:gd name="connsiteX4" fmla="*/ 0 w 118533"/>
                    <a:gd name="connsiteY4" fmla="*/ 59267 h 3852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533" h="385233">
                      <a:moveTo>
                        <a:pt x="0" y="59267"/>
                      </a:moveTo>
                      <a:lnTo>
                        <a:pt x="118533" y="0"/>
                      </a:lnTo>
                      <a:lnTo>
                        <a:pt x="118533" y="385233"/>
                      </a:lnTo>
                      <a:lnTo>
                        <a:pt x="0" y="385233"/>
                      </a:lnTo>
                      <a:lnTo>
                        <a:pt x="0" y="59267"/>
                      </a:lnTo>
                      <a:close/>
                    </a:path>
                  </a:pathLst>
                </a:custGeom>
                <a:solidFill>
                  <a:srgbClr val="87B22E"/>
                </a:solidFill>
                <a:ln w="29369" cap="flat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11307" name="任意多边形: 形状 11306">
                  <a:extLst>
                    <a:ext uri="{FF2B5EF4-FFF2-40B4-BE49-F238E27FC236}">
                      <a16:creationId xmlns:a16="http://schemas.microsoft.com/office/drawing/2014/main" id="{0896DD39-13CF-CE07-0D79-E36BFF7740BB}"/>
                    </a:ext>
                  </a:extLst>
                </p:cNvPr>
                <p:cNvSpPr/>
                <p:nvPr/>
              </p:nvSpPr>
              <p:spPr>
                <a:xfrm>
                  <a:off x="11608329" y="2718092"/>
                  <a:ext cx="592666" cy="237066"/>
                </a:xfrm>
                <a:custGeom>
                  <a:avLst/>
                  <a:gdLst>
                    <a:gd name="connsiteX0" fmla="*/ 0 w 592666"/>
                    <a:gd name="connsiteY0" fmla="*/ 207433 h 237066"/>
                    <a:gd name="connsiteX1" fmla="*/ 118533 w 592666"/>
                    <a:gd name="connsiteY1" fmla="*/ 237067 h 237066"/>
                    <a:gd name="connsiteX2" fmla="*/ 592667 w 592666"/>
                    <a:gd name="connsiteY2" fmla="*/ 0 h 237066"/>
                    <a:gd name="connsiteX3" fmla="*/ 444500 w 592666"/>
                    <a:gd name="connsiteY3" fmla="*/ 0 h 237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2666" h="237066">
                      <a:moveTo>
                        <a:pt x="0" y="207433"/>
                      </a:moveTo>
                      <a:lnTo>
                        <a:pt x="118533" y="237067"/>
                      </a:lnTo>
                      <a:lnTo>
                        <a:pt x="592667" y="0"/>
                      </a:lnTo>
                      <a:lnTo>
                        <a:pt x="444500" y="0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</p:grpSp>
          <p:grpSp>
            <p:nvGrpSpPr>
              <p:cNvPr id="11325" name="组合 11324">
                <a:extLst>
                  <a:ext uri="{FF2B5EF4-FFF2-40B4-BE49-F238E27FC236}">
                    <a16:creationId xmlns:a16="http://schemas.microsoft.com/office/drawing/2014/main" id="{C7F17E22-4F94-BAE7-6A0F-900514923589}"/>
                  </a:ext>
                </a:extLst>
              </p:cNvPr>
              <p:cNvGrpSpPr/>
              <p:nvPr/>
            </p:nvGrpSpPr>
            <p:grpSpPr>
              <a:xfrm>
                <a:off x="2301080" y="2274425"/>
                <a:ext cx="474133" cy="592666"/>
                <a:chOff x="2301080" y="2274425"/>
                <a:chExt cx="474133" cy="592666"/>
              </a:xfrm>
            </p:grpSpPr>
            <p:sp>
              <p:nvSpPr>
                <p:cNvPr id="11309" name="任意多边形: 形状 11308">
                  <a:extLst>
                    <a:ext uri="{FF2B5EF4-FFF2-40B4-BE49-F238E27FC236}">
                      <a16:creationId xmlns:a16="http://schemas.microsoft.com/office/drawing/2014/main" id="{946CE9F1-9DCD-0D0F-9177-36482828ED60}"/>
                    </a:ext>
                  </a:extLst>
                </p:cNvPr>
                <p:cNvSpPr/>
                <p:nvPr/>
              </p:nvSpPr>
              <p:spPr>
                <a:xfrm>
                  <a:off x="2301080" y="2341099"/>
                  <a:ext cx="474133" cy="474133"/>
                </a:xfrm>
                <a:custGeom>
                  <a:avLst/>
                  <a:gdLst>
                    <a:gd name="connsiteX0" fmla="*/ 237067 w 474133"/>
                    <a:gd name="connsiteY0" fmla="*/ 474134 h 474133"/>
                    <a:gd name="connsiteX1" fmla="*/ 474134 w 474133"/>
                    <a:gd name="connsiteY1" fmla="*/ 237067 h 474133"/>
                    <a:gd name="connsiteX2" fmla="*/ 237067 w 474133"/>
                    <a:gd name="connsiteY2" fmla="*/ 0 h 474133"/>
                    <a:gd name="connsiteX3" fmla="*/ 0 w 474133"/>
                    <a:gd name="connsiteY3" fmla="*/ 237067 h 474133"/>
                    <a:gd name="connsiteX4" fmla="*/ 237067 w 474133"/>
                    <a:gd name="connsiteY4" fmla="*/ 474134 h 474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4133" h="474133">
                      <a:moveTo>
                        <a:pt x="237067" y="474134"/>
                      </a:moveTo>
                      <a:cubicBezTo>
                        <a:pt x="368046" y="474134"/>
                        <a:pt x="474134" y="368046"/>
                        <a:pt x="474134" y="237067"/>
                      </a:cubicBezTo>
                      <a:cubicBezTo>
                        <a:pt x="474134" y="106088"/>
                        <a:pt x="368046" y="0"/>
                        <a:pt x="237067" y="0"/>
                      </a:cubicBezTo>
                      <a:cubicBezTo>
                        <a:pt x="106088" y="0"/>
                        <a:pt x="0" y="106088"/>
                        <a:pt x="0" y="237067"/>
                      </a:cubicBezTo>
                      <a:cubicBezTo>
                        <a:pt x="0" y="368046"/>
                        <a:pt x="106088" y="474134"/>
                        <a:pt x="237067" y="474134"/>
                      </a:cubicBezTo>
                      <a:close/>
                    </a:path>
                  </a:pathLst>
                </a:custGeom>
                <a:solidFill>
                  <a:srgbClr val="87B22E"/>
                </a:solidFill>
                <a:ln w="29369" cap="flat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 dirty="0">
                    <a:solidFill>
                      <a:srgbClr val="92D050"/>
                    </a:solidFill>
                  </a:endParaRPr>
                </a:p>
              </p:txBody>
            </p:sp>
            <p:sp>
              <p:nvSpPr>
                <p:cNvPr id="11310" name="任意多边形: 形状 11309">
                  <a:extLst>
                    <a:ext uri="{FF2B5EF4-FFF2-40B4-BE49-F238E27FC236}">
                      <a16:creationId xmlns:a16="http://schemas.microsoft.com/office/drawing/2014/main" id="{162D2A59-18AC-C523-5BE6-53DCF0CD477C}"/>
                    </a:ext>
                  </a:extLst>
                </p:cNvPr>
                <p:cNvSpPr/>
                <p:nvPr/>
              </p:nvSpPr>
              <p:spPr>
                <a:xfrm>
                  <a:off x="2419614" y="2452225"/>
                  <a:ext cx="237066" cy="237066"/>
                </a:xfrm>
                <a:custGeom>
                  <a:avLst/>
                  <a:gdLst>
                    <a:gd name="connsiteX0" fmla="*/ 118533 w 237066"/>
                    <a:gd name="connsiteY0" fmla="*/ 237067 h 237066"/>
                    <a:gd name="connsiteX1" fmla="*/ 237067 w 237066"/>
                    <a:gd name="connsiteY1" fmla="*/ 118533 h 237066"/>
                    <a:gd name="connsiteX2" fmla="*/ 118533 w 237066"/>
                    <a:gd name="connsiteY2" fmla="*/ 0 h 237066"/>
                    <a:gd name="connsiteX3" fmla="*/ 0 w 237066"/>
                    <a:gd name="connsiteY3" fmla="*/ 118533 h 237066"/>
                    <a:gd name="connsiteX4" fmla="*/ 118533 w 237066"/>
                    <a:gd name="connsiteY4" fmla="*/ 237067 h 237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7066" h="237066">
                      <a:moveTo>
                        <a:pt x="118533" y="237067"/>
                      </a:moveTo>
                      <a:cubicBezTo>
                        <a:pt x="184023" y="237067"/>
                        <a:pt x="237067" y="184023"/>
                        <a:pt x="237067" y="118533"/>
                      </a:cubicBezTo>
                      <a:cubicBezTo>
                        <a:pt x="237067" y="53044"/>
                        <a:pt x="184023" y="0"/>
                        <a:pt x="118533" y="0"/>
                      </a:cubicBezTo>
                      <a:cubicBezTo>
                        <a:pt x="53044" y="0"/>
                        <a:pt x="0" y="53044"/>
                        <a:pt x="0" y="118533"/>
                      </a:cubicBezTo>
                      <a:cubicBezTo>
                        <a:pt x="0" y="184023"/>
                        <a:pt x="53044" y="237067"/>
                        <a:pt x="118533" y="23706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9369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311" name="任意多边形: 形状 11310">
                  <a:extLst>
                    <a:ext uri="{FF2B5EF4-FFF2-40B4-BE49-F238E27FC236}">
                      <a16:creationId xmlns:a16="http://schemas.microsoft.com/office/drawing/2014/main" id="{75CB0BD8-6A40-A732-9AE5-557B1DA6C57C}"/>
                    </a:ext>
                  </a:extLst>
                </p:cNvPr>
                <p:cNvSpPr/>
                <p:nvPr/>
              </p:nvSpPr>
              <p:spPr>
                <a:xfrm>
                  <a:off x="2508514" y="2541125"/>
                  <a:ext cx="59266" cy="59266"/>
                </a:xfrm>
                <a:custGeom>
                  <a:avLst/>
                  <a:gdLst>
                    <a:gd name="connsiteX0" fmla="*/ 29633 w 59266"/>
                    <a:gd name="connsiteY0" fmla="*/ 59267 h 59266"/>
                    <a:gd name="connsiteX1" fmla="*/ 59267 w 59266"/>
                    <a:gd name="connsiteY1" fmla="*/ 29633 h 59266"/>
                    <a:gd name="connsiteX2" fmla="*/ 29633 w 59266"/>
                    <a:gd name="connsiteY2" fmla="*/ 0 h 59266"/>
                    <a:gd name="connsiteX3" fmla="*/ 0 w 59266"/>
                    <a:gd name="connsiteY3" fmla="*/ 29633 h 59266"/>
                    <a:gd name="connsiteX4" fmla="*/ 29633 w 59266"/>
                    <a:gd name="connsiteY4" fmla="*/ 59267 h 59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266" h="59266">
                      <a:moveTo>
                        <a:pt x="29633" y="59267"/>
                      </a:moveTo>
                      <a:cubicBezTo>
                        <a:pt x="45932" y="59267"/>
                        <a:pt x="59267" y="45932"/>
                        <a:pt x="59267" y="29633"/>
                      </a:cubicBezTo>
                      <a:cubicBezTo>
                        <a:pt x="59267" y="13335"/>
                        <a:pt x="45932" y="0"/>
                        <a:pt x="29633" y="0"/>
                      </a:cubicBezTo>
                      <a:cubicBezTo>
                        <a:pt x="13335" y="0"/>
                        <a:pt x="0" y="13335"/>
                        <a:pt x="0" y="29633"/>
                      </a:cubicBezTo>
                      <a:cubicBezTo>
                        <a:pt x="0" y="45932"/>
                        <a:pt x="13335" y="59267"/>
                        <a:pt x="29633" y="59267"/>
                      </a:cubicBezTo>
                      <a:close/>
                    </a:path>
                  </a:pathLst>
                </a:custGeom>
                <a:solidFill>
                  <a:srgbClr val="87B22E"/>
                </a:solidFill>
                <a:ln w="1468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312" name="任意多边形: 形状 11311">
                  <a:extLst>
                    <a:ext uri="{FF2B5EF4-FFF2-40B4-BE49-F238E27FC236}">
                      <a16:creationId xmlns:a16="http://schemas.microsoft.com/office/drawing/2014/main" id="{8EEE821C-FD3E-B04A-D445-276D3BD0F0E6}"/>
                    </a:ext>
                  </a:extLst>
                </p:cNvPr>
                <p:cNvSpPr/>
                <p:nvPr/>
              </p:nvSpPr>
              <p:spPr>
                <a:xfrm>
                  <a:off x="2538147" y="2274425"/>
                  <a:ext cx="14816" cy="59266"/>
                </a:xfrm>
                <a:custGeom>
                  <a:avLst/>
                  <a:gdLst>
                    <a:gd name="connsiteX0" fmla="*/ 0 w 14816"/>
                    <a:gd name="connsiteY0" fmla="*/ 59267 h 59266"/>
                    <a:gd name="connsiteX1" fmla="*/ 0 w 14816"/>
                    <a:gd name="connsiteY1" fmla="*/ 0 h 59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816" h="59266">
                      <a:moveTo>
                        <a:pt x="0" y="5926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313" name="任意多边形: 形状 11312">
                  <a:extLst>
                    <a:ext uri="{FF2B5EF4-FFF2-40B4-BE49-F238E27FC236}">
                      <a16:creationId xmlns:a16="http://schemas.microsoft.com/office/drawing/2014/main" id="{76B6A939-EF73-67D0-993A-0BCF03F291F9}"/>
                    </a:ext>
                  </a:extLst>
                </p:cNvPr>
                <p:cNvSpPr/>
                <p:nvPr/>
              </p:nvSpPr>
              <p:spPr>
                <a:xfrm>
                  <a:off x="2686314" y="2763375"/>
                  <a:ext cx="59266" cy="103716"/>
                </a:xfrm>
                <a:custGeom>
                  <a:avLst/>
                  <a:gdLst>
                    <a:gd name="connsiteX0" fmla="*/ 59267 w 59266"/>
                    <a:gd name="connsiteY0" fmla="*/ 103717 h 103716"/>
                    <a:gd name="connsiteX1" fmla="*/ 0 w 59266"/>
                    <a:gd name="connsiteY1" fmla="*/ 0 h 103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9266" h="103716">
                      <a:moveTo>
                        <a:pt x="59267" y="10371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sp>
              <p:nvSpPr>
                <p:cNvPr id="11314" name="任意多边形: 形状 11313">
                  <a:extLst>
                    <a:ext uri="{FF2B5EF4-FFF2-40B4-BE49-F238E27FC236}">
                      <a16:creationId xmlns:a16="http://schemas.microsoft.com/office/drawing/2014/main" id="{223E494A-C7EE-B1F5-4DB1-01C352D7BC77}"/>
                    </a:ext>
                  </a:extLst>
                </p:cNvPr>
                <p:cNvSpPr/>
                <p:nvPr/>
              </p:nvSpPr>
              <p:spPr>
                <a:xfrm>
                  <a:off x="2330714" y="2763375"/>
                  <a:ext cx="59267" cy="103716"/>
                </a:xfrm>
                <a:custGeom>
                  <a:avLst/>
                  <a:gdLst>
                    <a:gd name="connsiteX0" fmla="*/ 59267 w 59267"/>
                    <a:gd name="connsiteY0" fmla="*/ 0 h 103716"/>
                    <a:gd name="connsiteX1" fmla="*/ 0 w 59267"/>
                    <a:gd name="connsiteY1" fmla="*/ 103717 h 103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9267" h="103716">
                      <a:moveTo>
                        <a:pt x="59267" y="0"/>
                      </a:moveTo>
                      <a:lnTo>
                        <a:pt x="0" y="103717"/>
                      </a:lnTo>
                    </a:path>
                  </a:pathLst>
                </a:custGeom>
                <a:noFill/>
                <a:ln w="29369" cap="rnd">
                  <a:solidFill>
                    <a:srgbClr val="87B22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</p:grpSp>
      </p:grpSp>
      <p:sp>
        <p:nvSpPr>
          <p:cNvPr id="11324" name="Freeform 60">
            <a:extLst>
              <a:ext uri="{FF2B5EF4-FFF2-40B4-BE49-F238E27FC236}">
                <a16:creationId xmlns:a16="http://schemas.microsoft.com/office/drawing/2014/main" id="{7E2862C7-FB06-798F-B059-12C58A03E578}"/>
              </a:ext>
            </a:extLst>
          </p:cNvPr>
          <p:cNvSpPr/>
          <p:nvPr/>
        </p:nvSpPr>
        <p:spPr>
          <a:xfrm>
            <a:off x="295026" y="5255644"/>
            <a:ext cx="11087100" cy="805387"/>
          </a:xfrm>
          <a:custGeom>
            <a:avLst/>
            <a:gdLst/>
            <a:ahLst/>
            <a:cxnLst/>
            <a:rect l="l" t="t" r="r" b="b"/>
            <a:pathLst>
              <a:path w="11087100" h="704850">
                <a:moveTo>
                  <a:pt x="133350" y="0"/>
                </a:moveTo>
                <a:lnTo>
                  <a:pt x="10953750" y="0"/>
                </a:lnTo>
                <a:cubicBezTo>
                  <a:pt x="11027397" y="0"/>
                  <a:pt x="11087100" y="59703"/>
                  <a:pt x="11087100" y="133350"/>
                </a:cubicBezTo>
                <a:lnTo>
                  <a:pt x="11087100" y="571500"/>
                </a:lnTo>
                <a:cubicBezTo>
                  <a:pt x="11087100" y="645147"/>
                  <a:pt x="11027397" y="704850"/>
                  <a:pt x="10953750" y="704850"/>
                </a:cubicBezTo>
                <a:lnTo>
                  <a:pt x="133350" y="704850"/>
                </a:lnTo>
                <a:cubicBezTo>
                  <a:pt x="59703" y="704850"/>
                  <a:pt x="0" y="645147"/>
                  <a:pt x="0" y="5715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6B8E00">
              <a:alpha val="6000"/>
            </a:srgbClr>
          </a:solidFill>
          <a:ln>
            <a:noFill/>
          </a:ln>
        </p:spPr>
      </p:sp>
      <p:sp>
        <p:nvSpPr>
          <p:cNvPr id="4096" name="TextBox 61">
            <a:extLst>
              <a:ext uri="{FF2B5EF4-FFF2-40B4-BE49-F238E27FC236}">
                <a16:creationId xmlns:a16="http://schemas.microsoft.com/office/drawing/2014/main" id="{0B4566B3-6C27-B002-FFE8-1496257123FF}"/>
              </a:ext>
            </a:extLst>
          </p:cNvPr>
          <p:cNvSpPr txBox="1"/>
          <p:nvPr/>
        </p:nvSpPr>
        <p:spPr>
          <a:xfrm>
            <a:off x="525292" y="5495341"/>
            <a:ext cx="9154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B8E00"/>
                </a:solidFill>
                <a:latin typeface="Arial"/>
                <a:ea typeface="Microsoft YaHei"/>
                <a:cs typeface="Arial"/>
              </a:rPr>
              <a:t>结果同时覆盖交付、效率、业务效果和复用价值，整体履职结果达到预期。</a:t>
            </a:r>
          </a:p>
        </p:txBody>
      </p:sp>
      <p:pic>
        <p:nvPicPr>
          <p:cNvPr id="4099" name="图片 4098">
            <a:extLst>
              <a:ext uri="{FF2B5EF4-FFF2-40B4-BE49-F238E27FC236}">
                <a16:creationId xmlns:a16="http://schemas.microsoft.com/office/drawing/2014/main" id="{6F32FCB4-BBE4-5449-75AF-9FBE8E64E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948" y="2968773"/>
            <a:ext cx="5600741" cy="323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1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/>
        </p:nvSpPr>
        <p:spPr>
          <a:xfrm>
            <a:off x="838200" y="153035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四、关键问题突破举例∶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6735" y="1008467"/>
            <a:ext cx="11418573" cy="555707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dirty="0">
                <a:latin typeface="+mj-ea"/>
                <a:ea typeface="+mj-ea"/>
                <a:sym typeface="+mn-ea"/>
              </a:rPr>
              <a:t>举例试用期内个人在岗履职期间的关键事例，说明个人如何解决业务问题实现突破，</a:t>
            </a:r>
          </a:p>
          <a:p>
            <a:pPr algn="l">
              <a:lnSpc>
                <a:spcPct val="120000"/>
              </a:lnSpc>
            </a:pPr>
            <a:r>
              <a:rPr lang="zh-CN" altLang="en-US" sz="2400" dirty="0">
                <a:latin typeface="+mj-ea"/>
                <a:ea typeface="+mj-ea"/>
                <a:sym typeface="+mn-ea"/>
              </a:rPr>
              <a:t>以及个人的贡献和价值，证明自己的结果导向和业务能力</a:t>
            </a:r>
          </a:p>
          <a:p>
            <a:pPr algn="l">
              <a:lnSpc>
                <a:spcPct val="120000"/>
              </a:lnSpc>
            </a:pPr>
            <a:endParaRPr lang="zh-CN" altLang="en-US" sz="2400" dirty="0">
              <a:latin typeface="+mj-ea"/>
              <a:ea typeface="+mj-ea"/>
              <a:cs typeface="+mn-cs"/>
              <a:sym typeface="+mn-ea"/>
            </a:endParaRPr>
          </a:p>
          <a:p>
            <a:pPr algn="l">
              <a:lnSpc>
                <a:spcPct val="120000"/>
              </a:lnSpc>
            </a:pPr>
            <a:endParaRPr lang="zh-CN" altLang="en-US" sz="2400" dirty="0">
              <a:latin typeface="+mj-ea"/>
              <a:ea typeface="+mj-ea"/>
              <a:cs typeface="+mn-cs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本部分是整个转正答辩</a:t>
            </a: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PPT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最为关键的部分，有以下要求：</a:t>
            </a:r>
          </a:p>
          <a:p>
            <a:pPr algn="l"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、挑选最能体现自己能力或贡献的例子，数量不少于</a:t>
            </a: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个</a:t>
            </a:r>
          </a:p>
          <a:p>
            <a:pPr algn="l"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、一般采用 </a:t>
            </a: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STAR 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或 </a:t>
            </a: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STARR 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框架描述，参考 </a:t>
            </a:r>
            <a:endParaRPr lang="en-US" altLang="zh-CN" sz="2400" dirty="0">
              <a:solidFill>
                <a:srgbClr val="FF0000"/>
              </a:solidFill>
              <a:latin typeface="+mj-ea"/>
              <a:ea typeface="+mj-ea"/>
              <a:cs typeface="+mn-cs"/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  <a:cs typeface="+mn-cs"/>
                <a:sym typeface="+mn-ea"/>
              </a:rPr>
              <a:t>、要有定量数据体现，退而求次就是定性数据</a:t>
            </a:r>
          </a:p>
          <a:p>
            <a:pPr algn="l">
              <a:lnSpc>
                <a:spcPct val="120000"/>
              </a:lnSpc>
            </a:pPr>
            <a:endParaRPr lang="zh-CN" altLang="en-US" sz="2400" dirty="0">
              <a:solidFill>
                <a:srgbClr val="FF0000"/>
              </a:solidFill>
              <a:latin typeface="+mj-ea"/>
              <a:ea typeface="+mj-ea"/>
              <a:cs typeface="+mn-cs"/>
              <a:sym typeface="+mn-ea"/>
            </a:endParaRPr>
          </a:p>
          <a:p>
            <a:endParaRPr lang="zh-CN" altLang="en-US" sz="2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0541F-97CC-01D7-B0BF-0FC6CBE8E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B38BD-34B7-4709-8E16-11CC8BC0F25F}"/>
              </a:ext>
            </a:extLst>
          </p:cNvPr>
          <p:cNvSpPr txBox="1">
            <a:spLocks noGrp="1"/>
          </p:cNvSpPr>
          <p:nvPr/>
        </p:nvSpPr>
        <p:spPr>
          <a:xfrm>
            <a:off x="838200" y="153035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457200">
              <a:lnSpc>
                <a:spcPct val="100000"/>
              </a:lnSpc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四、关键问题突破举例（一）∶</a:t>
            </a:r>
            <a:r>
              <a:rPr lang="en-US" altLang="zh-CN" sz="28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28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圣诞与新年活动高压交付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89D244C6-ADF3-7755-7A78-BF252FE8E22D}"/>
              </a:ext>
            </a:extLst>
          </p:cNvPr>
          <p:cNvSpPr/>
          <p:nvPr/>
        </p:nvSpPr>
        <p:spPr>
          <a:xfrm>
            <a:off x="508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8D9F69B-5354-B8FD-8BF2-DAB3FD436754}"/>
              </a:ext>
            </a:extLst>
          </p:cNvPr>
          <p:cNvGrpSpPr/>
          <p:nvPr/>
        </p:nvGrpSpPr>
        <p:grpSpPr>
          <a:xfrm>
            <a:off x="736600" y="2133600"/>
            <a:ext cx="390525" cy="390525"/>
            <a:chOff x="736600" y="2133600"/>
            <a:chExt cx="390525" cy="390525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782773-DA42-981C-DF1E-C32CBAA5C506}"/>
                </a:ext>
              </a:extLst>
            </p:cNvPr>
            <p:cNvSpPr/>
            <p:nvPr/>
          </p:nvSpPr>
          <p:spPr>
            <a:xfrm>
              <a:off x="736600" y="2171700"/>
              <a:ext cx="381000" cy="342900"/>
            </a:xfrm>
            <a:custGeom>
              <a:avLst/>
              <a:gdLst>
                <a:gd name="connsiteX0" fmla="*/ 361950 w 381000"/>
                <a:gd name="connsiteY0" fmla="*/ 0 h 342900"/>
                <a:gd name="connsiteX1" fmla="*/ 381000 w 381000"/>
                <a:gd name="connsiteY1" fmla="*/ 0 h 342900"/>
                <a:gd name="connsiteX2" fmla="*/ 381000 w 381000"/>
                <a:gd name="connsiteY2" fmla="*/ 342900 h 342900"/>
                <a:gd name="connsiteX3" fmla="*/ 361950 w 381000"/>
                <a:gd name="connsiteY3" fmla="*/ 342900 h 342900"/>
                <a:gd name="connsiteX4" fmla="*/ 19050 w 381000"/>
                <a:gd name="connsiteY4" fmla="*/ 342900 h 342900"/>
                <a:gd name="connsiteX5" fmla="*/ 0 w 381000"/>
                <a:gd name="connsiteY5" fmla="*/ 342900 h 342900"/>
                <a:gd name="connsiteX6" fmla="*/ 0 w 381000"/>
                <a:gd name="connsiteY6" fmla="*/ 0 h 342900"/>
                <a:gd name="connsiteX7" fmla="*/ 19050 w 381000"/>
                <a:gd name="connsiteY7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1000" h="342900">
                  <a:moveTo>
                    <a:pt x="361950" y="0"/>
                  </a:moveTo>
                  <a:cubicBezTo>
                    <a:pt x="372471" y="0"/>
                    <a:pt x="381000" y="0"/>
                    <a:pt x="381000" y="0"/>
                  </a:cubicBezTo>
                  <a:lnTo>
                    <a:pt x="381000" y="342900"/>
                  </a:lnTo>
                  <a:cubicBezTo>
                    <a:pt x="381000" y="342900"/>
                    <a:pt x="372471" y="342900"/>
                    <a:pt x="361950" y="342900"/>
                  </a:cubicBezTo>
                  <a:lnTo>
                    <a:pt x="19050" y="342900"/>
                  </a:lnTo>
                  <a:cubicBezTo>
                    <a:pt x="8529" y="342900"/>
                    <a:pt x="0" y="342900"/>
                    <a:pt x="0" y="342900"/>
                  </a:cubicBezTo>
                  <a:lnTo>
                    <a:pt x="0" y="0"/>
                  </a:lnTo>
                  <a:cubicBezTo>
                    <a:pt x="0" y="0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07CC311D-2B1B-5082-604D-3F2AF07B783C}"/>
                </a:ext>
              </a:extLst>
            </p:cNvPr>
            <p:cNvSpPr/>
            <p:nvPr/>
          </p:nvSpPr>
          <p:spPr>
            <a:xfrm>
              <a:off x="736600" y="2286000"/>
              <a:ext cx="381000" cy="9525"/>
            </a:xfrm>
            <a:custGeom>
              <a:avLst/>
              <a:gdLst>
                <a:gd name="connsiteX0" fmla="*/ 0 w 381000"/>
                <a:gd name="connsiteY0" fmla="*/ 0 h 9525"/>
                <a:gd name="connsiteX1" fmla="*/ 381000 w 3810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CDC4208D-DFE5-D0FB-F6AB-841AE387748A}"/>
                </a:ext>
              </a:extLst>
            </p:cNvPr>
            <p:cNvSpPr/>
            <p:nvPr/>
          </p:nvSpPr>
          <p:spPr>
            <a:xfrm>
              <a:off x="736600" y="2400300"/>
              <a:ext cx="381000" cy="9525"/>
            </a:xfrm>
            <a:custGeom>
              <a:avLst/>
              <a:gdLst>
                <a:gd name="connsiteX0" fmla="*/ 0 w 381000"/>
                <a:gd name="connsiteY0" fmla="*/ 0 h 9525"/>
                <a:gd name="connsiteX1" fmla="*/ 381000 w 3810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D42400AF-3046-C47E-3E3E-44040CD9547F}"/>
                </a:ext>
              </a:extLst>
            </p:cNvPr>
            <p:cNvSpPr/>
            <p:nvPr/>
          </p:nvSpPr>
          <p:spPr>
            <a:xfrm>
              <a:off x="860425" y="2133600"/>
              <a:ext cx="9525" cy="76200"/>
            </a:xfrm>
            <a:custGeom>
              <a:avLst/>
              <a:gdLst>
                <a:gd name="connsiteX0" fmla="*/ 0 w 9525"/>
                <a:gd name="connsiteY0" fmla="*/ 0 h 76200"/>
                <a:gd name="connsiteX1" fmla="*/ 0 w 9525"/>
                <a:gd name="connsiteY1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7DDE314D-69A0-9CA2-7A18-49BA385269D8}"/>
                </a:ext>
              </a:extLst>
            </p:cNvPr>
            <p:cNvSpPr/>
            <p:nvPr/>
          </p:nvSpPr>
          <p:spPr>
            <a:xfrm>
              <a:off x="993775" y="2133600"/>
              <a:ext cx="9525" cy="76200"/>
            </a:xfrm>
            <a:custGeom>
              <a:avLst/>
              <a:gdLst>
                <a:gd name="connsiteX0" fmla="*/ 0 w 9525"/>
                <a:gd name="connsiteY0" fmla="*/ 0 h 76200"/>
                <a:gd name="connsiteX1" fmla="*/ 0 w 9525"/>
                <a:gd name="connsiteY1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89DD7D25-1776-596A-316B-77CB0419AB0E}"/>
                </a:ext>
              </a:extLst>
            </p:cNvPr>
            <p:cNvSpPr/>
            <p:nvPr/>
          </p:nvSpPr>
          <p:spPr>
            <a:xfrm>
              <a:off x="860425" y="2286000"/>
              <a:ext cx="9525" cy="228600"/>
            </a:xfrm>
            <a:custGeom>
              <a:avLst/>
              <a:gdLst>
                <a:gd name="connsiteX0" fmla="*/ 0 w 9525"/>
                <a:gd name="connsiteY0" fmla="*/ 0 h 228600"/>
                <a:gd name="connsiteX1" fmla="*/ 0 w 9525"/>
                <a:gd name="connsiteY1" fmla="*/ 2286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BCAFB945-8BBB-2C2B-8E3A-97E82E0D6D27}"/>
                </a:ext>
              </a:extLst>
            </p:cNvPr>
            <p:cNvSpPr/>
            <p:nvPr/>
          </p:nvSpPr>
          <p:spPr>
            <a:xfrm>
              <a:off x="993775" y="2286000"/>
              <a:ext cx="9525" cy="228600"/>
            </a:xfrm>
            <a:custGeom>
              <a:avLst/>
              <a:gdLst>
                <a:gd name="connsiteX0" fmla="*/ 0 w 9525"/>
                <a:gd name="connsiteY0" fmla="*/ 0 h 228600"/>
                <a:gd name="connsiteX1" fmla="*/ 0 w 9525"/>
                <a:gd name="connsiteY1" fmla="*/ 2286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ED73062E-FF05-70D6-9581-8C6EA4FC1B3C}"/>
                </a:ext>
              </a:extLst>
            </p:cNvPr>
            <p:cNvSpPr/>
            <p:nvPr/>
          </p:nvSpPr>
          <p:spPr>
            <a:xfrm>
              <a:off x="1117600" y="2219325"/>
              <a:ext cx="9525" cy="247650"/>
            </a:xfrm>
            <a:custGeom>
              <a:avLst/>
              <a:gdLst>
                <a:gd name="connsiteX0" fmla="*/ 0 w 9525"/>
                <a:gd name="connsiteY0" fmla="*/ 0 h 247650"/>
                <a:gd name="connsiteX1" fmla="*/ 0 w 9525"/>
                <a:gd name="connsiteY1" fmla="*/ 24765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D9D98F44-054D-0588-8950-40E8D3C83937}"/>
                </a:ext>
              </a:extLst>
            </p:cNvPr>
            <p:cNvSpPr/>
            <p:nvPr/>
          </p:nvSpPr>
          <p:spPr>
            <a:xfrm>
              <a:off x="736600" y="2219325"/>
              <a:ext cx="9525" cy="247650"/>
            </a:xfrm>
            <a:custGeom>
              <a:avLst/>
              <a:gdLst>
                <a:gd name="connsiteX0" fmla="*/ 0 w 9525"/>
                <a:gd name="connsiteY0" fmla="*/ 0 h 247650"/>
                <a:gd name="connsiteX1" fmla="*/ 0 w 9525"/>
                <a:gd name="connsiteY1" fmla="*/ 24765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2D54F80C-FFB6-E2F1-3B1D-5825E6320579}"/>
                </a:ext>
              </a:extLst>
            </p:cNvPr>
            <p:cNvSpPr/>
            <p:nvPr/>
          </p:nvSpPr>
          <p:spPr>
            <a:xfrm>
              <a:off x="831850" y="2514600"/>
              <a:ext cx="190500" cy="9525"/>
            </a:xfrm>
            <a:custGeom>
              <a:avLst/>
              <a:gdLst>
                <a:gd name="connsiteX0" fmla="*/ 0 w 190500"/>
                <a:gd name="connsiteY0" fmla="*/ 0 h 9525"/>
                <a:gd name="connsiteX1" fmla="*/ 190500 w 1905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6" name="AutoShape 8">
            <a:extLst>
              <a:ext uri="{FF2B5EF4-FFF2-40B4-BE49-F238E27FC236}">
                <a16:creationId xmlns:a16="http://schemas.microsoft.com/office/drawing/2014/main" id="{D6567361-39EE-804A-1DD9-BAEB80FAFE42}"/>
              </a:ext>
            </a:extLst>
          </p:cNvPr>
          <p:cNvSpPr/>
          <p:nvPr/>
        </p:nvSpPr>
        <p:spPr>
          <a:xfrm>
            <a:off x="1270000" y="2095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项目周期</a:t>
            </a:r>
            <a:endParaRPr lang="en-US" sz="1100"/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67EDEF55-9BDA-1D39-45E7-FF0F8ED80BDF}"/>
              </a:ext>
            </a:extLst>
          </p:cNvPr>
          <p:cNvSpPr/>
          <p:nvPr/>
        </p:nvSpPr>
        <p:spPr>
          <a:xfrm>
            <a:off x="698500" y="26035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87B22E"/>
                </a:solidFill>
                <a:latin typeface="Noto Sans SC"/>
                <a:ea typeface="Noto Sans SC"/>
                <a:cs typeface="Noto Sans SC"/>
                <a:sym typeface="Noto Sans SC"/>
              </a:rPr>
              <a:t>2025.11 – 2025.12</a:t>
            </a:r>
            <a:endParaRPr lang="en-US" sz="1100" dirty="0">
              <a:solidFill>
                <a:srgbClr val="87B22E"/>
              </a:solidFill>
            </a:endParaRPr>
          </a:p>
        </p:txBody>
      </p:sp>
      <p:sp>
        <p:nvSpPr>
          <p:cNvPr id="18" name="AutoShape 10">
            <a:extLst>
              <a:ext uri="{FF2B5EF4-FFF2-40B4-BE49-F238E27FC236}">
                <a16:creationId xmlns:a16="http://schemas.microsoft.com/office/drawing/2014/main" id="{F2660A3E-8E41-2646-DDD2-0F91D668BF45}"/>
              </a:ext>
            </a:extLst>
          </p:cNvPr>
          <p:cNvSpPr/>
          <p:nvPr/>
        </p:nvSpPr>
        <p:spPr>
          <a:xfrm>
            <a:off x="698500" y="2946400"/>
            <a:ext cx="2222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持续两个月，四期推进</a:t>
            </a:r>
            <a:endParaRPr lang="en-US" sz="1100"/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08572903-E5FE-259F-BBE2-36FB6F064506}"/>
              </a:ext>
            </a:extLst>
          </p:cNvPr>
          <p:cNvSpPr/>
          <p:nvPr/>
        </p:nvSpPr>
        <p:spPr>
          <a:xfrm>
            <a:off x="3302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B593515-8036-067C-1A3F-D02E6684B9F7}"/>
              </a:ext>
            </a:extLst>
          </p:cNvPr>
          <p:cNvGrpSpPr/>
          <p:nvPr/>
        </p:nvGrpSpPr>
        <p:grpSpPr>
          <a:xfrm>
            <a:off x="3559175" y="2133600"/>
            <a:ext cx="323850" cy="381000"/>
            <a:chOff x="3559175" y="2133600"/>
            <a:chExt cx="323850" cy="381000"/>
          </a:xfrm>
        </p:grpSpPr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00F1D259-7FDC-D93B-3BC6-D15D9265D44D}"/>
                </a:ext>
              </a:extLst>
            </p:cNvPr>
            <p:cNvSpPr/>
            <p:nvPr/>
          </p:nvSpPr>
          <p:spPr>
            <a:xfrm>
              <a:off x="3559175" y="2190750"/>
              <a:ext cx="323850" cy="323850"/>
            </a:xfrm>
            <a:custGeom>
              <a:avLst/>
              <a:gdLst>
                <a:gd name="connsiteX0" fmla="*/ 161925 w 323850"/>
                <a:gd name="connsiteY0" fmla="*/ 323850 h 323850"/>
                <a:gd name="connsiteX1" fmla="*/ 323850 w 323850"/>
                <a:gd name="connsiteY1" fmla="*/ 161925 h 323850"/>
                <a:gd name="connsiteX2" fmla="*/ 161925 w 323850"/>
                <a:gd name="connsiteY2" fmla="*/ 0 h 323850"/>
                <a:gd name="connsiteX3" fmla="*/ 0 w 323850"/>
                <a:gd name="connsiteY3" fmla="*/ 161925 h 323850"/>
                <a:gd name="connsiteX4" fmla="*/ 161925 w 323850"/>
                <a:gd name="connsiteY4" fmla="*/ 323850 h 323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50" h="323850">
                  <a:moveTo>
                    <a:pt x="161925" y="323850"/>
                  </a:moveTo>
                  <a:cubicBezTo>
                    <a:pt x="251353" y="323850"/>
                    <a:pt x="323850" y="251353"/>
                    <a:pt x="323850" y="161925"/>
                  </a:cubicBezTo>
                  <a:cubicBezTo>
                    <a:pt x="323850" y="72497"/>
                    <a:pt x="251353" y="0"/>
                    <a:pt x="161925" y="0"/>
                  </a:cubicBezTo>
                  <a:cubicBezTo>
                    <a:pt x="72497" y="0"/>
                    <a:pt x="0" y="72497"/>
                    <a:pt x="0" y="161925"/>
                  </a:cubicBezTo>
                  <a:cubicBezTo>
                    <a:pt x="0" y="251353"/>
                    <a:pt x="72497" y="323850"/>
                    <a:pt x="161925" y="323850"/>
                  </a:cubicBezTo>
                  <a:close/>
                </a:path>
              </a:pathLst>
            </a:custGeom>
            <a:solidFill>
              <a:srgbClr val="87B22E"/>
            </a:solidFill>
            <a:ln w="19050" cap="flat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7F2B9FCB-E7FA-E7FA-D6C1-E8595E320661}"/>
                </a:ext>
              </a:extLst>
            </p:cNvPr>
            <p:cNvSpPr/>
            <p:nvPr/>
          </p:nvSpPr>
          <p:spPr>
            <a:xfrm>
              <a:off x="3663950" y="2133600"/>
              <a:ext cx="114300" cy="9525"/>
            </a:xfrm>
            <a:custGeom>
              <a:avLst/>
              <a:gdLst>
                <a:gd name="connsiteX0" fmla="*/ 0 w 114300"/>
                <a:gd name="connsiteY0" fmla="*/ 0 h 9525"/>
                <a:gd name="connsiteX1" fmla="*/ 114300 w 1143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CC0249D8-611F-67B2-BACC-57C04018FFB3}"/>
                </a:ext>
              </a:extLst>
            </p:cNvPr>
            <p:cNvSpPr/>
            <p:nvPr/>
          </p:nvSpPr>
          <p:spPr>
            <a:xfrm>
              <a:off x="3721100" y="2276475"/>
              <a:ext cx="9525" cy="76200"/>
            </a:xfrm>
            <a:custGeom>
              <a:avLst/>
              <a:gdLst>
                <a:gd name="connsiteX0" fmla="*/ 0 w 9525"/>
                <a:gd name="connsiteY0" fmla="*/ 0 h 76200"/>
                <a:gd name="connsiteX1" fmla="*/ 0 w 9525"/>
                <a:gd name="connsiteY1" fmla="*/ 7620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A52E800D-DB53-E0B2-E50D-046FD10EBD7C}"/>
                </a:ext>
              </a:extLst>
            </p:cNvPr>
            <p:cNvSpPr/>
            <p:nvPr/>
          </p:nvSpPr>
          <p:spPr>
            <a:xfrm>
              <a:off x="3721100" y="2352675"/>
              <a:ext cx="76200" cy="9525"/>
            </a:xfrm>
            <a:custGeom>
              <a:avLst/>
              <a:gdLst>
                <a:gd name="connsiteX0" fmla="*/ 76200 w 76200"/>
                <a:gd name="connsiteY0" fmla="*/ 0 h 9525"/>
                <a:gd name="connsiteX1" fmla="*/ 0 w 762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200" h="9525">
                  <a:moveTo>
                    <a:pt x="76200" y="0"/>
                  </a:moveTo>
                  <a:lnTo>
                    <a:pt x="0" y="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455F692E-A4A1-41B4-1EB2-E0DC82C820AA}"/>
                </a:ext>
              </a:extLst>
            </p:cNvPr>
            <p:cNvSpPr/>
            <p:nvPr/>
          </p:nvSpPr>
          <p:spPr>
            <a:xfrm>
              <a:off x="3721100" y="2133600"/>
              <a:ext cx="9525" cy="38100"/>
            </a:xfrm>
            <a:custGeom>
              <a:avLst/>
              <a:gdLst>
                <a:gd name="connsiteX0" fmla="*/ 0 w 9525"/>
                <a:gd name="connsiteY0" fmla="*/ 0 h 38100"/>
                <a:gd name="connsiteX1" fmla="*/ 0 w 9525"/>
                <a:gd name="connsiteY1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8100">
                  <a:moveTo>
                    <a:pt x="0" y="0"/>
                  </a:moveTo>
                  <a:lnTo>
                    <a:pt x="0" y="38100"/>
                  </a:lnTo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6" name="AutoShape 13">
            <a:extLst>
              <a:ext uri="{FF2B5EF4-FFF2-40B4-BE49-F238E27FC236}">
                <a16:creationId xmlns:a16="http://schemas.microsoft.com/office/drawing/2014/main" id="{2B8A034A-9F21-505B-5408-A1768B75B33F}"/>
              </a:ext>
            </a:extLst>
          </p:cNvPr>
          <p:cNvSpPr/>
          <p:nvPr/>
        </p:nvSpPr>
        <p:spPr>
          <a:xfrm>
            <a:off x="4064000" y="2095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一期上线</a:t>
            </a:r>
            <a:endParaRPr lang="en-US" sz="1100"/>
          </a:p>
        </p:txBody>
      </p:sp>
      <p:sp>
        <p:nvSpPr>
          <p:cNvPr id="27" name="AutoShape 14">
            <a:extLst>
              <a:ext uri="{FF2B5EF4-FFF2-40B4-BE49-F238E27FC236}">
                <a16:creationId xmlns:a16="http://schemas.microsoft.com/office/drawing/2014/main" id="{1D1D6542-0669-5C32-DDD4-D85DDFCBD1A8}"/>
              </a:ext>
            </a:extLst>
          </p:cNvPr>
          <p:cNvSpPr/>
          <p:nvPr/>
        </p:nvSpPr>
        <p:spPr>
          <a:xfrm>
            <a:off x="3492500" y="26035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87B22E"/>
                </a:solidFill>
                <a:latin typeface="Noto Sans SC"/>
                <a:ea typeface="Noto Sans SC"/>
                <a:cs typeface="Noto Sans SC"/>
                <a:sym typeface="Noto Sans SC"/>
              </a:rPr>
              <a:t>19个工作日</a:t>
            </a:r>
            <a:endParaRPr lang="en-US" sz="1100" dirty="0">
              <a:solidFill>
                <a:srgbClr val="87B22E"/>
              </a:solidFill>
            </a:endParaRPr>
          </a:p>
        </p:txBody>
      </p:sp>
      <p:sp>
        <p:nvSpPr>
          <p:cNvPr id="28" name="AutoShape 15">
            <a:extLst>
              <a:ext uri="{FF2B5EF4-FFF2-40B4-BE49-F238E27FC236}">
                <a16:creationId xmlns:a16="http://schemas.microsoft.com/office/drawing/2014/main" id="{D5CDB795-D9BA-13A9-3419-4655BB96201C}"/>
              </a:ext>
            </a:extLst>
          </p:cNvPr>
          <p:cNvSpPr/>
          <p:nvPr/>
        </p:nvSpPr>
        <p:spPr>
          <a:xfrm>
            <a:off x="3492500" y="2946400"/>
            <a:ext cx="2222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高压周期下按时交付</a:t>
            </a:r>
            <a:endParaRPr lang="en-US" sz="1100"/>
          </a:p>
        </p:txBody>
      </p:sp>
      <p:sp>
        <p:nvSpPr>
          <p:cNvPr id="29" name="AutoShape 16">
            <a:extLst>
              <a:ext uri="{FF2B5EF4-FFF2-40B4-BE49-F238E27FC236}">
                <a16:creationId xmlns:a16="http://schemas.microsoft.com/office/drawing/2014/main" id="{C7A9C822-2DDA-4309-CAF4-B004701DB312}"/>
              </a:ext>
            </a:extLst>
          </p:cNvPr>
          <p:cNvSpPr/>
          <p:nvPr/>
        </p:nvSpPr>
        <p:spPr>
          <a:xfrm>
            <a:off x="6096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D3F4C41-336B-A1BE-DA91-D4B590956BDE}"/>
              </a:ext>
            </a:extLst>
          </p:cNvPr>
          <p:cNvGrpSpPr/>
          <p:nvPr/>
        </p:nvGrpSpPr>
        <p:grpSpPr>
          <a:xfrm>
            <a:off x="6324600" y="2152650"/>
            <a:ext cx="380998" cy="342900"/>
            <a:chOff x="6324600" y="2152650"/>
            <a:chExt cx="380998" cy="342900"/>
          </a:xfrm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53016C61-2486-5A49-0FDA-24DA1DF3BC2F}"/>
                </a:ext>
              </a:extLst>
            </p:cNvPr>
            <p:cNvSpPr/>
            <p:nvPr/>
          </p:nvSpPr>
          <p:spPr>
            <a:xfrm>
              <a:off x="6400800" y="2152650"/>
              <a:ext cx="133350" cy="133350"/>
            </a:xfrm>
            <a:custGeom>
              <a:avLst/>
              <a:gdLst>
                <a:gd name="connsiteX0" fmla="*/ 66675 w 133350"/>
                <a:gd name="connsiteY0" fmla="*/ 133350 h 133350"/>
                <a:gd name="connsiteX1" fmla="*/ 133350 w 133350"/>
                <a:gd name="connsiteY1" fmla="*/ 66675 h 133350"/>
                <a:gd name="connsiteX2" fmla="*/ 66675 w 133350"/>
                <a:gd name="connsiteY2" fmla="*/ 0 h 133350"/>
                <a:gd name="connsiteX3" fmla="*/ 0 w 133350"/>
                <a:gd name="connsiteY3" fmla="*/ 66675 h 133350"/>
                <a:gd name="connsiteX4" fmla="*/ 66675 w 133350"/>
                <a:gd name="connsiteY4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66675" y="133350"/>
                  </a:moveTo>
                  <a:cubicBezTo>
                    <a:pt x="103499" y="133350"/>
                    <a:pt x="133350" y="103499"/>
                    <a:pt x="133350" y="66675"/>
                  </a:cubicBezTo>
                  <a:cubicBezTo>
                    <a:pt x="133350" y="29851"/>
                    <a:pt x="103499" y="0"/>
                    <a:pt x="66675" y="0"/>
                  </a:cubicBezTo>
                  <a:cubicBezTo>
                    <a:pt x="29851" y="0"/>
                    <a:pt x="0" y="29851"/>
                    <a:pt x="0" y="66675"/>
                  </a:cubicBezTo>
                  <a:cubicBezTo>
                    <a:pt x="0" y="103499"/>
                    <a:pt x="29851" y="133350"/>
                    <a:pt x="66675" y="133350"/>
                  </a:cubicBezTo>
                  <a:close/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5996F6A0-AAFC-F97E-3600-FD63F07B2A12}"/>
                </a:ext>
              </a:extLst>
            </p:cNvPr>
            <p:cNvSpPr/>
            <p:nvPr/>
          </p:nvSpPr>
          <p:spPr>
            <a:xfrm>
              <a:off x="6597088" y="2162175"/>
              <a:ext cx="32312" cy="114300"/>
            </a:xfrm>
            <a:custGeom>
              <a:avLst/>
              <a:gdLst>
                <a:gd name="connsiteX0" fmla="*/ 0 w 32312"/>
                <a:gd name="connsiteY0" fmla="*/ 0 h 114300"/>
                <a:gd name="connsiteX1" fmla="*/ 32313 w 32312"/>
                <a:gd name="connsiteY1" fmla="*/ 57150 h 114300"/>
                <a:gd name="connsiteX2" fmla="*/ 0 w 32312"/>
                <a:gd name="connsiteY2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312" h="114300">
                  <a:moveTo>
                    <a:pt x="0" y="0"/>
                  </a:moveTo>
                  <a:cubicBezTo>
                    <a:pt x="19362" y="11667"/>
                    <a:pt x="32313" y="32896"/>
                    <a:pt x="32313" y="57150"/>
                  </a:cubicBezTo>
                  <a:cubicBezTo>
                    <a:pt x="32313" y="81404"/>
                    <a:pt x="19362" y="102633"/>
                    <a:pt x="0" y="114300"/>
                  </a:cubicBezTo>
                </a:path>
              </a:pathLst>
            </a:custGeom>
            <a:noFill/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F683976E-03C0-F9FF-819A-CE97D31E171C}"/>
                </a:ext>
              </a:extLst>
            </p:cNvPr>
            <p:cNvSpPr/>
            <p:nvPr/>
          </p:nvSpPr>
          <p:spPr>
            <a:xfrm>
              <a:off x="6324600" y="2362200"/>
              <a:ext cx="285750" cy="133350"/>
            </a:xfrm>
            <a:custGeom>
              <a:avLst/>
              <a:gdLst>
                <a:gd name="connsiteX0" fmla="*/ 0 w 285750"/>
                <a:gd name="connsiteY0" fmla="*/ 121920 h 133350"/>
                <a:gd name="connsiteX1" fmla="*/ 0 w 285750"/>
                <a:gd name="connsiteY1" fmla="*/ 133350 h 133350"/>
                <a:gd name="connsiteX2" fmla="*/ 285750 w 285750"/>
                <a:gd name="connsiteY2" fmla="*/ 133350 h 133350"/>
                <a:gd name="connsiteX3" fmla="*/ 285750 w 285750"/>
                <a:gd name="connsiteY3" fmla="*/ 121920 h 133350"/>
                <a:gd name="connsiteX4" fmla="*/ 277445 w 285750"/>
                <a:gd name="connsiteY4" fmla="*/ 41606 h 133350"/>
                <a:gd name="connsiteX5" fmla="*/ 244144 w 285750"/>
                <a:gd name="connsiteY5" fmla="*/ 8305 h 133350"/>
                <a:gd name="connsiteX6" fmla="*/ 163830 w 285750"/>
                <a:gd name="connsiteY6" fmla="*/ 0 h 133350"/>
                <a:gd name="connsiteX7" fmla="*/ 121920 w 285750"/>
                <a:gd name="connsiteY7" fmla="*/ 0 h 133350"/>
                <a:gd name="connsiteX8" fmla="*/ 41606 w 285750"/>
                <a:gd name="connsiteY8" fmla="*/ 8305 h 133350"/>
                <a:gd name="connsiteX9" fmla="*/ 8305 w 285750"/>
                <a:gd name="connsiteY9" fmla="*/ 41606 h 133350"/>
                <a:gd name="connsiteX10" fmla="*/ 0 w 285750"/>
                <a:gd name="connsiteY10" fmla="*/ 12192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5750" h="133350">
                  <a:moveTo>
                    <a:pt x="0" y="121920"/>
                  </a:moveTo>
                  <a:lnTo>
                    <a:pt x="0" y="133350"/>
                  </a:lnTo>
                  <a:lnTo>
                    <a:pt x="285750" y="133350"/>
                  </a:lnTo>
                  <a:lnTo>
                    <a:pt x="285750" y="121920"/>
                  </a:lnTo>
                  <a:cubicBezTo>
                    <a:pt x="285750" y="79244"/>
                    <a:pt x="285750" y="57906"/>
                    <a:pt x="277445" y="41606"/>
                  </a:cubicBezTo>
                  <a:cubicBezTo>
                    <a:pt x="270139" y="27268"/>
                    <a:pt x="258482" y="15611"/>
                    <a:pt x="244144" y="8305"/>
                  </a:cubicBezTo>
                  <a:cubicBezTo>
                    <a:pt x="227844" y="0"/>
                    <a:pt x="206506" y="0"/>
                    <a:pt x="163830" y="0"/>
                  </a:cubicBezTo>
                  <a:lnTo>
                    <a:pt x="121920" y="0"/>
                  </a:lnTo>
                  <a:cubicBezTo>
                    <a:pt x="79244" y="0"/>
                    <a:pt x="57906" y="0"/>
                    <a:pt x="41606" y="8305"/>
                  </a:cubicBezTo>
                  <a:cubicBezTo>
                    <a:pt x="27268" y="15611"/>
                    <a:pt x="15611" y="27268"/>
                    <a:pt x="8305" y="41606"/>
                  </a:cubicBezTo>
                  <a:cubicBezTo>
                    <a:pt x="0" y="57906"/>
                    <a:pt x="0" y="79244"/>
                    <a:pt x="0" y="121920"/>
                  </a:cubicBezTo>
                  <a:close/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5FAD5218-933A-1A8F-30C8-0ECC90230D9E}"/>
                </a:ext>
              </a:extLst>
            </p:cNvPr>
            <p:cNvSpPr/>
            <p:nvPr/>
          </p:nvSpPr>
          <p:spPr>
            <a:xfrm>
              <a:off x="6663992" y="2370506"/>
              <a:ext cx="41606" cy="125044"/>
            </a:xfrm>
            <a:custGeom>
              <a:avLst/>
              <a:gdLst>
                <a:gd name="connsiteX0" fmla="*/ 41606 w 41606"/>
                <a:gd name="connsiteY0" fmla="*/ 125044 h 125044"/>
                <a:gd name="connsiteX1" fmla="*/ 41606 w 41606"/>
                <a:gd name="connsiteY1" fmla="*/ 113614 h 125044"/>
                <a:gd name="connsiteX2" fmla="*/ 33301 w 41606"/>
                <a:gd name="connsiteY2" fmla="*/ 33300 h 125044"/>
                <a:gd name="connsiteX3" fmla="*/ 0 w 41606"/>
                <a:gd name="connsiteY3" fmla="*/ 0 h 125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06" h="125044">
                  <a:moveTo>
                    <a:pt x="41606" y="125044"/>
                  </a:moveTo>
                  <a:lnTo>
                    <a:pt x="41606" y="113614"/>
                  </a:lnTo>
                  <a:cubicBezTo>
                    <a:pt x="41606" y="70938"/>
                    <a:pt x="41606" y="49600"/>
                    <a:pt x="33301" y="33300"/>
                  </a:cubicBezTo>
                  <a:cubicBezTo>
                    <a:pt x="25996" y="18962"/>
                    <a:pt x="14338" y="7306"/>
                    <a:pt x="0" y="0"/>
                  </a:cubicBezTo>
                </a:path>
              </a:pathLst>
            </a:custGeom>
            <a:noFill/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5" name="AutoShape 18">
            <a:extLst>
              <a:ext uri="{FF2B5EF4-FFF2-40B4-BE49-F238E27FC236}">
                <a16:creationId xmlns:a16="http://schemas.microsoft.com/office/drawing/2014/main" id="{B08E3E6B-18E4-A935-7B58-C4EC9AD47F8D}"/>
              </a:ext>
            </a:extLst>
          </p:cNvPr>
          <p:cNvSpPr/>
          <p:nvPr/>
        </p:nvSpPr>
        <p:spPr>
          <a:xfrm>
            <a:off x="6858000" y="2095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项目投入</a:t>
            </a:r>
            <a:endParaRPr lang="en-US" sz="1100"/>
          </a:p>
        </p:txBody>
      </p:sp>
      <p:sp>
        <p:nvSpPr>
          <p:cNvPr id="36" name="AutoShape 19">
            <a:extLst>
              <a:ext uri="{FF2B5EF4-FFF2-40B4-BE49-F238E27FC236}">
                <a16:creationId xmlns:a16="http://schemas.microsoft.com/office/drawing/2014/main" id="{A64E346E-F0A9-98EC-B1AE-39816BBEE74A}"/>
              </a:ext>
            </a:extLst>
          </p:cNvPr>
          <p:cNvSpPr/>
          <p:nvPr/>
        </p:nvSpPr>
        <p:spPr>
          <a:xfrm>
            <a:off x="6286500" y="26035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87B22E"/>
                </a:solidFill>
                <a:latin typeface="Noto Sans SC"/>
                <a:ea typeface="Noto Sans SC"/>
                <a:cs typeface="Noto Sans SC"/>
                <a:sym typeface="Noto Sans SC"/>
              </a:rPr>
              <a:t>4后端 + 3前端</a:t>
            </a:r>
            <a:endParaRPr lang="en-US" sz="1100" dirty="0">
              <a:solidFill>
                <a:srgbClr val="87B22E"/>
              </a:solidFill>
            </a:endParaRPr>
          </a:p>
        </p:txBody>
      </p:sp>
      <p:sp>
        <p:nvSpPr>
          <p:cNvPr id="37" name="AutoShape 20">
            <a:extLst>
              <a:ext uri="{FF2B5EF4-FFF2-40B4-BE49-F238E27FC236}">
                <a16:creationId xmlns:a16="http://schemas.microsoft.com/office/drawing/2014/main" id="{EF5D0902-7BCF-E179-5B43-6924E72DFAD5}"/>
              </a:ext>
            </a:extLst>
          </p:cNvPr>
          <p:cNvSpPr/>
          <p:nvPr/>
        </p:nvSpPr>
        <p:spPr>
          <a:xfrm>
            <a:off x="6286500" y="2946400"/>
            <a:ext cx="2222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多角色协同复杂</a:t>
            </a:r>
            <a:endParaRPr lang="en-US" sz="1100" dirty="0"/>
          </a:p>
        </p:txBody>
      </p:sp>
      <p:sp>
        <p:nvSpPr>
          <p:cNvPr id="38" name="AutoShape 21">
            <a:extLst>
              <a:ext uri="{FF2B5EF4-FFF2-40B4-BE49-F238E27FC236}">
                <a16:creationId xmlns:a16="http://schemas.microsoft.com/office/drawing/2014/main" id="{E9FADB75-6CFF-B0E0-703A-41A76CD0E66B}"/>
              </a:ext>
            </a:extLst>
          </p:cNvPr>
          <p:cNvSpPr/>
          <p:nvPr/>
        </p:nvSpPr>
        <p:spPr>
          <a:xfrm>
            <a:off x="8890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379DAF9-D6F6-B3AE-8CF9-E2660B00CCC4}"/>
              </a:ext>
            </a:extLst>
          </p:cNvPr>
          <p:cNvGrpSpPr/>
          <p:nvPr/>
        </p:nvGrpSpPr>
        <p:grpSpPr>
          <a:xfrm>
            <a:off x="9137650" y="2133600"/>
            <a:ext cx="342900" cy="381000"/>
            <a:chOff x="9137650" y="2133600"/>
            <a:chExt cx="342900" cy="381000"/>
          </a:xfrm>
        </p:grpSpPr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1F1B23A0-DE9A-D8FB-3F71-94968D8110E3}"/>
                </a:ext>
              </a:extLst>
            </p:cNvPr>
            <p:cNvSpPr/>
            <p:nvPr/>
          </p:nvSpPr>
          <p:spPr>
            <a:xfrm>
              <a:off x="9232900" y="2133600"/>
              <a:ext cx="152400" cy="152400"/>
            </a:xfrm>
            <a:custGeom>
              <a:avLst/>
              <a:gdLst>
                <a:gd name="connsiteX0" fmla="*/ 152400 w 152400"/>
                <a:gd name="connsiteY0" fmla="*/ 76200 h 152400"/>
                <a:gd name="connsiteX1" fmla="*/ 76200 w 152400"/>
                <a:gd name="connsiteY1" fmla="*/ 152400 h 152400"/>
                <a:gd name="connsiteX2" fmla="*/ 0 w 152400"/>
                <a:gd name="connsiteY2" fmla="*/ 76200 h 152400"/>
                <a:gd name="connsiteX3" fmla="*/ 76200 w 152400"/>
                <a:gd name="connsiteY3" fmla="*/ 0 h 152400"/>
                <a:gd name="connsiteX4" fmla="*/ 152400 w 152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400" h="152400">
                  <a:moveTo>
                    <a:pt x="152400" y="76200"/>
                  </a:moveTo>
                  <a:cubicBezTo>
                    <a:pt x="152400" y="118284"/>
                    <a:pt x="118284" y="152400"/>
                    <a:pt x="76200" y="152400"/>
                  </a:cubicBezTo>
                  <a:cubicBezTo>
                    <a:pt x="34116" y="152400"/>
                    <a:pt x="0" y="118284"/>
                    <a:pt x="0" y="76200"/>
                  </a:cubicBezTo>
                  <a:cubicBezTo>
                    <a:pt x="0" y="34116"/>
                    <a:pt x="34116" y="0"/>
                    <a:pt x="76200" y="0"/>
                  </a:cubicBezTo>
                  <a:cubicBezTo>
                    <a:pt x="118284" y="0"/>
                    <a:pt x="152400" y="34116"/>
                    <a:pt x="152400" y="76200"/>
                  </a:cubicBezTo>
                  <a:close/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D9D28626-D2E4-934C-E1A9-0765412FE6E1}"/>
                </a:ext>
              </a:extLst>
            </p:cNvPr>
            <p:cNvSpPr/>
            <p:nvPr/>
          </p:nvSpPr>
          <p:spPr>
            <a:xfrm>
              <a:off x="9137650" y="2343150"/>
              <a:ext cx="342900" cy="171450"/>
            </a:xfrm>
            <a:custGeom>
              <a:avLst/>
              <a:gdLst>
                <a:gd name="connsiteX0" fmla="*/ 342900 w 342900"/>
                <a:gd name="connsiteY0" fmla="*/ 171450 h 171450"/>
                <a:gd name="connsiteX1" fmla="*/ 171450 w 342900"/>
                <a:gd name="connsiteY1" fmla="*/ 0 h 171450"/>
                <a:gd name="connsiteX2" fmla="*/ 0 w 342900"/>
                <a:gd name="connsiteY2" fmla="*/ 17145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900" h="171450">
                  <a:moveTo>
                    <a:pt x="342900" y="171450"/>
                  </a:moveTo>
                  <a:cubicBezTo>
                    <a:pt x="342900" y="76761"/>
                    <a:pt x="266139" y="0"/>
                    <a:pt x="171450" y="0"/>
                  </a:cubicBezTo>
                  <a:cubicBezTo>
                    <a:pt x="76761" y="0"/>
                    <a:pt x="0" y="76761"/>
                    <a:pt x="0" y="171450"/>
                  </a:cubicBezTo>
                </a:path>
              </a:pathLst>
            </a:custGeom>
            <a:noFill/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33E38CD9-8C86-BEF3-BCE5-F0312237BE5E}"/>
                </a:ext>
              </a:extLst>
            </p:cNvPr>
            <p:cNvSpPr/>
            <p:nvPr/>
          </p:nvSpPr>
          <p:spPr>
            <a:xfrm>
              <a:off x="9271000" y="2343150"/>
              <a:ext cx="76200" cy="171450"/>
            </a:xfrm>
            <a:custGeom>
              <a:avLst/>
              <a:gdLst>
                <a:gd name="connsiteX0" fmla="*/ 38100 w 76200"/>
                <a:gd name="connsiteY0" fmla="*/ 171450 h 171450"/>
                <a:gd name="connsiteX1" fmla="*/ 76200 w 76200"/>
                <a:gd name="connsiteY1" fmla="*/ 123825 h 171450"/>
                <a:gd name="connsiteX2" fmla="*/ 38100 w 76200"/>
                <a:gd name="connsiteY2" fmla="*/ 0 h 171450"/>
                <a:gd name="connsiteX3" fmla="*/ 0 w 76200"/>
                <a:gd name="connsiteY3" fmla="*/ 123825 h 171450"/>
                <a:gd name="connsiteX4" fmla="*/ 38100 w 76200"/>
                <a:gd name="connsiteY4" fmla="*/ 17145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171450">
                  <a:moveTo>
                    <a:pt x="38100" y="171450"/>
                  </a:moveTo>
                  <a:lnTo>
                    <a:pt x="76200" y="123825"/>
                  </a:lnTo>
                  <a:lnTo>
                    <a:pt x="38100" y="0"/>
                  </a:lnTo>
                  <a:lnTo>
                    <a:pt x="0" y="123825"/>
                  </a:lnTo>
                  <a:lnTo>
                    <a:pt x="38100" y="171450"/>
                  </a:lnTo>
                  <a:close/>
                </a:path>
              </a:pathLst>
            </a:custGeom>
            <a:solidFill>
              <a:srgbClr val="87B22E"/>
            </a:solidFill>
            <a:ln w="19050" cap="rnd">
              <a:solidFill>
                <a:srgbClr val="87B22E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43" name="AutoShape 23">
            <a:extLst>
              <a:ext uri="{FF2B5EF4-FFF2-40B4-BE49-F238E27FC236}">
                <a16:creationId xmlns:a16="http://schemas.microsoft.com/office/drawing/2014/main" id="{DA491031-E9EB-F378-BAF3-AFE523C28473}"/>
              </a:ext>
            </a:extLst>
          </p:cNvPr>
          <p:cNvSpPr/>
          <p:nvPr/>
        </p:nvSpPr>
        <p:spPr>
          <a:xfrm>
            <a:off x="9652000" y="2095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个人角色</a:t>
            </a:r>
            <a:endParaRPr lang="en-US" sz="1100" dirty="0"/>
          </a:p>
        </p:txBody>
      </p:sp>
      <p:sp>
        <p:nvSpPr>
          <p:cNvPr id="44" name="AutoShape 24">
            <a:extLst>
              <a:ext uri="{FF2B5EF4-FFF2-40B4-BE49-F238E27FC236}">
                <a16:creationId xmlns:a16="http://schemas.microsoft.com/office/drawing/2014/main" id="{07088A09-A14B-C641-B7B5-9620ACC60C5E}"/>
              </a:ext>
            </a:extLst>
          </p:cNvPr>
          <p:cNvSpPr/>
          <p:nvPr/>
        </p:nvSpPr>
        <p:spPr>
          <a:xfrm>
            <a:off x="9080500" y="26035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87B22E"/>
                </a:solidFill>
                <a:latin typeface="Noto Sans SC"/>
                <a:ea typeface="Noto Sans SC"/>
                <a:cs typeface="Noto Sans SC"/>
                <a:sym typeface="Noto Sans SC"/>
              </a:rPr>
              <a:t>项目</a:t>
            </a:r>
            <a:r>
              <a:rPr lang="en-US" altLang="zh-CN" sz="1600" b="1" dirty="0">
                <a:solidFill>
                  <a:srgbClr val="87B22E"/>
                </a:solidFill>
                <a:latin typeface="Noto Sans SC"/>
                <a:ea typeface="Noto Sans SC"/>
                <a:cs typeface="Noto Sans SC"/>
                <a:sym typeface="Noto Sans SC"/>
              </a:rPr>
              <a:t>SE</a:t>
            </a:r>
            <a:r>
              <a:rPr lang="en-US" sz="1600" b="1" i="0" u="none" strike="noStrike" dirty="0">
                <a:solidFill>
                  <a:srgbClr val="87B22E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600" b="1" i="0" u="none" strike="noStrike" dirty="0" err="1">
                <a:solidFill>
                  <a:srgbClr val="87B22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核心研发</a:t>
            </a:r>
            <a:endParaRPr lang="en-US" sz="1100" dirty="0">
              <a:solidFill>
                <a:srgbClr val="87B22E"/>
              </a:solidFill>
            </a:endParaRPr>
          </a:p>
        </p:txBody>
      </p:sp>
      <p:sp>
        <p:nvSpPr>
          <p:cNvPr id="45" name="AutoShape 25">
            <a:extLst>
              <a:ext uri="{FF2B5EF4-FFF2-40B4-BE49-F238E27FC236}">
                <a16:creationId xmlns:a16="http://schemas.microsoft.com/office/drawing/2014/main" id="{273903FA-7880-3568-2B5B-31BD58BF4691}"/>
              </a:ext>
            </a:extLst>
          </p:cNvPr>
          <p:cNvSpPr/>
          <p:nvPr/>
        </p:nvSpPr>
        <p:spPr>
          <a:xfrm>
            <a:off x="9080500" y="2946400"/>
            <a:ext cx="2222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掌控节奏与关键研发</a:t>
            </a:r>
            <a:endParaRPr lang="en-US" sz="1100" dirty="0"/>
          </a:p>
        </p:txBody>
      </p:sp>
      <p:sp>
        <p:nvSpPr>
          <p:cNvPr id="46" name="AutoShape 26">
            <a:extLst>
              <a:ext uri="{FF2B5EF4-FFF2-40B4-BE49-F238E27FC236}">
                <a16:creationId xmlns:a16="http://schemas.microsoft.com/office/drawing/2014/main" id="{EB9A95E2-0058-3872-DC57-E5EC481659BE}"/>
              </a:ext>
            </a:extLst>
          </p:cNvPr>
          <p:cNvSpPr/>
          <p:nvPr/>
        </p:nvSpPr>
        <p:spPr>
          <a:xfrm>
            <a:off x="508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AutoShape 27">
            <a:extLst>
              <a:ext uri="{FF2B5EF4-FFF2-40B4-BE49-F238E27FC236}">
                <a16:creationId xmlns:a16="http://schemas.microsoft.com/office/drawing/2014/main" id="{387AB985-36D2-5712-50D0-FC031CE3C804}"/>
              </a:ext>
            </a:extLst>
          </p:cNvPr>
          <p:cNvSpPr/>
          <p:nvPr/>
        </p:nvSpPr>
        <p:spPr>
          <a:xfrm>
            <a:off x="508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0096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28">
            <a:extLst>
              <a:ext uri="{FF2B5EF4-FFF2-40B4-BE49-F238E27FC236}">
                <a16:creationId xmlns:a16="http://schemas.microsoft.com/office/drawing/2014/main" id="{34B6616A-4E27-FA5F-8E74-A7C877695DE8}"/>
              </a:ext>
            </a:extLst>
          </p:cNvPr>
          <p:cNvSpPr/>
          <p:nvPr/>
        </p:nvSpPr>
        <p:spPr>
          <a:xfrm>
            <a:off x="508000" y="3683000"/>
            <a:ext cx="2603500" cy="457200"/>
          </a:xfrm>
          <a:prstGeom prst="rect">
            <a:avLst/>
          </a:prstGeom>
          <a:solidFill>
            <a:srgbClr val="87B22E"/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SITUATION | </a:t>
            </a:r>
            <a:r>
              <a:rPr lang="en-US" sz="1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背景</a:t>
            </a:r>
            <a:endParaRPr lang="en-US" sz="1100" dirty="0"/>
          </a:p>
        </p:txBody>
      </p:sp>
      <p:sp>
        <p:nvSpPr>
          <p:cNvPr id="49" name="AutoShape 29">
            <a:extLst>
              <a:ext uri="{FF2B5EF4-FFF2-40B4-BE49-F238E27FC236}">
                <a16:creationId xmlns:a16="http://schemas.microsoft.com/office/drawing/2014/main" id="{28FAF3D3-D74F-DF8F-238D-AA6F48BD6100}"/>
              </a:ext>
            </a:extLst>
          </p:cNvPr>
          <p:cNvSpPr/>
          <p:nvPr/>
        </p:nvSpPr>
        <p:spPr>
          <a:xfrm>
            <a:off x="635000" y="4254500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需求范围大、时间紧、业务目标强，活动需兼顾拉新、活跃和转化。</a:t>
            </a:r>
            <a:endParaRPr lang="en-US" sz="1100"/>
          </a:p>
        </p:txBody>
      </p:sp>
      <p:sp>
        <p:nvSpPr>
          <p:cNvPr id="50" name="AutoShape 30">
            <a:extLst>
              <a:ext uri="{FF2B5EF4-FFF2-40B4-BE49-F238E27FC236}">
                <a16:creationId xmlns:a16="http://schemas.microsoft.com/office/drawing/2014/main" id="{32AE788A-A288-A35C-E230-80BDB216DA52}"/>
              </a:ext>
            </a:extLst>
          </p:cNvPr>
          <p:cNvSpPr/>
          <p:nvPr/>
        </p:nvSpPr>
        <p:spPr>
          <a:xfrm>
            <a:off x="3302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31">
            <a:extLst>
              <a:ext uri="{FF2B5EF4-FFF2-40B4-BE49-F238E27FC236}">
                <a16:creationId xmlns:a16="http://schemas.microsoft.com/office/drawing/2014/main" id="{9287E1F3-2516-065D-2D7D-41AF3E20C38E}"/>
              </a:ext>
            </a:extLst>
          </p:cNvPr>
          <p:cNvSpPr/>
          <p:nvPr/>
        </p:nvSpPr>
        <p:spPr>
          <a:xfrm>
            <a:off x="3302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87B22E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AutoShape 32">
            <a:extLst>
              <a:ext uri="{FF2B5EF4-FFF2-40B4-BE49-F238E27FC236}">
                <a16:creationId xmlns:a16="http://schemas.microsoft.com/office/drawing/2014/main" id="{B5DF229C-3AE5-FE17-882C-1195BD8019FC}"/>
              </a:ext>
            </a:extLst>
          </p:cNvPr>
          <p:cNvSpPr/>
          <p:nvPr/>
        </p:nvSpPr>
        <p:spPr>
          <a:xfrm>
            <a:off x="3302000" y="3683000"/>
            <a:ext cx="2603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TASK | 任务</a:t>
            </a:r>
            <a:endParaRPr lang="en-US" sz="1100"/>
          </a:p>
        </p:txBody>
      </p:sp>
      <p:sp>
        <p:nvSpPr>
          <p:cNvPr id="53" name="AutoShape 33">
            <a:extLst>
              <a:ext uri="{FF2B5EF4-FFF2-40B4-BE49-F238E27FC236}">
                <a16:creationId xmlns:a16="http://schemas.microsoft.com/office/drawing/2014/main" id="{47F7AB15-9484-137E-A69C-54758C9CC0CD}"/>
              </a:ext>
            </a:extLst>
          </p:cNvPr>
          <p:cNvSpPr/>
          <p:nvPr/>
        </p:nvSpPr>
        <p:spPr>
          <a:xfrm>
            <a:off x="3429000" y="4254500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拆解发布节奏，协调前后端与业务方，承担关键模块研发和风险兜底。</a:t>
            </a:r>
            <a:endParaRPr lang="en-US" sz="1100"/>
          </a:p>
        </p:txBody>
      </p:sp>
      <p:sp>
        <p:nvSpPr>
          <p:cNvPr id="54" name="AutoShape 34">
            <a:extLst>
              <a:ext uri="{FF2B5EF4-FFF2-40B4-BE49-F238E27FC236}">
                <a16:creationId xmlns:a16="http://schemas.microsoft.com/office/drawing/2014/main" id="{A355FCAE-D584-B58D-5E8C-91AE38C14CA4}"/>
              </a:ext>
            </a:extLst>
          </p:cNvPr>
          <p:cNvSpPr/>
          <p:nvPr/>
        </p:nvSpPr>
        <p:spPr>
          <a:xfrm>
            <a:off x="6096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AutoShape 35">
            <a:extLst>
              <a:ext uri="{FF2B5EF4-FFF2-40B4-BE49-F238E27FC236}">
                <a16:creationId xmlns:a16="http://schemas.microsoft.com/office/drawing/2014/main" id="{89EC9D4C-8980-37D8-C517-B96AAD854EAB}"/>
              </a:ext>
            </a:extLst>
          </p:cNvPr>
          <p:cNvSpPr/>
          <p:nvPr/>
        </p:nvSpPr>
        <p:spPr>
          <a:xfrm>
            <a:off x="6096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87B22E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AutoShape 36">
            <a:extLst>
              <a:ext uri="{FF2B5EF4-FFF2-40B4-BE49-F238E27FC236}">
                <a16:creationId xmlns:a16="http://schemas.microsoft.com/office/drawing/2014/main" id="{732B97E3-5762-F4A5-6B50-CBAAB6087AEE}"/>
              </a:ext>
            </a:extLst>
          </p:cNvPr>
          <p:cNvSpPr/>
          <p:nvPr/>
        </p:nvSpPr>
        <p:spPr>
          <a:xfrm>
            <a:off x="6096000" y="3683000"/>
            <a:ext cx="2603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ACTION | 行动</a:t>
            </a:r>
            <a:endParaRPr lang="en-US" sz="1100"/>
          </a:p>
        </p:txBody>
      </p:sp>
      <p:sp>
        <p:nvSpPr>
          <p:cNvPr id="57" name="AutoShape 37">
            <a:extLst>
              <a:ext uri="{FF2B5EF4-FFF2-40B4-BE49-F238E27FC236}">
                <a16:creationId xmlns:a16="http://schemas.microsoft.com/office/drawing/2014/main" id="{3248769D-6B06-456D-B0C2-529A30B45EE0}"/>
              </a:ext>
            </a:extLst>
          </p:cNvPr>
          <p:cNvSpPr/>
          <p:nvPr/>
        </p:nvSpPr>
        <p:spPr>
          <a:xfrm>
            <a:off x="6223000" y="4254500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识别核心链路和里程碑，分阶段推进联调、提测、上线，发现问题后快速协调修复。</a:t>
            </a:r>
            <a:endParaRPr lang="en-US" sz="1100"/>
          </a:p>
        </p:txBody>
      </p:sp>
      <p:sp>
        <p:nvSpPr>
          <p:cNvPr id="58" name="AutoShape 38">
            <a:extLst>
              <a:ext uri="{FF2B5EF4-FFF2-40B4-BE49-F238E27FC236}">
                <a16:creationId xmlns:a16="http://schemas.microsoft.com/office/drawing/2014/main" id="{0B1A7EC9-811F-0732-7782-0C3D72932E79}"/>
              </a:ext>
            </a:extLst>
          </p:cNvPr>
          <p:cNvSpPr/>
          <p:nvPr/>
        </p:nvSpPr>
        <p:spPr>
          <a:xfrm>
            <a:off x="8890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AutoShape 39">
            <a:extLst>
              <a:ext uri="{FF2B5EF4-FFF2-40B4-BE49-F238E27FC236}">
                <a16:creationId xmlns:a16="http://schemas.microsoft.com/office/drawing/2014/main" id="{68092BCE-6C70-E1F0-59B3-7CACDE11DCA1}"/>
              </a:ext>
            </a:extLst>
          </p:cNvPr>
          <p:cNvSpPr/>
          <p:nvPr/>
        </p:nvSpPr>
        <p:spPr>
          <a:xfrm>
            <a:off x="8890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0096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AutoShape 40">
            <a:extLst>
              <a:ext uri="{FF2B5EF4-FFF2-40B4-BE49-F238E27FC236}">
                <a16:creationId xmlns:a16="http://schemas.microsoft.com/office/drawing/2014/main" id="{64D3E100-2CE2-6210-07FF-DC9E28AEDA34}"/>
              </a:ext>
            </a:extLst>
          </p:cNvPr>
          <p:cNvSpPr/>
          <p:nvPr/>
        </p:nvSpPr>
        <p:spPr>
          <a:xfrm>
            <a:off x="8890000" y="3683000"/>
            <a:ext cx="2603500" cy="457200"/>
          </a:xfrm>
          <a:prstGeom prst="rect">
            <a:avLst/>
          </a:prstGeom>
          <a:solidFill>
            <a:srgbClr val="87B22E"/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RESULT | </a:t>
            </a:r>
            <a:r>
              <a:rPr lang="en-US" sz="1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结果</a:t>
            </a:r>
            <a:endParaRPr lang="en-US" sz="1100" dirty="0"/>
          </a:p>
        </p:txBody>
      </p:sp>
      <p:sp>
        <p:nvSpPr>
          <p:cNvPr id="61" name="AutoShape 41">
            <a:extLst>
              <a:ext uri="{FF2B5EF4-FFF2-40B4-BE49-F238E27FC236}">
                <a16:creationId xmlns:a16="http://schemas.microsoft.com/office/drawing/2014/main" id="{90064307-20C1-EDD8-500D-356C5AF84068}"/>
              </a:ext>
            </a:extLst>
          </p:cNvPr>
          <p:cNvSpPr/>
          <p:nvPr/>
        </p:nvSpPr>
        <p:spPr>
          <a:xfrm>
            <a:off x="9017000" y="4254500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12.23完成第四期发布，活动拉新1992人、参与16045人，完成线上问题快速修复与协同兜底。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23300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C106C-7625-98F0-5621-E8C2FDC78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AA7B0-22EE-3208-C9B0-55FB926D182B}"/>
              </a:ext>
            </a:extLst>
          </p:cNvPr>
          <p:cNvSpPr txBox="1">
            <a:spLocks noGrp="1"/>
          </p:cNvSpPr>
          <p:nvPr/>
        </p:nvSpPr>
        <p:spPr>
          <a:xfrm>
            <a:off x="838200" y="153035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四、关键问题突破举例（二）：规则引擎从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0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到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1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独立建设</a:t>
            </a:r>
          </a:p>
        </p:txBody>
      </p:sp>
      <p:grpSp>
        <p:nvGrpSpPr>
          <p:cNvPr id="31" name="Group 18">
            <a:extLst>
              <a:ext uri="{FF2B5EF4-FFF2-40B4-BE49-F238E27FC236}">
                <a16:creationId xmlns:a16="http://schemas.microsoft.com/office/drawing/2014/main" id="{BF334FF0-F44C-058C-B26F-FCC0BB3F21B2}"/>
              </a:ext>
            </a:extLst>
          </p:cNvPr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13675532-FCB5-E478-D41A-DBCAB7C0CDEA}"/>
                </a:ext>
              </a:extLst>
            </p:cNvPr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8D315869-9C44-AF05-5A65-08721B26C842}"/>
                </a:ext>
              </a:extLst>
            </p:cNvPr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4" name="TextBox 16">
              <a:extLst>
                <a:ext uri="{FF2B5EF4-FFF2-40B4-BE49-F238E27FC236}">
                  <a16:creationId xmlns:a16="http://schemas.microsoft.com/office/drawing/2014/main" id="{A0107B87-4564-4063-1F37-FA1E57DC5062}"/>
                </a:ext>
              </a:extLst>
            </p:cNvPr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35" name="TextBox 17">
              <a:extLst>
                <a:ext uri="{FF2B5EF4-FFF2-40B4-BE49-F238E27FC236}">
                  <a16:creationId xmlns:a16="http://schemas.microsoft.com/office/drawing/2014/main" id="{72B3E9B3-B395-A88D-9ECD-A3900D930083}"/>
                </a:ext>
              </a:extLst>
            </p:cNvPr>
            <p:cNvSpPr txBox="1"/>
            <p:nvPr/>
          </p:nvSpPr>
          <p:spPr>
            <a:xfrm>
              <a:off x="1757362" y="1145381"/>
              <a:ext cx="52863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从原型、文档到系统实现形成完整闭环，证明独立建设复杂系统的能力。</a:t>
              </a:r>
            </a:p>
          </p:txBody>
        </p:sp>
      </p:grpSp>
      <p:grpSp>
        <p:nvGrpSpPr>
          <p:cNvPr id="36" name="Group 48">
            <a:extLst>
              <a:ext uri="{FF2B5EF4-FFF2-40B4-BE49-F238E27FC236}">
                <a16:creationId xmlns:a16="http://schemas.microsoft.com/office/drawing/2014/main" id="{28642F88-8748-86DD-432D-891CD44EA6EC}"/>
              </a:ext>
            </a:extLst>
          </p:cNvPr>
          <p:cNvGrpSpPr/>
          <p:nvPr/>
        </p:nvGrpSpPr>
        <p:grpSpPr>
          <a:xfrm>
            <a:off x="381000" y="1676400"/>
            <a:ext cx="11466434" cy="4095750"/>
            <a:chOff x="381000" y="1676400"/>
            <a:chExt cx="11466434" cy="4095750"/>
          </a:xfrm>
        </p:grpSpPr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E71A360E-2CE0-F9B0-E8AF-C5204B3DCE2D}"/>
                </a:ext>
              </a:extLst>
            </p:cNvPr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600ECDC0-F364-B3E0-B940-4A6EA910CD15}"/>
                </a:ext>
              </a:extLst>
            </p:cNvPr>
            <p:cNvSpPr/>
            <p:nvPr/>
          </p:nvSpPr>
          <p:spPr>
            <a:xfrm>
              <a:off x="552450" y="1866900"/>
              <a:ext cx="11087100" cy="1066800"/>
            </a:xfrm>
            <a:custGeom>
              <a:avLst/>
              <a:gdLst/>
              <a:ahLst/>
              <a:cxnLst/>
              <a:rect l="l" t="t" r="r" b="b"/>
              <a:pathLst>
                <a:path w="11087100" h="1066800">
                  <a:moveTo>
                    <a:pt x="152400" y="0"/>
                  </a:moveTo>
                  <a:lnTo>
                    <a:pt x="10934700" y="0"/>
                  </a:lnTo>
                  <a:cubicBezTo>
                    <a:pt x="11018868" y="0"/>
                    <a:pt x="11087100" y="68232"/>
                    <a:pt x="11087100" y="152400"/>
                  </a:cubicBezTo>
                  <a:lnTo>
                    <a:pt x="11087100" y="914400"/>
                  </a:lnTo>
                  <a:cubicBezTo>
                    <a:pt x="11087100" y="998568"/>
                    <a:pt x="11018868" y="1066800"/>
                    <a:pt x="10934700" y="1066800"/>
                  </a:cubicBezTo>
                  <a:lnTo>
                    <a:pt x="152400" y="1066800"/>
                  </a:lnTo>
                  <a:cubicBezTo>
                    <a:pt x="68232" y="1066800"/>
                    <a:pt x="0" y="998568"/>
                    <a:pt x="0" y="914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39" name="TextBox 21">
              <a:extLst>
                <a:ext uri="{FF2B5EF4-FFF2-40B4-BE49-F238E27FC236}">
                  <a16:creationId xmlns:a16="http://schemas.microsoft.com/office/drawing/2014/main" id="{6523427D-D821-D5FC-4C72-5676A6B3C196}"/>
                </a:ext>
              </a:extLst>
            </p:cNvPr>
            <p:cNvSpPr txBox="1"/>
            <p:nvPr/>
          </p:nvSpPr>
          <p:spPr>
            <a:xfrm>
              <a:off x="813435" y="2056448"/>
              <a:ext cx="96187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从原型、文档到系统实现形成完整闭环，证明独立建设复杂系统的能力。</a:t>
              </a:r>
            </a:p>
          </p:txBody>
        </p:sp>
        <p:sp>
          <p:nvSpPr>
            <p:cNvPr id="40" name="TextBox 22">
              <a:extLst>
                <a:ext uri="{FF2B5EF4-FFF2-40B4-BE49-F238E27FC236}">
                  <a16:creationId xmlns:a16="http://schemas.microsoft.com/office/drawing/2014/main" id="{4F16802F-B67B-59B9-09F8-642FBB524619}"/>
                </a:ext>
              </a:extLst>
            </p:cNvPr>
            <p:cNvSpPr txBox="1"/>
            <p:nvPr/>
          </p:nvSpPr>
          <p:spPr>
            <a:xfrm>
              <a:off x="821055" y="2540318"/>
              <a:ext cx="49634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系统支持调用集、规则链、规则测试执行和多环境管理。</a:t>
              </a: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0A568D24-BC83-5AC2-AFA7-E964E31D0C0C}"/>
                </a:ext>
              </a:extLst>
            </p:cNvPr>
            <p:cNvSpPr/>
            <p:nvPr/>
          </p:nvSpPr>
          <p:spPr>
            <a:xfrm>
              <a:off x="552450" y="3276600"/>
              <a:ext cx="2381250" cy="1771650"/>
            </a:xfrm>
            <a:custGeom>
              <a:avLst/>
              <a:gdLst/>
              <a:ahLst/>
              <a:cxnLst/>
              <a:rect l="l" t="t" r="r" b="b"/>
              <a:pathLst>
                <a:path w="2381250" h="1771650">
                  <a:moveTo>
                    <a:pt x="133350" y="0"/>
                  </a:moveTo>
                  <a:lnTo>
                    <a:pt x="2247900" y="0"/>
                  </a:lnTo>
                  <a:cubicBezTo>
                    <a:pt x="2321547" y="0"/>
                    <a:pt x="2381250" y="59703"/>
                    <a:pt x="2381250" y="133350"/>
                  </a:cubicBezTo>
                  <a:lnTo>
                    <a:pt x="2381250" y="1638300"/>
                  </a:lnTo>
                  <a:cubicBezTo>
                    <a:pt x="2381250" y="1711947"/>
                    <a:pt x="2321547" y="1771650"/>
                    <a:pt x="22479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4D542F27-24AF-1F8A-8138-424BE032F17B}"/>
                </a:ext>
              </a:extLst>
            </p:cNvPr>
            <p:cNvSpPr/>
            <p:nvPr/>
          </p:nvSpPr>
          <p:spPr>
            <a:xfrm>
              <a:off x="552450" y="327660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43" name="TextBox 25">
              <a:extLst>
                <a:ext uri="{FF2B5EF4-FFF2-40B4-BE49-F238E27FC236}">
                  <a16:creationId xmlns:a16="http://schemas.microsoft.com/office/drawing/2014/main" id="{BC1F700A-CBCB-D0AC-1DEE-B01C48A5A284}"/>
                </a:ext>
              </a:extLst>
            </p:cNvPr>
            <p:cNvSpPr txBox="1"/>
            <p:nvPr/>
          </p:nvSpPr>
          <p:spPr>
            <a:xfrm>
              <a:off x="729615" y="35252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44" name="TextBox 26">
              <a:extLst>
                <a:ext uri="{FF2B5EF4-FFF2-40B4-BE49-F238E27FC236}">
                  <a16:creationId xmlns:a16="http://schemas.microsoft.com/office/drawing/2014/main" id="{2D18F2DF-160A-18FE-3EB5-DD5D8F1F6AF7}"/>
                </a:ext>
              </a:extLst>
            </p:cNvPr>
            <p:cNvSpPr txBox="1"/>
            <p:nvPr/>
          </p:nvSpPr>
          <p:spPr>
            <a:xfrm>
              <a:off x="72294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原型设计</a:t>
              </a:r>
            </a:p>
          </p:txBody>
        </p:sp>
        <p:sp>
          <p:nvSpPr>
            <p:cNvPr id="45" name="TextBox 27">
              <a:extLst>
                <a:ext uri="{FF2B5EF4-FFF2-40B4-BE49-F238E27FC236}">
                  <a16:creationId xmlns:a16="http://schemas.microsoft.com/office/drawing/2014/main" id="{D14B17BE-7C08-ADDC-EE38-CF5C6106F557}"/>
                </a:ext>
              </a:extLst>
            </p:cNvPr>
            <p:cNvSpPr txBox="1"/>
            <p:nvPr/>
          </p:nvSpPr>
          <p:spPr>
            <a:xfrm>
              <a:off x="726758" y="420576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自绘原型交互</a:t>
              </a:r>
            </a:p>
          </p:txBody>
        </p:sp>
        <p:sp>
          <p:nvSpPr>
            <p:cNvPr id="46" name="TextBox 28">
              <a:extLst>
                <a:ext uri="{FF2B5EF4-FFF2-40B4-BE49-F238E27FC236}">
                  <a16:creationId xmlns:a16="http://schemas.microsoft.com/office/drawing/2014/main" id="{F8D447F2-C00F-5A34-9FE7-EA1A4B2C5A4C}"/>
                </a:ext>
              </a:extLst>
            </p:cNvPr>
            <p:cNvSpPr txBox="1"/>
            <p:nvPr/>
          </p:nvSpPr>
          <p:spPr>
            <a:xfrm>
              <a:off x="726758" y="44534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在方案阶段提前定义边界与流程</a:t>
              </a:r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1093853F-BD31-5307-3204-8F3173B28EBE}"/>
                </a:ext>
              </a:extLst>
            </p:cNvPr>
            <p:cNvSpPr/>
            <p:nvPr/>
          </p:nvSpPr>
          <p:spPr>
            <a:xfrm>
              <a:off x="3162300" y="3276600"/>
              <a:ext cx="2381250" cy="1771650"/>
            </a:xfrm>
            <a:custGeom>
              <a:avLst/>
              <a:gdLst/>
              <a:ahLst/>
              <a:cxnLst/>
              <a:rect l="l" t="t" r="r" b="b"/>
              <a:pathLst>
                <a:path w="2381250" h="1771650">
                  <a:moveTo>
                    <a:pt x="133350" y="0"/>
                  </a:moveTo>
                  <a:lnTo>
                    <a:pt x="2247900" y="0"/>
                  </a:lnTo>
                  <a:cubicBezTo>
                    <a:pt x="2321547" y="0"/>
                    <a:pt x="2381250" y="59703"/>
                    <a:pt x="2381250" y="133350"/>
                  </a:cubicBezTo>
                  <a:lnTo>
                    <a:pt x="2381250" y="1638300"/>
                  </a:lnTo>
                  <a:cubicBezTo>
                    <a:pt x="2381250" y="1711947"/>
                    <a:pt x="2321547" y="1771650"/>
                    <a:pt x="22479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D437524F-5D42-2107-9BFF-0458449ADBFA}"/>
                </a:ext>
              </a:extLst>
            </p:cNvPr>
            <p:cNvSpPr/>
            <p:nvPr/>
          </p:nvSpPr>
          <p:spPr>
            <a:xfrm>
              <a:off x="3162300" y="327660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9" name="TextBox 31">
              <a:extLst>
                <a:ext uri="{FF2B5EF4-FFF2-40B4-BE49-F238E27FC236}">
                  <a16:creationId xmlns:a16="http://schemas.microsoft.com/office/drawing/2014/main" id="{5924C0BB-C047-4084-0EB0-96CD8F1FE796}"/>
                </a:ext>
              </a:extLst>
            </p:cNvPr>
            <p:cNvSpPr txBox="1"/>
            <p:nvPr/>
          </p:nvSpPr>
          <p:spPr>
            <a:xfrm>
              <a:off x="3339465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50" name="TextBox 32">
              <a:extLst>
                <a:ext uri="{FF2B5EF4-FFF2-40B4-BE49-F238E27FC236}">
                  <a16:creationId xmlns:a16="http://schemas.microsoft.com/office/drawing/2014/main" id="{F652002D-A3BF-D378-E90B-0C02AAF1396E}"/>
                </a:ext>
              </a:extLst>
            </p:cNvPr>
            <p:cNvSpPr txBox="1"/>
            <p:nvPr/>
          </p:nvSpPr>
          <p:spPr>
            <a:xfrm>
              <a:off x="333279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需求文档</a:t>
              </a:r>
            </a:p>
          </p:txBody>
        </p:sp>
        <p:sp>
          <p:nvSpPr>
            <p:cNvPr id="51" name="TextBox 33">
              <a:extLst>
                <a:ext uri="{FF2B5EF4-FFF2-40B4-BE49-F238E27FC236}">
                  <a16:creationId xmlns:a16="http://schemas.microsoft.com/office/drawing/2014/main" id="{DB59EC08-6E1E-B100-3CA8-003820CF6348}"/>
                </a:ext>
              </a:extLst>
            </p:cNvPr>
            <p:cNvSpPr txBox="1"/>
            <p:nvPr/>
          </p:nvSpPr>
          <p:spPr>
            <a:xfrm>
              <a:off x="3336608" y="4205764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自编管理台需求文档</a:t>
              </a:r>
            </a:p>
          </p:txBody>
        </p:sp>
        <p:sp>
          <p:nvSpPr>
            <p:cNvPr id="52" name="TextBox 34">
              <a:extLst>
                <a:ext uri="{FF2B5EF4-FFF2-40B4-BE49-F238E27FC236}">
                  <a16:creationId xmlns:a16="http://schemas.microsoft.com/office/drawing/2014/main" id="{F12CB94A-82F8-64A2-95D3-209E7768B259}"/>
                </a:ext>
              </a:extLst>
            </p:cNvPr>
            <p:cNvSpPr txBox="1"/>
            <p:nvPr/>
          </p:nvSpPr>
          <p:spPr>
            <a:xfrm>
              <a:off x="3336608" y="44534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降低后续协作理解偏差</a:t>
              </a:r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4007FF9F-B65E-4C1D-DC15-B3A4B11CD3C3}"/>
                </a:ext>
              </a:extLst>
            </p:cNvPr>
            <p:cNvSpPr/>
            <p:nvPr/>
          </p:nvSpPr>
          <p:spPr>
            <a:xfrm>
              <a:off x="5772150" y="3276600"/>
              <a:ext cx="2381250" cy="1771650"/>
            </a:xfrm>
            <a:custGeom>
              <a:avLst/>
              <a:gdLst/>
              <a:ahLst/>
              <a:cxnLst/>
              <a:rect l="l" t="t" r="r" b="b"/>
              <a:pathLst>
                <a:path w="2381250" h="1771650">
                  <a:moveTo>
                    <a:pt x="133350" y="0"/>
                  </a:moveTo>
                  <a:lnTo>
                    <a:pt x="2247900" y="0"/>
                  </a:lnTo>
                  <a:cubicBezTo>
                    <a:pt x="2321547" y="0"/>
                    <a:pt x="2381250" y="59703"/>
                    <a:pt x="2381250" y="133350"/>
                  </a:cubicBezTo>
                  <a:lnTo>
                    <a:pt x="2381250" y="1638300"/>
                  </a:lnTo>
                  <a:cubicBezTo>
                    <a:pt x="2381250" y="1711947"/>
                    <a:pt x="2321547" y="1771650"/>
                    <a:pt x="22479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64992BE1-EB02-F8EB-4B74-25AD46F8E1A2}"/>
                </a:ext>
              </a:extLst>
            </p:cNvPr>
            <p:cNvSpPr/>
            <p:nvPr/>
          </p:nvSpPr>
          <p:spPr>
            <a:xfrm>
              <a:off x="5772150" y="327660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55" name="TextBox 37">
              <a:extLst>
                <a:ext uri="{FF2B5EF4-FFF2-40B4-BE49-F238E27FC236}">
                  <a16:creationId xmlns:a16="http://schemas.microsoft.com/office/drawing/2014/main" id="{F748092A-2D2F-1A13-B195-F8EB492187FB}"/>
                </a:ext>
              </a:extLst>
            </p:cNvPr>
            <p:cNvSpPr txBox="1"/>
            <p:nvPr/>
          </p:nvSpPr>
          <p:spPr>
            <a:xfrm>
              <a:off x="5949315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56" name="TextBox 38">
              <a:extLst>
                <a:ext uri="{FF2B5EF4-FFF2-40B4-BE49-F238E27FC236}">
                  <a16:creationId xmlns:a16="http://schemas.microsoft.com/office/drawing/2014/main" id="{DA2D0592-6C27-91B3-ABE3-312DD39145BB}"/>
                </a:ext>
              </a:extLst>
            </p:cNvPr>
            <p:cNvSpPr txBox="1"/>
            <p:nvPr/>
          </p:nvSpPr>
          <p:spPr>
            <a:xfrm>
              <a:off x="594264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57" name="TextBox 39">
              <a:extLst>
                <a:ext uri="{FF2B5EF4-FFF2-40B4-BE49-F238E27FC236}">
                  <a16:creationId xmlns:a16="http://schemas.microsoft.com/office/drawing/2014/main" id="{9AABFA1F-3687-2298-9F27-CFA20D88783E}"/>
                </a:ext>
              </a:extLst>
            </p:cNvPr>
            <p:cNvSpPr txBox="1"/>
            <p:nvPr/>
          </p:nvSpPr>
          <p:spPr>
            <a:xfrm>
              <a:off x="5946458" y="420576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独立实现规则引擎系统</a:t>
              </a:r>
            </a:p>
          </p:txBody>
        </p:sp>
        <p:sp>
          <p:nvSpPr>
            <p:cNvPr id="58" name="TextBox 40">
              <a:extLst>
                <a:ext uri="{FF2B5EF4-FFF2-40B4-BE49-F238E27FC236}">
                  <a16:creationId xmlns:a16="http://schemas.microsoft.com/office/drawing/2014/main" id="{AE15E1D7-D70D-2C9F-0FE7-1B29369EDD12}"/>
                </a:ext>
              </a:extLst>
            </p:cNvPr>
            <p:cNvSpPr txBox="1"/>
            <p:nvPr/>
          </p:nvSpPr>
          <p:spPr>
            <a:xfrm>
              <a:off x="5946458" y="445341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完成管理台和执行能力建设</a:t>
              </a:r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C97BC21F-2084-094B-39A5-464616033AE1}"/>
                </a:ext>
              </a:extLst>
            </p:cNvPr>
            <p:cNvSpPr/>
            <p:nvPr/>
          </p:nvSpPr>
          <p:spPr>
            <a:xfrm>
              <a:off x="8382000" y="3276600"/>
              <a:ext cx="3257550" cy="1771650"/>
            </a:xfrm>
            <a:custGeom>
              <a:avLst/>
              <a:gdLst/>
              <a:ahLst/>
              <a:cxnLst/>
              <a:rect l="l" t="t" r="r" b="b"/>
              <a:pathLst>
                <a:path w="3257550" h="1771650">
                  <a:moveTo>
                    <a:pt x="133350" y="0"/>
                  </a:moveTo>
                  <a:lnTo>
                    <a:pt x="3124200" y="0"/>
                  </a:lnTo>
                  <a:cubicBezTo>
                    <a:pt x="3197847" y="0"/>
                    <a:pt x="3257550" y="59703"/>
                    <a:pt x="3257550" y="133350"/>
                  </a:cubicBezTo>
                  <a:lnTo>
                    <a:pt x="3257550" y="1638300"/>
                  </a:lnTo>
                  <a:cubicBezTo>
                    <a:pt x="3257550" y="1711947"/>
                    <a:pt x="3197847" y="1771650"/>
                    <a:pt x="31242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60" name="Freeform 42">
              <a:extLst>
                <a:ext uri="{FF2B5EF4-FFF2-40B4-BE49-F238E27FC236}">
                  <a16:creationId xmlns:a16="http://schemas.microsoft.com/office/drawing/2014/main" id="{F4B91436-307D-5359-0DC6-3D4006FBA62C}"/>
                </a:ext>
              </a:extLst>
            </p:cNvPr>
            <p:cNvSpPr/>
            <p:nvPr/>
          </p:nvSpPr>
          <p:spPr>
            <a:xfrm>
              <a:off x="8382000" y="3276600"/>
              <a:ext cx="3257550" cy="76200"/>
            </a:xfrm>
            <a:custGeom>
              <a:avLst/>
              <a:gdLst/>
              <a:ahLst/>
              <a:cxnLst/>
              <a:rect l="l" t="t" r="r" b="b"/>
              <a:pathLst>
                <a:path w="3257550" h="76200">
                  <a:moveTo>
                    <a:pt x="38100" y="0"/>
                  </a:moveTo>
                  <a:lnTo>
                    <a:pt x="3219450" y="0"/>
                  </a:lnTo>
                  <a:cubicBezTo>
                    <a:pt x="3240492" y="0"/>
                    <a:pt x="3257550" y="17058"/>
                    <a:pt x="3257550" y="38100"/>
                  </a:cubicBezTo>
                  <a:lnTo>
                    <a:pt x="3257550" y="38100"/>
                  </a:lnTo>
                  <a:cubicBezTo>
                    <a:pt x="3257550" y="59142"/>
                    <a:pt x="3240492" y="76200"/>
                    <a:pt x="32194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B9D99E"/>
            </a:solidFill>
            <a:ln>
              <a:noFill/>
            </a:ln>
          </p:spPr>
        </p:sp>
        <p:sp>
          <p:nvSpPr>
            <p:cNvPr id="61" name="TextBox 43">
              <a:extLst>
                <a:ext uri="{FF2B5EF4-FFF2-40B4-BE49-F238E27FC236}">
                  <a16:creationId xmlns:a16="http://schemas.microsoft.com/office/drawing/2014/main" id="{8921450C-E69C-1C8B-EB80-B377A3B511BC}"/>
                </a:ext>
              </a:extLst>
            </p:cNvPr>
            <p:cNvSpPr txBox="1"/>
            <p:nvPr/>
          </p:nvSpPr>
          <p:spPr>
            <a:xfrm>
              <a:off x="8559165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9D99E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62" name="TextBox 44">
              <a:extLst>
                <a:ext uri="{FF2B5EF4-FFF2-40B4-BE49-F238E27FC236}">
                  <a16:creationId xmlns:a16="http://schemas.microsoft.com/office/drawing/2014/main" id="{7463E525-7B50-5494-8039-A450E050D7EC}"/>
                </a:ext>
              </a:extLst>
            </p:cNvPr>
            <p:cNvSpPr txBox="1"/>
            <p:nvPr/>
          </p:nvSpPr>
          <p:spPr>
            <a:xfrm>
              <a:off x="855249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价值结论</a:t>
              </a:r>
            </a:p>
          </p:txBody>
        </p:sp>
        <p:sp>
          <p:nvSpPr>
            <p:cNvPr id="63" name="TextBox 45">
              <a:extLst>
                <a:ext uri="{FF2B5EF4-FFF2-40B4-BE49-F238E27FC236}">
                  <a16:creationId xmlns:a16="http://schemas.microsoft.com/office/drawing/2014/main" id="{5FE7F8B4-D86C-EADC-29AA-2755C5BDC987}"/>
                </a:ext>
              </a:extLst>
            </p:cNvPr>
            <p:cNvSpPr txBox="1"/>
            <p:nvPr/>
          </p:nvSpPr>
          <p:spPr>
            <a:xfrm>
              <a:off x="8556308" y="4205764"/>
              <a:ext cx="31980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从需求承接升级为方案定义与独立交付</a:t>
              </a:r>
            </a:p>
          </p:txBody>
        </p:sp>
        <p:sp>
          <p:nvSpPr>
            <p:cNvPr id="64" name="TextBox 46">
              <a:extLst>
                <a:ext uri="{FF2B5EF4-FFF2-40B4-BE49-F238E27FC236}">
                  <a16:creationId xmlns:a16="http://schemas.microsoft.com/office/drawing/2014/main" id="{3BEF5DD9-58BC-CE62-DBD2-8AB860C4BC44}"/>
                </a:ext>
              </a:extLst>
            </p:cNvPr>
            <p:cNvSpPr txBox="1"/>
            <p:nvPr/>
          </p:nvSpPr>
          <p:spPr>
            <a:xfrm>
              <a:off x="8556308" y="4453414"/>
              <a:ext cx="32911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体现更强的抽象设计和 ownership 能力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4689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C377A-ED7F-3B40-4B6A-B4371FCD4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558F56-632E-B76D-E334-6DD6070F4890}"/>
              </a:ext>
            </a:extLst>
          </p:cNvPr>
          <p:cNvSpPr txBox="1">
            <a:spLocks noGrp="1"/>
          </p:cNvSpPr>
          <p:nvPr/>
        </p:nvSpPr>
        <p:spPr>
          <a:xfrm>
            <a:off x="838200" y="153035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四、关键问题突破举例（三）：系统优化与平台化建设</a:t>
            </a:r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F80E311E-B91D-FDC8-9767-4C047AFBE945}"/>
              </a:ext>
            </a:extLst>
          </p:cNvPr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F087DA39-2A26-7172-A3A8-F7E68EB726EF}"/>
                </a:ext>
              </a:extLst>
            </p:cNvPr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6" name="Freeform 15">
              <a:extLst>
                <a:ext uri="{FF2B5EF4-FFF2-40B4-BE49-F238E27FC236}">
                  <a16:creationId xmlns:a16="http://schemas.microsoft.com/office/drawing/2014/main" id="{80129BAC-232B-8839-3AAD-A8771746F1B8}"/>
                </a:ext>
              </a:extLst>
            </p:cNvPr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7" name="TextBox 16">
              <a:extLst>
                <a:ext uri="{FF2B5EF4-FFF2-40B4-BE49-F238E27FC236}">
                  <a16:creationId xmlns:a16="http://schemas.microsoft.com/office/drawing/2014/main" id="{5D0C4553-149E-8096-43F4-5120C6F7EA5D}"/>
                </a:ext>
              </a:extLst>
            </p:cNvPr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B9261189-C598-0C21-6F61-348DC6937572}"/>
                </a:ext>
              </a:extLst>
            </p:cNvPr>
            <p:cNvSpPr txBox="1"/>
            <p:nvPr/>
          </p:nvSpPr>
          <p:spPr>
            <a:xfrm>
              <a:off x="1757362" y="1145381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不只完成需求，更持续把一次性交付升级成可复用能力。</a:t>
              </a:r>
            </a:p>
          </p:txBody>
        </p:sp>
      </p:grpSp>
      <p:grpSp>
        <p:nvGrpSpPr>
          <p:cNvPr id="9" name="Group 47">
            <a:extLst>
              <a:ext uri="{FF2B5EF4-FFF2-40B4-BE49-F238E27FC236}">
                <a16:creationId xmlns:a16="http://schemas.microsoft.com/office/drawing/2014/main" id="{E9AFBCD2-D6F9-CBD1-8E05-C2712865CB49}"/>
              </a:ext>
            </a:extLst>
          </p:cNvPr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0" name="Freeform 19">
              <a:extLst>
                <a:ext uri="{FF2B5EF4-FFF2-40B4-BE49-F238E27FC236}">
                  <a16:creationId xmlns:a16="http://schemas.microsoft.com/office/drawing/2014/main" id="{09290D79-1D3B-3C25-46DF-8E1E3524F24B}"/>
                </a:ext>
              </a:extLst>
            </p:cNvPr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11" name="Freeform 20">
              <a:extLst>
                <a:ext uri="{FF2B5EF4-FFF2-40B4-BE49-F238E27FC236}">
                  <a16:creationId xmlns:a16="http://schemas.microsoft.com/office/drawing/2014/main" id="{0015261C-A3B5-B5F1-1E90-D9ABDB45C10A}"/>
                </a:ext>
              </a:extLst>
            </p:cNvPr>
            <p:cNvSpPr/>
            <p:nvPr/>
          </p:nvSpPr>
          <p:spPr>
            <a:xfrm>
              <a:off x="552450" y="1943100"/>
              <a:ext cx="3390900" cy="2952750"/>
            </a:xfrm>
            <a:custGeom>
              <a:avLst/>
              <a:gdLst/>
              <a:ahLst/>
              <a:cxnLst/>
              <a:rect l="l" t="t" r="r" b="b"/>
              <a:pathLst>
                <a:path w="3390900" h="2952750">
                  <a:moveTo>
                    <a:pt x="133350" y="0"/>
                  </a:moveTo>
                  <a:lnTo>
                    <a:pt x="3257550" y="0"/>
                  </a:lnTo>
                  <a:cubicBezTo>
                    <a:pt x="3331197" y="0"/>
                    <a:pt x="3390900" y="59703"/>
                    <a:pt x="3390900" y="133350"/>
                  </a:cubicBezTo>
                  <a:lnTo>
                    <a:pt x="3390900" y="2819400"/>
                  </a:lnTo>
                  <a:cubicBezTo>
                    <a:pt x="3390900" y="2893047"/>
                    <a:pt x="3331197" y="2952750"/>
                    <a:pt x="3257550" y="2952750"/>
                  </a:cubicBezTo>
                  <a:lnTo>
                    <a:pt x="133350" y="2952750"/>
                  </a:lnTo>
                  <a:cubicBezTo>
                    <a:pt x="59703" y="2952750"/>
                    <a:pt x="0" y="2893047"/>
                    <a:pt x="0" y="2819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12" name="Freeform 21">
              <a:extLst>
                <a:ext uri="{FF2B5EF4-FFF2-40B4-BE49-F238E27FC236}">
                  <a16:creationId xmlns:a16="http://schemas.microsoft.com/office/drawing/2014/main" id="{015F561E-44C3-6DCB-B925-EE9464078E8D}"/>
                </a:ext>
              </a:extLst>
            </p:cNvPr>
            <p:cNvSpPr/>
            <p:nvPr/>
          </p:nvSpPr>
          <p:spPr>
            <a:xfrm>
              <a:off x="552450" y="1943100"/>
              <a:ext cx="3390900" cy="76200"/>
            </a:xfrm>
            <a:custGeom>
              <a:avLst/>
              <a:gdLst/>
              <a:ahLst/>
              <a:cxnLst/>
              <a:rect l="l" t="t" r="r" b="b"/>
              <a:pathLst>
                <a:path w="3390900" h="762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38100"/>
                  </a:lnTo>
                  <a:cubicBezTo>
                    <a:pt x="3390900" y="59142"/>
                    <a:pt x="3373842" y="76200"/>
                    <a:pt x="33528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13" name="TextBox 22">
              <a:extLst>
                <a:ext uri="{FF2B5EF4-FFF2-40B4-BE49-F238E27FC236}">
                  <a16:creationId xmlns:a16="http://schemas.microsoft.com/office/drawing/2014/main" id="{55DBC770-2F17-1376-AE70-4473E234F25B}"/>
                </a:ext>
              </a:extLst>
            </p:cNvPr>
            <p:cNvSpPr txBox="1"/>
            <p:nvPr/>
          </p:nvSpPr>
          <p:spPr>
            <a:xfrm>
              <a:off x="729615" y="21917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CASE A</a:t>
              </a:r>
            </a:p>
          </p:txBody>
        </p:sp>
        <p:sp>
          <p:nvSpPr>
            <p:cNvPr id="14" name="TextBox 23">
              <a:extLst>
                <a:ext uri="{FF2B5EF4-FFF2-40B4-BE49-F238E27FC236}">
                  <a16:creationId xmlns:a16="http://schemas.microsoft.com/office/drawing/2014/main" id="{6BEB8F4A-DC2A-42B2-C9D0-61F5CE1D7DA8}"/>
                </a:ext>
              </a:extLst>
            </p:cNvPr>
            <p:cNvSpPr txBox="1"/>
            <p:nvPr/>
          </p:nvSpPr>
          <p:spPr>
            <a:xfrm>
              <a:off x="722948" y="2458879"/>
              <a:ext cx="152541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CRM 查询优化</a:t>
              </a:r>
            </a:p>
          </p:txBody>
        </p:sp>
        <p:sp>
          <p:nvSpPr>
            <p:cNvPr id="15" name="TextBox 24">
              <a:extLst>
                <a:ext uri="{FF2B5EF4-FFF2-40B4-BE49-F238E27FC236}">
                  <a16:creationId xmlns:a16="http://schemas.microsoft.com/office/drawing/2014/main" id="{44650D86-864A-EFDE-979F-8407FE4A3C1E}"/>
                </a:ext>
              </a:extLst>
            </p:cNvPr>
            <p:cNvSpPr txBox="1"/>
            <p:nvPr/>
          </p:nvSpPr>
          <p:spPr>
            <a:xfrm>
              <a:off x="726758" y="28722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问题：后台查询接口响应慢</a:t>
              </a:r>
            </a:p>
          </p:txBody>
        </p:sp>
        <p:sp>
          <p:nvSpPr>
            <p:cNvPr id="16" name="TextBox 25">
              <a:extLst>
                <a:ext uri="{FF2B5EF4-FFF2-40B4-BE49-F238E27FC236}">
                  <a16:creationId xmlns:a16="http://schemas.microsoft.com/office/drawing/2014/main" id="{E070E9E4-874C-E156-0B20-68C484C13C1B}"/>
                </a:ext>
              </a:extLst>
            </p:cNvPr>
            <p:cNvSpPr txBox="1"/>
            <p:nvPr/>
          </p:nvSpPr>
          <p:spPr>
            <a:xfrm>
              <a:off x="726758" y="31199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动作：定位瓶颈并重构查询链路</a:t>
              </a:r>
            </a:p>
          </p:txBody>
        </p:sp>
        <p:sp>
          <p:nvSpPr>
            <p:cNvPr id="17" name="TextBox 26">
              <a:extLst>
                <a:ext uri="{FF2B5EF4-FFF2-40B4-BE49-F238E27FC236}">
                  <a16:creationId xmlns:a16="http://schemas.microsoft.com/office/drawing/2014/main" id="{9760CFE2-80C7-00E7-7E9F-78F27291DAB0}"/>
                </a:ext>
              </a:extLst>
            </p:cNvPr>
            <p:cNvSpPr txBox="1"/>
            <p:nvPr/>
          </p:nvSpPr>
          <p:spPr>
            <a:xfrm>
              <a:off x="726758" y="3367564"/>
              <a:ext cx="15407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结果：2s → 1s以下</a:t>
              </a:r>
            </a:p>
          </p:txBody>
        </p:sp>
        <p:sp>
          <p:nvSpPr>
            <p:cNvPr id="18" name="TextBox 27">
              <a:extLst>
                <a:ext uri="{FF2B5EF4-FFF2-40B4-BE49-F238E27FC236}">
                  <a16:creationId xmlns:a16="http://schemas.microsoft.com/office/drawing/2014/main" id="{F82AF501-7C68-32D2-617D-23DD2391379A}"/>
                </a:ext>
              </a:extLst>
            </p:cNvPr>
            <p:cNvSpPr txBox="1"/>
            <p:nvPr/>
          </p:nvSpPr>
          <p:spPr>
            <a:xfrm>
              <a:off x="726758" y="36152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价值：直接提升运营侧使用效率</a:t>
              </a: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3CFD4AFE-D410-E0AE-12A0-699F2BE78A81}"/>
                </a:ext>
              </a:extLst>
            </p:cNvPr>
            <p:cNvSpPr/>
            <p:nvPr/>
          </p:nvSpPr>
          <p:spPr>
            <a:xfrm>
              <a:off x="4400550" y="1943100"/>
              <a:ext cx="3390900" cy="2952750"/>
            </a:xfrm>
            <a:custGeom>
              <a:avLst/>
              <a:gdLst/>
              <a:ahLst/>
              <a:cxnLst/>
              <a:rect l="l" t="t" r="r" b="b"/>
              <a:pathLst>
                <a:path w="3390900" h="2952750">
                  <a:moveTo>
                    <a:pt x="133350" y="0"/>
                  </a:moveTo>
                  <a:lnTo>
                    <a:pt x="3257550" y="0"/>
                  </a:lnTo>
                  <a:cubicBezTo>
                    <a:pt x="3331197" y="0"/>
                    <a:pt x="3390900" y="59703"/>
                    <a:pt x="3390900" y="133350"/>
                  </a:cubicBezTo>
                  <a:lnTo>
                    <a:pt x="3390900" y="2819400"/>
                  </a:lnTo>
                  <a:cubicBezTo>
                    <a:pt x="3390900" y="2893047"/>
                    <a:pt x="3331197" y="2952750"/>
                    <a:pt x="3257550" y="2952750"/>
                  </a:cubicBezTo>
                  <a:lnTo>
                    <a:pt x="133350" y="2952750"/>
                  </a:lnTo>
                  <a:cubicBezTo>
                    <a:pt x="59703" y="2952750"/>
                    <a:pt x="0" y="2893047"/>
                    <a:pt x="0" y="2819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B2AB3B46-7E8D-CD90-E803-5978416DD2BB}"/>
                </a:ext>
              </a:extLst>
            </p:cNvPr>
            <p:cNvSpPr/>
            <p:nvPr/>
          </p:nvSpPr>
          <p:spPr>
            <a:xfrm>
              <a:off x="4400550" y="1943100"/>
              <a:ext cx="3390900" cy="76200"/>
            </a:xfrm>
            <a:custGeom>
              <a:avLst/>
              <a:gdLst/>
              <a:ahLst/>
              <a:cxnLst/>
              <a:rect l="l" t="t" r="r" b="b"/>
              <a:pathLst>
                <a:path w="3390900" h="762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38100"/>
                  </a:lnTo>
                  <a:cubicBezTo>
                    <a:pt x="3390900" y="59142"/>
                    <a:pt x="3373842" y="76200"/>
                    <a:pt x="33528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1" name="TextBox 30">
              <a:extLst>
                <a:ext uri="{FF2B5EF4-FFF2-40B4-BE49-F238E27FC236}">
                  <a16:creationId xmlns:a16="http://schemas.microsoft.com/office/drawing/2014/main" id="{82B74235-E338-7060-1ADE-2A33542F05B8}"/>
                </a:ext>
              </a:extLst>
            </p:cNvPr>
            <p:cNvSpPr txBox="1"/>
            <p:nvPr/>
          </p:nvSpPr>
          <p:spPr>
            <a:xfrm>
              <a:off x="4577715" y="21917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CASE B</a:t>
              </a:r>
            </a:p>
          </p:txBody>
        </p:sp>
        <p:sp>
          <p:nvSpPr>
            <p:cNvPr id="22" name="TextBox 31">
              <a:extLst>
                <a:ext uri="{FF2B5EF4-FFF2-40B4-BE49-F238E27FC236}">
                  <a16:creationId xmlns:a16="http://schemas.microsoft.com/office/drawing/2014/main" id="{6BDB0EE0-1AF4-05E1-723F-1B1A62387AD5}"/>
                </a:ext>
              </a:extLst>
            </p:cNvPr>
            <p:cNvSpPr txBox="1"/>
            <p:nvPr/>
          </p:nvSpPr>
          <p:spPr>
            <a:xfrm>
              <a:off x="4571048" y="24588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签到重构</a:t>
              </a:r>
            </a:p>
          </p:txBody>
        </p:sp>
        <p:sp>
          <p:nvSpPr>
            <p:cNvPr id="23" name="TextBox 32">
              <a:extLst>
                <a:ext uri="{FF2B5EF4-FFF2-40B4-BE49-F238E27FC236}">
                  <a16:creationId xmlns:a16="http://schemas.microsoft.com/office/drawing/2014/main" id="{A0D4CC31-D4C7-3176-4022-633CD2AAA306}"/>
                </a:ext>
              </a:extLst>
            </p:cNvPr>
            <p:cNvSpPr txBox="1"/>
            <p:nvPr/>
          </p:nvSpPr>
          <p:spPr>
            <a:xfrm>
              <a:off x="4574858" y="287226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问题：活动需求重复开发</a:t>
              </a:r>
            </a:p>
          </p:txBody>
        </p:sp>
        <p:sp>
          <p:nvSpPr>
            <p:cNvPr id="24" name="TextBox 33">
              <a:extLst>
                <a:ext uri="{FF2B5EF4-FFF2-40B4-BE49-F238E27FC236}">
                  <a16:creationId xmlns:a16="http://schemas.microsoft.com/office/drawing/2014/main" id="{24A1556E-5BAF-9BEC-91F3-F80E0773F27B}"/>
                </a:ext>
              </a:extLst>
            </p:cNvPr>
            <p:cNvSpPr txBox="1"/>
            <p:nvPr/>
          </p:nvSpPr>
          <p:spPr>
            <a:xfrm>
              <a:off x="4574858" y="31199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动作：抽象为标准配置化能力</a:t>
              </a:r>
            </a:p>
          </p:txBody>
        </p:sp>
        <p:sp>
          <p:nvSpPr>
            <p:cNvPr id="25" name="TextBox 34">
              <a:extLst>
                <a:ext uri="{FF2B5EF4-FFF2-40B4-BE49-F238E27FC236}">
                  <a16:creationId xmlns:a16="http://schemas.microsoft.com/office/drawing/2014/main" id="{00F2BA70-3EAB-B537-F9E2-5F2885B0C431}"/>
                </a:ext>
              </a:extLst>
            </p:cNvPr>
            <p:cNvSpPr txBox="1"/>
            <p:nvPr/>
          </p:nvSpPr>
          <p:spPr>
            <a:xfrm>
              <a:off x="4574858" y="336756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结果：后端无需每次重复开发</a:t>
              </a:r>
            </a:p>
          </p:txBody>
        </p:sp>
        <p:sp>
          <p:nvSpPr>
            <p:cNvPr id="26" name="TextBox 35">
              <a:extLst>
                <a:ext uri="{FF2B5EF4-FFF2-40B4-BE49-F238E27FC236}">
                  <a16:creationId xmlns:a16="http://schemas.microsoft.com/office/drawing/2014/main" id="{D0993740-9F9A-6209-0460-1EB5876BB4A6}"/>
                </a:ext>
              </a:extLst>
            </p:cNvPr>
            <p:cNvSpPr txBox="1"/>
            <p:nvPr/>
          </p:nvSpPr>
          <p:spPr>
            <a:xfrm>
              <a:off x="4574858" y="36152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价值：提升需求响应效率与稳定性</a:t>
              </a:r>
            </a:p>
          </p:txBody>
        </p:sp>
        <p:sp>
          <p:nvSpPr>
            <p:cNvPr id="27" name="Freeform 36">
              <a:extLst>
                <a:ext uri="{FF2B5EF4-FFF2-40B4-BE49-F238E27FC236}">
                  <a16:creationId xmlns:a16="http://schemas.microsoft.com/office/drawing/2014/main" id="{D6398C24-78A1-565A-ACB5-1F89CF5CEE65}"/>
                </a:ext>
              </a:extLst>
            </p:cNvPr>
            <p:cNvSpPr/>
            <p:nvPr/>
          </p:nvSpPr>
          <p:spPr>
            <a:xfrm>
              <a:off x="8248650" y="1943100"/>
              <a:ext cx="3200400" cy="2952750"/>
            </a:xfrm>
            <a:custGeom>
              <a:avLst/>
              <a:gdLst/>
              <a:ahLst/>
              <a:cxnLst/>
              <a:rect l="l" t="t" r="r" b="b"/>
              <a:pathLst>
                <a:path w="3200400" h="2952750">
                  <a:moveTo>
                    <a:pt x="133350" y="0"/>
                  </a:moveTo>
                  <a:lnTo>
                    <a:pt x="3067050" y="0"/>
                  </a:lnTo>
                  <a:cubicBezTo>
                    <a:pt x="3140697" y="0"/>
                    <a:pt x="3200400" y="59703"/>
                    <a:pt x="3200400" y="133350"/>
                  </a:cubicBezTo>
                  <a:lnTo>
                    <a:pt x="3200400" y="2819400"/>
                  </a:lnTo>
                  <a:cubicBezTo>
                    <a:pt x="3200400" y="2893047"/>
                    <a:pt x="3140697" y="2952750"/>
                    <a:pt x="3067050" y="2952750"/>
                  </a:cubicBezTo>
                  <a:lnTo>
                    <a:pt x="133350" y="2952750"/>
                  </a:lnTo>
                  <a:cubicBezTo>
                    <a:pt x="59703" y="2952750"/>
                    <a:pt x="0" y="2893047"/>
                    <a:pt x="0" y="2819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98D381E1-411E-2D71-930B-45F825470E37}"/>
                </a:ext>
              </a:extLst>
            </p:cNvPr>
            <p:cNvSpPr/>
            <p:nvPr/>
          </p:nvSpPr>
          <p:spPr>
            <a:xfrm>
              <a:off x="8248650" y="1943100"/>
              <a:ext cx="3200400" cy="76200"/>
            </a:xfrm>
            <a:custGeom>
              <a:avLst/>
              <a:gdLst/>
              <a:ahLst/>
              <a:cxnLst/>
              <a:rect l="l" t="t" r="r" b="b"/>
              <a:pathLst>
                <a:path w="3200400" h="76200">
                  <a:moveTo>
                    <a:pt x="38100" y="0"/>
                  </a:moveTo>
                  <a:lnTo>
                    <a:pt x="3162300" y="0"/>
                  </a:lnTo>
                  <a:cubicBezTo>
                    <a:pt x="3183342" y="0"/>
                    <a:pt x="3200400" y="17058"/>
                    <a:pt x="3200400" y="38100"/>
                  </a:cubicBezTo>
                  <a:lnTo>
                    <a:pt x="3200400" y="38100"/>
                  </a:lnTo>
                  <a:cubicBezTo>
                    <a:pt x="3200400" y="59142"/>
                    <a:pt x="3183342" y="76200"/>
                    <a:pt x="31623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29" name="TextBox 38">
              <a:extLst>
                <a:ext uri="{FF2B5EF4-FFF2-40B4-BE49-F238E27FC236}">
                  <a16:creationId xmlns:a16="http://schemas.microsoft.com/office/drawing/2014/main" id="{8EDC7D73-2943-7EB2-FDE9-153F1498081C}"/>
                </a:ext>
              </a:extLst>
            </p:cNvPr>
            <p:cNvSpPr txBox="1"/>
            <p:nvPr/>
          </p:nvSpPr>
          <p:spPr>
            <a:xfrm>
              <a:off x="8425815" y="21917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CASE C</a:t>
              </a:r>
            </a:p>
          </p:txBody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31446A29-4CF6-1221-4056-A25AE54EE248}"/>
                </a:ext>
              </a:extLst>
            </p:cNvPr>
            <p:cNvSpPr txBox="1"/>
            <p:nvPr/>
          </p:nvSpPr>
          <p:spPr>
            <a:xfrm>
              <a:off x="8419148" y="2458879"/>
              <a:ext cx="12476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转盘配置化</a:t>
              </a:r>
            </a:p>
          </p:txBody>
        </p:sp>
        <p:sp>
          <p:nvSpPr>
            <p:cNvPr id="31" name="TextBox 40">
              <a:extLst>
                <a:ext uri="{FF2B5EF4-FFF2-40B4-BE49-F238E27FC236}">
                  <a16:creationId xmlns:a16="http://schemas.microsoft.com/office/drawing/2014/main" id="{9986E79F-4081-15F1-CAA0-801F9B756D0E}"/>
                </a:ext>
              </a:extLst>
            </p:cNvPr>
            <p:cNvSpPr txBox="1"/>
            <p:nvPr/>
          </p:nvSpPr>
          <p:spPr>
            <a:xfrm>
              <a:off x="8422958" y="2872264"/>
              <a:ext cx="25276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问题：33 个子类散落在实现中</a:t>
              </a:r>
            </a:p>
          </p:txBody>
        </p:sp>
        <p:sp>
          <p:nvSpPr>
            <p:cNvPr id="32" name="TextBox 41">
              <a:extLst>
                <a:ext uri="{FF2B5EF4-FFF2-40B4-BE49-F238E27FC236}">
                  <a16:creationId xmlns:a16="http://schemas.microsoft.com/office/drawing/2014/main" id="{733FC2B2-A4FC-AE27-3482-F558B01DCC4A}"/>
                </a:ext>
              </a:extLst>
            </p:cNvPr>
            <p:cNvSpPr txBox="1"/>
            <p:nvPr/>
          </p:nvSpPr>
          <p:spPr>
            <a:xfrm>
              <a:off x="8422958" y="31199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动作：收敛为配置组合</a:t>
              </a:r>
            </a:p>
          </p:txBody>
        </p:sp>
        <p:sp>
          <p:nvSpPr>
            <p:cNvPr id="33" name="TextBox 42">
              <a:extLst>
                <a:ext uri="{FF2B5EF4-FFF2-40B4-BE49-F238E27FC236}">
                  <a16:creationId xmlns:a16="http://schemas.microsoft.com/office/drawing/2014/main" id="{49FA1826-D320-AA62-3D25-AE946C53AD01}"/>
                </a:ext>
              </a:extLst>
            </p:cNvPr>
            <p:cNvSpPr txBox="1"/>
            <p:nvPr/>
          </p:nvSpPr>
          <p:spPr>
            <a:xfrm>
              <a:off x="8422958" y="3367564"/>
              <a:ext cx="2108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结果：新增活动 1 天 → 2h</a:t>
              </a:r>
            </a:p>
          </p:txBody>
        </p:sp>
        <p:sp>
          <p:nvSpPr>
            <p:cNvPr id="34" name="TextBox 43">
              <a:extLst>
                <a:ext uri="{FF2B5EF4-FFF2-40B4-BE49-F238E27FC236}">
                  <a16:creationId xmlns:a16="http://schemas.microsoft.com/office/drawing/2014/main" id="{DA6F5C6C-0408-2461-97E6-3AD08DBAE03C}"/>
                </a:ext>
              </a:extLst>
            </p:cNvPr>
            <p:cNvSpPr txBox="1"/>
            <p:nvPr/>
          </p:nvSpPr>
          <p:spPr>
            <a:xfrm>
              <a:off x="8422958" y="36152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价值：持续降低重复研发成本</a:t>
              </a:r>
            </a:p>
          </p:txBody>
        </p:sp>
        <p:sp>
          <p:nvSpPr>
            <p:cNvPr id="35" name="Freeform 44">
              <a:extLst>
                <a:ext uri="{FF2B5EF4-FFF2-40B4-BE49-F238E27FC236}">
                  <a16:creationId xmlns:a16="http://schemas.microsoft.com/office/drawing/2014/main" id="{7BC58AE8-9BBD-C121-D22F-20279C02214A}"/>
                </a:ext>
              </a:extLst>
            </p:cNvPr>
            <p:cNvSpPr/>
            <p:nvPr/>
          </p:nvSpPr>
          <p:spPr>
            <a:xfrm>
              <a:off x="552450" y="5143500"/>
              <a:ext cx="10896600" cy="419100"/>
            </a:xfrm>
            <a:custGeom>
              <a:avLst/>
              <a:gdLst/>
              <a:ahLst/>
              <a:cxnLst/>
              <a:rect l="l" t="t" r="r" b="b"/>
              <a:pathLst>
                <a:path w="10896600" h="419100">
                  <a:moveTo>
                    <a:pt x="114300" y="0"/>
                  </a:moveTo>
                  <a:lnTo>
                    <a:pt x="10782300" y="0"/>
                  </a:lnTo>
                  <a:cubicBezTo>
                    <a:pt x="10845426" y="0"/>
                    <a:pt x="10896600" y="51174"/>
                    <a:pt x="10896600" y="114300"/>
                  </a:cubicBezTo>
                  <a:lnTo>
                    <a:pt x="10896600" y="304800"/>
                  </a:lnTo>
                  <a:cubicBezTo>
                    <a:pt x="10896600" y="367926"/>
                    <a:pt x="10845426" y="419100"/>
                    <a:pt x="10782300" y="419100"/>
                  </a:cubicBezTo>
                  <a:lnTo>
                    <a:pt x="114300" y="419100"/>
                  </a:lnTo>
                  <a:cubicBezTo>
                    <a:pt x="51174" y="419100"/>
                    <a:pt x="0" y="367926"/>
                    <a:pt x="0" y="304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6B8E00">
                <a:alpha val="6000"/>
              </a:srgbClr>
            </a:solidFill>
            <a:ln>
              <a:noFill/>
            </a:ln>
          </p:spPr>
        </p:sp>
        <p:sp>
          <p:nvSpPr>
            <p:cNvPr id="36" name="TextBox 45">
              <a:extLst>
                <a:ext uri="{FF2B5EF4-FFF2-40B4-BE49-F238E27FC236}">
                  <a16:creationId xmlns:a16="http://schemas.microsoft.com/office/drawing/2014/main" id="{BE452DC3-1D9E-F22B-6C03-1B47A40CD90A}"/>
                </a:ext>
              </a:extLst>
            </p:cNvPr>
            <p:cNvSpPr txBox="1"/>
            <p:nvPr/>
          </p:nvSpPr>
          <p:spPr>
            <a:xfrm>
              <a:off x="742950" y="5248275"/>
              <a:ext cx="80891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通过性能优化、架构重构和配置化设计，把一次性交付持续升级为可复用能力。</a:t>
              </a:r>
            </a:p>
          </p:txBody>
        </p:sp>
        <p:sp>
          <p:nvSpPr>
            <p:cNvPr id="37" name="TextBox 46">
              <a:extLst>
                <a:ext uri="{FF2B5EF4-FFF2-40B4-BE49-F238E27FC236}">
                  <a16:creationId xmlns:a16="http://schemas.microsoft.com/office/drawing/2014/main" id="{74824A55-7F58-F1C5-A8C0-B8D3E38319B2}"/>
                </a:ext>
              </a:extLst>
            </p:cNvPr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7823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 noGrp="1"/>
          </p:cNvSpPr>
          <p:nvPr/>
        </p:nvSpPr>
        <p:spPr>
          <a:xfrm>
            <a:off x="963930" y="173990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五、</a:t>
            </a:r>
            <a:r>
              <a:rPr lang="zh-CN" sz="2800" b="1" spc="-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未来工作计划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266" name="TextBox 2"/>
          <p:cNvSpPr txBox="1"/>
          <p:nvPr>
            <p:custDataLst>
              <p:tags r:id="rId1"/>
            </p:custDataLst>
          </p:nvPr>
        </p:nvSpPr>
        <p:spPr>
          <a:xfrm>
            <a:off x="731822" y="1164445"/>
            <a:ext cx="10842140" cy="5472426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展示未来的重点工作，需要列举出</a:t>
            </a:r>
            <a:r>
              <a:rPr lang="zh-CN" altLang="en-US" sz="2400" dirty="0">
                <a:solidFill>
                  <a:srgbClr val="FF0000"/>
                </a:solidFill>
              </a:rPr>
              <a:t>行动计划或里程碑节点，落地时间，负责人，协助人</a:t>
            </a: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400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400" dirty="0"/>
          </a:p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6975" y="197485"/>
            <a:ext cx="4450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六、个人的不足与提升计划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81809" y="1314040"/>
            <a:ext cx="10871922" cy="1198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 fontAlgn="base">
              <a:buFontTx/>
              <a:buNone/>
            </a:pPr>
            <a:r>
              <a:rPr lang="zh-CN" altLang="en-US" sz="2400"/>
              <a:t>考察个人自省能力与学习力</a:t>
            </a:r>
            <a:r>
              <a:rPr lang="zh-CN" altLang="en-US" sz="2400" dirty="0">
                <a:sym typeface="+mn-ea"/>
              </a:rPr>
              <a:t>，需要列举出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行动计划或里程碑节点，落地时间</a:t>
            </a:r>
            <a:endParaRPr lang="zh-CN" altLang="en-US" sz="2400" dirty="0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 noGrp="1"/>
          </p:cNvSpPr>
          <p:nvPr/>
        </p:nvSpPr>
        <p:spPr>
          <a:xfrm>
            <a:off x="1002030" y="202565"/>
            <a:ext cx="105156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457200">
              <a:lnSpc>
                <a:spcPct val="100000"/>
              </a:lnSpc>
              <a:buClrTx/>
              <a:buSzTx/>
              <a:buFontTx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七、建议与求助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87198" y="1196244"/>
            <a:ext cx="10794848" cy="44651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/>
              <a:t>基于对于公司的观察和了解，提出有价值、可落地的宝贵建议</a:t>
            </a:r>
          </a:p>
          <a:p>
            <a:pPr algn="l"/>
            <a:endParaRPr lang="zh-CN" altLang="en-US" sz="2400"/>
          </a:p>
          <a:p>
            <a:pPr algn="l"/>
            <a:endParaRPr lang="zh-CN" altLang="en-US" sz="2400"/>
          </a:p>
          <a:p>
            <a:pPr algn="l"/>
            <a:r>
              <a:rPr lang="zh-CN" altLang="en-US" sz="2400">
                <a:solidFill>
                  <a:srgbClr val="FF0000"/>
                </a:solidFill>
              </a:rPr>
              <a:t>可以从自己想要做的事情思考，在达成的路上存在哪些方面的阻碍，要解决这些阻碍除自身努力外需要组织提供哪些协助，这样才能体现自己的上进心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t="11283" b="-1136"/>
          <a:stretch>
            <a:fillRect/>
          </a:stretch>
        </p:blipFill>
        <p:spPr>
          <a:xfrm>
            <a:off x="-133552" y="-993069"/>
            <a:ext cx="12325552" cy="7684852"/>
          </a:xfrm>
          <a:prstGeom prst="rect">
            <a:avLst/>
          </a:prstGeom>
          <a:effectLst>
            <a:glow rad="127000">
              <a:schemeClr val="bg1">
                <a:alpha val="3000"/>
              </a:schemeClr>
            </a:glow>
          </a:effectLst>
          <a:scene3d>
            <a:camera prst="orthographicFront"/>
            <a:lightRig rig="threePt" dir="t"/>
          </a:scene3d>
          <a:sp3d prstMaterial="softEdge"/>
        </p:spPr>
      </p:pic>
      <p:sp>
        <p:nvSpPr>
          <p:cNvPr id="5" name="矩形 4"/>
          <p:cNvSpPr/>
          <p:nvPr/>
        </p:nvSpPr>
        <p:spPr>
          <a:xfrm>
            <a:off x="-133552" y="3132306"/>
            <a:ext cx="12325552" cy="3418426"/>
          </a:xfrm>
          <a:prstGeom prst="rect">
            <a:avLst/>
          </a:prstGeom>
          <a:solidFill>
            <a:schemeClr val="bg2">
              <a:lumMod val="90000"/>
              <a:alpha val="84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44022" y="3726962"/>
            <a:ext cx="9709204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6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96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96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THANKS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czZGJiMzk3NmE4MTFmY2I0NmVkOTVhODY4OTk3OTcifQ=="/>
  <p:tag name="KSO_WPP_MARK_KEY" val="3536debe-df78-49c7-bf0c-665265cb9116"/>
  <p:tag name="OPCH-C384B3F11C01A1FE27D1DD8162F3FE67E931813C4DE173FAAD7C996EBE479C0E" val="[{&quot;GradientColorId&quot;:&quot;&quot;,&quot;IsFree&quot;:true,&quot;IsGradient&quot;:false,&quot;ImagePath&quot;:&quot;&quot;,&quot;GradientColor&quot;:null,&quot;SimpleColor&quot;:&quot;#92D050&quot;},{&quot;GradientColorId&quot;:&quot;&quot;,&quot;IsFree&quot;:true,&quot;IsGradient&quot;:false,&quot;ImagePath&quot;:&quot;&quot;,&quot;GradientColor&quot;:null,&quot;SimpleColor&quot;:&quot;#00B050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7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​​">
  <a:themeElements>
    <a:clrScheme name="自定义 9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6E0"/>
      </a:accent1>
      <a:accent2>
        <a:srgbClr val="00DFD9"/>
      </a:accent2>
      <a:accent3>
        <a:srgbClr val="FF8F54"/>
      </a:accent3>
      <a:accent4>
        <a:srgbClr val="FFB700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58">
      <a:majorFont>
        <a:latin typeface="TTTGB Medium"/>
        <a:ea typeface="腾讯体 W7"/>
        <a:cs typeface=""/>
      </a:majorFont>
      <a:minorFont>
        <a:latin typeface="腾讯体 W3"/>
        <a:ea typeface="腾讯体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2187</Words>
  <Application>Microsoft Office PowerPoint</Application>
  <PresentationFormat>宽屏</PresentationFormat>
  <Paragraphs>251</Paragraphs>
  <Slides>14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腾讯体 W3</vt:lpstr>
      <vt:lpstr>微软雅黑</vt:lpstr>
      <vt:lpstr>Noto Sans SC</vt:lpstr>
      <vt:lpstr>等线</vt:lpstr>
      <vt:lpstr>Calibri</vt:lpstr>
      <vt:lpstr>7_Office 主题​​</vt:lpstr>
      <vt:lpstr>6_Office 主题​​</vt:lpstr>
      <vt:lpstr>5_Office 主题​​</vt:lpstr>
      <vt:lpstr>4_Office 主题​​</vt:lpstr>
      <vt:lpstr>3_Office 主题​​</vt:lpstr>
      <vt:lpstr>2_Office 主题​​</vt:lpstr>
      <vt:lpstr>1_Office 主题​​</vt:lpstr>
      <vt:lpstr>Office 主题​​</vt:lpstr>
      <vt:lpstr>8_Office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汉涛 方</cp:lastModifiedBy>
  <cp:revision>5</cp:revision>
  <dcterms:created xsi:type="dcterms:W3CDTF">2025-07-15T03:10:04Z</dcterms:created>
  <dcterms:modified xsi:type="dcterms:W3CDTF">2026-04-04T14:58:08Z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CA7C76E29F294D83B6CF9B9FBF02C5A3</vt:lpwstr>
  </property>
  <property fmtid="{D5CDD505-2E9C-101B-9397-08002B2CF9AE}" pid="4" name="KSOSaveFontToCloudKey">
    <vt:lpwstr>304203530_embed</vt:lpwstr>
  </property>
</Properties>
</file>