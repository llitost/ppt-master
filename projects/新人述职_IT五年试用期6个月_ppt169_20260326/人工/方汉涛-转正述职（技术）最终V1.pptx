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9" r:id="rId7"/>
    <p:sldMasterId id="2147483731" r:id="rId8"/>
    <p:sldMasterId id="2147483743" r:id="rId9"/>
  </p:sldMasterIdLst>
  <p:notesMasterIdLst>
    <p:notesMasterId r:id="rId26"/>
  </p:notesMasterIdLst>
  <p:handoutMasterIdLst>
    <p:handoutMasterId r:id="rId27"/>
  </p:handoutMasterIdLst>
  <p:sldIdLst>
    <p:sldId id="4362" r:id="rId10"/>
    <p:sldId id="4403" r:id="rId11"/>
    <p:sldId id="4378" r:id="rId12"/>
    <p:sldId id="4406" r:id="rId13"/>
    <p:sldId id="4407" r:id="rId14"/>
    <p:sldId id="259" r:id="rId15"/>
    <p:sldId id="4409" r:id="rId16"/>
    <p:sldId id="260" r:id="rId17"/>
    <p:sldId id="4410" r:id="rId18"/>
    <p:sldId id="4412" r:id="rId19"/>
    <p:sldId id="4414" r:id="rId20"/>
    <p:sldId id="4416" r:id="rId21"/>
    <p:sldId id="4417" r:id="rId22"/>
    <p:sldId id="4418" r:id="rId23"/>
    <p:sldId id="4419" r:id="rId24"/>
    <p:sldId id="4392" r:id="rId25"/>
  </p:sldIdLst>
  <p:sldSz cx="12192000" cy="6858000"/>
  <p:notesSz cx="6858000" cy="9144000"/>
  <p:embeddedFontLst>
    <p:embeddedFont>
      <p:font typeface="等线" panose="02010600030101010101" pitchFamily="2" charset="-122"/>
      <p:regular r:id="rId28"/>
      <p:bold r:id="rId29"/>
    </p:embeddedFont>
    <p:embeddedFont>
      <p:font typeface="微软雅黑" panose="020B0503020204020204" pitchFamily="34" charset="-122"/>
      <p:regular r:id="rId30"/>
      <p:bold r:id="rId31"/>
    </p:embeddedFont>
  </p:embeddedFontLst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2">
          <p15:clr>
            <a:srgbClr val="A4A3A4"/>
          </p15:clr>
        </p15:guide>
        <p15:guide id="2" pos="38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ot-100" initials="R" lastIdx="2" clrIdx="0"/>
  <p:cmAuthor id="2" name="汉涛 方" initials="汉方" lastIdx="7" clrIdx="1">
    <p:extLst>
      <p:ext uri="{19B8F6BF-5375-455C-9EA6-DF929625EA0E}">
        <p15:presenceInfo xmlns:p15="http://schemas.microsoft.com/office/powerpoint/2012/main" userId="fcf74d6c5bb48b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B22E"/>
    <a:srgbClr val="F6FAF3"/>
    <a:srgbClr val="DCFCE7"/>
    <a:srgbClr val="10B981"/>
    <a:srgbClr val="C8E391"/>
    <a:srgbClr val="D7EBAF"/>
    <a:srgbClr val="BED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6" autoAdjust="0"/>
    <p:restoredTop sz="73501" autoAdjust="0"/>
  </p:normalViewPr>
  <p:slideViewPr>
    <p:cSldViewPr snapToGrid="0" showGuides="1">
      <p:cViewPr varScale="1">
        <p:scale>
          <a:sx n="58" d="100"/>
          <a:sy n="58" d="100"/>
        </p:scale>
        <p:origin x="66" y="111"/>
      </p:cViewPr>
      <p:guideLst>
        <p:guide orient="horz" pos="2332"/>
        <p:guide pos="3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2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4T22:38:36.372" idx="2">
    <p:pos x="10" y="10"/>
    <p:text>这页下方空白较大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4T22:48:50.544" idx="4">
    <p:pos x="6356" y="2678"/>
    <p:text>列出每一期的发布节奏</p:text>
    <p:extLst>
      <p:ext uri="{C676402C-5697-4E1C-873F-D02D1690AC5C}">
        <p15:threadingInfo xmlns:p15="http://schemas.microsoft.com/office/powerpoint/2012/main" timeZoneBias="-480"/>
      </p:ext>
    </p:extLst>
  </p:cm>
  <p:cm authorId="2" dt="2026-04-04T22:49:26.343" idx="5">
    <p:pos x="2604" y="1644"/>
    <p:text>19工作日听起来很长，不够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4T23:43:45.658" idx="6">
    <p:pos x="10" y="10"/>
    <p:text>有没有更多的图片可补充展示？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5T17:24:32.911" idx="7">
    <p:pos x="1038" y="1307"/>
    <p:text>要不要附图片？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8F9DC-72C8-4ABB-A234-4BEA4D6C0C04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A2D3A-518F-4516-A8A4-B0E3831D17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169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先从个人背景和当前岗位定位开始。</a:t>
            </a:r>
          </a:p>
          <a:p>
            <a:r>
              <a:rPr lang="zh-CN" altLang="zh-CN" dirty="0"/>
              <a:t>我有 </a:t>
            </a:r>
            <a:r>
              <a:rPr lang="en-US" altLang="zh-CN" dirty="0"/>
              <a:t>5</a:t>
            </a:r>
            <a:r>
              <a:rPr lang="zh-CN" altLang="zh-CN" dirty="0"/>
              <a:t> 年后端研发经验，前期在深圳乐信</a:t>
            </a:r>
            <a:r>
              <a:rPr lang="zh-CN" altLang="en-US" dirty="0"/>
              <a:t>科技（也叫分期乐）</a:t>
            </a:r>
            <a:r>
              <a:rPr lang="zh-CN" altLang="zh-CN" dirty="0"/>
              <a:t>积累了复杂业务交付和系统建设经验，入职当前公司后比较快切入了会员、营销活动和运营平台等核心业务。</a:t>
            </a:r>
          </a:p>
          <a:p>
            <a:r>
              <a:rPr lang="zh-CN" alt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altLang="zh-CN" dirty="0"/>
              <a:t>Duration: 1 minutes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首先是我的岗位认知。我理解我的岗位核心价值，不仅在于按时交付功能，更在于保证系统的稳定性、方案的可扩展性，并持续降低团队的协作成本。我认为，试用期的核心目标，是证明我有能力承担更复杂的事项，为团队创造更大的价值。我的职业路径也体现了这一点，从建立基础能力，到积累复杂业务经验，再到现在快速融入新团队，完成价值贡献的衔接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69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基于这样的背景，我对当前岗位的理解也比较明确。</a:t>
            </a:r>
          </a:p>
          <a:p>
            <a:r>
              <a:rPr lang="zh-CN" altLang="zh-CN" dirty="0"/>
              <a:t>我认为后端研发不只是完成需求开发，更要对交付结果、系统质量以及协作成本负责。</a:t>
            </a:r>
          </a:p>
          <a:p>
            <a:r>
              <a:rPr lang="zh-CN" altLang="zh-CN" dirty="0"/>
              <a:t>所以试用期对我来说，不是简单证明“做了多少功能”，而是证明自己能不能让团队更放心地把复杂事项交给我。</a:t>
            </a:r>
          </a:p>
          <a:p>
            <a:endParaRPr lang="zh-CN" altLang="zh-CN" dirty="0"/>
          </a:p>
          <a:p>
            <a:r>
              <a:rPr lang="zh-CN" altLang="zh-CN" dirty="0"/>
              <a:t>Key points: (1) 岗位理解不止于开发 (2) 试用期目标是独立承接复杂事项 (3) 核心标准是让团队放心</a:t>
            </a:r>
          </a:p>
          <a:p>
            <a:r>
              <a:rPr lang="zh-CN" altLang="zh-CN" dirty="0"/>
              <a:t>Duration: 1 minutes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[Transition] 这 6 个月的实际工作，也让我对当前岗位的要求有了更具体的理解。</a:t>
            </a:r>
          </a:p>
          <a:p>
            <a:r>
              <a:rPr lang="zh-CN" altLang="zh-CN" dirty="0"/>
              <a:t>比如在圣诞和新年活动里，我同时承担项目负责人和核心研发职责，在高压节奏下推动四期按期交付；在规则引擎项目里，我从原型、文档到系统实现独立完成闭环；在 CRM 优化和转盘配置化里，我也不仅完成开发，还把结果落到了性能提升和协作提效上。</a:t>
            </a:r>
          </a:p>
          <a:p>
            <a:r>
              <a:rPr lang="zh-CN" altLang="zh-CN" dirty="0"/>
              <a:t>所以我理解的后端研发，不只是把功能做完，而是要在关键项目里扛住结果、在复杂问题上给出方案，并把一次性交付沉淀成可复用能力。</a:t>
            </a:r>
          </a:p>
          <a:p>
            <a:endParaRPr lang="zh-CN" altLang="zh-CN" dirty="0"/>
          </a:p>
          <a:p>
            <a:r>
              <a:rPr lang="zh-CN" altLang="zh-CN" dirty="0"/>
              <a:t>Key points: (1) 用项目交付结果反证岗位理解 (2) 已覆盖项目负责、独立建设和效率优化 (3) 核心是扛结果、出方案、做沉淀</a:t>
            </a:r>
          </a:p>
          <a:p>
            <a:r>
              <a:rPr lang="zh-CN" altLang="zh-CN" dirty="0"/>
              <a:t>Duration: 1 minutes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08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我看来，后端开发工程师不仅仅是代码的实现者，更是系统的构建者和守护者。我们的核心职责是构建系统的基石，通过技术手段保障业务的稳定运行和持续发展。我对自己的要求是，不仅要高质量地完成功能开发，更要具备解决复杂问题的能力，主动发现并解决系统瓶颈，最终成长为一名能为业务创造核心价值的工程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接下来进入结果部分，先看试用期 6 个月的整体产出。</a:t>
            </a:r>
          </a:p>
          <a:p>
            <a:r>
              <a:rPr lang="zh-CN" altLang="zh-CN" dirty="0"/>
              <a:t>这 6 个月里，我覆盖了 10 项重点事项，其中 8 项完成交付，关键事项按期交付率是 100%。</a:t>
            </a:r>
          </a:p>
          <a:p>
            <a:r>
              <a:rPr lang="zh-CN" alt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altLang="zh-CN" dirty="0"/>
              <a:t>Duration: 2 minutes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在试用期内，我始终以结果为导向，全面完成了各项工作任务。我一共完成了15项任务，交付了8个需求，按期交付率达到了100%。在效率提升方面，我主导优化了CRM查询接口，将响应时间从2秒以上大幅降低到150毫秒以内，并将新抽奖活动的配置时间从一天缩短到了两小时。这些成果不仅提升了系统性能，也为业务带来了实际价值。</a:t>
            </a:r>
          </a:p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50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试用期内，我始终以结果为导向，全面完成了各项工作任务。我一共完成了15项任务，交付了8个需求，按期交付率达到了100%。在效率提升方面，我主导优化了CRM查询接口，将响应时间从2秒以上大幅降低到150毫秒以内，并将新抽奖活动的配置时间从一天缩短到了两小时。这些成果不仅提升了系统性能，也为业务带来了实际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下面我将通过几个关键项目来具体说明我的工作。第一个是圣诞与新年活动的高压交付项目。这个项目时间紧、范围大、协同复杂。我的任务是作为项目负责人，不仅要承担核心研发工作，还要掌控项目节奏，协调各方资源。通过分阶段推进和快速响应问题，我们最终成功上线了四期活动，实现了拉新和参与人数的业务目标，证明了我在高压环境下的交付和协调能力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[Transition] 在这些结果里，我想重点展开第一个案例，也就是圣诞和新年活动的高压交付。</a:t>
            </a:r>
          </a:p>
          <a:p>
            <a:r>
              <a:rPr lang="zh-CN" altLang="zh-CN" dirty="0"/>
              <a:t>这个项目时间紧、范围大、协同复杂，我既承担项目负责人职责，也承担关键研发工作。</a:t>
            </a:r>
          </a:p>
          <a:p>
            <a:r>
              <a:rPr lang="zh-CN" alt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altLang="zh-CN" dirty="0"/>
              <a:t>这个案例最能说明，我不仅能完成单点研发，也能在高压项目里扛住结果。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altLang="zh-CN" dirty="0"/>
              <a:t>Duration: 2 minutes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348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第二个案例是规则引擎从 0 到 1 的独立建设。</a:t>
            </a:r>
          </a:p>
          <a:p>
            <a:r>
              <a:rPr lang="zh-CN" alt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alt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altLang="zh-CN" dirty="0"/>
          </a:p>
          <a:p>
            <a:r>
              <a:rPr lang="zh-CN" alt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altLang="zh-CN" dirty="0"/>
              <a:t>Duration: 1 minutes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1F2329"/>
                </a:solidFill>
              </a:rPr>
              <a:t>第二个关键项目是规则引擎从0到1的独立建设。这个项目充分体现了我独立负责和建设复杂系统的能力。我从自制原型、编写需求文档开始，到最终独立完成系统实现，形成了一个完整的闭环。这个过程不仅是开发，更是对业务需求的抽象和设计，最终将我的角色从一个需求承接者，提升为方案的定义者和独立交付者，体现了更强的技术Owner意识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701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60FD9-59CA-847D-73AD-E23ECE42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C0539-E078-8FAF-16CB-F2B6389C1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61E7B8-EDEB-0E18-3FAE-C9D3D154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r>
              <a:rPr lang="en-US" altLang="zh-CN" sz="1200" b="0" i="0" u="none" strike="noStrike" dirty="0" err="1">
                <a:solidFill>
                  <a:srgbClr val="000000"/>
                </a:solidFill>
              </a:rPr>
              <a:t>大家好，今天我将分享我们在系统优化与平台化建设方面的第一个关键突破</a:t>
            </a:r>
            <a:r>
              <a:rPr lang="en-US" altLang="zh-CN" sz="1200" b="0" i="0" u="none" strike="noStrike" dirty="0">
                <a:solidFill>
                  <a:srgbClr val="000000"/>
                </a:solidFill>
              </a:rPr>
              <a:t>——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</a:rPr>
              <a:t>签到系统的重构。这个项目是我们面临的一个巨大挑战，也是我们技术价值的集中体现</a:t>
            </a:r>
            <a:r>
              <a:rPr lang="en-US" altLang="zh-CN" sz="12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项目启动前，我们面临三大核心问题：首先是架构腐化，核心代码高度耦合，任何改动都可能引发新的问题；其次是性能瓶颈，全局锁和高复杂度算法导致系统在高并发下不堪重负；最后是资损隐患，混乱的表结构和缺失的事务保障带来了巨大的业务风险。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针对这些问题，我们采取了一系列核心动作。我们通过策略模式对架构进行解耦，重塑了数据模型，将锁粒度细化到用户级，并引入了事务保障。同时，通过双写和灰度发布，我们确保了整个迁移过程的平滑和零风险。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最终，我们取得了显著的成果：代码焕然一新，性能大幅跃升，并且实现了业务零中断的安全落地。更重要的是，这次重构为公司带来了巨大的业务价值：我们沉淀了通用的营销能力，提升了研发效率，保障了资产安全，并为未来的全球化业务扩张搭建了技术底座。这个案例充分说明，通过深度重构，我们不仅解决了眼前的技术债务，更构建了可复用的技术资产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7D1756-DB4D-1123-5430-7AA9FC169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637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7808-12C0-5F1F-D735-81DD4522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06CF4D-0DCF-7266-34A9-5A0FBBEE9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ABAE0-767D-FF72-4F4D-B0B85713A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“各位评委，前面三个是我主导的核心大项目。最后这一个是我的一个‘综合加分项’。 作为一个研发，我觉得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不能只顾着低头做需求，还要抬头看看哪里能优化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。所以在试用期，我眼里比较有活儿，主动解决了一些日常痛点。 比如营销转盘，以前代码太散，改一次要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天，我抽空做了配置化，现在只要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小时；产品反馈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的杂志列表查询慢，我也主动把接口优化到了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秒内。另外，我自己入职时觉得有些流程不够清晰，我就顺手把工程上线的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和新人指引写了。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这几件事虽然不算什么惊天动地的大重构，但都是实打实能帮业务提效、帮团队省沟通成本的事情，体现了我对代码质量的追求和团队补位意识。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第三个方面，我想分享我在优化与平台化建设方面的工作。我始终坚持一个原则：不只完成需求，更要把一次性的交付升级为可复用的能力。例如，通过重构查询链路，我将CRM查询效率提升了一倍；通过将签到功能抽象为配置化能力，避免了重复开发；通过将转盘活动配置化，将新增活动的时间从1天缩短到2小时。这些工作体现了我对技术深度和长期价值的追求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[Transition] 除了项目交付，我也在持续做优化和平台化建设。</a:t>
            </a:r>
          </a:p>
          <a:p>
            <a:r>
              <a:rPr lang="zh-CN" altLang="zh-CN" dirty="0"/>
              <a:t>这里面有三类代表性工作，分别是 CRM 查询优化、签到重构和转盘配置化。</a:t>
            </a:r>
          </a:p>
          <a:p>
            <a:r>
              <a:rPr lang="zh-CN" altLang="zh-CN" dirty="0"/>
              <a:t>[Data] 比如 CRM 查询从 2 秒优化到 1 秒以下，转盘活动新增人力从 1 天降到约 2 小时。</a:t>
            </a:r>
          </a:p>
          <a:p>
            <a:r>
              <a:rPr lang="zh-CN" alt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altLang="zh-CN" dirty="0"/>
              <a:t>Duration: 2 minutes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EEF5E7-60F6-22E1-9E88-29D9A5F5A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539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基于试用期的工作，我为自己制定了未来半年的三项重点计划。为了确保计划可落地，我用表格拆解了里程碑和协作方。 第一是业务层面，我计划把转盘的配置化经验扩大，探索营销玩法的中台化，预计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V1.0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方案，这需要产品和前端同学协助；第二是稳定性层面，我计划在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月前为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等核心链路补齐监控和慢查询告警；第三是效能层面，我想在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辅助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Review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的机制固化下来。我希望通过这些明确的节点，让自己在业务和技术底座上都能持续产出价值。”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开场过渡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各位评委，前面汇报了试用期的产出，这一页是我基于公司接下来的产品规划，为自己制定的未来大半年的工作计划。为了保证真正落地，我把它们拆分成了业务、技术和效能三个方向，并且梳理了错落有致的交付排期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方向一：讲业务支撑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“首先是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业务支撑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。未来我的核心阵地是会员升级与营销中台。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月份，我必须拿下会员等级和任务这几个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需求，并重构老带新裂变活动；到了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月，随着付费权益的落地，我会向前端输出标准化的数据协议，支撑界面的模板化；最终在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月，我要把营销规则池彻底固化下来，支撑运营同学通过‘模板化配置’自助上线活动。”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方向二：讲技术自建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语气加重，体现技术素养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“其次是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技术自建与稳定性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。业务跑得快，底盘必须稳。 就在这个月（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月），我会先抽时间对核心接口和慢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做一轮集中治理；到了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月，我会着手补齐系统的可观测性，把核心接口的超时、异常精准报警建起来；而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月份的核心任务是死保‘黑五’大促，我会提前把限流和降级策略落地，我不承诺绝对不出错，但我会用架构手段保障核心链路在流量洪峰下能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平稳降级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方向三：讲效能与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带有洞察力，防评委挖坑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“最后是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效能赋能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。我个人的目标是到年底把活动研发成本降掉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。这靠什么落地呢？ 我打算引入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Spec Coding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。我想强调的是，我不会用它来写简单的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，那是杀鸡用牛刀。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月份，我打算先自己跑通一套流程，把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‘复杂的营销规则骨架生成’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‘单测补全’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上；跑顺之后，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月份我会给团队沉淀出一套标准的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模板，先挤出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的效率；最终在年底，用‘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编码加上业务的配置化’双管齐下，实打实地兑现这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的降本目标。”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结尾一句话总结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“总而言之，未来我不仅要高质量地交付业务，更要从底层稳定性和工程效率上，为团队带来增量价值。以上就是我的未来规划。”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04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🎙️ 演讲稿（带动作与重音提示）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过渡开场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各位评委好，前面向大家汇报了我试用期参与的业务和产出。但在复盘这些工作的时候，我也深刻认识到自己目前还存在一些局限。为了接下来能更好地为团队产出，我总结了三点不足，以及对应的提升计划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第一点：全链路理解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（手势指向第一张卡片）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“第一点，是全链路业务理解的深度还需要补齐。 过去几个月，为了快速落地，我的精力主要集中在自己负责��模块上。虽然能保证高质量交付，但我发现自己对上下游服务的依赖、以及全局架构的认知还比较局限。这就导致在排查一些复杂的跨域问题时，缺乏全局视角。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为了破局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，接下来的阶段，我会刻意从‘点’到‘面’去拓宽视野。我的明确目标是：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月底前，彻底梳理并输出我负责模块与上下游交互的核心业务时序图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，把背后的流转逻辑彻底摸透。”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第二点：数据意识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（眼神看向评委，展现思考深度）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“第二点，是对结果的量化和数据意识不足。 这也是我过去容易陷入的一个舒适区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觉得‘功能上线了，需求就做完了’，缺乏用业务数据去衡量技术价值的闭环思维。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我意识到，优秀的研发不能只做执行机器。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所以我计划从日常习惯开始改变：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月份起，我要求自己主导的所有核心技术方案，必须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补充‘预期指标’这一项。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在做之前就跟产品对齐数据预期，上线后主动追踪复盘，真正做到用数据来指导后续的迭代。”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第三点：技术影响力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（语气转为自信、真诚）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“第三点，是在沟通和技术影响力上，我还需要更主动。 其实就像前面提到的，我平时一直有整理技术文档、写新人接入指引的习惯，如果有同事来问我，我也会积极解答。但我反思了一下，这种模式太‘被动’了，基本属于单点沟通，没有把个人的沉淀最大化地转化为团队资产。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作为团队的一份子，我希望自己能化被动为主动。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在接下来的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内，我会把手头的优质文档脱敏整理到咱们团队的公共空间，并且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主动组织一次组内的技术分享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。同时，在日常的技术评审中，我也会逼自己多向前一步，主动表达观点，提升自己的技术发声能力。”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结尾总结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（微笑，目光扫视全场）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“总而言之，试用期对我来说重在‘快速融入与落地执行’，而未来的目标是走向‘全局思维与主动输出’。我会严格按照这几个时间节点来检验自己，争取早日成为咱们团队的核心骨干。 以上就是我的转正述职汇报，感谢各位评委这段时间的指导，欢迎大家批评指正！”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现场答辩小贴士（加分项）：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不要念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上的字已经很少了，千万不要回头照着读。看着评委的眼睛说，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只是你的背景板。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强调时间节点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：在读到“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月底前”、“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补充”、“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内”这些词的时候，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加重语气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。评委最喜欢听到带有明确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deadline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的承诺，这代表你不是在画大饼。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自信的心态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：当你说出第三点“其实我有写文档的习惯，只是缺乏主动分享”时，一定要自信。这潜台词是在告诉评委：“我不仅活儿干得好，而且我还热爱总结，我接下来还要帮团队一起变好。” 这是一个极度加分的职场人设！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777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“各位评委，最后一页是我个人的一些日常观察和求助。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在咱们快速迭代的过程中，我体会到几个痛点：一是现在一些环境配置、改线上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还要靠人工和文档，容易配漏；二是核心接口的监控还可以做得更细，现在查线上问题有时候得翻半天日志；三是咱们的架构和网关等说明文档比较散，新人刚来的时候到处问，沟通成本比较高。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提这些并不是吐槽，而是我觉得作为一个技术骨干，我可以分担一部分。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我的计划是，从我自己负责的模块开始抓起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。接下来我打算把我这块的文档彻底盘一遍，把监控都配齐，在咱们组内先跑通一个模板出来。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然，要做好这些我也需要求助。一是希望咱们未来有更多像统一网关、统一监控这样的现成基建可以接入，让我能省下精力多做业务；二是我在梳理这些跨团队应用的时候，遇到推不动的地方，希望主管和各位前辈能帮我协调支持一下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以上就是我的述职汇报，谢谢大家！”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第七部分：建议与求助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（语气转为积极、进取、务实）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“最后一部分，（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按翻页笔切到第七页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），在快速融入团队的这几个月里，我也基于日常工作总结了几点观察，并希望能向团队寻求一些协同上的支持。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坦白讲，咱们的业务跑得非常快，但在这种高速迭代下，我发现在底层的流程和基建上，我们还有提效的空间。 比如，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，现在很多环境域名和线上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变更还依赖人工沟通，容易配漏；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，咱们目前缺乏一个集中的日志查询平台（需要手动登机器查），且部分核心接口监控还没全覆盖，导致排查线上问题比较耗时；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，应用基本信息虽然有文档，但大家平时开发忙，缺乏强制更新机制，偶尔会出现端口冲突或者信息滞后的情况。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提出这些，是因为我非常想参与到这些‘提效’的工作中去。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我的计划是，先从我自己负责的模块开始严格自律。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接下来的工作里，我会带头规范我模块的日志输出格式、打上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、把可用监控配齐，并且严格执行应用信息的同步更新。我希望能先在咱们组内跑通一个‘标准模板’。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当然，要做好这些，我非常需要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组织的资源协同与支持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一是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基建层面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，强烈希望咱们后续能统一规划一个集中的日志平台和统一网关，把一线研发排查问题的时间彻底解放出来； 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流程层面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，因为我刚融入不久，在梳理应用资产、尝试在组内建立标准配置规范的过程中，我非常期盼能得到主管和资深前辈的专业把关与经验指导。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自然过渡，切入主题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“各位评委，汇报的最后一部分，是我在融入团队这段时间里的一些日常观察，以及为了更好地开展后续工作，需要向团队寻求协同与支持的地方。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左侧：客观陈述痛点，对事不对人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“坦白讲，咱们团队的业务跑得非常快，但在这种高速迭代下，我发现在研发效能和底层基建上，其实还有一些提效的空间。 主要有三个痛点：第一，目前像域名、端口配置或者线上改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，还比较依赖大家线下人工沟通，存在漏配的风险； 第二，也是平时开发最痛的一点，咱们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目前还没有统一的日志查询系统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，遇到问题经常得手动登机器去查日志，加上部分核心接口监控没全覆盖，导致排查线上问题耗时比较久； 第三，咱们的应用基本信息虽然有文档记录，但不强制更新，大家忙起来容易忘，这就导致文档信息容易滞后，甚至偶尔会出现端口冲突。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右侧上半部：强调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Ownership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，从我做起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重点！语气要坚定、自信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“提出这些观察，并不是为了吐槽，而是我非常想参与到‘提效’的工作中去。 作为团队的一员，我的计划是：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不瞎指点，先从我自己负责的模块做起、打个样。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接下来的工作里，我会主动把我自己模块的系统文档梳理清楚；同时，带头规范我这边的日志输出格式（比如统一打上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）、配齐可用监控，并且严格自律，每次变更第一时间去同步应用信息。我要先保证自己的模块不出错，并为后续接入统一基建做好准备。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右侧下半部：提出合理诉求，寻求双赢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目光看向主管和主评委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“当然，要实现整体的提效，离不开团队的协同和支持。所以我也想借这个机会提两点诉求： 一是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工具层面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，我强烈呼吁并希望咱们后续能统一规划一个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集中的日志平台（比如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ELK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）和统一网关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，只要基建跟上了，绝对能极大释放我们一线研发的生产力； 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流程层面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，因为我刚融入不久，接下来我在梳理应用资产、尝试在咱们组内建立标准配置规范的时候，非常期盼主管和各位资深前辈能多给我一些专业把关和经验指导。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完美收尾，鞠谢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面带微笑，从容收场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“总而言之，试用期这几个月我过得非常充实。未来，我希望能和大家一起，不仅把业务跑得快，也能把咱们的技术底座打得更牢！ 以上就是我转正述职的全部内容，感谢大家的聆听，欢迎各位评委批评指正！”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39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“总而言之，过去几个月的试用期是我非常开心、也成长非常快的一段时间。未来，我希望能和团队一起，不仅把业务做快，也能把咱们的技术底座做得更稳。 以上就是我的转正述职汇报，感谢大家的聆听，欢迎各位评委批评指正！”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80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sv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comments" Target="../comments/commen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489" y="-982291"/>
            <a:ext cx="12305489" cy="753760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14456" y="4390954"/>
            <a:ext cx="9709204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转正答辩</a:t>
            </a:r>
          </a:p>
        </p:txBody>
      </p:sp>
      <p:sp>
        <p:nvSpPr>
          <p:cNvPr id="5" name="每天120万辆车在路面行驶，50%上过快速路，每辆车在高架上的行驶时间节省大约10%"/>
          <p:cNvSpPr txBox="1"/>
          <p:nvPr/>
        </p:nvSpPr>
        <p:spPr>
          <a:xfrm>
            <a:off x="8246110" y="6167755"/>
            <a:ext cx="37953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sz="1200" dirty="0"/>
              <a:t>姓名：</a:t>
            </a:r>
            <a:r>
              <a:rPr lang="zh-CN" altLang="en-US" sz="1200" dirty="0"/>
              <a:t>方汉涛</a:t>
            </a:r>
            <a:r>
              <a:rPr lang="en-US" altLang="zh-CN" sz="1200" dirty="0"/>
              <a:t>                    </a:t>
            </a:r>
            <a:r>
              <a:rPr lang="zh-CN" sz="1200" dirty="0"/>
              <a:t>日期：</a:t>
            </a:r>
            <a:r>
              <a:rPr lang="en-US" altLang="zh-CN" sz="1200" dirty="0"/>
              <a:t>2026</a:t>
            </a:r>
            <a:r>
              <a:rPr lang="zh-CN" altLang="en-US" sz="1200" dirty="0"/>
              <a:t>年</a:t>
            </a:r>
            <a:r>
              <a:rPr lang="en-US" altLang="zh-CN" sz="1200" dirty="0"/>
              <a:t>4</a:t>
            </a:r>
            <a:r>
              <a:rPr lang="zh-CN" altLang="en-US" sz="1200" dirty="0"/>
              <a:t>月</a:t>
            </a:r>
            <a:r>
              <a:rPr lang="en-US" altLang="zh-CN" sz="1200" dirty="0"/>
              <a:t>X</a:t>
            </a:r>
            <a:r>
              <a:rPr lang="zh-CN" altLang="en-US" sz="1200" dirty="0"/>
              <a:t>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05725" y="6551295"/>
            <a:ext cx="440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表单编号：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RF-HR-008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A/1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4196" y="166753"/>
            <a:ext cx="7423931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填写原则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（隐藏本页，不需要播放）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828" y="870238"/>
            <a:ext cx="11653049" cy="58274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一、内容关键简要，不要写啰嗦的文章，转正答辩主要是自己讲，而不是别人看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二、举证材料要有前后成效对比，使用定量数据优于定性数据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三、定量数据可以从下面几个维度思考：</a:t>
            </a:r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四、定性数据一般体现在受众的满意度：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例如推动缺陷分级标准优化，减少了大量无效沟通，通过匿名问卷收集团队满意度为</a:t>
            </a:r>
            <a:r>
              <a:rPr lang="en-US" altLang="zh-CN"/>
              <a:t>80%</a:t>
            </a:r>
          </a:p>
          <a:p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555224" y="2007019"/>
          <a:ext cx="11182350" cy="2665095"/>
        </p:xfrm>
        <a:graphic>
          <a:graphicData uri="http://schemas.openxmlformats.org/drawingml/2006/table">
            <a:tbl>
              <a:tblPr/>
              <a:tblGrid>
                <a:gridCol w="372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分类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维度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案例升级</a:t>
                      </a: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性能提升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接口性能提升、接口并发量增加等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“订单查询接口延迟↓60%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大促期间流失订单↓25%”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降本增效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各职能人天减少、服务资源缩减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K8s容器化调度优化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年节省服务器成本￥42万+发布效率↑200%”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质量防控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过程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和线上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减少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引入自动化脚本进行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代码扫描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提测前拦截缺陷占比从15%→40%”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技术影响力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文章发布、技术分享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“推动ES日志规范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团队排查效率↑30%（问卷反馈）”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救火贡献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非自身原因的线上事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“建立告警根因分析库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P1级故障MTTR从4h→35min”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隐性价值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技术债、代码坏味道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重构核心模块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代码可维护性评分↑2.1（SonarQube）”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40765" y="117475"/>
            <a:ext cx="1757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969101" y="1027671"/>
            <a:ext cx="4936518" cy="546377"/>
            <a:chOff x="1643063" y="1643939"/>
            <a:chExt cx="4936518" cy="546377"/>
          </a:xfrm>
        </p:grpSpPr>
        <p:sp>
          <p:nvSpPr>
            <p:cNvPr id="14" name="文本框 13"/>
            <p:cNvSpPr txBox="1"/>
            <p:nvPr>
              <p:custDataLst>
                <p:tags r:id="rId32"/>
              </p:custDataLst>
            </p:nvPr>
          </p:nvSpPr>
          <p:spPr>
            <a:xfrm>
              <a:off x="2366140" y="1643939"/>
              <a:ext cx="2316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个人基本情况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15" name="平行四边形 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1782726" y="1667096"/>
                <a:ext cx="4058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1</a:t>
                </a:r>
              </a:p>
            </p:txBody>
          </p:sp>
        </p:grpSp>
        <p:cxnSp>
          <p:nvCxnSpPr>
            <p:cNvPr id="9" name="直接连接符 8"/>
            <p:cNvCxnSpPr/>
            <p:nvPr>
              <p:custDataLst>
                <p:tags r:id="rId33"/>
              </p:custDataLst>
            </p:nvPr>
          </p:nvCxnSpPr>
          <p:spPr>
            <a:xfrm>
              <a:off x="2250281" y="2178844"/>
              <a:ext cx="4323080" cy="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平行四边形 20"/>
            <p:cNvSpPr/>
            <p:nvPr>
              <p:custDataLst>
                <p:tags r:id="rId34"/>
              </p:custDataLst>
            </p:nvPr>
          </p:nvSpPr>
          <p:spPr>
            <a:xfrm>
              <a:off x="5456776" y="206120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9101" y="1778518"/>
            <a:ext cx="4943503" cy="546365"/>
            <a:chOff x="1643063" y="1643939"/>
            <a:chExt cx="4943503" cy="546642"/>
          </a:xfrm>
        </p:grpSpPr>
        <p:sp>
          <p:nvSpPr>
            <p:cNvPr id="13" name="文本框 12"/>
            <p:cNvSpPr txBox="1"/>
            <p:nvPr>
              <p:custDataLst>
                <p:tags r:id="rId27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岗位认知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643063" y="1655624"/>
              <a:ext cx="664368" cy="534957"/>
              <a:chOff x="1643063" y="1655624"/>
              <a:chExt cx="664368" cy="534957"/>
            </a:xfrm>
          </p:grpSpPr>
          <p:sp>
            <p:nvSpPr>
              <p:cNvPr id="18" name="平行四边形 17"/>
              <p:cNvSpPr/>
              <p:nvPr>
                <p:custDataLst>
                  <p:tags r:id="rId3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782726" y="1667096"/>
                <a:ext cx="405880" cy="52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2</a:t>
                </a:r>
              </a:p>
            </p:txBody>
          </p:sp>
        </p:grpSp>
        <p:cxnSp>
          <p:nvCxnSpPr>
            <p:cNvPr id="26" name="直接连接符 25"/>
            <p:cNvCxnSpPr/>
            <p:nvPr>
              <p:custDataLst>
                <p:tags r:id="rId28"/>
              </p:custDataLst>
            </p:nvPr>
          </p:nvCxnSpPr>
          <p:spPr>
            <a:xfrm>
              <a:off x="2250281" y="2178844"/>
              <a:ext cx="4123690" cy="1143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平行四边形 19"/>
            <p:cNvSpPr/>
            <p:nvPr>
              <p:custDataLst>
                <p:tags r:id="rId29"/>
              </p:custDataLst>
            </p:nvPr>
          </p:nvSpPr>
          <p:spPr>
            <a:xfrm>
              <a:off x="5463761" y="211835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69101" y="2529088"/>
            <a:ext cx="4935883" cy="546365"/>
            <a:chOff x="1643063" y="1643939"/>
            <a:chExt cx="4935883" cy="546642"/>
          </a:xfrm>
        </p:grpSpPr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个人绩效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643063" y="1655624"/>
              <a:ext cx="664368" cy="534957"/>
              <a:chOff x="1643063" y="1655624"/>
              <a:chExt cx="664368" cy="534957"/>
            </a:xfrm>
          </p:grpSpPr>
          <p:sp>
            <p:nvSpPr>
              <p:cNvPr id="37" name="平行四边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782726" y="1667096"/>
                <a:ext cx="405880" cy="52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3</a:t>
                </a:r>
              </a:p>
            </p:txBody>
          </p:sp>
        </p:grpSp>
        <p:cxnSp>
          <p:nvCxnSpPr>
            <p:cNvPr id="39" name="直接连接符 38"/>
            <p:cNvCxnSpPr/>
            <p:nvPr>
              <p:custDataLst>
                <p:tags r:id="rId23"/>
              </p:custDataLst>
            </p:nvPr>
          </p:nvCxnSpPr>
          <p:spPr>
            <a:xfrm>
              <a:off x="2250281" y="2178844"/>
              <a:ext cx="4302125" cy="8259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平行四边形 39"/>
            <p:cNvSpPr/>
            <p:nvPr>
              <p:custDataLst>
                <p:tags r:id="rId24"/>
              </p:custDataLst>
            </p:nvPr>
          </p:nvSpPr>
          <p:spPr>
            <a:xfrm>
              <a:off x="5456141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969101" y="3279658"/>
            <a:ext cx="4876828" cy="544830"/>
            <a:chOff x="1643063" y="1643939"/>
            <a:chExt cx="4876828" cy="545392"/>
          </a:xfrm>
        </p:grpSpPr>
        <p:sp>
          <p:nvSpPr>
            <p:cNvPr id="52" name="文本框 51"/>
            <p:cNvSpPr txBox="1"/>
            <p:nvPr>
              <p:custDataLst>
                <p:tags r:id="rId17"/>
              </p:custDataLst>
            </p:nvPr>
          </p:nvSpPr>
          <p:spPr>
            <a:xfrm>
              <a:off x="2366140" y="1643939"/>
              <a:ext cx="30276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关键问题突破举例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643063" y="1655624"/>
              <a:ext cx="664368" cy="533707"/>
              <a:chOff x="1643063" y="1655624"/>
              <a:chExt cx="664368" cy="533707"/>
            </a:xfrm>
          </p:grpSpPr>
          <p:sp>
            <p:nvSpPr>
              <p:cNvPr id="54" name="平行四边形 5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782726" y="1667096"/>
                <a:ext cx="401955" cy="522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4</a:t>
                </a:r>
              </a:p>
            </p:txBody>
          </p:sp>
        </p:grpSp>
        <p:cxnSp>
          <p:nvCxnSpPr>
            <p:cNvPr id="56" name="直接连接符 55"/>
            <p:cNvCxnSpPr/>
            <p:nvPr>
              <p:custDataLst>
                <p:tags r:id="rId18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平行四边形 56"/>
            <p:cNvSpPr/>
            <p:nvPr>
              <p:custDataLst>
                <p:tags r:id="rId19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69101" y="4040617"/>
            <a:ext cx="4876828" cy="533417"/>
            <a:chOff x="1643063" y="1655624"/>
            <a:chExt cx="4876828" cy="534590"/>
          </a:xfrm>
        </p:grpSpPr>
        <p:grpSp>
          <p:nvGrpSpPr>
            <p:cNvPr id="10" name="组合 9"/>
            <p:cNvGrpSpPr/>
            <p:nvPr/>
          </p:nvGrpSpPr>
          <p:grpSpPr>
            <a:xfrm>
              <a:off x="1643063" y="1655624"/>
              <a:ext cx="664368" cy="534590"/>
              <a:chOff x="1643063" y="1655624"/>
              <a:chExt cx="664368" cy="534590"/>
            </a:xfrm>
          </p:grpSpPr>
          <p:sp>
            <p:nvSpPr>
              <p:cNvPr id="11" name="平行四边形 1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782726" y="1667096"/>
                <a:ext cx="401955" cy="52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5</a:t>
                </a:r>
              </a:p>
            </p:txBody>
          </p:sp>
        </p:grpSp>
        <p:cxnSp>
          <p:nvCxnSpPr>
            <p:cNvPr id="23" name="直接连接符 22"/>
            <p:cNvCxnSpPr/>
            <p:nvPr>
              <p:custDataLst>
                <p:tags r:id="rId13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平行四边形 27"/>
            <p:cNvSpPr/>
            <p:nvPr>
              <p:custDataLst>
                <p:tags r:id="rId14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76319" y="5532638"/>
            <a:ext cx="4171315" cy="1281748"/>
            <a:chOff x="2250281" y="899587"/>
            <a:chExt cx="4171315" cy="1283069"/>
          </a:xfrm>
        </p:grpSpPr>
        <p:sp>
          <p:nvSpPr>
            <p:cNvPr id="30" name="文本框 29"/>
            <p:cNvSpPr txBox="1"/>
            <p:nvPr>
              <p:custDataLst>
                <p:tags r:id="rId11"/>
              </p:custDataLst>
            </p:nvPr>
          </p:nvSpPr>
          <p:spPr>
            <a:xfrm>
              <a:off x="2543493" y="899587"/>
              <a:ext cx="1960880" cy="52886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建议与求助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1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2969101" y="4800483"/>
            <a:ext cx="4876828" cy="1271543"/>
            <a:chOff x="1643063" y="916750"/>
            <a:chExt cx="4876828" cy="1272854"/>
          </a:xfrm>
        </p:grpSpPr>
        <p:sp>
          <p:nvSpPr>
            <p:cNvPr id="41" name="文本框 40"/>
            <p:cNvSpPr txBox="1"/>
            <p:nvPr>
              <p:custDataLst>
                <p:tags r:id="rId6"/>
              </p:custDataLst>
            </p:nvPr>
          </p:nvSpPr>
          <p:spPr>
            <a:xfrm>
              <a:off x="2471550" y="916750"/>
              <a:ext cx="37388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个人的不足和提升计划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50" name="平行四边形 49"/>
              <p:cNvSpPr/>
              <p:nvPr>
                <p:custDataLst>
                  <p:tags r:id="rId9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7</a:t>
                </a:r>
              </a:p>
            </p:txBody>
          </p:sp>
        </p:grpSp>
        <p:cxnSp>
          <p:nvCxnSpPr>
            <p:cNvPr id="59" name="直接连接符 58"/>
            <p:cNvCxnSpPr/>
            <p:nvPr>
              <p:custDataLst>
                <p:tags r:id="rId7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平行四边形 59"/>
            <p:cNvSpPr/>
            <p:nvPr>
              <p:custDataLst>
                <p:tags r:id="rId8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969101" y="4030863"/>
            <a:ext cx="4876828" cy="1291863"/>
            <a:chOff x="1643063" y="896409"/>
            <a:chExt cx="4876828" cy="1293195"/>
          </a:xfrm>
        </p:grpSpPr>
        <p:sp>
          <p:nvSpPr>
            <p:cNvPr id="62" name="文本框 61"/>
            <p:cNvSpPr txBox="1"/>
            <p:nvPr>
              <p:custDataLst>
                <p:tags r:id="rId1"/>
              </p:custDataLst>
            </p:nvPr>
          </p:nvSpPr>
          <p:spPr>
            <a:xfrm>
              <a:off x="2471103" y="896409"/>
              <a:ext cx="2672080" cy="50979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下一步工作规划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64" name="平行四边形 63"/>
              <p:cNvSpPr/>
              <p:nvPr>
                <p:custDataLst>
                  <p:tags r:id="rId4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6</a:t>
                </a:r>
              </a:p>
            </p:txBody>
          </p:sp>
        </p:grpSp>
        <p:cxnSp>
          <p:nvCxnSpPr>
            <p:cNvPr id="66" name="直接连接符 65"/>
            <p:cNvCxnSpPr/>
            <p:nvPr>
              <p:custDataLst>
                <p:tags r:id="rId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平行四边形 66"/>
            <p:cNvSpPr/>
            <p:nvPr>
              <p:custDataLst>
                <p:tags r:id="rId3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848735" y="4171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59CC-E22B-4463-E77C-2607B27F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9E2C4640-7DC1-EB63-62C4-3B83BB483958}"/>
              </a:ext>
            </a:extLst>
          </p:cNvPr>
          <p:cNvSpPr txBox="1">
            <a:spLocks noGrp="1"/>
          </p:cNvSpPr>
          <p:nvPr/>
        </p:nvSpPr>
        <p:spPr>
          <a:xfrm>
            <a:off x="985520" y="1117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一、个人基本情况介绍</a:t>
            </a:r>
          </a:p>
        </p:txBody>
      </p:sp>
      <p:grpSp>
        <p:nvGrpSpPr>
          <p:cNvPr id="4" name="Group 60">
            <a:extLst>
              <a:ext uri="{FF2B5EF4-FFF2-40B4-BE49-F238E27FC236}">
                <a16:creationId xmlns:a16="http://schemas.microsoft.com/office/drawing/2014/main" id="{A36D60B8-7FFB-4F44-B831-18A4F768434E}"/>
              </a:ext>
            </a:extLst>
          </p:cNvPr>
          <p:cNvGrpSpPr/>
          <p:nvPr/>
        </p:nvGrpSpPr>
        <p:grpSpPr>
          <a:xfrm>
            <a:off x="381000" y="964163"/>
            <a:ext cx="11430000" cy="5129310"/>
            <a:chOff x="502920" y="1536441"/>
            <a:chExt cx="11430000" cy="5129310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408625DF-04C1-3689-CB1B-F875D6307B6E}"/>
                </a:ext>
              </a:extLst>
            </p:cNvPr>
            <p:cNvSpPr/>
            <p:nvPr/>
          </p:nvSpPr>
          <p:spPr>
            <a:xfrm>
              <a:off x="502920" y="1536441"/>
              <a:ext cx="11430000" cy="512931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E65B46EF-6230-7C95-1C31-261AF8453A0B}"/>
                </a:ext>
              </a:extLst>
            </p:cNvPr>
            <p:cNvSpPr/>
            <p:nvPr/>
          </p:nvSpPr>
          <p:spPr>
            <a:xfrm>
              <a:off x="685800" y="1619250"/>
              <a:ext cx="1100328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0"/>
            </a:solidFill>
            <a:ln>
              <a:noFill/>
            </a:ln>
          </p:spPr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0E528003-1AB8-FCBF-3929-BE4AFF526303}"/>
                </a:ext>
              </a:extLst>
            </p:cNvPr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7F0D8"/>
              </a:solidFill>
            </a:ln>
          </p:spPr>
        </p:sp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C56CECCF-D1DA-4646-EE28-F68111B9496C}"/>
                </a:ext>
              </a:extLst>
            </p:cNvPr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84049B5-C8F1-415B-9821-09CCDCDB0310}"/>
                </a:ext>
              </a:extLst>
            </p:cNvPr>
            <p:cNvSpPr/>
            <p:nvPr/>
          </p:nvSpPr>
          <p:spPr>
            <a:xfrm>
              <a:off x="10418038" y="2302329"/>
              <a:ext cx="442270" cy="420052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</p:sp>
        <p:sp>
          <p:nvSpPr>
            <p:cNvPr id="12" name="Ellipse 25">
              <a:extLst>
                <a:ext uri="{FF2B5EF4-FFF2-40B4-BE49-F238E27FC236}">
                  <a16:creationId xmlns:a16="http://schemas.microsoft.com/office/drawing/2014/main" id="{49BC359F-E3ED-3D60-3207-36F2851C9044}"/>
                </a:ext>
              </a:extLst>
            </p:cNvPr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A8C66C"/>
            </a:solidFill>
            <a:ln>
              <a:noFill/>
            </a:ln>
          </p:spPr>
        </p:sp>
        <p:sp>
          <p:nvSpPr>
            <p:cNvPr id="13" name="Ellipse 26">
              <a:extLst>
                <a:ext uri="{FF2B5EF4-FFF2-40B4-BE49-F238E27FC236}">
                  <a16:creationId xmlns:a16="http://schemas.microsoft.com/office/drawing/2014/main" id="{96228B31-7606-95C1-0FF5-C863833ACC4A}"/>
                </a:ext>
              </a:extLst>
            </p:cNvPr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14" name="Ellipse 28">
              <a:extLst>
                <a:ext uri="{FF2B5EF4-FFF2-40B4-BE49-F238E27FC236}">
                  <a16:creationId xmlns:a16="http://schemas.microsoft.com/office/drawing/2014/main" id="{041CCFC5-4950-7487-8764-46CF1D60EC19}"/>
                </a:ext>
              </a:extLst>
            </p:cNvPr>
            <p:cNvSpPr/>
            <p:nvPr/>
          </p:nvSpPr>
          <p:spPr>
            <a:xfrm>
              <a:off x="8201858" y="26098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15" name="Ellipse 29">
              <a:extLst>
                <a:ext uri="{FF2B5EF4-FFF2-40B4-BE49-F238E27FC236}">
                  <a16:creationId xmlns:a16="http://schemas.microsoft.com/office/drawing/2014/main" id="{D2077890-CD8D-F8AC-6AFA-865AD6E40E27}"/>
                </a:ext>
              </a:extLst>
            </p:cNvPr>
            <p:cNvSpPr/>
            <p:nvPr/>
          </p:nvSpPr>
          <p:spPr>
            <a:xfrm>
              <a:off x="8278058" y="2692718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2B4E510F-8805-9A4C-B575-234258D74D66}"/>
                </a:ext>
              </a:extLst>
            </p:cNvPr>
            <p:cNvSpPr txBox="1"/>
            <p:nvPr/>
          </p:nvSpPr>
          <p:spPr>
            <a:xfrm>
              <a:off x="3025975" y="3780472"/>
              <a:ext cx="61555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</a:t>
              </a:r>
              <a:r>
                <a:rPr lang="en-US" altLang="zh-CN" sz="195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</a:t>
              </a:r>
              <a:endParaRPr lang="zh-CN" sz="1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DEE4BA9E-3AD0-1ADE-8599-64CC72F8B2EA}"/>
                </a:ext>
              </a:extLst>
            </p:cNvPr>
            <p:cNvSpPr txBox="1"/>
            <p:nvPr/>
          </p:nvSpPr>
          <p:spPr>
            <a:xfrm>
              <a:off x="5597725" y="4123372"/>
              <a:ext cx="61555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95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2025</a:t>
              </a:r>
              <a:endParaRPr lang="zh-CN" sz="1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00F7D29C-8C16-DCA7-3E98-37FB9A709638}"/>
                </a:ext>
              </a:extLst>
            </p:cNvPr>
            <p:cNvSpPr txBox="1"/>
            <p:nvPr/>
          </p:nvSpPr>
          <p:spPr>
            <a:xfrm>
              <a:off x="5542061" y="2695110"/>
              <a:ext cx="30777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</a:t>
              </a:r>
            </a:p>
          </p:txBody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9530287D-6289-9712-E6D6-BD1D89865444}"/>
                </a:ext>
              </a:extLst>
            </p:cNvPr>
            <p:cNvSpPr txBox="1"/>
            <p:nvPr/>
          </p:nvSpPr>
          <p:spPr>
            <a:xfrm>
              <a:off x="8442811" y="2932926"/>
              <a:ext cx="4616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至今</a:t>
              </a:r>
              <a:endParaRPr lang="zh-CN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20" name="TextBox 34">
              <a:extLst>
                <a:ext uri="{FF2B5EF4-FFF2-40B4-BE49-F238E27FC236}">
                  <a16:creationId xmlns:a16="http://schemas.microsoft.com/office/drawing/2014/main" id="{0B1C72E6-4B7F-7001-460F-B4E1393BBC50}"/>
                </a:ext>
              </a:extLst>
            </p:cNvPr>
            <p:cNvSpPr txBox="1"/>
            <p:nvPr/>
          </p:nvSpPr>
          <p:spPr>
            <a:xfrm>
              <a:off x="2787289" y="2651602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FA5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教育背景</a:t>
              </a:r>
            </a:p>
          </p:txBody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7366483C-7F81-4A85-3750-DB9A89D1D992}"/>
                </a:ext>
              </a:extLst>
            </p:cNvPr>
            <p:cNvSpPr txBox="1"/>
            <p:nvPr/>
          </p:nvSpPr>
          <p:spPr>
            <a:xfrm>
              <a:off x="2054828" y="3072765"/>
              <a:ext cx="271709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22" name="TextBox 36">
              <a:extLst>
                <a:ext uri="{FF2B5EF4-FFF2-40B4-BE49-F238E27FC236}">
                  <a16:creationId xmlns:a16="http://schemas.microsoft.com/office/drawing/2014/main" id="{C3B2173E-5EA3-7840-8FD7-A829284D1002}"/>
                </a:ext>
              </a:extLst>
            </p:cNvPr>
            <p:cNvSpPr txBox="1"/>
            <p:nvPr/>
          </p:nvSpPr>
          <p:spPr>
            <a:xfrm>
              <a:off x="2506124" y="3302160"/>
              <a:ext cx="17312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完成研发基础能力建立</a:t>
              </a:r>
            </a:p>
          </p:txBody>
        </p:sp>
        <p:sp>
          <p:nvSpPr>
            <p:cNvPr id="23" name="TextBox 37">
              <a:extLst>
                <a:ext uri="{FF2B5EF4-FFF2-40B4-BE49-F238E27FC236}">
                  <a16:creationId xmlns:a16="http://schemas.microsoft.com/office/drawing/2014/main" id="{05BEAC23-A75C-A95B-1161-7458A47815A5}"/>
                </a:ext>
              </a:extLst>
            </p:cNvPr>
            <p:cNvSpPr txBox="1"/>
            <p:nvPr/>
          </p:nvSpPr>
          <p:spPr>
            <a:xfrm>
              <a:off x="5105781" y="4755969"/>
              <a:ext cx="16158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 dirty="0">
                  <a:solidFill>
                    <a:srgbClr val="88C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过往职业</a:t>
              </a:r>
              <a:r>
                <a:rPr lang="zh-CN" sz="2100" b="1" dirty="0">
                  <a:solidFill>
                    <a:srgbClr val="88C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经历</a:t>
              </a:r>
            </a:p>
          </p:txBody>
        </p:sp>
        <p:sp>
          <p:nvSpPr>
            <p:cNvPr id="24" name="TextBox 38">
              <a:extLst>
                <a:ext uri="{FF2B5EF4-FFF2-40B4-BE49-F238E27FC236}">
                  <a16:creationId xmlns:a16="http://schemas.microsoft.com/office/drawing/2014/main" id="{445ADD53-689C-7F32-91F7-468B9D3FF3BF}"/>
                </a:ext>
              </a:extLst>
            </p:cNvPr>
            <p:cNvSpPr txBox="1"/>
            <p:nvPr/>
          </p:nvSpPr>
          <p:spPr>
            <a:xfrm>
              <a:off x="4264465" y="5191802"/>
              <a:ext cx="398025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</a:t>
              </a:r>
              <a:r>
                <a:rPr lang="en-US" alt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</a:t>
              </a:r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-2025 深圳乐信</a:t>
              </a:r>
              <a:r>
                <a:rPr lang="zh-CN" altLang="en-US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科技</a:t>
              </a:r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有限公司</a:t>
              </a:r>
              <a:r>
                <a:rPr lang="en-US" alt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lang="zh-CN" altLang="en-US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后台开发工程师</a:t>
              </a:r>
              <a:r>
                <a:rPr lang="en-US" alt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endParaRPr lang="zh-CN" sz="1350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25" name="TextBox 39">
              <a:extLst>
                <a:ext uri="{FF2B5EF4-FFF2-40B4-BE49-F238E27FC236}">
                  <a16:creationId xmlns:a16="http://schemas.microsoft.com/office/drawing/2014/main" id="{829C2982-E300-78F4-B202-E19792FC97FA}"/>
                </a:ext>
              </a:extLst>
            </p:cNvPr>
            <p:cNvSpPr txBox="1"/>
            <p:nvPr/>
          </p:nvSpPr>
          <p:spPr>
            <a:xfrm>
              <a:off x="4792758" y="5429250"/>
              <a:ext cx="25968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26" name="TextBox 40">
              <a:extLst>
                <a:ext uri="{FF2B5EF4-FFF2-40B4-BE49-F238E27FC236}">
                  <a16:creationId xmlns:a16="http://schemas.microsoft.com/office/drawing/2014/main" id="{39D471BC-ADF9-04F6-B61F-593719317AED}"/>
                </a:ext>
              </a:extLst>
            </p:cNvPr>
            <p:cNvSpPr txBox="1"/>
            <p:nvPr/>
          </p:nvSpPr>
          <p:spPr>
            <a:xfrm>
              <a:off x="8039040" y="1798053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9E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入职</a:t>
              </a:r>
              <a:r>
                <a:rPr lang="zh-CN" altLang="en-US" sz="2100" b="1" dirty="0">
                  <a:solidFill>
                    <a:srgbClr val="5F9E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路特</a:t>
              </a:r>
              <a:endParaRPr lang="zh-CN" sz="2100" b="1" dirty="0">
                <a:solidFill>
                  <a:srgbClr val="5F9E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27" name="TextBox 41">
              <a:extLst>
                <a:ext uri="{FF2B5EF4-FFF2-40B4-BE49-F238E27FC236}">
                  <a16:creationId xmlns:a16="http://schemas.microsoft.com/office/drawing/2014/main" id="{82173D17-1BB2-F34E-5771-F3EF2D3578E7}"/>
                </a:ext>
              </a:extLst>
            </p:cNvPr>
            <p:cNvSpPr txBox="1"/>
            <p:nvPr/>
          </p:nvSpPr>
          <p:spPr>
            <a:xfrm>
              <a:off x="6499860" y="2173516"/>
              <a:ext cx="398827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28" name="TextBox 42">
              <a:extLst>
                <a:ext uri="{FF2B5EF4-FFF2-40B4-BE49-F238E27FC236}">
                  <a16:creationId xmlns:a16="http://schemas.microsoft.com/office/drawing/2014/main" id="{6F8E9B86-3E19-4987-3E6A-14BAAB1FB762}"/>
                </a:ext>
              </a:extLst>
            </p:cNvPr>
            <p:cNvSpPr txBox="1"/>
            <p:nvPr/>
          </p:nvSpPr>
          <p:spPr>
            <a:xfrm>
              <a:off x="7186970" y="2388096"/>
              <a:ext cx="25968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A7DFD95F-A4D6-4FCB-4FDD-75BF15483818}"/>
                </a:ext>
              </a:extLst>
            </p:cNvPr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5EE2FCD9-71C6-6B1E-1480-4AEFB233EB96}"/>
                </a:ext>
              </a:extLst>
            </p:cNvPr>
            <p:cNvSpPr/>
            <p:nvPr/>
          </p:nvSpPr>
          <p:spPr>
            <a:xfrm>
              <a:off x="8420100" y="3714750"/>
              <a:ext cx="3009900" cy="95250"/>
            </a:xfrm>
            <a:custGeom>
              <a:avLst/>
              <a:gdLst/>
              <a:ahLst/>
              <a:cxnLst/>
              <a:rect l="l" t="t" r="r" b="b"/>
              <a:pathLst>
                <a:path w="3009900" h="95250">
                  <a:moveTo>
                    <a:pt x="47625" y="0"/>
                  </a:moveTo>
                  <a:lnTo>
                    <a:pt x="2962275" y="0"/>
                  </a:lnTo>
                  <a:cubicBezTo>
                    <a:pt x="2988578" y="0"/>
                    <a:pt x="3009900" y="21322"/>
                    <a:pt x="3009900" y="47625"/>
                  </a:cubicBezTo>
                  <a:lnTo>
                    <a:pt x="3009900" y="47625"/>
                  </a:lnTo>
                  <a:cubicBezTo>
                    <a:pt x="3009900" y="73928"/>
                    <a:pt x="2988578" y="95250"/>
                    <a:pt x="29622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6CC04A"/>
            </a:solidFill>
            <a:ln>
              <a:noFill/>
            </a:ln>
          </p:spPr>
        </p:sp>
        <p:sp>
          <p:nvSpPr>
            <p:cNvPr id="31" name="TextBox 45">
              <a:extLst>
                <a:ext uri="{FF2B5EF4-FFF2-40B4-BE49-F238E27FC236}">
                  <a16:creationId xmlns:a16="http://schemas.microsoft.com/office/drawing/2014/main" id="{7F7AFCEE-B701-29CF-0C7F-A34EC129BFA9}"/>
                </a:ext>
              </a:extLst>
            </p:cNvPr>
            <p:cNvSpPr txBox="1"/>
            <p:nvPr/>
          </p:nvSpPr>
          <p:spPr>
            <a:xfrm>
              <a:off x="8606790" y="39204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当前岗位</a:t>
              </a:r>
            </a:p>
          </p:txBody>
        </p:sp>
        <p:sp>
          <p:nvSpPr>
            <p:cNvPr id="32" name="TextBox 46">
              <a:extLst>
                <a:ext uri="{FF2B5EF4-FFF2-40B4-BE49-F238E27FC236}">
                  <a16:creationId xmlns:a16="http://schemas.microsoft.com/office/drawing/2014/main" id="{14E34D7C-EDD6-54DD-DB07-C50C892C1F43}"/>
                </a:ext>
              </a:extLst>
            </p:cNvPr>
            <p:cNvSpPr txBox="1"/>
            <p:nvPr/>
          </p:nvSpPr>
          <p:spPr>
            <a:xfrm>
              <a:off x="9682083" y="3923289"/>
              <a:ext cx="14362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后端开发工程师</a:t>
              </a:r>
            </a:p>
          </p:txBody>
        </p:sp>
        <p:sp>
          <p:nvSpPr>
            <p:cNvPr id="33" name="TextBox 47">
              <a:extLst>
                <a:ext uri="{FF2B5EF4-FFF2-40B4-BE49-F238E27FC236}">
                  <a16:creationId xmlns:a16="http://schemas.microsoft.com/office/drawing/2014/main" id="{39FC4909-374F-095C-888A-863E05D327E6}"/>
                </a:ext>
              </a:extLst>
            </p:cNvPr>
            <p:cNvSpPr txBox="1"/>
            <p:nvPr/>
          </p:nvSpPr>
          <p:spPr>
            <a:xfrm>
              <a:off x="8614791" y="4394501"/>
              <a:ext cx="207749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负责活动</a:t>
              </a:r>
              <a:r>
                <a:rPr lang="zh-CN" altLang="en-US" sz="135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运营</a:t>
              </a:r>
              <a:r>
                <a:rPr lang="zh-CN" sz="135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、会员权益</a:t>
              </a:r>
              <a:r>
                <a:rPr lang="zh-CN" altLang="en-US" sz="135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等</a:t>
              </a:r>
              <a:endParaRPr lang="zh-CN" sz="1350" dirty="0">
                <a:solidFill>
                  <a:srgbClr val="333F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34" name="TextBox 48">
              <a:extLst>
                <a:ext uri="{FF2B5EF4-FFF2-40B4-BE49-F238E27FC236}">
                  <a16:creationId xmlns:a16="http://schemas.microsoft.com/office/drawing/2014/main" id="{2CDE0F12-5CB5-D32A-5722-4FB86BA25096}"/>
                </a:ext>
              </a:extLst>
            </p:cNvPr>
            <p:cNvSpPr txBox="1"/>
            <p:nvPr/>
          </p:nvSpPr>
          <p:spPr>
            <a:xfrm>
              <a:off x="8584287" y="4776788"/>
              <a:ext cx="276998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35" name="Freeform 49">
              <a:extLst>
                <a:ext uri="{FF2B5EF4-FFF2-40B4-BE49-F238E27FC236}">
                  <a16:creationId xmlns:a16="http://schemas.microsoft.com/office/drawing/2014/main" id="{F61BF7B8-A7D2-866D-D47D-7CBE9DB99D14}"/>
                </a:ext>
              </a:extLst>
            </p:cNvPr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6" name="Freeform 50">
              <a:extLst>
                <a:ext uri="{FF2B5EF4-FFF2-40B4-BE49-F238E27FC236}">
                  <a16:creationId xmlns:a16="http://schemas.microsoft.com/office/drawing/2014/main" id="{0F1A9797-755A-97F0-C46F-8718A587E48A}"/>
                </a:ext>
              </a:extLst>
            </p:cNvPr>
            <p:cNvSpPr/>
            <p:nvPr/>
          </p:nvSpPr>
          <p:spPr>
            <a:xfrm>
              <a:off x="10138218" y="5467350"/>
              <a:ext cx="1425131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7" name="Freeform 51">
              <a:extLst>
                <a:ext uri="{FF2B5EF4-FFF2-40B4-BE49-F238E27FC236}">
                  <a16:creationId xmlns:a16="http://schemas.microsoft.com/office/drawing/2014/main" id="{633525C2-6B28-4133-A15E-E3C25DC01F92}"/>
                </a:ext>
              </a:extLst>
            </p:cNvPr>
            <p:cNvSpPr/>
            <p:nvPr/>
          </p:nvSpPr>
          <p:spPr>
            <a:xfrm>
              <a:off x="8458200" y="5905500"/>
              <a:ext cx="1595104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8" name="Freeform 52">
              <a:extLst>
                <a:ext uri="{FF2B5EF4-FFF2-40B4-BE49-F238E27FC236}">
                  <a16:creationId xmlns:a16="http://schemas.microsoft.com/office/drawing/2014/main" id="{26F913A8-1451-9EC1-9AB3-D58BEFC261F9}"/>
                </a:ext>
              </a:extLst>
            </p:cNvPr>
            <p:cNvSpPr/>
            <p:nvPr/>
          </p:nvSpPr>
          <p:spPr>
            <a:xfrm>
              <a:off x="101155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9" name="TextBox 53">
              <a:extLst>
                <a:ext uri="{FF2B5EF4-FFF2-40B4-BE49-F238E27FC236}">
                  <a16:creationId xmlns:a16="http://schemas.microsoft.com/office/drawing/2014/main" id="{FE9BC09F-9045-6BE5-D3A5-047A1BB3433A}"/>
                </a:ext>
              </a:extLst>
            </p:cNvPr>
            <p:cNvSpPr txBox="1"/>
            <p:nvPr/>
          </p:nvSpPr>
          <p:spPr>
            <a:xfrm>
              <a:off x="8806160" y="556641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复杂</a:t>
              </a:r>
              <a:r>
                <a:rPr lang="zh-CN" altLang="en-US" sz="120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事项承接</a:t>
              </a:r>
              <a:endParaRPr lang="zh-CN" sz="1200" b="1" dirty="0">
                <a:solidFill>
                  <a:srgbClr val="4F5B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40" name="TextBox 54">
              <a:extLst>
                <a:ext uri="{FF2B5EF4-FFF2-40B4-BE49-F238E27FC236}">
                  <a16:creationId xmlns:a16="http://schemas.microsoft.com/office/drawing/2014/main" id="{C292763D-25ED-187C-FA13-9173D6CDB5C4}"/>
                </a:ext>
              </a:extLst>
            </p:cNvPr>
            <p:cNvSpPr txBox="1"/>
            <p:nvPr/>
          </p:nvSpPr>
          <p:spPr>
            <a:xfrm>
              <a:off x="10466062" y="5535930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平台化设计</a:t>
              </a:r>
            </a:p>
          </p:txBody>
        </p:sp>
        <p:sp>
          <p:nvSpPr>
            <p:cNvPr id="41" name="TextBox 55">
              <a:extLst>
                <a:ext uri="{FF2B5EF4-FFF2-40B4-BE49-F238E27FC236}">
                  <a16:creationId xmlns:a16="http://schemas.microsoft.com/office/drawing/2014/main" id="{0A83A133-921C-C302-AB31-9DDA2AB05D9F}"/>
                </a:ext>
              </a:extLst>
            </p:cNvPr>
            <p:cNvSpPr txBox="1"/>
            <p:nvPr/>
          </p:nvSpPr>
          <p:spPr>
            <a:xfrm>
              <a:off x="8835116" y="5969318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项目统筹推进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0C4E79E2-549A-DA60-59D4-C02A45C2C33F}"/>
                </a:ext>
              </a:extLst>
            </p:cNvPr>
            <p:cNvSpPr txBox="1"/>
            <p:nvPr/>
          </p:nvSpPr>
          <p:spPr>
            <a:xfrm>
              <a:off x="10393951" y="5988049"/>
              <a:ext cx="8287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AI 协同研发</a:t>
              </a:r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B3EE95AC-0AEA-7715-7066-714D1E913E5A}"/>
                </a:ext>
              </a:extLst>
            </p:cNvPr>
            <p:cNvSpPr/>
            <p:nvPr/>
          </p:nvSpPr>
          <p:spPr>
            <a:xfrm>
              <a:off x="561975" y="6059804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356BB3F7-039C-B294-565C-A49026290797}"/>
                </a:ext>
              </a:extLst>
            </p:cNvPr>
            <p:cNvSpPr/>
            <p:nvPr/>
          </p:nvSpPr>
          <p:spPr>
            <a:xfrm>
              <a:off x="628650" y="6059804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59">
              <a:extLst>
                <a:ext uri="{FF2B5EF4-FFF2-40B4-BE49-F238E27FC236}">
                  <a16:creationId xmlns:a16="http://schemas.microsoft.com/office/drawing/2014/main" id="{6ABD8F23-3A88-FDFB-300A-CB6FBDC4E486}"/>
                </a:ext>
              </a:extLst>
            </p:cNvPr>
            <p:cNvSpPr txBox="1"/>
            <p:nvPr/>
          </p:nvSpPr>
          <p:spPr>
            <a:xfrm>
              <a:off x="764776" y="6111240"/>
              <a:ext cx="605935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0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B669-6E97-08EA-02BC-6373334E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02B06B-BBFB-7B15-3681-BB108381420E}"/>
              </a:ext>
            </a:extLst>
          </p:cNvPr>
          <p:cNvSpPr txBox="1"/>
          <p:nvPr/>
        </p:nvSpPr>
        <p:spPr>
          <a:xfrm>
            <a:off x="912495" y="262890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D1B9E3-02EB-5648-9D19-0DBEEC3285CB}"/>
              </a:ext>
            </a:extLst>
          </p:cNvPr>
          <p:cNvSpPr txBox="1"/>
          <p:nvPr/>
        </p:nvSpPr>
        <p:spPr>
          <a:xfrm>
            <a:off x="1453515" y="26289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岗位认知</a:t>
            </a:r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A94BAA3F-8B90-910C-35C6-39DC76C8AE7E}"/>
              </a:ext>
            </a:extLst>
          </p:cNvPr>
          <p:cNvGrpSpPr/>
          <p:nvPr/>
        </p:nvGrpSpPr>
        <p:grpSpPr>
          <a:xfrm>
            <a:off x="393700" y="1289050"/>
            <a:ext cx="11583988" cy="4095750"/>
            <a:chOff x="381000" y="1676400"/>
            <a:chExt cx="11583988" cy="4095750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5076DFD7-D467-925F-4BDB-3DD03C0904F1}"/>
                </a:ext>
              </a:extLst>
            </p:cNvPr>
            <p:cNvSpPr/>
            <p:nvPr/>
          </p:nvSpPr>
          <p:spPr>
            <a:xfrm>
              <a:off x="381000" y="1676400"/>
              <a:ext cx="11583988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177EFF7F-4DD3-0394-B1C8-EE2DBB864A90}"/>
                </a:ext>
              </a:extLst>
            </p:cNvPr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45177AF9-A4F2-4093-CCA6-3C544765377D}"/>
                </a:ext>
              </a:extLst>
            </p:cNvPr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9" name="TextBox 22">
              <a:extLst>
                <a:ext uri="{FF2B5EF4-FFF2-40B4-BE49-F238E27FC236}">
                  <a16:creationId xmlns:a16="http://schemas.microsoft.com/office/drawing/2014/main" id="{CB86D645-947C-FD38-6C92-CF0DC246C9B3}"/>
                </a:ext>
              </a:extLst>
            </p:cNvPr>
            <p:cNvSpPr txBox="1"/>
            <p:nvPr/>
          </p:nvSpPr>
          <p:spPr>
            <a:xfrm>
              <a:off x="729615" y="2248852"/>
              <a:ext cx="35586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ROLE</a:t>
              </a:r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D012EB2E-4CA5-62B1-D357-B6D5DB05008D}"/>
                </a:ext>
              </a:extLst>
            </p:cNvPr>
            <p:cNvSpPr txBox="1"/>
            <p:nvPr/>
          </p:nvSpPr>
          <p:spPr>
            <a:xfrm>
              <a:off x="722948" y="2516029"/>
              <a:ext cx="807913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75" b="1" dirty="0">
                  <a:solidFill>
                    <a:srgbClr val="2C3E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表现举证</a:t>
              </a:r>
              <a:endParaRPr lang="zh-CN" sz="1575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11" name="TextBox 24">
              <a:extLst>
                <a:ext uri="{FF2B5EF4-FFF2-40B4-BE49-F238E27FC236}">
                  <a16:creationId xmlns:a16="http://schemas.microsoft.com/office/drawing/2014/main" id="{C00F657F-BB24-FF4F-40CF-B692C983BBF1}"/>
                </a:ext>
              </a:extLst>
            </p:cNvPr>
            <p:cNvSpPr txBox="1"/>
            <p:nvPr/>
          </p:nvSpPr>
          <p:spPr>
            <a:xfrm>
              <a:off x="726758" y="2929414"/>
              <a:ext cx="2431756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圣诞</a:t>
              </a:r>
              <a:r>
                <a:rPr lang="en-US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&amp;</a:t>
              </a:r>
              <a:r>
                <a:rPr lang="zh-CN" altLang="en-US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新年</a:t>
              </a:r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活动项目四期按期交付</a:t>
              </a:r>
            </a:p>
          </p:txBody>
        </p:sp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4FCD764B-39C0-39CE-0F46-E1940ED3E055}"/>
                </a:ext>
              </a:extLst>
            </p:cNvPr>
            <p:cNvSpPr txBox="1"/>
            <p:nvPr/>
          </p:nvSpPr>
          <p:spPr>
            <a:xfrm>
              <a:off x="726758" y="3177064"/>
              <a:ext cx="1817805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规则引擎从0到1独立落地</a:t>
              </a:r>
            </a:p>
          </p:txBody>
        </p:sp>
        <p:sp>
          <p:nvSpPr>
            <p:cNvPr id="13" name="TextBox 26">
              <a:extLst>
                <a:ext uri="{FF2B5EF4-FFF2-40B4-BE49-F238E27FC236}">
                  <a16:creationId xmlns:a16="http://schemas.microsoft.com/office/drawing/2014/main" id="{89D0246B-04B1-5F89-4997-ADEC283E87E7}"/>
                </a:ext>
              </a:extLst>
            </p:cNvPr>
            <p:cNvSpPr txBox="1"/>
            <p:nvPr/>
          </p:nvSpPr>
          <p:spPr>
            <a:xfrm>
              <a:off x="726758" y="3424714"/>
              <a:ext cx="1518044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CRM与转盘优化提效</a:t>
              </a:r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25851BA-EE05-3EA8-AA04-1FD98EA44159}"/>
                </a:ext>
              </a:extLst>
            </p:cNvPr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15" name="Freeform 28">
              <a:extLst>
                <a:ext uri="{FF2B5EF4-FFF2-40B4-BE49-F238E27FC236}">
                  <a16:creationId xmlns:a16="http://schemas.microsoft.com/office/drawing/2014/main" id="{7F6EA193-6E5E-CF87-C93B-DD4E9F00403C}"/>
                </a:ext>
              </a:extLst>
            </p:cNvPr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29">
              <a:extLst>
                <a:ext uri="{FF2B5EF4-FFF2-40B4-BE49-F238E27FC236}">
                  <a16:creationId xmlns:a16="http://schemas.microsoft.com/office/drawing/2014/main" id="{8255E5D2-F743-7058-3E3E-792044952215}"/>
                </a:ext>
              </a:extLst>
            </p:cNvPr>
            <p:cNvSpPr txBox="1"/>
            <p:nvPr/>
          </p:nvSpPr>
          <p:spPr>
            <a:xfrm>
              <a:off x="4615815" y="2248852"/>
              <a:ext cx="54502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TARGET</a:t>
              </a:r>
            </a:p>
          </p:txBody>
        </p:sp>
        <p:sp>
          <p:nvSpPr>
            <p:cNvPr id="17" name="TextBox 30">
              <a:extLst>
                <a:ext uri="{FF2B5EF4-FFF2-40B4-BE49-F238E27FC236}">
                  <a16:creationId xmlns:a16="http://schemas.microsoft.com/office/drawing/2014/main" id="{EAD372D3-89B4-A0E2-6AE8-A2F230F62AEB}"/>
                </a:ext>
              </a:extLst>
            </p:cNvPr>
            <p:cNvSpPr txBox="1"/>
            <p:nvPr/>
          </p:nvSpPr>
          <p:spPr>
            <a:xfrm>
              <a:off x="4609148" y="2516029"/>
              <a:ext cx="807913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75" b="1" dirty="0">
                  <a:solidFill>
                    <a:srgbClr val="2C3E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岗位理解</a:t>
              </a:r>
              <a:endParaRPr lang="zh-CN" sz="1575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  <p:sp>
          <p:nvSpPr>
            <p:cNvPr id="18" name="TextBox 31">
              <a:extLst>
                <a:ext uri="{FF2B5EF4-FFF2-40B4-BE49-F238E27FC236}">
                  <a16:creationId xmlns:a16="http://schemas.microsoft.com/office/drawing/2014/main" id="{25174C0B-6483-D51C-525F-51BD1687E2D6}"/>
                </a:ext>
              </a:extLst>
            </p:cNvPr>
            <p:cNvSpPr txBox="1"/>
            <p:nvPr/>
          </p:nvSpPr>
          <p:spPr>
            <a:xfrm>
              <a:off x="4612958" y="2929414"/>
              <a:ext cx="1635063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关键项目里要扛住结果</a:t>
              </a:r>
            </a:p>
          </p:txBody>
        </p:sp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98B42FAE-4E00-CCB7-DF2E-0A95D16828A9}"/>
                </a:ext>
              </a:extLst>
            </p:cNvPr>
            <p:cNvSpPr txBox="1"/>
            <p:nvPr/>
          </p:nvSpPr>
          <p:spPr>
            <a:xfrm>
              <a:off x="4612958" y="3177064"/>
              <a:ext cx="1635063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复杂问题上要给出方案</a:t>
              </a:r>
            </a:p>
          </p:txBody>
        </p:sp>
        <p:sp>
          <p:nvSpPr>
            <p:cNvPr id="20" name="TextBox 33">
              <a:extLst>
                <a:ext uri="{FF2B5EF4-FFF2-40B4-BE49-F238E27FC236}">
                  <a16:creationId xmlns:a16="http://schemas.microsoft.com/office/drawing/2014/main" id="{8DBBB0B5-97D1-0347-5DF9-4D74907678EF}"/>
                </a:ext>
              </a:extLst>
            </p:cNvPr>
            <p:cNvSpPr txBox="1"/>
            <p:nvPr/>
          </p:nvSpPr>
          <p:spPr>
            <a:xfrm>
              <a:off x="4612958" y="3424714"/>
              <a:ext cx="212558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一次性交付要沉淀为复用能力</a:t>
              </a:r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311086D8-8660-98C7-A069-53C7B62778F4}"/>
                </a:ext>
              </a:extLst>
            </p:cNvPr>
            <p:cNvSpPr/>
            <p:nvPr/>
          </p:nvSpPr>
          <p:spPr>
            <a:xfrm>
              <a:off x="8324850" y="2011204"/>
              <a:ext cx="346075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2" name="Freeform 35">
              <a:extLst>
                <a:ext uri="{FF2B5EF4-FFF2-40B4-BE49-F238E27FC236}">
                  <a16:creationId xmlns:a16="http://schemas.microsoft.com/office/drawing/2014/main" id="{D21AD5F5-4DF5-869B-5A57-9A0F2344684B}"/>
                </a:ext>
              </a:extLst>
            </p:cNvPr>
            <p:cNvSpPr/>
            <p:nvPr/>
          </p:nvSpPr>
          <p:spPr>
            <a:xfrm>
              <a:off x="8324849" y="2000250"/>
              <a:ext cx="3441303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23" name="TextBox 36">
              <a:extLst>
                <a:ext uri="{FF2B5EF4-FFF2-40B4-BE49-F238E27FC236}">
                  <a16:creationId xmlns:a16="http://schemas.microsoft.com/office/drawing/2014/main" id="{5F1BD067-4895-500C-D114-E410CC542E6E}"/>
                </a:ext>
              </a:extLst>
            </p:cNvPr>
            <p:cNvSpPr txBox="1"/>
            <p:nvPr/>
          </p:nvSpPr>
          <p:spPr>
            <a:xfrm>
              <a:off x="8502015" y="2248852"/>
              <a:ext cx="78867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STANDARD</a:t>
              </a:r>
            </a:p>
          </p:txBody>
        </p:sp>
        <p:sp>
          <p:nvSpPr>
            <p:cNvPr id="24" name="TextBox 37">
              <a:extLst>
                <a:ext uri="{FF2B5EF4-FFF2-40B4-BE49-F238E27FC236}">
                  <a16:creationId xmlns:a16="http://schemas.microsoft.com/office/drawing/2014/main" id="{7A1A377B-968A-2218-24D7-EFB1D27B4DED}"/>
                </a:ext>
              </a:extLst>
            </p:cNvPr>
            <p:cNvSpPr txBox="1"/>
            <p:nvPr/>
          </p:nvSpPr>
          <p:spPr>
            <a:xfrm>
              <a:off x="8495348" y="2516029"/>
              <a:ext cx="1211870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对自己的要求</a:t>
              </a:r>
            </a:p>
          </p:txBody>
        </p:sp>
        <p:sp>
          <p:nvSpPr>
            <p:cNvPr id="25" name="TextBox 38">
              <a:extLst>
                <a:ext uri="{FF2B5EF4-FFF2-40B4-BE49-F238E27FC236}">
                  <a16:creationId xmlns:a16="http://schemas.microsoft.com/office/drawing/2014/main" id="{5962720F-B637-8D3E-92A2-9A2C6D182492}"/>
                </a:ext>
              </a:extLst>
            </p:cNvPr>
            <p:cNvSpPr txBox="1"/>
            <p:nvPr/>
          </p:nvSpPr>
          <p:spPr>
            <a:xfrm>
              <a:off x="8499158" y="2929414"/>
              <a:ext cx="2616101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覆盖项目负责、独立建设、效率优化</a:t>
              </a:r>
            </a:p>
          </p:txBody>
        </p:sp>
        <p:sp>
          <p:nvSpPr>
            <p:cNvPr id="26" name="TextBox 39">
              <a:extLst>
                <a:ext uri="{FF2B5EF4-FFF2-40B4-BE49-F238E27FC236}">
                  <a16:creationId xmlns:a16="http://schemas.microsoft.com/office/drawing/2014/main" id="{0DEC2D96-397C-3CDC-C63C-1C3CAFB50790}"/>
                </a:ext>
              </a:extLst>
            </p:cNvPr>
            <p:cNvSpPr txBox="1"/>
            <p:nvPr/>
          </p:nvSpPr>
          <p:spPr>
            <a:xfrm>
              <a:off x="8499158" y="3177064"/>
              <a:ext cx="1962076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让团队能放心交付复杂事项</a:t>
              </a:r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3E5830E9-05E2-D4BD-80F7-86FE66F35746}"/>
                </a:ext>
              </a:extLst>
            </p:cNvPr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8" name="TextBox 41">
              <a:extLst>
                <a:ext uri="{FF2B5EF4-FFF2-40B4-BE49-F238E27FC236}">
                  <a16:creationId xmlns:a16="http://schemas.microsoft.com/office/drawing/2014/main" id="{AC43023E-BB6D-3883-437D-4546AB7C5209}"/>
                </a:ext>
              </a:extLst>
            </p:cNvPr>
            <p:cNvSpPr txBox="1"/>
            <p:nvPr/>
          </p:nvSpPr>
          <p:spPr>
            <a:xfrm>
              <a:off x="794385" y="4742498"/>
              <a:ext cx="77521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950" b="1" dirty="0">
                  <a:solidFill>
                    <a:srgbClr val="6B8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试用期要证明的，不只是做了多少功能，而是能否持续承担复杂事项。</a:t>
              </a:r>
            </a:p>
          </p:txBody>
        </p:sp>
        <p:sp>
          <p:nvSpPr>
            <p:cNvPr id="29" name="TextBox 42">
              <a:extLst>
                <a:ext uri="{FF2B5EF4-FFF2-40B4-BE49-F238E27FC236}">
                  <a16:creationId xmlns:a16="http://schemas.microsoft.com/office/drawing/2014/main" id="{307E25D4-5A3C-88BE-A212-704E8760900F}"/>
                </a:ext>
              </a:extLst>
            </p:cNvPr>
            <p:cNvSpPr txBox="1"/>
            <p:nvPr/>
          </p:nvSpPr>
          <p:spPr>
            <a:xfrm>
              <a:off x="6095968" y="3925252"/>
              <a:ext cx="6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dirty="0">
                <a:solidFill>
                  <a:srgbClr val="C7CFD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13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0700" y="342900"/>
            <a:ext cx="990600" cy="17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" name="Connector 3"/>
          <p:cNvCxnSpPr/>
          <p:nvPr/>
        </p:nvCxnSpPr>
        <p:spPr>
          <a:xfrm rot="-13402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97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97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ap="flat" cmpd="sng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ap="flat" cmpd="sng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14400" y="266700"/>
            <a:ext cx="889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腾讯体 W3"/>
                <a:sym typeface="腾讯体 W3"/>
              </a:rPr>
              <a:t>二、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47800" y="266700"/>
            <a:ext cx="254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岗位认知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93700" y="1295400"/>
            <a:ext cx="11582400" cy="4318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71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36600" y="18669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ROLE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表现举证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36600" y="234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业务逻辑实现：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将复杂需求转化为高效、可扩展的技术实现。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36600" y="298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数据持久化：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负责数据库设计优化，确保数据安全高效。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36600" y="361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服务接口设计：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设计规范易用的API，作为系统协作桥梁。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254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254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19600" y="18669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88C1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TARGET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岗位理解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19600" y="234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核心职责：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构建系统基石，保障高并发下稳定响应。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19600" y="298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能力要求：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技术深度与业务广度结合，具备“T”型结构。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419600" y="361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工作目标：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从功能实现者转型价值创造者。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937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937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102600" y="18669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STANDARD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自我要求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102600" y="234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全面负责：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独立设计模块，持续优化，对结果负责。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02600" y="298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解决难题：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攻克复杂技术业务问题，让团队放心交付。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02600" y="3619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持续学习：</a:t>
            </a: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保持技术敏感度，推动团队技术栈演进。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71500" y="4572000"/>
            <a:ext cx="11049000" cy="889000"/>
          </a:xfrm>
          <a:prstGeom prst="roundRect">
            <a:avLst>
              <a:gd name="adj" fmla="val 0"/>
            </a:avLst>
          </a:prstGeom>
          <a:solidFill>
            <a:srgbClr val="F6FB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4699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后端开发不仅是代码实现者，更是系统构建者与守护者，致力于为业务创造核心价值。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7D0B9-179D-1F51-B4DE-FA075108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9C20F00D-0DA3-8544-DB32-E3710823B82B}"/>
              </a:ext>
            </a:extLst>
          </p:cNvPr>
          <p:cNvSpPr txBox="1">
            <a:spLocks noGrp="1"/>
          </p:cNvSpPr>
          <p:nvPr/>
        </p:nvSpPr>
        <p:spPr>
          <a:xfrm>
            <a:off x="1086485" y="1752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三、绩效目标及完成情况</a:t>
            </a:r>
          </a:p>
        </p:txBody>
      </p:sp>
      <p:grpSp>
        <p:nvGrpSpPr>
          <p:cNvPr id="11327" name="组合 11326">
            <a:extLst>
              <a:ext uri="{FF2B5EF4-FFF2-40B4-BE49-F238E27FC236}">
                <a16:creationId xmlns:a16="http://schemas.microsoft.com/office/drawing/2014/main" id="{D8922905-F2E0-6CC0-A6B9-91C191B73EAE}"/>
              </a:ext>
            </a:extLst>
          </p:cNvPr>
          <p:cNvGrpSpPr/>
          <p:nvPr/>
        </p:nvGrpSpPr>
        <p:grpSpPr>
          <a:xfrm>
            <a:off x="629285" y="1199662"/>
            <a:ext cx="11430000" cy="4095750"/>
            <a:chOff x="662354" y="1645139"/>
            <a:chExt cx="11430000" cy="4095750"/>
          </a:xfrm>
        </p:grpSpPr>
        <p:grpSp>
          <p:nvGrpSpPr>
            <p:cNvPr id="55" name="Group 65">
              <a:extLst>
                <a:ext uri="{FF2B5EF4-FFF2-40B4-BE49-F238E27FC236}">
                  <a16:creationId xmlns:a16="http://schemas.microsoft.com/office/drawing/2014/main" id="{A6F8DF99-5192-66B9-E4F2-AA0F9B73172D}"/>
                </a:ext>
              </a:extLst>
            </p:cNvPr>
            <p:cNvGrpSpPr/>
            <p:nvPr/>
          </p:nvGrpSpPr>
          <p:grpSpPr>
            <a:xfrm>
              <a:off x="662354" y="1645139"/>
              <a:ext cx="11430000" cy="4095750"/>
              <a:chOff x="381000" y="1676400"/>
              <a:chExt cx="11430000" cy="4095750"/>
            </a:xfrm>
          </p:grpSpPr>
          <p:sp>
            <p:nvSpPr>
              <p:cNvPr id="56" name="Freeform 19">
                <a:extLst>
                  <a:ext uri="{FF2B5EF4-FFF2-40B4-BE49-F238E27FC236}">
                    <a16:creationId xmlns:a16="http://schemas.microsoft.com/office/drawing/2014/main" id="{DE62019B-1B4D-B26A-A2D2-58308128C1D9}"/>
                  </a:ext>
                </a:extLst>
              </p:cNvPr>
              <p:cNvSpPr/>
              <p:nvPr/>
            </p:nvSpPr>
            <p:spPr>
              <a:xfrm>
                <a:off x="381000" y="1676400"/>
                <a:ext cx="11430000" cy="4095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0" h="4095750">
                    <a:moveTo>
                      <a:pt x="76200" y="0"/>
                    </a:moveTo>
                    <a:lnTo>
                      <a:pt x="11353800" y="0"/>
                    </a:lnTo>
                    <a:cubicBezTo>
                      <a:pt x="11395884" y="0"/>
                      <a:pt x="11430000" y="34116"/>
                      <a:pt x="11430000" y="76200"/>
                    </a:cubicBezTo>
                    <a:lnTo>
                      <a:pt x="11430000" y="4019550"/>
                    </a:lnTo>
                    <a:cubicBezTo>
                      <a:pt x="11430000" y="4061634"/>
                      <a:pt x="11395884" y="4095750"/>
                      <a:pt x="11353800" y="4095750"/>
                    </a:cubicBezTo>
                    <a:lnTo>
                      <a:pt x="76200" y="4095750"/>
                    </a:lnTo>
                    <a:cubicBezTo>
                      <a:pt x="34116" y="4095750"/>
                      <a:pt x="0" y="4061634"/>
                      <a:pt x="0" y="4019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Freeform 20">
                <a:extLst>
                  <a:ext uri="{FF2B5EF4-FFF2-40B4-BE49-F238E27FC236}">
                    <a16:creationId xmlns:a16="http://schemas.microsoft.com/office/drawing/2014/main" id="{8F28BEC1-54B5-9B98-919E-5116F76E5F21}"/>
                  </a:ext>
                </a:extLst>
              </p:cNvPr>
              <p:cNvSpPr/>
              <p:nvPr/>
            </p:nvSpPr>
            <p:spPr>
              <a:xfrm>
                <a:off x="552450" y="1790700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  <p:txBody>
              <a:bodyPr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Ellipse 21">
                <a:extLst>
                  <a:ext uri="{FF2B5EF4-FFF2-40B4-BE49-F238E27FC236}">
                    <a16:creationId xmlns:a16="http://schemas.microsoft.com/office/drawing/2014/main" id="{BEC56264-8F81-4406-6A79-208F805BC784}"/>
                  </a:ext>
                </a:extLst>
              </p:cNvPr>
              <p:cNvSpPr/>
              <p:nvPr/>
            </p:nvSpPr>
            <p:spPr>
              <a:xfrm>
                <a:off x="173355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TextBox 27">
                <a:extLst>
                  <a:ext uri="{FF2B5EF4-FFF2-40B4-BE49-F238E27FC236}">
                    <a16:creationId xmlns:a16="http://schemas.microsoft.com/office/drawing/2014/main" id="{F97AD91E-9427-F3B5-ABB8-BF71965D26DE}"/>
                  </a:ext>
                </a:extLst>
              </p:cNvPr>
              <p:cNvSpPr txBox="1"/>
              <p:nvPr/>
            </p:nvSpPr>
            <p:spPr>
              <a:xfrm>
                <a:off x="1613111" y="3308032"/>
                <a:ext cx="126957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核心业绩指标</a:t>
                </a:r>
              </a:p>
            </p:txBody>
          </p:sp>
          <p:sp>
            <p:nvSpPr>
              <p:cNvPr id="60" name="Line 28">
                <a:extLst>
                  <a:ext uri="{FF2B5EF4-FFF2-40B4-BE49-F238E27FC236}">
                    <a16:creationId xmlns:a16="http://schemas.microsoft.com/office/drawing/2014/main" id="{ED4FE0A8-76C1-AADC-819D-06E3351C7AB7}"/>
                  </a:ext>
                </a:extLst>
              </p:cNvPr>
              <p:cNvSpPr/>
              <p:nvPr/>
            </p:nvSpPr>
            <p:spPr>
              <a:xfrm>
                <a:off x="95250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61" name="TextBox 29">
                <a:extLst>
                  <a:ext uri="{FF2B5EF4-FFF2-40B4-BE49-F238E27FC236}">
                    <a16:creationId xmlns:a16="http://schemas.microsoft.com/office/drawing/2014/main" id="{584C5DEC-F31D-6126-AEEB-7A1C9995F36A}"/>
                  </a:ext>
                </a:extLst>
              </p:cNvPr>
              <p:cNvSpPr txBox="1"/>
              <p:nvPr/>
            </p:nvSpPr>
            <p:spPr>
              <a:xfrm>
                <a:off x="1142919" y="4034314"/>
                <a:ext cx="1025923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已完成任务数</a:t>
                </a:r>
                <a:r>
                  <a:rPr lang="en-US" alt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:</a:t>
                </a:r>
                <a:endParaRPr lang="zh-CN" sz="1275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endParaRPr>
              </a:p>
            </p:txBody>
          </p:sp>
          <p:sp>
            <p:nvSpPr>
              <p:cNvPr id="62" name="TextBox 30">
                <a:extLst>
                  <a:ext uri="{FF2B5EF4-FFF2-40B4-BE49-F238E27FC236}">
                    <a16:creationId xmlns:a16="http://schemas.microsoft.com/office/drawing/2014/main" id="{D4B4C812-2D06-AC57-2CC0-38EEC3C29EBC}"/>
                  </a:ext>
                </a:extLst>
              </p:cNvPr>
              <p:cNvSpPr txBox="1"/>
              <p:nvPr/>
            </p:nvSpPr>
            <p:spPr>
              <a:xfrm>
                <a:off x="2222182" y="3953351"/>
                <a:ext cx="724557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1</a:t>
                </a:r>
                <a:r>
                  <a:rPr lang="en-US" alt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xx</a:t>
                </a:r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项</a:t>
                </a:r>
              </a:p>
            </p:txBody>
          </p:sp>
          <p:sp>
            <p:nvSpPr>
              <p:cNvPr id="63" name="TextBox 31">
                <a:extLst>
                  <a:ext uri="{FF2B5EF4-FFF2-40B4-BE49-F238E27FC236}">
                    <a16:creationId xmlns:a16="http://schemas.microsoft.com/office/drawing/2014/main" id="{1C8ADD32-E98C-EB50-BB54-701EF09516A3}"/>
                  </a:ext>
                </a:extLst>
              </p:cNvPr>
              <p:cNvSpPr txBox="1"/>
              <p:nvPr/>
            </p:nvSpPr>
            <p:spPr>
              <a:xfrm>
                <a:off x="1306426" y="4434364"/>
                <a:ext cx="862416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已交付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需求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:</a:t>
                </a:r>
              </a:p>
            </p:txBody>
          </p:sp>
          <p:sp>
            <p:nvSpPr>
              <p:cNvPr id="11264" name="TextBox 32">
                <a:extLst>
                  <a:ext uri="{FF2B5EF4-FFF2-40B4-BE49-F238E27FC236}">
                    <a16:creationId xmlns:a16="http://schemas.microsoft.com/office/drawing/2014/main" id="{EBCBC3CB-D5F7-9889-9CD8-B34A1C915BB8}"/>
                  </a:ext>
                </a:extLst>
              </p:cNvPr>
              <p:cNvSpPr txBox="1"/>
              <p:nvPr/>
            </p:nvSpPr>
            <p:spPr>
              <a:xfrm>
                <a:off x="2222182" y="4353401"/>
                <a:ext cx="419987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8项</a:t>
                </a:r>
              </a:p>
            </p:txBody>
          </p:sp>
          <p:sp>
            <p:nvSpPr>
              <p:cNvPr id="11265" name="TextBox 33">
                <a:extLst>
                  <a:ext uri="{FF2B5EF4-FFF2-40B4-BE49-F238E27FC236}">
                    <a16:creationId xmlns:a16="http://schemas.microsoft.com/office/drawing/2014/main" id="{8BF6714C-4C63-7D7E-4830-D535B222F443}"/>
                  </a:ext>
                </a:extLst>
              </p:cNvPr>
              <p:cNvSpPr txBox="1"/>
              <p:nvPr/>
            </p:nvSpPr>
            <p:spPr>
              <a:xfrm>
                <a:off x="979413" y="4834414"/>
                <a:ext cx="1189429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需求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按期交付率:</a:t>
                </a:r>
              </a:p>
            </p:txBody>
          </p:sp>
          <p:sp>
            <p:nvSpPr>
              <p:cNvPr id="11267" name="TextBox 34">
                <a:extLst>
                  <a:ext uri="{FF2B5EF4-FFF2-40B4-BE49-F238E27FC236}">
                    <a16:creationId xmlns:a16="http://schemas.microsoft.com/office/drawing/2014/main" id="{A75F0B19-4DFC-4AC6-BAE8-AE25A4B7CC48}"/>
                  </a:ext>
                </a:extLst>
              </p:cNvPr>
              <p:cNvSpPr txBox="1"/>
              <p:nvPr/>
            </p:nvSpPr>
            <p:spPr>
              <a:xfrm>
                <a:off x="2222182" y="4753451"/>
                <a:ext cx="722955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100%</a:t>
                </a:r>
              </a:p>
            </p:txBody>
          </p:sp>
          <p:sp>
            <p:nvSpPr>
              <p:cNvPr id="11268" name="Freeform 35">
                <a:extLst>
                  <a:ext uri="{FF2B5EF4-FFF2-40B4-BE49-F238E27FC236}">
                    <a16:creationId xmlns:a16="http://schemas.microsoft.com/office/drawing/2014/main" id="{D3F1BA97-DD68-CC78-9845-E814629F24FA}"/>
                  </a:ext>
                </a:extLst>
              </p:cNvPr>
              <p:cNvSpPr/>
              <p:nvPr/>
            </p:nvSpPr>
            <p:spPr>
              <a:xfrm>
                <a:off x="4114800" y="1766142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</p:sp>
          <p:sp>
            <p:nvSpPr>
              <p:cNvPr id="11269" name="Ellipse 36">
                <a:extLst>
                  <a:ext uri="{FF2B5EF4-FFF2-40B4-BE49-F238E27FC236}">
                    <a16:creationId xmlns:a16="http://schemas.microsoft.com/office/drawing/2014/main" id="{CDF7D4B5-56DB-C612-1CCA-C7FA0779B7B1}"/>
                  </a:ext>
                </a:extLst>
              </p:cNvPr>
              <p:cNvSpPr/>
              <p:nvPr/>
            </p:nvSpPr>
            <p:spPr>
              <a:xfrm>
                <a:off x="529590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</p:sp>
          <p:sp>
            <p:nvSpPr>
              <p:cNvPr id="11270" name="TextBox 43">
                <a:extLst>
                  <a:ext uri="{FF2B5EF4-FFF2-40B4-BE49-F238E27FC236}">
                    <a16:creationId xmlns:a16="http://schemas.microsoft.com/office/drawing/2014/main" id="{32100F61-9480-7FC0-8103-652BB99E8144}"/>
                  </a:ext>
                </a:extLst>
              </p:cNvPr>
              <p:cNvSpPr txBox="1"/>
              <p:nvPr/>
            </p:nvSpPr>
            <p:spPr>
              <a:xfrm>
                <a:off x="5069662" y="3308032"/>
                <a:ext cx="14811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效率与能力提升</a:t>
                </a:r>
              </a:p>
            </p:txBody>
          </p:sp>
          <p:sp>
            <p:nvSpPr>
              <p:cNvPr id="11271" name="Line 44">
                <a:extLst>
                  <a:ext uri="{FF2B5EF4-FFF2-40B4-BE49-F238E27FC236}">
                    <a16:creationId xmlns:a16="http://schemas.microsoft.com/office/drawing/2014/main" id="{34F768B9-EB2A-54FC-4E43-A7800AE7D7E9}"/>
                  </a:ext>
                </a:extLst>
              </p:cNvPr>
              <p:cNvSpPr/>
              <p:nvPr/>
            </p:nvSpPr>
            <p:spPr>
              <a:xfrm>
                <a:off x="451485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11272" name="TextBox 45">
                <a:extLst>
                  <a:ext uri="{FF2B5EF4-FFF2-40B4-BE49-F238E27FC236}">
                    <a16:creationId xmlns:a16="http://schemas.microsoft.com/office/drawing/2014/main" id="{557ACB40-E84E-91CB-49A0-3F726117B716}"/>
                  </a:ext>
                </a:extLst>
              </p:cNvPr>
              <p:cNvSpPr txBox="1"/>
              <p:nvPr/>
            </p:nvSpPr>
            <p:spPr>
              <a:xfrm>
                <a:off x="4658785" y="4034314"/>
                <a:ext cx="1072408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alt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CRM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杂志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查询:</a:t>
                </a:r>
              </a:p>
            </p:txBody>
          </p:sp>
          <p:sp>
            <p:nvSpPr>
              <p:cNvPr id="11273" name="TextBox 46">
                <a:extLst>
                  <a:ext uri="{FF2B5EF4-FFF2-40B4-BE49-F238E27FC236}">
                    <a16:creationId xmlns:a16="http://schemas.microsoft.com/office/drawing/2014/main" id="{62DB61CA-863F-1036-5FC0-26F49692C831}"/>
                  </a:ext>
                </a:extLst>
              </p:cNvPr>
              <p:cNvSpPr txBox="1"/>
              <p:nvPr/>
            </p:nvSpPr>
            <p:spPr>
              <a:xfrm>
                <a:off x="5784532" y="3953351"/>
                <a:ext cx="1510029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2s → 1s以下</a:t>
                </a:r>
              </a:p>
            </p:txBody>
          </p:sp>
          <p:sp>
            <p:nvSpPr>
              <p:cNvPr id="11274" name="TextBox 47">
                <a:extLst>
                  <a:ext uri="{FF2B5EF4-FFF2-40B4-BE49-F238E27FC236}">
                    <a16:creationId xmlns:a16="http://schemas.microsoft.com/office/drawing/2014/main" id="{4B0A3167-2E11-C2C6-0F92-759E86A99887}"/>
                  </a:ext>
                </a:extLst>
              </p:cNvPr>
              <p:cNvSpPr txBox="1"/>
              <p:nvPr/>
            </p:nvSpPr>
            <p:spPr>
              <a:xfrm>
                <a:off x="4541765" y="4434364"/>
                <a:ext cx="1189428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新抽奖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配置时间:</a:t>
                </a:r>
              </a:p>
            </p:txBody>
          </p:sp>
          <p:sp>
            <p:nvSpPr>
              <p:cNvPr id="11275" name="TextBox 48">
                <a:extLst>
                  <a:ext uri="{FF2B5EF4-FFF2-40B4-BE49-F238E27FC236}">
                    <a16:creationId xmlns:a16="http://schemas.microsoft.com/office/drawing/2014/main" id="{5C65D1D7-145A-BFA5-F996-AA42B6330406}"/>
                  </a:ext>
                </a:extLst>
              </p:cNvPr>
              <p:cNvSpPr txBox="1"/>
              <p:nvPr/>
            </p:nvSpPr>
            <p:spPr>
              <a:xfrm>
                <a:off x="5784532" y="4353401"/>
                <a:ext cx="1513235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1天 → 2小时</a:t>
                </a:r>
              </a:p>
            </p:txBody>
          </p:sp>
          <p:sp>
            <p:nvSpPr>
              <p:cNvPr id="11276" name="TextBox 49">
                <a:extLst>
                  <a:ext uri="{FF2B5EF4-FFF2-40B4-BE49-F238E27FC236}">
                    <a16:creationId xmlns:a16="http://schemas.microsoft.com/office/drawing/2014/main" id="{B16F6761-ADFD-F609-C828-A9851DCC4174}"/>
                  </a:ext>
                </a:extLst>
              </p:cNvPr>
              <p:cNvSpPr txBox="1"/>
              <p:nvPr/>
            </p:nvSpPr>
            <p:spPr>
              <a:xfrm>
                <a:off x="4733032" y="4823460"/>
                <a:ext cx="2154436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8C1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体验显著改善，</a:t>
                </a:r>
                <a:r>
                  <a:rPr lang="zh-CN" altLang="en-US" sz="1200" b="1" dirty="0">
                    <a:solidFill>
                      <a:srgbClr val="88C1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代码</a:t>
                </a:r>
                <a:r>
                  <a:rPr lang="zh-CN" sz="1200" b="1" dirty="0">
                    <a:solidFill>
                      <a:srgbClr val="88C1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复用性提升</a:t>
                </a:r>
              </a:p>
            </p:txBody>
          </p:sp>
          <p:sp>
            <p:nvSpPr>
              <p:cNvPr id="11277" name="Freeform 50">
                <a:extLst>
                  <a:ext uri="{FF2B5EF4-FFF2-40B4-BE49-F238E27FC236}">
                    <a16:creationId xmlns:a16="http://schemas.microsoft.com/office/drawing/2014/main" id="{61491CEE-6C8C-6636-45A0-28785065DE96}"/>
                  </a:ext>
                </a:extLst>
              </p:cNvPr>
              <p:cNvSpPr/>
              <p:nvPr/>
            </p:nvSpPr>
            <p:spPr>
              <a:xfrm>
                <a:off x="7677150" y="1790700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</p:sp>
          <p:sp>
            <p:nvSpPr>
              <p:cNvPr id="11278" name="Ellipse 51">
                <a:extLst>
                  <a:ext uri="{FF2B5EF4-FFF2-40B4-BE49-F238E27FC236}">
                    <a16:creationId xmlns:a16="http://schemas.microsoft.com/office/drawing/2014/main" id="{94435FC6-212F-6182-0B43-E9AFDC019091}"/>
                  </a:ext>
                </a:extLst>
              </p:cNvPr>
              <p:cNvSpPr/>
              <p:nvPr/>
            </p:nvSpPr>
            <p:spPr>
              <a:xfrm>
                <a:off x="885825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</p:sp>
          <p:sp>
            <p:nvSpPr>
              <p:cNvPr id="11279" name="TextBox 57">
                <a:extLst>
                  <a:ext uri="{FF2B5EF4-FFF2-40B4-BE49-F238E27FC236}">
                    <a16:creationId xmlns:a16="http://schemas.microsoft.com/office/drawing/2014/main" id="{4597A866-9CBC-A1C4-DF5C-85A6BFE2B3F7}"/>
                  </a:ext>
                </a:extLst>
              </p:cNvPr>
              <p:cNvSpPr txBox="1"/>
              <p:nvPr/>
            </p:nvSpPr>
            <p:spPr>
              <a:xfrm>
                <a:off x="8632012" y="3308032"/>
                <a:ext cx="14811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业务成果与价值</a:t>
                </a:r>
              </a:p>
            </p:txBody>
          </p:sp>
          <p:sp>
            <p:nvSpPr>
              <p:cNvPr id="11280" name="Line 58">
                <a:extLst>
                  <a:ext uri="{FF2B5EF4-FFF2-40B4-BE49-F238E27FC236}">
                    <a16:creationId xmlns:a16="http://schemas.microsoft.com/office/drawing/2014/main" id="{1294F580-6553-C625-E798-74B7F8B7110F}"/>
                  </a:ext>
                </a:extLst>
              </p:cNvPr>
              <p:cNvSpPr/>
              <p:nvPr/>
            </p:nvSpPr>
            <p:spPr>
              <a:xfrm>
                <a:off x="807720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11281" name="TextBox 59">
                <a:extLst>
                  <a:ext uri="{FF2B5EF4-FFF2-40B4-BE49-F238E27FC236}">
                    <a16:creationId xmlns:a16="http://schemas.microsoft.com/office/drawing/2014/main" id="{E70608F5-F04B-43C8-1E18-AE2783091BBB}"/>
                  </a:ext>
                </a:extLst>
              </p:cNvPr>
              <p:cNvSpPr txBox="1"/>
              <p:nvPr/>
            </p:nvSpPr>
            <p:spPr>
              <a:xfrm>
                <a:off x="7940608" y="403431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积分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过期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提醒覆盖:</a:t>
                </a:r>
              </a:p>
            </p:txBody>
          </p:sp>
          <p:sp>
            <p:nvSpPr>
              <p:cNvPr id="11282" name="TextBox 60">
                <a:extLst>
                  <a:ext uri="{FF2B5EF4-FFF2-40B4-BE49-F238E27FC236}">
                    <a16:creationId xmlns:a16="http://schemas.microsoft.com/office/drawing/2014/main" id="{6357B997-96EC-481F-6F97-EEA7A757A782}"/>
                  </a:ext>
                </a:extLst>
              </p:cNvPr>
              <p:cNvSpPr txBox="1"/>
              <p:nvPr/>
            </p:nvSpPr>
            <p:spPr>
              <a:xfrm>
                <a:off x="9346882" y="3953351"/>
                <a:ext cx="1518044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每月</a:t>
                </a:r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40w+</a:t>
                </a:r>
                <a:r>
                  <a:rPr lang="zh-CN" altLang="en-US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人</a:t>
                </a:r>
                <a:endParaRPr lang="zh-CN" sz="2025" b="1" dirty="0">
                  <a:solidFill>
                    <a:srgbClr val="6B8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endParaRPr>
              </a:p>
            </p:txBody>
          </p:sp>
          <p:sp>
            <p:nvSpPr>
              <p:cNvPr id="11283" name="TextBox 61">
                <a:extLst>
                  <a:ext uri="{FF2B5EF4-FFF2-40B4-BE49-F238E27FC236}">
                    <a16:creationId xmlns:a16="http://schemas.microsoft.com/office/drawing/2014/main" id="{CA77F809-6182-4C4B-D778-C135613A1DC3}"/>
                  </a:ext>
                </a:extLst>
              </p:cNvPr>
              <p:cNvSpPr txBox="1"/>
              <p:nvPr/>
            </p:nvSpPr>
            <p:spPr>
              <a:xfrm>
                <a:off x="7940608" y="443436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圣诞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活动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拉新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转化:</a:t>
                </a:r>
              </a:p>
            </p:txBody>
          </p:sp>
          <p:sp>
            <p:nvSpPr>
              <p:cNvPr id="11284" name="TextBox 62">
                <a:extLst>
                  <a:ext uri="{FF2B5EF4-FFF2-40B4-BE49-F238E27FC236}">
                    <a16:creationId xmlns:a16="http://schemas.microsoft.com/office/drawing/2014/main" id="{45F3B9CB-9EDC-0667-3E12-DB57B92491A8}"/>
                  </a:ext>
                </a:extLst>
              </p:cNvPr>
              <p:cNvSpPr txBox="1"/>
              <p:nvPr/>
            </p:nvSpPr>
            <p:spPr>
              <a:xfrm>
                <a:off x="9346882" y="4353401"/>
                <a:ext cx="900888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1992人</a:t>
                </a:r>
              </a:p>
            </p:txBody>
          </p:sp>
          <p:sp>
            <p:nvSpPr>
              <p:cNvPr id="11285" name="TextBox 63">
                <a:extLst>
                  <a:ext uri="{FF2B5EF4-FFF2-40B4-BE49-F238E27FC236}">
                    <a16:creationId xmlns:a16="http://schemas.microsoft.com/office/drawing/2014/main" id="{3C0735CC-11AE-C833-30BB-47F41B36DA3D}"/>
                  </a:ext>
                </a:extLst>
              </p:cNvPr>
              <p:cNvSpPr txBox="1"/>
              <p:nvPr/>
            </p:nvSpPr>
            <p:spPr>
              <a:xfrm>
                <a:off x="7940608" y="483441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圣诞</a:t>
                </a:r>
                <a:r>
                  <a:rPr lang="zh-CN" sz="1275" dirty="0">
                    <a:solidFill>
                      <a:srgbClr val="5D6D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活动参与人数:</a:t>
                </a:r>
              </a:p>
            </p:txBody>
          </p:sp>
          <p:sp>
            <p:nvSpPr>
              <p:cNvPr id="11286" name="TextBox 64">
                <a:extLst>
                  <a:ext uri="{FF2B5EF4-FFF2-40B4-BE49-F238E27FC236}">
                    <a16:creationId xmlns:a16="http://schemas.microsoft.com/office/drawing/2014/main" id="{91B72FFF-7FC8-6B67-EC3E-9DC6C3DAADC4}"/>
                  </a:ext>
                </a:extLst>
              </p:cNvPr>
              <p:cNvSpPr txBox="1"/>
              <p:nvPr/>
            </p:nvSpPr>
            <p:spPr>
              <a:xfrm>
                <a:off x="9346882" y="4753451"/>
                <a:ext cx="1061188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rPr>
                  <a:t>16045人</a:t>
                </a:r>
              </a:p>
            </p:txBody>
          </p:sp>
        </p:grpSp>
        <p:grpSp>
          <p:nvGrpSpPr>
            <p:cNvPr id="11326" name="组合 11325">
              <a:extLst>
                <a:ext uri="{FF2B5EF4-FFF2-40B4-BE49-F238E27FC236}">
                  <a16:creationId xmlns:a16="http://schemas.microsoft.com/office/drawing/2014/main" id="{BD7F663B-4346-5944-61F9-3C0ECA284D26}"/>
                </a:ext>
              </a:extLst>
            </p:cNvPr>
            <p:cNvGrpSpPr/>
            <p:nvPr/>
          </p:nvGrpSpPr>
          <p:grpSpPr>
            <a:xfrm>
              <a:off x="2301080" y="2267016"/>
              <a:ext cx="7649206" cy="607483"/>
              <a:chOff x="2301080" y="2267016"/>
              <a:chExt cx="7649206" cy="607483"/>
            </a:xfrm>
          </p:grpSpPr>
          <p:grpSp>
            <p:nvGrpSpPr>
              <p:cNvPr id="11294" name="组合 11293">
                <a:extLst>
                  <a:ext uri="{FF2B5EF4-FFF2-40B4-BE49-F238E27FC236}">
                    <a16:creationId xmlns:a16="http://schemas.microsoft.com/office/drawing/2014/main" id="{764F27B7-7C6C-560E-F846-FC3F1B4050D2}"/>
                  </a:ext>
                </a:extLst>
              </p:cNvPr>
              <p:cNvGrpSpPr/>
              <p:nvPr/>
            </p:nvGrpSpPr>
            <p:grpSpPr>
              <a:xfrm>
                <a:off x="5780453" y="2281848"/>
                <a:ext cx="622300" cy="531165"/>
                <a:chOff x="-124618" y="2336800"/>
                <a:chExt cx="622300" cy="531165"/>
              </a:xfrm>
            </p:grpSpPr>
            <p:sp>
              <p:nvSpPr>
                <p:cNvPr id="11295" name="任意多边形: 形状 11294">
                  <a:extLst>
                    <a:ext uri="{FF2B5EF4-FFF2-40B4-BE49-F238E27FC236}">
                      <a16:creationId xmlns:a16="http://schemas.microsoft.com/office/drawing/2014/main" id="{505D944D-C616-D341-3367-0144A9BE1870}"/>
                    </a:ext>
                  </a:extLst>
                </p:cNvPr>
                <p:cNvSpPr/>
                <p:nvPr/>
              </p:nvSpPr>
              <p:spPr>
                <a:xfrm>
                  <a:off x="107351" y="2570586"/>
                  <a:ext cx="172484" cy="176507"/>
                </a:xfrm>
                <a:custGeom>
                  <a:avLst/>
                  <a:gdLst>
                    <a:gd name="connsiteX0" fmla="*/ 172484 w 172484"/>
                    <a:gd name="connsiteY0" fmla="*/ 0 h 176507"/>
                    <a:gd name="connsiteX1" fmla="*/ 101901 w 172484"/>
                    <a:gd name="connsiteY1" fmla="*/ 158411 h 176507"/>
                    <a:gd name="connsiteX2" fmla="*/ 18098 w 172484"/>
                    <a:gd name="connsiteY2" fmla="*/ 159873 h 176507"/>
                    <a:gd name="connsiteX3" fmla="*/ 16634 w 172484"/>
                    <a:gd name="connsiteY3" fmla="*/ 76070 h 176507"/>
                    <a:gd name="connsiteX4" fmla="*/ 172484 w 172484"/>
                    <a:gd name="connsiteY4" fmla="*/ 0 h 176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484" h="176507">
                      <a:moveTo>
                        <a:pt x="172484" y="0"/>
                      </a:moveTo>
                      <a:cubicBezTo>
                        <a:pt x="172484" y="0"/>
                        <a:pt x="124637" y="134866"/>
                        <a:pt x="101901" y="158411"/>
                      </a:cubicBezTo>
                      <a:cubicBezTo>
                        <a:pt x="79163" y="181956"/>
                        <a:pt x="41643" y="182611"/>
                        <a:pt x="18098" y="159873"/>
                      </a:cubicBezTo>
                      <a:cubicBezTo>
                        <a:pt x="-5449" y="137136"/>
                        <a:pt x="-6104" y="99617"/>
                        <a:pt x="16634" y="76070"/>
                      </a:cubicBezTo>
                      <a:cubicBezTo>
                        <a:pt x="39371" y="52525"/>
                        <a:pt x="172484" y="0"/>
                        <a:pt x="172484" y="0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96" name="任意多边形: 形状 11295">
                  <a:extLst>
                    <a:ext uri="{FF2B5EF4-FFF2-40B4-BE49-F238E27FC236}">
                      <a16:creationId xmlns:a16="http://schemas.microsoft.com/office/drawing/2014/main" id="{D1234F69-4E54-91EB-C845-673E7F430F08}"/>
                    </a:ext>
                  </a:extLst>
                </p:cNvPr>
                <p:cNvSpPr/>
                <p:nvPr/>
              </p:nvSpPr>
              <p:spPr>
                <a:xfrm>
                  <a:off x="-124618" y="2336800"/>
                  <a:ext cx="622300" cy="531165"/>
                </a:xfrm>
                <a:custGeom>
                  <a:avLst/>
                  <a:gdLst>
                    <a:gd name="connsiteX0" fmla="*/ 531166 w 622300"/>
                    <a:gd name="connsiteY0" fmla="*/ 531166 h 531165"/>
                    <a:gd name="connsiteX1" fmla="*/ 622300 w 622300"/>
                    <a:gd name="connsiteY1" fmla="*/ 311150 h 531165"/>
                    <a:gd name="connsiteX2" fmla="*/ 311150 w 622300"/>
                    <a:gd name="connsiteY2" fmla="*/ 0 h 531165"/>
                    <a:gd name="connsiteX3" fmla="*/ 0 w 622300"/>
                    <a:gd name="connsiteY3" fmla="*/ 311150 h 531165"/>
                    <a:gd name="connsiteX4" fmla="*/ 91134 w 622300"/>
                    <a:gd name="connsiteY4" fmla="*/ 531166 h 531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300" h="531165">
                      <a:moveTo>
                        <a:pt x="531166" y="531166"/>
                      </a:moveTo>
                      <a:cubicBezTo>
                        <a:pt x="587473" y="474859"/>
                        <a:pt x="622300" y="397072"/>
                        <a:pt x="622300" y="311150"/>
                      </a:cubicBezTo>
                      <a:cubicBezTo>
                        <a:pt x="622300" y="139306"/>
                        <a:pt x="482994" y="0"/>
                        <a:pt x="311150" y="0"/>
                      </a:cubicBezTo>
                      <a:cubicBezTo>
                        <a:pt x="139306" y="0"/>
                        <a:pt x="0" y="139306"/>
                        <a:pt x="0" y="311150"/>
                      </a:cubicBezTo>
                      <a:cubicBezTo>
                        <a:pt x="0" y="397072"/>
                        <a:pt x="34827" y="474859"/>
                        <a:pt x="91134" y="531166"/>
                      </a:cubicBez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97" name="任意多边形: 形状 11296">
                  <a:extLst>
                    <a:ext uri="{FF2B5EF4-FFF2-40B4-BE49-F238E27FC236}">
                      <a16:creationId xmlns:a16="http://schemas.microsoft.com/office/drawing/2014/main" id="{B2CE47D5-CC85-0103-3B31-5D2A157F91C0}"/>
                    </a:ext>
                  </a:extLst>
                </p:cNvPr>
                <p:cNvSpPr/>
                <p:nvPr/>
              </p:nvSpPr>
              <p:spPr>
                <a:xfrm>
                  <a:off x="186532" y="2351616"/>
                  <a:ext cx="14816" cy="59266"/>
                </a:xfrm>
                <a:custGeom>
                  <a:avLst/>
                  <a:gdLst>
                    <a:gd name="connsiteX0" fmla="*/ 0 w 14816"/>
                    <a:gd name="connsiteY0" fmla="*/ 0 h 59266"/>
                    <a:gd name="connsiteX1" fmla="*/ 0 w 14816"/>
                    <a:gd name="connsiteY1" fmla="*/ 59267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16" h="59266">
                      <a:moveTo>
                        <a:pt x="0" y="0"/>
                      </a:moveTo>
                      <a:lnTo>
                        <a:pt x="0" y="5926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98" name="任意多边形: 形状 11297">
                  <a:extLst>
                    <a:ext uri="{FF2B5EF4-FFF2-40B4-BE49-F238E27FC236}">
                      <a16:creationId xmlns:a16="http://schemas.microsoft.com/office/drawing/2014/main" id="{9594AB3D-E020-7C79-0981-411E67FE0E4C}"/>
                    </a:ext>
                  </a:extLst>
                </p:cNvPr>
                <p:cNvSpPr/>
                <p:nvPr/>
              </p:nvSpPr>
              <p:spPr>
                <a:xfrm>
                  <a:off x="360432" y="2457438"/>
                  <a:ext cx="46059" cy="37296"/>
                </a:xfrm>
                <a:custGeom>
                  <a:avLst/>
                  <a:gdLst>
                    <a:gd name="connsiteX0" fmla="*/ 46059 w 46059"/>
                    <a:gd name="connsiteY0" fmla="*/ 0 h 37296"/>
                    <a:gd name="connsiteX1" fmla="*/ 0 w 46059"/>
                    <a:gd name="connsiteY1" fmla="*/ 37297 h 37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59" h="37296">
                      <a:moveTo>
                        <a:pt x="46059" y="0"/>
                      </a:moveTo>
                      <a:lnTo>
                        <a:pt x="0" y="3729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99" name="任意多边形: 形状 11298">
                  <a:extLst>
                    <a:ext uri="{FF2B5EF4-FFF2-40B4-BE49-F238E27FC236}">
                      <a16:creationId xmlns:a16="http://schemas.microsoft.com/office/drawing/2014/main" id="{335870B8-1072-F829-3029-421E3AE69442}"/>
                    </a:ext>
                  </a:extLst>
                </p:cNvPr>
                <p:cNvSpPr/>
                <p:nvPr/>
              </p:nvSpPr>
              <p:spPr>
                <a:xfrm>
                  <a:off x="403222" y="2682517"/>
                  <a:ext cx="57747" cy="13332"/>
                </a:xfrm>
                <a:custGeom>
                  <a:avLst/>
                  <a:gdLst>
                    <a:gd name="connsiteX0" fmla="*/ 57748 w 57747"/>
                    <a:gd name="connsiteY0" fmla="*/ 13332 h 13332"/>
                    <a:gd name="connsiteX1" fmla="*/ 0 w 57747"/>
                    <a:gd name="connsiteY1" fmla="*/ 0 h 13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47" h="13332">
                      <a:moveTo>
                        <a:pt x="57748" y="1333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0" name="任意多边形: 形状 11299">
                  <a:extLst>
                    <a:ext uri="{FF2B5EF4-FFF2-40B4-BE49-F238E27FC236}">
                      <a16:creationId xmlns:a16="http://schemas.microsoft.com/office/drawing/2014/main" id="{1490DA09-0C28-C996-9B57-20B90001A98A}"/>
                    </a:ext>
                  </a:extLst>
                </p:cNvPr>
                <p:cNvSpPr/>
                <p:nvPr/>
              </p:nvSpPr>
              <p:spPr>
                <a:xfrm>
                  <a:off x="-87911" y="2682517"/>
                  <a:ext cx="57747" cy="13332"/>
                </a:xfrm>
                <a:custGeom>
                  <a:avLst/>
                  <a:gdLst>
                    <a:gd name="connsiteX0" fmla="*/ 0 w 57747"/>
                    <a:gd name="connsiteY0" fmla="*/ 13332 h 13332"/>
                    <a:gd name="connsiteX1" fmla="*/ 57748 w 57747"/>
                    <a:gd name="connsiteY1" fmla="*/ 0 h 13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47" h="13332">
                      <a:moveTo>
                        <a:pt x="0" y="13332"/>
                      </a:moveTo>
                      <a:lnTo>
                        <a:pt x="57748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1" name="任意多边形: 形状 11300">
                  <a:extLst>
                    <a:ext uri="{FF2B5EF4-FFF2-40B4-BE49-F238E27FC236}">
                      <a16:creationId xmlns:a16="http://schemas.microsoft.com/office/drawing/2014/main" id="{BBB1A818-A0F0-6913-5E95-03A966237C29}"/>
                    </a:ext>
                  </a:extLst>
                </p:cNvPr>
                <p:cNvSpPr/>
                <p:nvPr/>
              </p:nvSpPr>
              <p:spPr>
                <a:xfrm>
                  <a:off x="-33426" y="2457437"/>
                  <a:ext cx="46058" cy="37297"/>
                </a:xfrm>
                <a:custGeom>
                  <a:avLst/>
                  <a:gdLst>
                    <a:gd name="connsiteX0" fmla="*/ 0 w 46058"/>
                    <a:gd name="connsiteY0" fmla="*/ 0 h 37297"/>
                    <a:gd name="connsiteX1" fmla="*/ 46059 w 46058"/>
                    <a:gd name="connsiteY1" fmla="*/ 37298 h 37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58" h="37297">
                      <a:moveTo>
                        <a:pt x="0" y="0"/>
                      </a:moveTo>
                      <a:lnTo>
                        <a:pt x="46059" y="37298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02" name="组合 11301">
                <a:extLst>
                  <a:ext uri="{FF2B5EF4-FFF2-40B4-BE49-F238E27FC236}">
                    <a16:creationId xmlns:a16="http://schemas.microsoft.com/office/drawing/2014/main" id="{2B6262A3-9BF6-7061-2800-183EE965DA78}"/>
                  </a:ext>
                </a:extLst>
              </p:cNvPr>
              <p:cNvGrpSpPr/>
              <p:nvPr/>
            </p:nvGrpSpPr>
            <p:grpSpPr>
              <a:xfrm>
                <a:off x="9357619" y="2267016"/>
                <a:ext cx="592667" cy="607483"/>
                <a:chOff x="11608329" y="2718092"/>
                <a:chExt cx="592667" cy="607483"/>
              </a:xfrm>
            </p:grpSpPr>
            <p:sp>
              <p:nvSpPr>
                <p:cNvPr id="11303" name="任意多边形: 形状 11302">
                  <a:extLst>
                    <a:ext uri="{FF2B5EF4-FFF2-40B4-BE49-F238E27FC236}">
                      <a16:creationId xmlns:a16="http://schemas.microsoft.com/office/drawing/2014/main" id="{CD88E422-BD2F-08AB-7629-C60E8F45C908}"/>
                    </a:ext>
                  </a:extLst>
                </p:cNvPr>
                <p:cNvSpPr/>
                <p:nvPr/>
              </p:nvSpPr>
              <p:spPr>
                <a:xfrm>
                  <a:off x="11608329" y="3310759"/>
                  <a:ext cx="592666" cy="14816"/>
                </a:xfrm>
                <a:custGeom>
                  <a:avLst/>
                  <a:gdLst>
                    <a:gd name="connsiteX0" fmla="*/ 0 w 592666"/>
                    <a:gd name="connsiteY0" fmla="*/ 0 h 14816"/>
                    <a:gd name="connsiteX1" fmla="*/ 592667 w 592666"/>
                    <a:gd name="connsiteY1" fmla="*/ 0 h 14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66" h="14816">
                      <a:moveTo>
                        <a:pt x="0" y="0"/>
                      </a:moveTo>
                      <a:lnTo>
                        <a:pt x="592667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4" name="任意多边形: 形状 11303">
                  <a:extLst>
                    <a:ext uri="{FF2B5EF4-FFF2-40B4-BE49-F238E27FC236}">
                      <a16:creationId xmlns:a16="http://schemas.microsoft.com/office/drawing/2014/main" id="{B1FD7B88-7375-FBA1-2336-B40200CC759B}"/>
                    </a:ext>
                  </a:extLst>
                </p:cNvPr>
                <p:cNvSpPr/>
                <p:nvPr/>
              </p:nvSpPr>
              <p:spPr>
                <a:xfrm>
                  <a:off x="11608329" y="3044059"/>
                  <a:ext cx="118533" cy="177800"/>
                </a:xfrm>
                <a:custGeom>
                  <a:avLst/>
                  <a:gdLst>
                    <a:gd name="connsiteX0" fmla="*/ 0 w 118533"/>
                    <a:gd name="connsiteY0" fmla="*/ 0 h 177800"/>
                    <a:gd name="connsiteX1" fmla="*/ 118533 w 118533"/>
                    <a:gd name="connsiteY1" fmla="*/ 29633 h 177800"/>
                    <a:gd name="connsiteX2" fmla="*/ 118533 w 118533"/>
                    <a:gd name="connsiteY2" fmla="*/ 177800 h 177800"/>
                    <a:gd name="connsiteX3" fmla="*/ 0 w 118533"/>
                    <a:gd name="connsiteY3" fmla="*/ 177800 h 177800"/>
                    <a:gd name="connsiteX4" fmla="*/ 0 w 118533"/>
                    <a:gd name="connsiteY4" fmla="*/ 0 h 177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177800">
                      <a:moveTo>
                        <a:pt x="0" y="0"/>
                      </a:moveTo>
                      <a:lnTo>
                        <a:pt x="118533" y="29633"/>
                      </a:lnTo>
                      <a:lnTo>
                        <a:pt x="118533" y="177800"/>
                      </a:lnTo>
                      <a:lnTo>
                        <a:pt x="0" y="1778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5" name="任意多边形: 形状 11304">
                  <a:extLst>
                    <a:ext uri="{FF2B5EF4-FFF2-40B4-BE49-F238E27FC236}">
                      <a16:creationId xmlns:a16="http://schemas.microsoft.com/office/drawing/2014/main" id="{BD7F7120-3B61-2B66-2715-AC41C4A270AA}"/>
                    </a:ext>
                  </a:extLst>
                </p:cNvPr>
                <p:cNvSpPr/>
                <p:nvPr/>
              </p:nvSpPr>
              <p:spPr>
                <a:xfrm>
                  <a:off x="11845396" y="2955159"/>
                  <a:ext cx="118533" cy="266700"/>
                </a:xfrm>
                <a:custGeom>
                  <a:avLst/>
                  <a:gdLst>
                    <a:gd name="connsiteX0" fmla="*/ 0 w 118533"/>
                    <a:gd name="connsiteY0" fmla="*/ 59267 h 266700"/>
                    <a:gd name="connsiteX1" fmla="*/ 118533 w 118533"/>
                    <a:gd name="connsiteY1" fmla="*/ 0 h 266700"/>
                    <a:gd name="connsiteX2" fmla="*/ 118533 w 118533"/>
                    <a:gd name="connsiteY2" fmla="*/ 266700 h 266700"/>
                    <a:gd name="connsiteX3" fmla="*/ 0 w 118533"/>
                    <a:gd name="connsiteY3" fmla="*/ 266700 h 266700"/>
                    <a:gd name="connsiteX4" fmla="*/ 0 w 118533"/>
                    <a:gd name="connsiteY4" fmla="*/ 59267 h 266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266700">
                      <a:moveTo>
                        <a:pt x="0" y="59267"/>
                      </a:moveTo>
                      <a:lnTo>
                        <a:pt x="118533" y="0"/>
                      </a:lnTo>
                      <a:lnTo>
                        <a:pt x="118533" y="266700"/>
                      </a:lnTo>
                      <a:lnTo>
                        <a:pt x="0" y="266700"/>
                      </a:lnTo>
                      <a:lnTo>
                        <a:pt x="0" y="59267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6" name="任意多边形: 形状 11305">
                  <a:extLst>
                    <a:ext uri="{FF2B5EF4-FFF2-40B4-BE49-F238E27FC236}">
                      <a16:creationId xmlns:a16="http://schemas.microsoft.com/office/drawing/2014/main" id="{6AF4D5FC-C830-C9C0-446D-FC95E13862C7}"/>
                    </a:ext>
                  </a:extLst>
                </p:cNvPr>
                <p:cNvSpPr/>
                <p:nvPr/>
              </p:nvSpPr>
              <p:spPr>
                <a:xfrm>
                  <a:off x="12082463" y="2836626"/>
                  <a:ext cx="118533" cy="385233"/>
                </a:xfrm>
                <a:custGeom>
                  <a:avLst/>
                  <a:gdLst>
                    <a:gd name="connsiteX0" fmla="*/ 0 w 118533"/>
                    <a:gd name="connsiteY0" fmla="*/ 59267 h 385233"/>
                    <a:gd name="connsiteX1" fmla="*/ 118533 w 118533"/>
                    <a:gd name="connsiteY1" fmla="*/ 0 h 385233"/>
                    <a:gd name="connsiteX2" fmla="*/ 118533 w 118533"/>
                    <a:gd name="connsiteY2" fmla="*/ 385233 h 385233"/>
                    <a:gd name="connsiteX3" fmla="*/ 0 w 118533"/>
                    <a:gd name="connsiteY3" fmla="*/ 385233 h 385233"/>
                    <a:gd name="connsiteX4" fmla="*/ 0 w 118533"/>
                    <a:gd name="connsiteY4" fmla="*/ 59267 h 385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385233">
                      <a:moveTo>
                        <a:pt x="0" y="59267"/>
                      </a:moveTo>
                      <a:lnTo>
                        <a:pt x="118533" y="0"/>
                      </a:lnTo>
                      <a:lnTo>
                        <a:pt x="118533" y="385233"/>
                      </a:lnTo>
                      <a:lnTo>
                        <a:pt x="0" y="385233"/>
                      </a:lnTo>
                      <a:lnTo>
                        <a:pt x="0" y="59267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07" name="任意多边形: 形状 11306">
                  <a:extLst>
                    <a:ext uri="{FF2B5EF4-FFF2-40B4-BE49-F238E27FC236}">
                      <a16:creationId xmlns:a16="http://schemas.microsoft.com/office/drawing/2014/main" id="{0896DD39-13CF-CE07-0D79-E36BFF7740BB}"/>
                    </a:ext>
                  </a:extLst>
                </p:cNvPr>
                <p:cNvSpPr/>
                <p:nvPr/>
              </p:nvSpPr>
              <p:spPr>
                <a:xfrm>
                  <a:off x="11608329" y="2718092"/>
                  <a:ext cx="592666" cy="237066"/>
                </a:xfrm>
                <a:custGeom>
                  <a:avLst/>
                  <a:gdLst>
                    <a:gd name="connsiteX0" fmla="*/ 0 w 592666"/>
                    <a:gd name="connsiteY0" fmla="*/ 207433 h 237066"/>
                    <a:gd name="connsiteX1" fmla="*/ 118533 w 592666"/>
                    <a:gd name="connsiteY1" fmla="*/ 237067 h 237066"/>
                    <a:gd name="connsiteX2" fmla="*/ 592667 w 592666"/>
                    <a:gd name="connsiteY2" fmla="*/ 0 h 237066"/>
                    <a:gd name="connsiteX3" fmla="*/ 444500 w 592666"/>
                    <a:gd name="connsiteY3" fmla="*/ 0 h 237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2666" h="237066">
                      <a:moveTo>
                        <a:pt x="0" y="207433"/>
                      </a:moveTo>
                      <a:lnTo>
                        <a:pt x="118533" y="237067"/>
                      </a:lnTo>
                      <a:lnTo>
                        <a:pt x="592667" y="0"/>
                      </a:lnTo>
                      <a:lnTo>
                        <a:pt x="44450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25" name="组合 11324">
                <a:extLst>
                  <a:ext uri="{FF2B5EF4-FFF2-40B4-BE49-F238E27FC236}">
                    <a16:creationId xmlns:a16="http://schemas.microsoft.com/office/drawing/2014/main" id="{C7F17E22-4F94-BAE7-6A0F-900514923589}"/>
                  </a:ext>
                </a:extLst>
              </p:cNvPr>
              <p:cNvGrpSpPr/>
              <p:nvPr/>
            </p:nvGrpSpPr>
            <p:grpSpPr>
              <a:xfrm>
                <a:off x="2301080" y="2274425"/>
                <a:ext cx="474133" cy="592666"/>
                <a:chOff x="2301080" y="2274425"/>
                <a:chExt cx="474133" cy="592666"/>
              </a:xfrm>
            </p:grpSpPr>
            <p:sp>
              <p:nvSpPr>
                <p:cNvPr id="11309" name="任意多边形: 形状 11308">
                  <a:extLst>
                    <a:ext uri="{FF2B5EF4-FFF2-40B4-BE49-F238E27FC236}">
                      <a16:creationId xmlns:a16="http://schemas.microsoft.com/office/drawing/2014/main" id="{946CE9F1-9DCD-0D0F-9177-36482828ED60}"/>
                    </a:ext>
                  </a:extLst>
                </p:cNvPr>
                <p:cNvSpPr/>
                <p:nvPr/>
              </p:nvSpPr>
              <p:spPr>
                <a:xfrm>
                  <a:off x="2301080" y="2341099"/>
                  <a:ext cx="474133" cy="474133"/>
                </a:xfrm>
                <a:custGeom>
                  <a:avLst/>
                  <a:gdLst>
                    <a:gd name="connsiteX0" fmla="*/ 237067 w 474133"/>
                    <a:gd name="connsiteY0" fmla="*/ 474134 h 474133"/>
                    <a:gd name="connsiteX1" fmla="*/ 474134 w 474133"/>
                    <a:gd name="connsiteY1" fmla="*/ 237067 h 474133"/>
                    <a:gd name="connsiteX2" fmla="*/ 237067 w 474133"/>
                    <a:gd name="connsiteY2" fmla="*/ 0 h 474133"/>
                    <a:gd name="connsiteX3" fmla="*/ 0 w 474133"/>
                    <a:gd name="connsiteY3" fmla="*/ 237067 h 474133"/>
                    <a:gd name="connsiteX4" fmla="*/ 237067 w 474133"/>
                    <a:gd name="connsiteY4" fmla="*/ 474134 h 47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4133" h="474133">
                      <a:moveTo>
                        <a:pt x="237067" y="474134"/>
                      </a:moveTo>
                      <a:cubicBezTo>
                        <a:pt x="368046" y="474134"/>
                        <a:pt x="474134" y="368046"/>
                        <a:pt x="474134" y="237067"/>
                      </a:cubicBezTo>
                      <a:cubicBezTo>
                        <a:pt x="474134" y="106088"/>
                        <a:pt x="368046" y="0"/>
                        <a:pt x="237067" y="0"/>
                      </a:cubicBezTo>
                      <a:cubicBezTo>
                        <a:pt x="106088" y="0"/>
                        <a:pt x="0" y="106088"/>
                        <a:pt x="0" y="237067"/>
                      </a:cubicBezTo>
                      <a:cubicBezTo>
                        <a:pt x="0" y="368046"/>
                        <a:pt x="106088" y="474134"/>
                        <a:pt x="237067" y="474134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>
                    <a:solidFill>
                      <a:srgbClr val="92D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10" name="任意多边形: 形状 11309">
                  <a:extLst>
                    <a:ext uri="{FF2B5EF4-FFF2-40B4-BE49-F238E27FC236}">
                      <a16:creationId xmlns:a16="http://schemas.microsoft.com/office/drawing/2014/main" id="{162D2A59-18AC-C523-5BE6-53DCF0CD477C}"/>
                    </a:ext>
                  </a:extLst>
                </p:cNvPr>
                <p:cNvSpPr/>
                <p:nvPr/>
              </p:nvSpPr>
              <p:spPr>
                <a:xfrm>
                  <a:off x="2419614" y="2452225"/>
                  <a:ext cx="237066" cy="237066"/>
                </a:xfrm>
                <a:custGeom>
                  <a:avLst/>
                  <a:gdLst>
                    <a:gd name="connsiteX0" fmla="*/ 118533 w 237066"/>
                    <a:gd name="connsiteY0" fmla="*/ 237067 h 237066"/>
                    <a:gd name="connsiteX1" fmla="*/ 237067 w 237066"/>
                    <a:gd name="connsiteY1" fmla="*/ 118533 h 237066"/>
                    <a:gd name="connsiteX2" fmla="*/ 118533 w 237066"/>
                    <a:gd name="connsiteY2" fmla="*/ 0 h 237066"/>
                    <a:gd name="connsiteX3" fmla="*/ 0 w 237066"/>
                    <a:gd name="connsiteY3" fmla="*/ 118533 h 237066"/>
                    <a:gd name="connsiteX4" fmla="*/ 118533 w 237066"/>
                    <a:gd name="connsiteY4" fmla="*/ 237067 h 237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066" h="237066">
                      <a:moveTo>
                        <a:pt x="118533" y="237067"/>
                      </a:moveTo>
                      <a:cubicBezTo>
                        <a:pt x="184023" y="237067"/>
                        <a:pt x="237067" y="184023"/>
                        <a:pt x="237067" y="118533"/>
                      </a:cubicBezTo>
                      <a:cubicBezTo>
                        <a:pt x="237067" y="53044"/>
                        <a:pt x="184023" y="0"/>
                        <a:pt x="118533" y="0"/>
                      </a:cubicBezTo>
                      <a:cubicBezTo>
                        <a:pt x="53044" y="0"/>
                        <a:pt x="0" y="53044"/>
                        <a:pt x="0" y="118533"/>
                      </a:cubicBezTo>
                      <a:cubicBezTo>
                        <a:pt x="0" y="184023"/>
                        <a:pt x="53044" y="237067"/>
                        <a:pt x="118533" y="2370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9369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11" name="任意多边形: 形状 11310">
                  <a:extLst>
                    <a:ext uri="{FF2B5EF4-FFF2-40B4-BE49-F238E27FC236}">
                      <a16:creationId xmlns:a16="http://schemas.microsoft.com/office/drawing/2014/main" id="{75CB0BD8-6A40-A732-9AE5-557B1DA6C57C}"/>
                    </a:ext>
                  </a:extLst>
                </p:cNvPr>
                <p:cNvSpPr/>
                <p:nvPr/>
              </p:nvSpPr>
              <p:spPr>
                <a:xfrm>
                  <a:off x="2508514" y="2541125"/>
                  <a:ext cx="59266" cy="59266"/>
                </a:xfrm>
                <a:custGeom>
                  <a:avLst/>
                  <a:gdLst>
                    <a:gd name="connsiteX0" fmla="*/ 29633 w 59266"/>
                    <a:gd name="connsiteY0" fmla="*/ 59267 h 59266"/>
                    <a:gd name="connsiteX1" fmla="*/ 59267 w 59266"/>
                    <a:gd name="connsiteY1" fmla="*/ 29633 h 59266"/>
                    <a:gd name="connsiteX2" fmla="*/ 29633 w 59266"/>
                    <a:gd name="connsiteY2" fmla="*/ 0 h 59266"/>
                    <a:gd name="connsiteX3" fmla="*/ 0 w 59266"/>
                    <a:gd name="connsiteY3" fmla="*/ 29633 h 59266"/>
                    <a:gd name="connsiteX4" fmla="*/ 29633 w 59266"/>
                    <a:gd name="connsiteY4" fmla="*/ 59267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266" h="59266">
                      <a:moveTo>
                        <a:pt x="29633" y="59267"/>
                      </a:moveTo>
                      <a:cubicBezTo>
                        <a:pt x="45932" y="59267"/>
                        <a:pt x="59267" y="45932"/>
                        <a:pt x="59267" y="29633"/>
                      </a:cubicBezTo>
                      <a:cubicBezTo>
                        <a:pt x="59267" y="13335"/>
                        <a:pt x="45932" y="0"/>
                        <a:pt x="29633" y="0"/>
                      </a:cubicBezTo>
                      <a:cubicBezTo>
                        <a:pt x="13335" y="0"/>
                        <a:pt x="0" y="13335"/>
                        <a:pt x="0" y="29633"/>
                      </a:cubicBezTo>
                      <a:cubicBezTo>
                        <a:pt x="0" y="45932"/>
                        <a:pt x="13335" y="59267"/>
                        <a:pt x="29633" y="59267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146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12" name="任意多边形: 形状 11311">
                  <a:extLst>
                    <a:ext uri="{FF2B5EF4-FFF2-40B4-BE49-F238E27FC236}">
                      <a16:creationId xmlns:a16="http://schemas.microsoft.com/office/drawing/2014/main" id="{8EEE821C-FD3E-B04A-D445-276D3BD0F0E6}"/>
                    </a:ext>
                  </a:extLst>
                </p:cNvPr>
                <p:cNvSpPr/>
                <p:nvPr/>
              </p:nvSpPr>
              <p:spPr>
                <a:xfrm>
                  <a:off x="2538147" y="2274425"/>
                  <a:ext cx="14816" cy="59266"/>
                </a:xfrm>
                <a:custGeom>
                  <a:avLst/>
                  <a:gdLst>
                    <a:gd name="connsiteX0" fmla="*/ 0 w 14816"/>
                    <a:gd name="connsiteY0" fmla="*/ 59267 h 59266"/>
                    <a:gd name="connsiteX1" fmla="*/ 0 w 14816"/>
                    <a:gd name="connsiteY1" fmla="*/ 0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16" h="59266">
                      <a:moveTo>
                        <a:pt x="0" y="5926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13" name="任意多边形: 形状 11312">
                  <a:extLst>
                    <a:ext uri="{FF2B5EF4-FFF2-40B4-BE49-F238E27FC236}">
                      <a16:creationId xmlns:a16="http://schemas.microsoft.com/office/drawing/2014/main" id="{76B6A939-EF73-67D0-993A-0BCF03F291F9}"/>
                    </a:ext>
                  </a:extLst>
                </p:cNvPr>
                <p:cNvSpPr/>
                <p:nvPr/>
              </p:nvSpPr>
              <p:spPr>
                <a:xfrm>
                  <a:off x="2686314" y="2763375"/>
                  <a:ext cx="59266" cy="103716"/>
                </a:xfrm>
                <a:custGeom>
                  <a:avLst/>
                  <a:gdLst>
                    <a:gd name="connsiteX0" fmla="*/ 59267 w 59266"/>
                    <a:gd name="connsiteY0" fmla="*/ 103717 h 103716"/>
                    <a:gd name="connsiteX1" fmla="*/ 0 w 59266"/>
                    <a:gd name="connsiteY1" fmla="*/ 0 h 103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6" h="103716">
                      <a:moveTo>
                        <a:pt x="59267" y="10371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14" name="任意多边形: 形状 11313">
                  <a:extLst>
                    <a:ext uri="{FF2B5EF4-FFF2-40B4-BE49-F238E27FC236}">
                      <a16:creationId xmlns:a16="http://schemas.microsoft.com/office/drawing/2014/main" id="{223E494A-C7EE-B1F5-4DB1-01C352D7BC77}"/>
                    </a:ext>
                  </a:extLst>
                </p:cNvPr>
                <p:cNvSpPr/>
                <p:nvPr/>
              </p:nvSpPr>
              <p:spPr>
                <a:xfrm>
                  <a:off x="2330714" y="2763375"/>
                  <a:ext cx="59267" cy="103716"/>
                </a:xfrm>
                <a:custGeom>
                  <a:avLst/>
                  <a:gdLst>
                    <a:gd name="connsiteX0" fmla="*/ 59267 w 59267"/>
                    <a:gd name="connsiteY0" fmla="*/ 0 h 103716"/>
                    <a:gd name="connsiteX1" fmla="*/ 0 w 59267"/>
                    <a:gd name="connsiteY1" fmla="*/ 103717 h 103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7" h="103716">
                      <a:moveTo>
                        <a:pt x="59267" y="0"/>
                      </a:moveTo>
                      <a:lnTo>
                        <a:pt x="0" y="10371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1324" name="Freeform 60">
            <a:extLst>
              <a:ext uri="{FF2B5EF4-FFF2-40B4-BE49-F238E27FC236}">
                <a16:creationId xmlns:a16="http://schemas.microsoft.com/office/drawing/2014/main" id="{7E2862C7-FB06-798F-B059-12C58A03E578}"/>
              </a:ext>
            </a:extLst>
          </p:cNvPr>
          <p:cNvSpPr/>
          <p:nvPr/>
        </p:nvSpPr>
        <p:spPr>
          <a:xfrm>
            <a:off x="295026" y="5255644"/>
            <a:ext cx="11087100" cy="805387"/>
          </a:xfrm>
          <a:custGeom>
            <a:avLst/>
            <a:gdLst/>
            <a:ahLst/>
            <a:cxnLst/>
            <a:rect l="l" t="t" r="r" b="b"/>
            <a:pathLst>
              <a:path w="11087100" h="70485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571500"/>
                </a:lnTo>
                <a:cubicBezTo>
                  <a:pt x="11087100" y="645147"/>
                  <a:pt x="11027397" y="704850"/>
                  <a:pt x="10953750" y="704850"/>
                </a:cubicBezTo>
                <a:lnTo>
                  <a:pt x="133350" y="704850"/>
                </a:lnTo>
                <a:cubicBezTo>
                  <a:pt x="59703" y="704850"/>
                  <a:pt x="0" y="645147"/>
                  <a:pt x="0" y="571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>
            <a:noFill/>
          </a:ln>
        </p:spPr>
      </p:sp>
      <p:sp>
        <p:nvSpPr>
          <p:cNvPr id="4096" name="TextBox 61">
            <a:extLst>
              <a:ext uri="{FF2B5EF4-FFF2-40B4-BE49-F238E27FC236}">
                <a16:creationId xmlns:a16="http://schemas.microsoft.com/office/drawing/2014/main" id="{0B4566B3-6C27-B002-FFE8-1496257123FF}"/>
              </a:ext>
            </a:extLst>
          </p:cNvPr>
          <p:cNvSpPr txBox="1"/>
          <p:nvPr/>
        </p:nvSpPr>
        <p:spPr>
          <a:xfrm>
            <a:off x="525292" y="5495341"/>
            <a:ext cx="761747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结果同时覆盖交付、效率、业务效果和复用价值，整体履职结果达到预期。</a:t>
            </a:r>
          </a:p>
        </p:txBody>
      </p:sp>
      <p:pic>
        <p:nvPicPr>
          <p:cNvPr id="4099" name="图片 4098" hidden="1">
            <a:extLst>
              <a:ext uri="{FF2B5EF4-FFF2-40B4-BE49-F238E27FC236}">
                <a16:creationId xmlns:a16="http://schemas.microsoft.com/office/drawing/2014/main" id="{6F32FCB4-BBE4-5449-75AF-9FBE8E64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948" y="2968773"/>
            <a:ext cx="5600741" cy="323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0700" y="342900"/>
            <a:ext cx="990600" cy="17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" name="Connector 3"/>
          <p:cNvCxnSpPr/>
          <p:nvPr/>
        </p:nvCxnSpPr>
        <p:spPr>
          <a:xfrm rot="-13402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97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97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ap="flat" cmpd="sng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ap="flat" cmpd="sng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92200" y="177800"/>
            <a:ext cx="1051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三、绩效目标及完成情况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01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9812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2733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ap="flat" cmpd="sng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779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核心业绩指标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16851">
            <a:off x="12065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79500" y="3492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已完成任务数：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603500" y="3467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15</a:t>
            </a: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项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79500" y="4000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已交付需求：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603500" y="3975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项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79500" y="4508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按期交付率：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603500" y="4483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100%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688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5499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8420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ap="flat" cmpd="sng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5466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效率与能力提升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6851">
            <a:off x="47752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648200" y="3492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CRM查询优化：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172200" y="3467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2s+→150ms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648200" y="4000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抽奖配置优化：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172200" y="3975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1天→2小时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648200" y="4508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整体体验评分：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172200" y="4483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90</a:t>
            </a:r>
            <a:r>
              <a:rPr lang="en-US" sz="16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分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9248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91059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3980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ap="flat" cmpd="sng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1026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业务价值与信心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/>
        </p:nvCxnSpPr>
        <p:spPr>
          <a:xfrm rot="-16851">
            <a:off x="83312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8166100" y="3429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结果导向：</a:t>
            </a:r>
            <a:r>
              <a:rPr lang="en-US" sz="14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覆盖交付、效率、业务效果和复用价值，全方位产出成果。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8166100" y="4191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整体评价：</a:t>
            </a:r>
            <a:r>
              <a:rPr lang="en-US" sz="14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基本达到组织期望，能履行岗位职责，偶有超预期表现。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292100" y="5257800"/>
            <a:ext cx="11087100" cy="800100"/>
          </a:xfrm>
          <a:prstGeom prst="roundRect">
            <a:avLst>
              <a:gd name="adj" fmla="val 0"/>
            </a:avLst>
          </a:prstGeom>
          <a:solidFill>
            <a:srgbClr val="6B8E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520700" y="54102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以结果为导向，全面完成各项任务，核心指标100%达成，在效率与体验优化方面成果显著，基本达成岗位期望。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0541F-97CC-01D7-B0BF-0FC6CBE8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B38BD-34B7-4709-8E16-11CC8BC0F25F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457200">
              <a:lnSpc>
                <a:spcPct val="1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四、关键问题突破举例（一）∶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圣诞与新年活动高压交付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89D244C6-ADF3-7755-7A78-BF252FE8E22D}"/>
              </a:ext>
            </a:extLst>
          </p:cNvPr>
          <p:cNvSpPr/>
          <p:nvPr/>
        </p:nvSpPr>
        <p:spPr>
          <a:xfrm>
            <a:off x="508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D9F69B-5354-B8FD-8BF2-DAB3FD436754}"/>
              </a:ext>
            </a:extLst>
          </p:cNvPr>
          <p:cNvGrpSpPr/>
          <p:nvPr/>
        </p:nvGrpSpPr>
        <p:grpSpPr>
          <a:xfrm>
            <a:off x="736600" y="2133600"/>
            <a:ext cx="390525" cy="390525"/>
            <a:chOff x="736600" y="2133600"/>
            <a:chExt cx="390525" cy="390525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782773-DA42-981C-DF1E-C32CBAA5C506}"/>
                </a:ext>
              </a:extLst>
            </p:cNvPr>
            <p:cNvSpPr/>
            <p:nvPr/>
          </p:nvSpPr>
          <p:spPr>
            <a:xfrm>
              <a:off x="736600" y="2171700"/>
              <a:ext cx="381000" cy="342900"/>
            </a:xfrm>
            <a:custGeom>
              <a:avLst/>
              <a:gdLst>
                <a:gd name="connsiteX0" fmla="*/ 361950 w 381000"/>
                <a:gd name="connsiteY0" fmla="*/ 0 h 342900"/>
                <a:gd name="connsiteX1" fmla="*/ 381000 w 381000"/>
                <a:gd name="connsiteY1" fmla="*/ 0 h 342900"/>
                <a:gd name="connsiteX2" fmla="*/ 381000 w 381000"/>
                <a:gd name="connsiteY2" fmla="*/ 342900 h 342900"/>
                <a:gd name="connsiteX3" fmla="*/ 361950 w 381000"/>
                <a:gd name="connsiteY3" fmla="*/ 342900 h 342900"/>
                <a:gd name="connsiteX4" fmla="*/ 19050 w 381000"/>
                <a:gd name="connsiteY4" fmla="*/ 342900 h 342900"/>
                <a:gd name="connsiteX5" fmla="*/ 0 w 381000"/>
                <a:gd name="connsiteY5" fmla="*/ 342900 h 342900"/>
                <a:gd name="connsiteX6" fmla="*/ 0 w 381000"/>
                <a:gd name="connsiteY6" fmla="*/ 0 h 342900"/>
                <a:gd name="connsiteX7" fmla="*/ 19050 w 381000"/>
                <a:gd name="connsiteY7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0" h="342900">
                  <a:moveTo>
                    <a:pt x="361950" y="0"/>
                  </a:moveTo>
                  <a:cubicBezTo>
                    <a:pt x="372471" y="0"/>
                    <a:pt x="381000" y="0"/>
                    <a:pt x="381000" y="0"/>
                  </a:cubicBezTo>
                  <a:lnTo>
                    <a:pt x="381000" y="342900"/>
                  </a:lnTo>
                  <a:cubicBezTo>
                    <a:pt x="381000" y="342900"/>
                    <a:pt x="372471" y="342900"/>
                    <a:pt x="361950" y="342900"/>
                  </a:cubicBezTo>
                  <a:lnTo>
                    <a:pt x="19050" y="342900"/>
                  </a:lnTo>
                  <a:cubicBezTo>
                    <a:pt x="8529" y="342900"/>
                    <a:pt x="0" y="342900"/>
                    <a:pt x="0" y="342900"/>
                  </a:cubicBezTo>
                  <a:lnTo>
                    <a:pt x="0" y="0"/>
                  </a:lnTo>
                  <a:cubicBezTo>
                    <a:pt x="0" y="0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07CC311D-2B1B-5082-604D-3F2AF07B783C}"/>
                </a:ext>
              </a:extLst>
            </p:cNvPr>
            <p:cNvSpPr/>
            <p:nvPr/>
          </p:nvSpPr>
          <p:spPr>
            <a:xfrm>
              <a:off x="736600" y="2286000"/>
              <a:ext cx="381000" cy="9525"/>
            </a:xfrm>
            <a:custGeom>
              <a:avLst/>
              <a:gdLst>
                <a:gd name="connsiteX0" fmla="*/ 0 w 381000"/>
                <a:gd name="connsiteY0" fmla="*/ 0 h 9525"/>
                <a:gd name="connsiteX1" fmla="*/ 381000 w 3810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CDC4208D-DFE5-D0FB-F6AB-841AE387748A}"/>
                </a:ext>
              </a:extLst>
            </p:cNvPr>
            <p:cNvSpPr/>
            <p:nvPr/>
          </p:nvSpPr>
          <p:spPr>
            <a:xfrm>
              <a:off x="736600" y="2400300"/>
              <a:ext cx="381000" cy="9525"/>
            </a:xfrm>
            <a:custGeom>
              <a:avLst/>
              <a:gdLst>
                <a:gd name="connsiteX0" fmla="*/ 0 w 381000"/>
                <a:gd name="connsiteY0" fmla="*/ 0 h 9525"/>
                <a:gd name="connsiteX1" fmla="*/ 381000 w 3810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42400AF-3046-C47E-3E3E-44040CD9547F}"/>
                </a:ext>
              </a:extLst>
            </p:cNvPr>
            <p:cNvSpPr/>
            <p:nvPr/>
          </p:nvSpPr>
          <p:spPr>
            <a:xfrm>
              <a:off x="860425" y="2133600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DDE314D-69A0-9CA2-7A18-49BA385269D8}"/>
                </a:ext>
              </a:extLst>
            </p:cNvPr>
            <p:cNvSpPr/>
            <p:nvPr/>
          </p:nvSpPr>
          <p:spPr>
            <a:xfrm>
              <a:off x="993775" y="2133600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89DD7D25-1776-596A-316B-77CB0419AB0E}"/>
                </a:ext>
              </a:extLst>
            </p:cNvPr>
            <p:cNvSpPr/>
            <p:nvPr/>
          </p:nvSpPr>
          <p:spPr>
            <a:xfrm>
              <a:off x="860425" y="2286000"/>
              <a:ext cx="9525" cy="228600"/>
            </a:xfrm>
            <a:custGeom>
              <a:avLst/>
              <a:gdLst>
                <a:gd name="connsiteX0" fmla="*/ 0 w 9525"/>
                <a:gd name="connsiteY0" fmla="*/ 0 h 228600"/>
                <a:gd name="connsiteX1" fmla="*/ 0 w 9525"/>
                <a:gd name="connsiteY1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CAFB945-8BBB-2C2B-8E3A-97E82E0D6D27}"/>
                </a:ext>
              </a:extLst>
            </p:cNvPr>
            <p:cNvSpPr/>
            <p:nvPr/>
          </p:nvSpPr>
          <p:spPr>
            <a:xfrm>
              <a:off x="993775" y="2286000"/>
              <a:ext cx="9525" cy="228600"/>
            </a:xfrm>
            <a:custGeom>
              <a:avLst/>
              <a:gdLst>
                <a:gd name="connsiteX0" fmla="*/ 0 w 9525"/>
                <a:gd name="connsiteY0" fmla="*/ 0 h 228600"/>
                <a:gd name="connsiteX1" fmla="*/ 0 w 9525"/>
                <a:gd name="connsiteY1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ED73062E-FF05-70D6-9581-8C6EA4FC1B3C}"/>
                </a:ext>
              </a:extLst>
            </p:cNvPr>
            <p:cNvSpPr/>
            <p:nvPr/>
          </p:nvSpPr>
          <p:spPr>
            <a:xfrm>
              <a:off x="1117600" y="2219325"/>
              <a:ext cx="9525" cy="247650"/>
            </a:xfrm>
            <a:custGeom>
              <a:avLst/>
              <a:gdLst>
                <a:gd name="connsiteX0" fmla="*/ 0 w 9525"/>
                <a:gd name="connsiteY0" fmla="*/ 0 h 247650"/>
                <a:gd name="connsiteX1" fmla="*/ 0 w 9525"/>
                <a:gd name="connsiteY1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9D98F44-054D-0588-8950-40E8D3C83937}"/>
                </a:ext>
              </a:extLst>
            </p:cNvPr>
            <p:cNvSpPr/>
            <p:nvPr/>
          </p:nvSpPr>
          <p:spPr>
            <a:xfrm>
              <a:off x="736600" y="2219325"/>
              <a:ext cx="9525" cy="247650"/>
            </a:xfrm>
            <a:custGeom>
              <a:avLst/>
              <a:gdLst>
                <a:gd name="connsiteX0" fmla="*/ 0 w 9525"/>
                <a:gd name="connsiteY0" fmla="*/ 0 h 247650"/>
                <a:gd name="connsiteX1" fmla="*/ 0 w 9525"/>
                <a:gd name="connsiteY1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D54F80C-FFB6-E2F1-3B1D-5825E6320579}"/>
                </a:ext>
              </a:extLst>
            </p:cNvPr>
            <p:cNvSpPr/>
            <p:nvPr/>
          </p:nvSpPr>
          <p:spPr>
            <a:xfrm>
              <a:off x="831850" y="2514600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AutoShape 8">
            <a:extLst>
              <a:ext uri="{FF2B5EF4-FFF2-40B4-BE49-F238E27FC236}">
                <a16:creationId xmlns:a16="http://schemas.microsoft.com/office/drawing/2014/main" id="{D6567361-39EE-804A-1DD9-BAEB80FAFE42}"/>
              </a:ext>
            </a:extLst>
          </p:cNvPr>
          <p:cNvSpPr/>
          <p:nvPr/>
        </p:nvSpPr>
        <p:spPr>
          <a:xfrm>
            <a:off x="1270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项目周期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67EDEF55-9BDA-1D39-45E7-FF0F8ED80BDF}"/>
              </a:ext>
            </a:extLst>
          </p:cNvPr>
          <p:cNvSpPr/>
          <p:nvPr/>
        </p:nvSpPr>
        <p:spPr>
          <a:xfrm>
            <a:off x="698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2025.11 – 2025.12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F2660A3E-8E41-2646-DDD2-0F91D668BF45}"/>
              </a:ext>
            </a:extLst>
          </p:cNvPr>
          <p:cNvSpPr/>
          <p:nvPr/>
        </p:nvSpPr>
        <p:spPr>
          <a:xfrm>
            <a:off x="698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持续两个月，四期推进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08572903-E5FE-259F-BBE2-36FB6F064506}"/>
              </a:ext>
            </a:extLst>
          </p:cNvPr>
          <p:cNvSpPr/>
          <p:nvPr/>
        </p:nvSpPr>
        <p:spPr>
          <a:xfrm>
            <a:off x="3302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B593515-8036-067C-1A3F-D02E6684B9F7}"/>
              </a:ext>
            </a:extLst>
          </p:cNvPr>
          <p:cNvGrpSpPr/>
          <p:nvPr/>
        </p:nvGrpSpPr>
        <p:grpSpPr>
          <a:xfrm>
            <a:off x="3559175" y="2133600"/>
            <a:ext cx="323850" cy="381000"/>
            <a:chOff x="3559175" y="2133600"/>
            <a:chExt cx="323850" cy="3810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00F1D259-7FDC-D93B-3BC6-D15D9265D44D}"/>
                </a:ext>
              </a:extLst>
            </p:cNvPr>
            <p:cNvSpPr/>
            <p:nvPr/>
          </p:nvSpPr>
          <p:spPr>
            <a:xfrm>
              <a:off x="3559175" y="2190750"/>
              <a:ext cx="323850" cy="323850"/>
            </a:xfrm>
            <a:custGeom>
              <a:avLst/>
              <a:gdLst>
                <a:gd name="connsiteX0" fmla="*/ 161925 w 323850"/>
                <a:gd name="connsiteY0" fmla="*/ 323850 h 323850"/>
                <a:gd name="connsiteX1" fmla="*/ 323850 w 323850"/>
                <a:gd name="connsiteY1" fmla="*/ 161925 h 323850"/>
                <a:gd name="connsiteX2" fmla="*/ 161925 w 323850"/>
                <a:gd name="connsiteY2" fmla="*/ 0 h 323850"/>
                <a:gd name="connsiteX3" fmla="*/ 0 w 323850"/>
                <a:gd name="connsiteY3" fmla="*/ 161925 h 323850"/>
                <a:gd name="connsiteX4" fmla="*/ 161925 w 323850"/>
                <a:gd name="connsiteY4" fmla="*/ 32385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3" y="323850"/>
                    <a:pt x="323850" y="251353"/>
                    <a:pt x="323850" y="161925"/>
                  </a:cubicBezTo>
                  <a:cubicBezTo>
                    <a:pt x="323850" y="72497"/>
                    <a:pt x="251353" y="0"/>
                    <a:pt x="161925" y="0"/>
                  </a:cubicBezTo>
                  <a:cubicBezTo>
                    <a:pt x="72497" y="0"/>
                    <a:pt x="0" y="72497"/>
                    <a:pt x="0" y="161925"/>
                  </a:cubicBezTo>
                  <a:cubicBezTo>
                    <a:pt x="0" y="251353"/>
                    <a:pt x="72497" y="323850"/>
                    <a:pt x="161925" y="323850"/>
                  </a:cubicBezTo>
                  <a:close/>
                </a:path>
              </a:pathLst>
            </a:custGeom>
            <a:solidFill>
              <a:srgbClr val="87B22E"/>
            </a:solidFill>
            <a:ln w="19050" cap="flat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7F2B9FCB-E7FA-E7FA-D6C1-E8595E320661}"/>
                </a:ext>
              </a:extLst>
            </p:cNvPr>
            <p:cNvSpPr/>
            <p:nvPr/>
          </p:nvSpPr>
          <p:spPr>
            <a:xfrm>
              <a:off x="3663950" y="2133600"/>
              <a:ext cx="114300" cy="9525"/>
            </a:xfrm>
            <a:custGeom>
              <a:avLst/>
              <a:gdLst>
                <a:gd name="connsiteX0" fmla="*/ 0 w 114300"/>
                <a:gd name="connsiteY0" fmla="*/ 0 h 9525"/>
                <a:gd name="connsiteX1" fmla="*/ 114300 w 1143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C0249D8-611F-67B2-BACC-57C04018FFB3}"/>
                </a:ext>
              </a:extLst>
            </p:cNvPr>
            <p:cNvSpPr/>
            <p:nvPr/>
          </p:nvSpPr>
          <p:spPr>
            <a:xfrm>
              <a:off x="3721100" y="2276475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A52E800D-DB53-E0B2-E50D-046FD10EBD7C}"/>
                </a:ext>
              </a:extLst>
            </p:cNvPr>
            <p:cNvSpPr/>
            <p:nvPr/>
          </p:nvSpPr>
          <p:spPr>
            <a:xfrm>
              <a:off x="3721100" y="2352675"/>
              <a:ext cx="76200" cy="9525"/>
            </a:xfrm>
            <a:custGeom>
              <a:avLst/>
              <a:gdLst>
                <a:gd name="connsiteX0" fmla="*/ 76200 w 76200"/>
                <a:gd name="connsiteY0" fmla="*/ 0 h 9525"/>
                <a:gd name="connsiteX1" fmla="*/ 0 w 762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0" h="9525">
                  <a:moveTo>
                    <a:pt x="76200" y="0"/>
                  </a:moveTo>
                  <a:lnTo>
                    <a:pt x="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55F692E-A4A1-41B4-1EB2-E0DC82C820AA}"/>
                </a:ext>
              </a:extLst>
            </p:cNvPr>
            <p:cNvSpPr/>
            <p:nvPr/>
          </p:nvSpPr>
          <p:spPr>
            <a:xfrm>
              <a:off x="3721100" y="2133600"/>
              <a:ext cx="9525" cy="38100"/>
            </a:xfrm>
            <a:custGeom>
              <a:avLst/>
              <a:gdLst>
                <a:gd name="connsiteX0" fmla="*/ 0 w 9525"/>
                <a:gd name="connsiteY0" fmla="*/ 0 h 38100"/>
                <a:gd name="connsiteX1" fmla="*/ 0 w 9525"/>
                <a:gd name="connsiteY1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AutoShape 13">
            <a:extLst>
              <a:ext uri="{FF2B5EF4-FFF2-40B4-BE49-F238E27FC236}">
                <a16:creationId xmlns:a16="http://schemas.microsoft.com/office/drawing/2014/main" id="{2B8A034A-9F21-505B-5408-A1768B75B33F}"/>
              </a:ext>
            </a:extLst>
          </p:cNvPr>
          <p:cNvSpPr/>
          <p:nvPr/>
        </p:nvSpPr>
        <p:spPr>
          <a:xfrm>
            <a:off x="4064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一期上线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1D1D6542-0669-5C32-DDD4-D85DDFCBD1A8}"/>
              </a:ext>
            </a:extLst>
          </p:cNvPr>
          <p:cNvSpPr/>
          <p:nvPr/>
        </p:nvSpPr>
        <p:spPr>
          <a:xfrm>
            <a:off x="3492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19个工作日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D5CDB795-D9BA-13A9-3419-4655BB96201C}"/>
              </a:ext>
            </a:extLst>
          </p:cNvPr>
          <p:cNvSpPr/>
          <p:nvPr/>
        </p:nvSpPr>
        <p:spPr>
          <a:xfrm>
            <a:off x="3492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高压周期下按时交付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C7A9C822-2DDA-4309-CAF4-B004701DB312}"/>
              </a:ext>
            </a:extLst>
          </p:cNvPr>
          <p:cNvSpPr/>
          <p:nvPr/>
        </p:nvSpPr>
        <p:spPr>
          <a:xfrm>
            <a:off x="6096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D3F4C41-336B-A1BE-DA91-D4B590956BDE}"/>
              </a:ext>
            </a:extLst>
          </p:cNvPr>
          <p:cNvGrpSpPr/>
          <p:nvPr/>
        </p:nvGrpSpPr>
        <p:grpSpPr>
          <a:xfrm>
            <a:off x="6324600" y="2152650"/>
            <a:ext cx="380998" cy="342900"/>
            <a:chOff x="6324600" y="2152650"/>
            <a:chExt cx="380998" cy="342900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53016C61-2486-5A49-0FDA-24DA1DF3BC2F}"/>
                </a:ext>
              </a:extLst>
            </p:cNvPr>
            <p:cNvSpPr/>
            <p:nvPr/>
          </p:nvSpPr>
          <p:spPr>
            <a:xfrm>
              <a:off x="6400800" y="2152650"/>
              <a:ext cx="133350" cy="133350"/>
            </a:xfrm>
            <a:custGeom>
              <a:avLst/>
              <a:gdLst>
                <a:gd name="connsiteX0" fmla="*/ 66675 w 133350"/>
                <a:gd name="connsiteY0" fmla="*/ 133350 h 133350"/>
                <a:gd name="connsiteX1" fmla="*/ 133350 w 133350"/>
                <a:gd name="connsiteY1" fmla="*/ 66675 h 133350"/>
                <a:gd name="connsiteX2" fmla="*/ 66675 w 133350"/>
                <a:gd name="connsiteY2" fmla="*/ 0 h 133350"/>
                <a:gd name="connsiteX3" fmla="*/ 0 w 133350"/>
                <a:gd name="connsiteY3" fmla="*/ 66675 h 133350"/>
                <a:gd name="connsiteX4" fmla="*/ 66675 w 133350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66675" y="133350"/>
                  </a:moveTo>
                  <a:cubicBezTo>
                    <a:pt x="103499" y="133350"/>
                    <a:pt x="133350" y="103499"/>
                    <a:pt x="133350" y="66675"/>
                  </a:cubicBezTo>
                  <a:cubicBezTo>
                    <a:pt x="133350" y="29851"/>
                    <a:pt x="103499" y="0"/>
                    <a:pt x="66675" y="0"/>
                  </a:cubicBezTo>
                  <a:cubicBezTo>
                    <a:pt x="29851" y="0"/>
                    <a:pt x="0" y="29851"/>
                    <a:pt x="0" y="66675"/>
                  </a:cubicBezTo>
                  <a:cubicBezTo>
                    <a:pt x="0" y="103499"/>
                    <a:pt x="29851" y="133350"/>
                    <a:pt x="66675" y="13335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996F6A0-AAFC-F97E-3600-FD63F07B2A12}"/>
                </a:ext>
              </a:extLst>
            </p:cNvPr>
            <p:cNvSpPr/>
            <p:nvPr/>
          </p:nvSpPr>
          <p:spPr>
            <a:xfrm>
              <a:off x="6597088" y="2162175"/>
              <a:ext cx="32312" cy="114300"/>
            </a:xfrm>
            <a:custGeom>
              <a:avLst/>
              <a:gdLst>
                <a:gd name="connsiteX0" fmla="*/ 0 w 32312"/>
                <a:gd name="connsiteY0" fmla="*/ 0 h 114300"/>
                <a:gd name="connsiteX1" fmla="*/ 32313 w 32312"/>
                <a:gd name="connsiteY1" fmla="*/ 57150 h 114300"/>
                <a:gd name="connsiteX2" fmla="*/ 0 w 32312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12" h="114300">
                  <a:moveTo>
                    <a:pt x="0" y="0"/>
                  </a:moveTo>
                  <a:cubicBezTo>
                    <a:pt x="19362" y="11667"/>
                    <a:pt x="32313" y="32896"/>
                    <a:pt x="32313" y="57150"/>
                  </a:cubicBezTo>
                  <a:cubicBezTo>
                    <a:pt x="32313" y="81404"/>
                    <a:pt x="19362" y="102633"/>
                    <a:pt x="0" y="11430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683976E-03C0-F9FF-819A-CE97D31E171C}"/>
                </a:ext>
              </a:extLst>
            </p:cNvPr>
            <p:cNvSpPr/>
            <p:nvPr/>
          </p:nvSpPr>
          <p:spPr>
            <a:xfrm>
              <a:off x="6324600" y="2362200"/>
              <a:ext cx="285750" cy="133350"/>
            </a:xfrm>
            <a:custGeom>
              <a:avLst/>
              <a:gdLst>
                <a:gd name="connsiteX0" fmla="*/ 0 w 285750"/>
                <a:gd name="connsiteY0" fmla="*/ 121920 h 133350"/>
                <a:gd name="connsiteX1" fmla="*/ 0 w 285750"/>
                <a:gd name="connsiteY1" fmla="*/ 133350 h 133350"/>
                <a:gd name="connsiteX2" fmla="*/ 285750 w 285750"/>
                <a:gd name="connsiteY2" fmla="*/ 133350 h 133350"/>
                <a:gd name="connsiteX3" fmla="*/ 285750 w 285750"/>
                <a:gd name="connsiteY3" fmla="*/ 121920 h 133350"/>
                <a:gd name="connsiteX4" fmla="*/ 277445 w 285750"/>
                <a:gd name="connsiteY4" fmla="*/ 41606 h 133350"/>
                <a:gd name="connsiteX5" fmla="*/ 244144 w 285750"/>
                <a:gd name="connsiteY5" fmla="*/ 8305 h 133350"/>
                <a:gd name="connsiteX6" fmla="*/ 163830 w 285750"/>
                <a:gd name="connsiteY6" fmla="*/ 0 h 133350"/>
                <a:gd name="connsiteX7" fmla="*/ 121920 w 285750"/>
                <a:gd name="connsiteY7" fmla="*/ 0 h 133350"/>
                <a:gd name="connsiteX8" fmla="*/ 41606 w 285750"/>
                <a:gd name="connsiteY8" fmla="*/ 8305 h 133350"/>
                <a:gd name="connsiteX9" fmla="*/ 8305 w 285750"/>
                <a:gd name="connsiteY9" fmla="*/ 41606 h 133350"/>
                <a:gd name="connsiteX10" fmla="*/ 0 w 285750"/>
                <a:gd name="connsiteY10" fmla="*/ 12192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5750" h="133350">
                  <a:moveTo>
                    <a:pt x="0" y="121920"/>
                  </a:moveTo>
                  <a:lnTo>
                    <a:pt x="0" y="133350"/>
                  </a:lnTo>
                  <a:lnTo>
                    <a:pt x="285750" y="133350"/>
                  </a:lnTo>
                  <a:lnTo>
                    <a:pt x="285750" y="121920"/>
                  </a:lnTo>
                  <a:cubicBezTo>
                    <a:pt x="285750" y="79244"/>
                    <a:pt x="285750" y="57906"/>
                    <a:pt x="277445" y="41606"/>
                  </a:cubicBezTo>
                  <a:cubicBezTo>
                    <a:pt x="270139" y="27268"/>
                    <a:pt x="258482" y="15611"/>
                    <a:pt x="244144" y="8305"/>
                  </a:cubicBezTo>
                  <a:cubicBezTo>
                    <a:pt x="227844" y="0"/>
                    <a:pt x="206506" y="0"/>
                    <a:pt x="163830" y="0"/>
                  </a:cubicBezTo>
                  <a:lnTo>
                    <a:pt x="121920" y="0"/>
                  </a:lnTo>
                  <a:cubicBezTo>
                    <a:pt x="79244" y="0"/>
                    <a:pt x="57906" y="0"/>
                    <a:pt x="41606" y="8305"/>
                  </a:cubicBezTo>
                  <a:cubicBezTo>
                    <a:pt x="27268" y="15611"/>
                    <a:pt x="15611" y="27268"/>
                    <a:pt x="8305" y="41606"/>
                  </a:cubicBezTo>
                  <a:cubicBezTo>
                    <a:pt x="0" y="57906"/>
                    <a:pt x="0" y="79244"/>
                    <a:pt x="0" y="12192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FAD5218-933A-1A8F-30C8-0ECC90230D9E}"/>
                </a:ext>
              </a:extLst>
            </p:cNvPr>
            <p:cNvSpPr/>
            <p:nvPr/>
          </p:nvSpPr>
          <p:spPr>
            <a:xfrm>
              <a:off x="6663992" y="2370506"/>
              <a:ext cx="41606" cy="125044"/>
            </a:xfrm>
            <a:custGeom>
              <a:avLst/>
              <a:gdLst>
                <a:gd name="connsiteX0" fmla="*/ 41606 w 41606"/>
                <a:gd name="connsiteY0" fmla="*/ 125044 h 125044"/>
                <a:gd name="connsiteX1" fmla="*/ 41606 w 41606"/>
                <a:gd name="connsiteY1" fmla="*/ 113614 h 125044"/>
                <a:gd name="connsiteX2" fmla="*/ 33301 w 41606"/>
                <a:gd name="connsiteY2" fmla="*/ 33300 h 125044"/>
                <a:gd name="connsiteX3" fmla="*/ 0 w 41606"/>
                <a:gd name="connsiteY3" fmla="*/ 0 h 12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06" h="125044">
                  <a:moveTo>
                    <a:pt x="41606" y="125044"/>
                  </a:moveTo>
                  <a:lnTo>
                    <a:pt x="41606" y="113614"/>
                  </a:lnTo>
                  <a:cubicBezTo>
                    <a:pt x="41606" y="70938"/>
                    <a:pt x="41606" y="49600"/>
                    <a:pt x="33301" y="33300"/>
                  </a:cubicBezTo>
                  <a:cubicBezTo>
                    <a:pt x="25996" y="18962"/>
                    <a:pt x="14338" y="7306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AutoShape 18">
            <a:extLst>
              <a:ext uri="{FF2B5EF4-FFF2-40B4-BE49-F238E27FC236}">
                <a16:creationId xmlns:a16="http://schemas.microsoft.com/office/drawing/2014/main" id="{B08E3E6B-18E4-A935-7B58-C4EC9AD47F8D}"/>
              </a:ext>
            </a:extLst>
          </p:cNvPr>
          <p:cNvSpPr/>
          <p:nvPr/>
        </p:nvSpPr>
        <p:spPr>
          <a:xfrm>
            <a:off x="6858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项目投入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19">
            <a:extLst>
              <a:ext uri="{FF2B5EF4-FFF2-40B4-BE49-F238E27FC236}">
                <a16:creationId xmlns:a16="http://schemas.microsoft.com/office/drawing/2014/main" id="{A64E346E-F0A9-98EC-B1AE-39816BBEE74A}"/>
              </a:ext>
            </a:extLst>
          </p:cNvPr>
          <p:cNvSpPr/>
          <p:nvPr/>
        </p:nvSpPr>
        <p:spPr>
          <a:xfrm>
            <a:off x="6286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4后端 + 3前端 + 4</a:t>
            </a:r>
            <a:r>
              <a:rPr lang="zh-CN" alt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测试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20">
            <a:extLst>
              <a:ext uri="{FF2B5EF4-FFF2-40B4-BE49-F238E27FC236}">
                <a16:creationId xmlns:a16="http://schemas.microsoft.com/office/drawing/2014/main" id="{EF5D0902-7BCF-E179-5B43-6924E72DFAD5}"/>
              </a:ext>
            </a:extLst>
          </p:cNvPr>
          <p:cNvSpPr/>
          <p:nvPr/>
        </p:nvSpPr>
        <p:spPr>
          <a:xfrm>
            <a:off x="6286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多角色协同复杂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21">
            <a:extLst>
              <a:ext uri="{FF2B5EF4-FFF2-40B4-BE49-F238E27FC236}">
                <a16:creationId xmlns:a16="http://schemas.microsoft.com/office/drawing/2014/main" id="{E9FADB75-6CFF-B0E0-703A-41A76CD0E66B}"/>
              </a:ext>
            </a:extLst>
          </p:cNvPr>
          <p:cNvSpPr/>
          <p:nvPr/>
        </p:nvSpPr>
        <p:spPr>
          <a:xfrm>
            <a:off x="8890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379DAF9-D6F6-B3AE-8CF9-E2660B00CCC4}"/>
              </a:ext>
            </a:extLst>
          </p:cNvPr>
          <p:cNvGrpSpPr/>
          <p:nvPr/>
        </p:nvGrpSpPr>
        <p:grpSpPr>
          <a:xfrm>
            <a:off x="9137650" y="2133600"/>
            <a:ext cx="342900" cy="381000"/>
            <a:chOff x="9137650" y="2133600"/>
            <a:chExt cx="342900" cy="381000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1F1B23A0-DE9A-D8FB-3F71-94968D8110E3}"/>
                </a:ext>
              </a:extLst>
            </p:cNvPr>
            <p:cNvSpPr/>
            <p:nvPr/>
          </p:nvSpPr>
          <p:spPr>
            <a:xfrm>
              <a:off x="9232900" y="2133600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D9D28626-D2E4-934C-E1A9-0765412FE6E1}"/>
                </a:ext>
              </a:extLst>
            </p:cNvPr>
            <p:cNvSpPr/>
            <p:nvPr/>
          </p:nvSpPr>
          <p:spPr>
            <a:xfrm>
              <a:off x="9137650" y="2343150"/>
              <a:ext cx="342900" cy="171450"/>
            </a:xfrm>
            <a:custGeom>
              <a:avLst/>
              <a:gdLst>
                <a:gd name="connsiteX0" fmla="*/ 342900 w 342900"/>
                <a:gd name="connsiteY0" fmla="*/ 171450 h 171450"/>
                <a:gd name="connsiteX1" fmla="*/ 171450 w 342900"/>
                <a:gd name="connsiteY1" fmla="*/ 0 h 171450"/>
                <a:gd name="connsiteX2" fmla="*/ 0 w 342900"/>
                <a:gd name="connsiteY2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" h="171450">
                  <a:moveTo>
                    <a:pt x="342900" y="171450"/>
                  </a:moveTo>
                  <a:cubicBezTo>
                    <a:pt x="342900" y="76761"/>
                    <a:pt x="266139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33E38CD9-8C86-BEF3-BCE5-F0312237BE5E}"/>
                </a:ext>
              </a:extLst>
            </p:cNvPr>
            <p:cNvSpPr/>
            <p:nvPr/>
          </p:nvSpPr>
          <p:spPr>
            <a:xfrm>
              <a:off x="9271000" y="2343150"/>
              <a:ext cx="76200" cy="171450"/>
            </a:xfrm>
            <a:custGeom>
              <a:avLst/>
              <a:gdLst>
                <a:gd name="connsiteX0" fmla="*/ 38100 w 76200"/>
                <a:gd name="connsiteY0" fmla="*/ 171450 h 171450"/>
                <a:gd name="connsiteX1" fmla="*/ 76200 w 76200"/>
                <a:gd name="connsiteY1" fmla="*/ 123825 h 171450"/>
                <a:gd name="connsiteX2" fmla="*/ 38100 w 76200"/>
                <a:gd name="connsiteY2" fmla="*/ 0 h 171450"/>
                <a:gd name="connsiteX3" fmla="*/ 0 w 76200"/>
                <a:gd name="connsiteY3" fmla="*/ 123825 h 171450"/>
                <a:gd name="connsiteX4" fmla="*/ 38100 w 76200"/>
                <a:gd name="connsiteY4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71450">
                  <a:moveTo>
                    <a:pt x="38100" y="171450"/>
                  </a:moveTo>
                  <a:lnTo>
                    <a:pt x="76200" y="123825"/>
                  </a:lnTo>
                  <a:lnTo>
                    <a:pt x="38100" y="0"/>
                  </a:lnTo>
                  <a:lnTo>
                    <a:pt x="0" y="123825"/>
                  </a:lnTo>
                  <a:lnTo>
                    <a:pt x="38100" y="171450"/>
                  </a:ln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AutoShape 23">
            <a:extLst>
              <a:ext uri="{FF2B5EF4-FFF2-40B4-BE49-F238E27FC236}">
                <a16:creationId xmlns:a16="http://schemas.microsoft.com/office/drawing/2014/main" id="{DA491031-E9EB-F378-BAF3-AFE523C28473}"/>
              </a:ext>
            </a:extLst>
          </p:cNvPr>
          <p:cNvSpPr/>
          <p:nvPr/>
        </p:nvSpPr>
        <p:spPr>
          <a:xfrm>
            <a:off x="9652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个人角色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AutoShape 24">
            <a:extLst>
              <a:ext uri="{FF2B5EF4-FFF2-40B4-BE49-F238E27FC236}">
                <a16:creationId xmlns:a16="http://schemas.microsoft.com/office/drawing/2014/main" id="{07088A09-A14B-C641-B7B5-9620ACC60C5E}"/>
              </a:ext>
            </a:extLst>
          </p:cNvPr>
          <p:cNvSpPr/>
          <p:nvPr/>
        </p:nvSpPr>
        <p:spPr>
          <a:xfrm>
            <a:off x="9080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SE</a:t>
            </a:r>
            <a:r>
              <a:rPr lang="en-US" sz="16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+ </a:t>
            </a:r>
            <a:r>
              <a:rPr lang="en-US" sz="1600" b="1" i="0" u="none" strike="noStrike" dirty="0" err="1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核心研发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25">
            <a:extLst>
              <a:ext uri="{FF2B5EF4-FFF2-40B4-BE49-F238E27FC236}">
                <a16:creationId xmlns:a16="http://schemas.microsoft.com/office/drawing/2014/main" id="{273903FA-7880-3568-2B5B-31BD58BF4691}"/>
              </a:ext>
            </a:extLst>
          </p:cNvPr>
          <p:cNvSpPr/>
          <p:nvPr/>
        </p:nvSpPr>
        <p:spPr>
          <a:xfrm>
            <a:off x="9080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掌控节奏与关键研发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utoShape 26">
            <a:extLst>
              <a:ext uri="{FF2B5EF4-FFF2-40B4-BE49-F238E27FC236}">
                <a16:creationId xmlns:a16="http://schemas.microsoft.com/office/drawing/2014/main" id="{EB9A95E2-0058-3872-DC57-E5EC481659BE}"/>
              </a:ext>
            </a:extLst>
          </p:cNvPr>
          <p:cNvSpPr/>
          <p:nvPr/>
        </p:nvSpPr>
        <p:spPr>
          <a:xfrm>
            <a:off x="508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27">
            <a:extLst>
              <a:ext uri="{FF2B5EF4-FFF2-40B4-BE49-F238E27FC236}">
                <a16:creationId xmlns:a16="http://schemas.microsoft.com/office/drawing/2014/main" id="{387AB985-36D2-5712-50D0-FC031CE3C804}"/>
              </a:ext>
            </a:extLst>
          </p:cNvPr>
          <p:cNvSpPr/>
          <p:nvPr/>
        </p:nvSpPr>
        <p:spPr>
          <a:xfrm>
            <a:off x="508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28">
            <a:extLst>
              <a:ext uri="{FF2B5EF4-FFF2-40B4-BE49-F238E27FC236}">
                <a16:creationId xmlns:a16="http://schemas.microsoft.com/office/drawing/2014/main" id="{34B6616A-4E27-FA5F-8E74-A7C877695DE8}"/>
              </a:ext>
            </a:extLst>
          </p:cNvPr>
          <p:cNvSpPr/>
          <p:nvPr/>
        </p:nvSpPr>
        <p:spPr>
          <a:xfrm>
            <a:off x="508000" y="3683000"/>
            <a:ext cx="2603500" cy="457200"/>
          </a:xfrm>
          <a:prstGeom prst="rect">
            <a:avLst/>
          </a:prstGeom>
          <a:solidFill>
            <a:srgbClr val="87B22E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SITUATION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背景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9">
            <a:extLst>
              <a:ext uri="{FF2B5EF4-FFF2-40B4-BE49-F238E27FC236}">
                <a16:creationId xmlns:a16="http://schemas.microsoft.com/office/drawing/2014/main" id="{28FAF3D3-D74F-DF8F-238D-AA6F48BD6100}"/>
              </a:ext>
            </a:extLst>
          </p:cNvPr>
          <p:cNvSpPr/>
          <p:nvPr/>
        </p:nvSpPr>
        <p:spPr>
          <a:xfrm>
            <a:off x="635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需求范围大、时间紧、业务目标强，活动需兼顾拉新、活跃和转化。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30">
            <a:extLst>
              <a:ext uri="{FF2B5EF4-FFF2-40B4-BE49-F238E27FC236}">
                <a16:creationId xmlns:a16="http://schemas.microsoft.com/office/drawing/2014/main" id="{32AE788A-A288-A35C-E230-80BDB216DA52}"/>
              </a:ext>
            </a:extLst>
          </p:cNvPr>
          <p:cNvSpPr/>
          <p:nvPr/>
        </p:nvSpPr>
        <p:spPr>
          <a:xfrm>
            <a:off x="3302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31">
            <a:extLst>
              <a:ext uri="{FF2B5EF4-FFF2-40B4-BE49-F238E27FC236}">
                <a16:creationId xmlns:a16="http://schemas.microsoft.com/office/drawing/2014/main" id="{9287E1F3-2516-065D-2D7D-41AF3E20C38E}"/>
              </a:ext>
            </a:extLst>
          </p:cNvPr>
          <p:cNvSpPr/>
          <p:nvPr/>
        </p:nvSpPr>
        <p:spPr>
          <a:xfrm>
            <a:off x="3302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32">
            <a:extLst>
              <a:ext uri="{FF2B5EF4-FFF2-40B4-BE49-F238E27FC236}">
                <a16:creationId xmlns:a16="http://schemas.microsoft.com/office/drawing/2014/main" id="{B5DF229C-3AE5-FE17-882C-1195BD8019FC}"/>
              </a:ext>
            </a:extLst>
          </p:cNvPr>
          <p:cNvSpPr/>
          <p:nvPr/>
        </p:nvSpPr>
        <p:spPr>
          <a:xfrm>
            <a:off x="3302000" y="36830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TASK | 任务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AutoShape 33">
            <a:extLst>
              <a:ext uri="{FF2B5EF4-FFF2-40B4-BE49-F238E27FC236}">
                <a16:creationId xmlns:a16="http://schemas.microsoft.com/office/drawing/2014/main" id="{47F7AB15-9484-137E-A69C-54758C9CC0CD}"/>
              </a:ext>
            </a:extLst>
          </p:cNvPr>
          <p:cNvSpPr/>
          <p:nvPr/>
        </p:nvSpPr>
        <p:spPr>
          <a:xfrm>
            <a:off x="3429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拆解发布节奏，协调前后端与业务方，承担关键模块研发和风险兜底。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34">
            <a:extLst>
              <a:ext uri="{FF2B5EF4-FFF2-40B4-BE49-F238E27FC236}">
                <a16:creationId xmlns:a16="http://schemas.microsoft.com/office/drawing/2014/main" id="{A355FCAE-D584-B58D-5E8C-91AE38C14CA4}"/>
              </a:ext>
            </a:extLst>
          </p:cNvPr>
          <p:cNvSpPr/>
          <p:nvPr/>
        </p:nvSpPr>
        <p:spPr>
          <a:xfrm>
            <a:off x="6096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AutoShape 35">
            <a:extLst>
              <a:ext uri="{FF2B5EF4-FFF2-40B4-BE49-F238E27FC236}">
                <a16:creationId xmlns:a16="http://schemas.microsoft.com/office/drawing/2014/main" id="{89EC9D4C-8980-37D8-C517-B96AAD854EAB}"/>
              </a:ext>
            </a:extLst>
          </p:cNvPr>
          <p:cNvSpPr/>
          <p:nvPr/>
        </p:nvSpPr>
        <p:spPr>
          <a:xfrm>
            <a:off x="6096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36">
            <a:extLst>
              <a:ext uri="{FF2B5EF4-FFF2-40B4-BE49-F238E27FC236}">
                <a16:creationId xmlns:a16="http://schemas.microsoft.com/office/drawing/2014/main" id="{732B97E3-5762-F4A5-6B50-CBAAB6087AEE}"/>
              </a:ext>
            </a:extLst>
          </p:cNvPr>
          <p:cNvSpPr/>
          <p:nvPr/>
        </p:nvSpPr>
        <p:spPr>
          <a:xfrm>
            <a:off x="6096000" y="36830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ACTION | 行动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AutoShape 37">
            <a:extLst>
              <a:ext uri="{FF2B5EF4-FFF2-40B4-BE49-F238E27FC236}">
                <a16:creationId xmlns:a16="http://schemas.microsoft.com/office/drawing/2014/main" id="{3248769D-6B06-456D-B0C2-529A30B45EE0}"/>
              </a:ext>
            </a:extLst>
          </p:cNvPr>
          <p:cNvSpPr/>
          <p:nvPr/>
        </p:nvSpPr>
        <p:spPr>
          <a:xfrm>
            <a:off x="6223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识别核心链路和里程碑，分阶段推进联调、提测、上线，发现问题后快速协调修复。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38">
            <a:extLst>
              <a:ext uri="{FF2B5EF4-FFF2-40B4-BE49-F238E27FC236}">
                <a16:creationId xmlns:a16="http://schemas.microsoft.com/office/drawing/2014/main" id="{0B1A7EC9-811F-0732-7782-0C3D72932E79}"/>
              </a:ext>
            </a:extLst>
          </p:cNvPr>
          <p:cNvSpPr/>
          <p:nvPr/>
        </p:nvSpPr>
        <p:spPr>
          <a:xfrm>
            <a:off x="8890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AutoShape 39">
            <a:extLst>
              <a:ext uri="{FF2B5EF4-FFF2-40B4-BE49-F238E27FC236}">
                <a16:creationId xmlns:a16="http://schemas.microsoft.com/office/drawing/2014/main" id="{68092BCE-6C70-E1F0-59B3-7CACDE11DCA1}"/>
              </a:ext>
            </a:extLst>
          </p:cNvPr>
          <p:cNvSpPr/>
          <p:nvPr/>
        </p:nvSpPr>
        <p:spPr>
          <a:xfrm>
            <a:off x="8890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AutoShape 40">
            <a:extLst>
              <a:ext uri="{FF2B5EF4-FFF2-40B4-BE49-F238E27FC236}">
                <a16:creationId xmlns:a16="http://schemas.microsoft.com/office/drawing/2014/main" id="{64D3E100-2CE2-6210-07FF-DC9E28AEDA34}"/>
              </a:ext>
            </a:extLst>
          </p:cNvPr>
          <p:cNvSpPr/>
          <p:nvPr/>
        </p:nvSpPr>
        <p:spPr>
          <a:xfrm>
            <a:off x="8890000" y="3683000"/>
            <a:ext cx="2603500" cy="457200"/>
          </a:xfrm>
          <a:prstGeom prst="rect">
            <a:avLst/>
          </a:prstGeom>
          <a:solidFill>
            <a:srgbClr val="87B22E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RESULT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结果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AutoShape 41">
            <a:extLst>
              <a:ext uri="{FF2B5EF4-FFF2-40B4-BE49-F238E27FC236}">
                <a16:creationId xmlns:a16="http://schemas.microsoft.com/office/drawing/2014/main" id="{90064307-20C1-EDD8-500D-356C5AF84068}"/>
              </a:ext>
            </a:extLst>
          </p:cNvPr>
          <p:cNvSpPr/>
          <p:nvPr/>
        </p:nvSpPr>
        <p:spPr>
          <a:xfrm>
            <a:off x="9017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12.23完成第四期发布，活动拉新1992人、参与16045人，完成线上问题快速修复与协同兜底。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330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C106C-7625-98F0-5621-E8C2FDC7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AA7B0-22EE-3208-C9B0-55FB926D182B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四、关键问题突破举例（二）：规则引擎从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独立建设</a:t>
            </a: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5913CB3B-BE16-FCD2-16F4-3929EA869859}"/>
              </a:ext>
            </a:extLst>
          </p:cNvPr>
          <p:cNvSpPr/>
          <p:nvPr/>
        </p:nvSpPr>
        <p:spPr>
          <a:xfrm>
            <a:off x="552450" y="1263650"/>
            <a:ext cx="11087100" cy="1066800"/>
          </a:xfrm>
          <a:custGeom>
            <a:avLst/>
            <a:gdLst/>
            <a:ahLst/>
            <a:cxnLst/>
            <a:rect l="l" t="t" r="r" b="b"/>
            <a:pathLst>
              <a:path w="11087100" h="1066800">
                <a:moveTo>
                  <a:pt x="152400" y="0"/>
                </a:moveTo>
                <a:lnTo>
                  <a:pt x="10934700" y="0"/>
                </a:lnTo>
                <a:cubicBezTo>
                  <a:pt x="11018868" y="0"/>
                  <a:pt x="11087100" y="68232"/>
                  <a:pt x="11087100" y="152400"/>
                </a:cubicBezTo>
                <a:lnTo>
                  <a:pt x="11087100" y="914400"/>
                </a:lnTo>
                <a:cubicBezTo>
                  <a:pt x="11087100" y="998568"/>
                  <a:pt x="11018868" y="1066800"/>
                  <a:pt x="10934700" y="1066800"/>
                </a:cubicBezTo>
                <a:lnTo>
                  <a:pt x="152400" y="1066800"/>
                </a:lnTo>
                <a:cubicBezTo>
                  <a:pt x="68232" y="1066800"/>
                  <a:pt x="0" y="998568"/>
                  <a:pt x="0" y="91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17">
            <a:extLst>
              <a:ext uri="{FF2B5EF4-FFF2-40B4-BE49-F238E27FC236}">
                <a16:creationId xmlns:a16="http://schemas.microsoft.com/office/drawing/2014/main" id="{5C1B41EA-E216-AE73-C17E-59FFA4CB5119}"/>
              </a:ext>
            </a:extLst>
          </p:cNvPr>
          <p:cNvSpPr/>
          <p:nvPr/>
        </p:nvSpPr>
        <p:spPr>
          <a:xfrm>
            <a:off x="806450" y="1454150"/>
            <a:ext cx="10541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从原型、文档到系统实现形成完整闭环，证明独立建设复杂系统的能力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8">
            <a:extLst>
              <a:ext uri="{FF2B5EF4-FFF2-40B4-BE49-F238E27FC236}">
                <a16:creationId xmlns:a16="http://schemas.microsoft.com/office/drawing/2014/main" id="{33B423F9-889C-24F7-ECCD-2D140735221A}"/>
              </a:ext>
            </a:extLst>
          </p:cNvPr>
          <p:cNvSpPr/>
          <p:nvPr/>
        </p:nvSpPr>
        <p:spPr>
          <a:xfrm>
            <a:off x="819150" y="1936750"/>
            <a:ext cx="1054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系统支持调用集、规则链、规则测试执行和多环境管理，确保业务逻辑灵活配置与稳定运行。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37CDC046-84F8-2054-2335-63393B3781B4}"/>
              </a:ext>
            </a:extLst>
          </p:cNvPr>
          <p:cNvSpPr/>
          <p:nvPr/>
        </p:nvSpPr>
        <p:spPr>
          <a:xfrm>
            <a:off x="552450" y="2813050"/>
            <a:ext cx="2381250" cy="1771650"/>
          </a:xfrm>
          <a:custGeom>
            <a:avLst/>
            <a:gdLst/>
            <a:ahLst/>
            <a:cxnLst/>
            <a:rect l="l" t="t" r="r" b="b"/>
            <a:pathLst>
              <a:path w="2381250" h="17716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ap="flat" cmpd="sng">
            <a:solidFill>
              <a:srgbClr val="92D050"/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20">
            <a:extLst>
              <a:ext uri="{FF2B5EF4-FFF2-40B4-BE49-F238E27FC236}">
                <a16:creationId xmlns:a16="http://schemas.microsoft.com/office/drawing/2014/main" id="{3D766EF0-ADC7-D930-7E28-5F151D83420B}"/>
              </a:ext>
            </a:extLst>
          </p:cNvPr>
          <p:cNvSpPr/>
          <p:nvPr/>
        </p:nvSpPr>
        <p:spPr>
          <a:xfrm>
            <a:off x="717550" y="306705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6B8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✏️</a:t>
            </a:r>
            <a:r>
              <a:rPr lang="en-US" sz="16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原型设计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21">
            <a:extLst>
              <a:ext uri="{FF2B5EF4-FFF2-40B4-BE49-F238E27FC236}">
                <a16:creationId xmlns:a16="http://schemas.microsoft.com/office/drawing/2014/main" id="{E79E66E1-A9C2-8E0C-27D7-DAD52489B13C}"/>
              </a:ext>
            </a:extLst>
          </p:cNvPr>
          <p:cNvSpPr/>
          <p:nvPr/>
        </p:nvSpPr>
        <p:spPr>
          <a:xfrm>
            <a:off x="717550" y="353695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自制原型交互，提前定义边界与流程，减少沟通成本。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E2CB74ED-8C2A-77C8-5D51-33F8BB33751D}"/>
              </a:ext>
            </a:extLst>
          </p:cNvPr>
          <p:cNvSpPr/>
          <p:nvPr/>
        </p:nvSpPr>
        <p:spPr>
          <a:xfrm>
            <a:off x="3155950" y="2813050"/>
            <a:ext cx="2381250" cy="1771650"/>
          </a:xfrm>
          <a:custGeom>
            <a:avLst/>
            <a:gdLst/>
            <a:ahLst/>
            <a:cxnLst/>
            <a:rect l="l" t="t" r="r" b="b"/>
            <a:pathLst>
              <a:path w="2381250" h="17716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ap="flat" cmpd="sng">
            <a:solidFill>
              <a:srgbClr val="92D050"/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23">
            <a:extLst>
              <a:ext uri="{FF2B5EF4-FFF2-40B4-BE49-F238E27FC236}">
                <a16:creationId xmlns:a16="http://schemas.microsoft.com/office/drawing/2014/main" id="{EC575C88-29BD-AEBA-A2B9-2CBE68FB5D8C}"/>
              </a:ext>
            </a:extLst>
          </p:cNvPr>
          <p:cNvSpPr/>
          <p:nvPr/>
        </p:nvSpPr>
        <p:spPr>
          <a:xfrm>
            <a:off x="3321050" y="306705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88C1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📄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需求文档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24">
            <a:extLst>
              <a:ext uri="{FF2B5EF4-FFF2-40B4-BE49-F238E27FC236}">
                <a16:creationId xmlns:a16="http://schemas.microsoft.com/office/drawing/2014/main" id="{9F54D1D7-7831-F8F4-CDD3-45585B2B3C25}"/>
              </a:ext>
            </a:extLst>
          </p:cNvPr>
          <p:cNvSpPr/>
          <p:nvPr/>
        </p:nvSpPr>
        <p:spPr>
          <a:xfrm>
            <a:off x="3333750" y="353695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自编管理台需求文档，清晰界定功能细节，降低后续协作理解偏差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25">
            <a:extLst>
              <a:ext uri="{FF2B5EF4-FFF2-40B4-BE49-F238E27FC236}">
                <a16:creationId xmlns:a16="http://schemas.microsoft.com/office/drawing/2014/main" id="{5E0B8368-03ED-1EEF-0848-1497D47C340A}"/>
              </a:ext>
            </a:extLst>
          </p:cNvPr>
          <p:cNvSpPr/>
          <p:nvPr/>
        </p:nvSpPr>
        <p:spPr>
          <a:xfrm>
            <a:off x="5772150" y="2813050"/>
            <a:ext cx="2381250" cy="1771650"/>
          </a:xfrm>
          <a:custGeom>
            <a:avLst/>
            <a:gdLst/>
            <a:ahLst/>
            <a:cxnLst/>
            <a:rect l="l" t="t" r="r" b="b"/>
            <a:pathLst>
              <a:path w="2381250" h="17716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ap="flat" cmpd="sng">
            <a:solidFill>
              <a:srgbClr val="92D050"/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26">
            <a:extLst>
              <a:ext uri="{FF2B5EF4-FFF2-40B4-BE49-F238E27FC236}">
                <a16:creationId xmlns:a16="http://schemas.microsoft.com/office/drawing/2014/main" id="{BAE5094F-B4D8-8957-E8D4-B7208148F6CD}"/>
              </a:ext>
            </a:extLst>
          </p:cNvPr>
          <p:cNvSpPr/>
          <p:nvPr/>
        </p:nvSpPr>
        <p:spPr>
          <a:xfrm>
            <a:off x="5937250" y="306705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⚙️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系统实现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27">
            <a:extLst>
              <a:ext uri="{FF2B5EF4-FFF2-40B4-BE49-F238E27FC236}">
                <a16:creationId xmlns:a16="http://schemas.microsoft.com/office/drawing/2014/main" id="{2A63F89D-8436-11C7-64F7-E4271E321393}"/>
              </a:ext>
            </a:extLst>
          </p:cNvPr>
          <p:cNvSpPr/>
          <p:nvPr/>
        </p:nvSpPr>
        <p:spPr>
          <a:xfrm>
            <a:off x="5937250" y="353695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独立实现规则引擎系统，完成管理台和执行能力建设。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28">
            <a:extLst>
              <a:ext uri="{FF2B5EF4-FFF2-40B4-BE49-F238E27FC236}">
                <a16:creationId xmlns:a16="http://schemas.microsoft.com/office/drawing/2014/main" id="{FE045CFF-7B0A-1023-7272-A2B360541F0C}"/>
              </a:ext>
            </a:extLst>
          </p:cNvPr>
          <p:cNvSpPr/>
          <p:nvPr/>
        </p:nvSpPr>
        <p:spPr>
          <a:xfrm>
            <a:off x="8375650" y="2813050"/>
            <a:ext cx="3257550" cy="1771650"/>
          </a:xfrm>
          <a:custGeom>
            <a:avLst/>
            <a:gdLst/>
            <a:ahLst/>
            <a:cxnLst/>
            <a:rect l="l" t="t" r="r" b="b"/>
            <a:pathLst>
              <a:path w="3257550" h="1771650">
                <a:moveTo>
                  <a:pt x="133350" y="0"/>
                </a:moveTo>
                <a:lnTo>
                  <a:pt x="3124200" y="0"/>
                </a:lnTo>
                <a:cubicBezTo>
                  <a:pt x="3197847" y="0"/>
                  <a:pt x="3257550" y="59703"/>
                  <a:pt x="3257550" y="133350"/>
                </a:cubicBezTo>
                <a:lnTo>
                  <a:pt x="3257550" y="1638300"/>
                </a:lnTo>
                <a:cubicBezTo>
                  <a:pt x="3257550" y="1711947"/>
                  <a:pt x="3197847" y="1771650"/>
                  <a:pt x="31242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ap="flat" cmpd="sng">
            <a:solidFill>
              <a:srgbClr val="92D050"/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29">
            <a:extLst>
              <a:ext uri="{FF2B5EF4-FFF2-40B4-BE49-F238E27FC236}">
                <a16:creationId xmlns:a16="http://schemas.microsoft.com/office/drawing/2014/main" id="{B6A6A5C4-5E7E-DDAC-0001-419F04DB2BA8}"/>
              </a:ext>
            </a:extLst>
          </p:cNvPr>
          <p:cNvSpPr/>
          <p:nvPr/>
        </p:nvSpPr>
        <p:spPr>
          <a:xfrm>
            <a:off x="8540750" y="306705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B9D9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🏆</a:t>
            </a:r>
            <a:r>
              <a:rPr lang="en-US" sz="1600" b="1" i="0" u="none" strike="noStrike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价值结论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0">
            <a:extLst>
              <a:ext uri="{FF2B5EF4-FFF2-40B4-BE49-F238E27FC236}">
                <a16:creationId xmlns:a16="http://schemas.microsoft.com/office/drawing/2014/main" id="{EDA48724-FBB8-8324-89F3-AD860171D4E6}"/>
              </a:ext>
            </a:extLst>
          </p:cNvPr>
          <p:cNvSpPr/>
          <p:nvPr/>
        </p:nvSpPr>
        <p:spPr>
          <a:xfrm>
            <a:off x="8553450" y="353695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从需求承接升级为方案定义与独立交付体现更强的抽象设计和Owner意识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 hidden="1">
            <a:extLst>
              <a:ext uri="{FF2B5EF4-FFF2-40B4-BE49-F238E27FC236}">
                <a16:creationId xmlns:a16="http://schemas.microsoft.com/office/drawing/2014/main" id="{AC894E6A-EC7A-3AF6-D418-4A94A9715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84" y="2378661"/>
            <a:ext cx="5579682" cy="4297779"/>
          </a:xfrm>
          <a:prstGeom prst="rect">
            <a:avLst/>
          </a:prstGeom>
        </p:spPr>
      </p:pic>
      <p:pic>
        <p:nvPicPr>
          <p:cNvPr id="20" name="图片 19" hidden="1">
            <a:extLst>
              <a:ext uri="{FF2B5EF4-FFF2-40B4-BE49-F238E27FC236}">
                <a16:creationId xmlns:a16="http://schemas.microsoft.com/office/drawing/2014/main" id="{2967831E-3C36-1582-D851-FCA39B635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351" y="2419350"/>
            <a:ext cx="586930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0E038-610C-CDE6-82DC-F0C3FE22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000C1-5B1D-3B4A-CDE8-58C8273765E5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四、关键问题突破举例（三）：签到系统重构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A3321294-BE1C-65C4-4202-EFB334CCE169}"/>
              </a:ext>
            </a:extLst>
          </p:cNvPr>
          <p:cNvSpPr/>
          <p:nvPr/>
        </p:nvSpPr>
        <p:spPr>
          <a:xfrm>
            <a:off x="355600" y="863600"/>
            <a:ext cx="11252200" cy="3124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9824F2C2-3581-C0E7-599A-88C13A1EBFD5}"/>
              </a:ext>
            </a:extLst>
          </p:cNvPr>
          <p:cNvSpPr/>
          <p:nvPr/>
        </p:nvSpPr>
        <p:spPr>
          <a:xfrm>
            <a:off x="355600" y="863600"/>
            <a:ext cx="11252200" cy="889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7F292B68-ABD9-5A3D-8D7D-86C6F65025A3}"/>
              </a:ext>
            </a:extLst>
          </p:cNvPr>
          <p:cNvSpPr/>
          <p:nvPr/>
        </p:nvSpPr>
        <p:spPr>
          <a:xfrm>
            <a:off x="558800" y="11557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11814DF0-20E6-0BF6-9372-7D43AFEB1D56}"/>
              </a:ext>
            </a:extLst>
          </p:cNvPr>
          <p:cNvSpPr/>
          <p:nvPr/>
        </p:nvSpPr>
        <p:spPr>
          <a:xfrm>
            <a:off x="584200" y="114109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签到系统重构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4B3401DD-64DF-5F42-DBC7-4FBD6615EF38}"/>
              </a:ext>
            </a:extLst>
          </p:cNvPr>
          <p:cNvSpPr/>
          <p:nvPr/>
        </p:nvSpPr>
        <p:spPr>
          <a:xfrm>
            <a:off x="558800" y="1651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❓ </a:t>
            </a:r>
            <a:r>
              <a:rPr lang="en-US" sz="13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核心痛点</a:t>
            </a: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架构腐化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类数千行，业务高度耦合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改动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极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高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性能瓶颈：全局锁致并发阻塞，核心查询O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(N²)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资损隐患：表结构混乱，无事务保障，跨时区偏差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A5C39204-194E-D217-CFEC-B7250BE20A69}"/>
              </a:ext>
            </a:extLst>
          </p:cNvPr>
          <p:cNvSpPr/>
          <p:nvPr/>
        </p:nvSpPr>
        <p:spPr>
          <a:xfrm>
            <a:off x="6096000" y="1651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✅ </a:t>
            </a:r>
            <a:r>
              <a:rPr lang="en-US" sz="13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重构动作</a:t>
            </a: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架构解耦：策略模式拆分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“公共层</a:t>
            </a:r>
            <a:r>
              <a:rPr lang="en-US" altLang="zh-CN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+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扩展层”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独立发奖引擎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性能调优：锁粒度细化至用户级，算法降至O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(N)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平滑迁移：新老双写+灰度发布，确保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迁移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零风险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75ABB693-CB00-5E5D-1D7E-6CEF6741E9FC}"/>
              </a:ext>
            </a:extLst>
          </p:cNvPr>
          <p:cNvSpPr/>
          <p:nvPr/>
        </p:nvSpPr>
        <p:spPr>
          <a:xfrm>
            <a:off x="558800" y="29845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📊 </a:t>
            </a:r>
            <a:r>
              <a:rPr lang="en-US" sz="13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关键成果</a:t>
            </a: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代码焕新：模块化高内聚，彻底消除臃肿大类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zh-CN" altLang="en-US" sz="1300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Noto Sans SC"/>
              </a:rPr>
              <a:t>平稳落地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修复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历史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漏洞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实现底座替换“业务零中断”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43" name="AutoShape 16">
            <a:extLst>
              <a:ext uri="{FF2B5EF4-FFF2-40B4-BE49-F238E27FC236}">
                <a16:creationId xmlns:a16="http://schemas.microsoft.com/office/drawing/2014/main" id="{AC8639B8-5C4F-0C96-9300-CEAFA7EAA076}"/>
              </a:ext>
            </a:extLst>
          </p:cNvPr>
          <p:cNvSpPr/>
          <p:nvPr/>
        </p:nvSpPr>
        <p:spPr>
          <a:xfrm>
            <a:off x="6096000" y="29845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💎 </a:t>
            </a:r>
            <a:r>
              <a:rPr lang="en-US" sz="1300" b="1" i="0" u="none" strike="noStrike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业务价值</a:t>
            </a:r>
            <a:r>
              <a:rPr lang="en-US" sz="1300" b="1" i="0" u="none" strike="noStrike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研发提效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签到活动通用</a:t>
            </a: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化，交付周期大幅缩短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●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Noto Sans SC"/>
              </a:rPr>
              <a:t>标准模型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确立“通用主表</a:t>
            </a:r>
            <a:r>
              <a:rPr lang="en-US" altLang="zh-CN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+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专属配置</a:t>
            </a:r>
            <a:r>
              <a:rPr lang="en-US" altLang="zh-CN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+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独立奖励”的架构范式，为后</a:t>
            </a:r>
            <a:r>
              <a:rPr lang="en-US" altLang="zh-CN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		</a:t>
            </a:r>
            <a:r>
              <a:rPr lang="zh-CN" alt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续其他营销活动沉淀了标准的数据底座</a:t>
            </a:r>
            <a:endParaRPr lang="en-US" sz="1300" b="0" i="0" u="none" strike="noStrike" dirty="0">
              <a:solidFill>
                <a:srgbClr val="5D6D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44" name="AutoShape 17">
            <a:extLst>
              <a:ext uri="{FF2B5EF4-FFF2-40B4-BE49-F238E27FC236}">
                <a16:creationId xmlns:a16="http://schemas.microsoft.com/office/drawing/2014/main" id="{6DD40512-E37E-FCB8-2204-C9DFB3BABE96}"/>
              </a:ext>
            </a:extLst>
          </p:cNvPr>
          <p:cNvSpPr/>
          <p:nvPr/>
        </p:nvSpPr>
        <p:spPr>
          <a:xfrm>
            <a:off x="355600" y="4191000"/>
            <a:ext cx="5461000" cy="1143000"/>
          </a:xfrm>
          <a:prstGeom prst="roundRect">
            <a:avLst>
              <a:gd name="adj" fmla="val 11111"/>
            </a:avLst>
          </a:prstGeom>
          <a:solidFill>
            <a:srgbClr val="FAFDF5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18">
            <a:extLst>
              <a:ext uri="{FF2B5EF4-FFF2-40B4-BE49-F238E27FC236}">
                <a16:creationId xmlns:a16="http://schemas.microsoft.com/office/drawing/2014/main" id="{D62C34AE-B6AD-71CB-8DD3-438D67320047}"/>
              </a:ext>
            </a:extLst>
          </p:cNvPr>
          <p:cNvSpPr/>
          <p:nvPr/>
        </p:nvSpPr>
        <p:spPr>
          <a:xfrm>
            <a:off x="508000" y="42926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🛠 </a:t>
            </a:r>
            <a:r>
              <a:rPr lang="en-US" sz="1300" b="1" i="0" u="none" strike="noStrike" dirty="0" err="1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技术资产沉淀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沉淀通用营销发奖引擎，解决重复造轮子问题，为后续业务拓展提供可复用的技术底座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46" name="AutoShape 19">
            <a:extLst>
              <a:ext uri="{FF2B5EF4-FFF2-40B4-BE49-F238E27FC236}">
                <a16:creationId xmlns:a16="http://schemas.microsoft.com/office/drawing/2014/main" id="{951DF4FD-0AE3-91C1-29EA-21123CE45585}"/>
              </a:ext>
            </a:extLst>
          </p:cNvPr>
          <p:cNvSpPr/>
          <p:nvPr/>
        </p:nvSpPr>
        <p:spPr>
          <a:xfrm>
            <a:off x="5969000" y="4191000"/>
            <a:ext cx="5461000" cy="1143000"/>
          </a:xfrm>
          <a:prstGeom prst="roundRect">
            <a:avLst>
              <a:gd name="adj" fmla="val 11111"/>
            </a:avLst>
          </a:prstGeom>
          <a:solidFill>
            <a:srgbClr val="FAFDF5">
              <a:alpha val="100000"/>
            </a:srgbClr>
          </a:solidFill>
          <a:ln w="12700" cap="flat" cmpd="sng">
            <a:solidFill>
              <a:srgbClr val="D8E7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20">
            <a:extLst>
              <a:ext uri="{FF2B5EF4-FFF2-40B4-BE49-F238E27FC236}">
                <a16:creationId xmlns:a16="http://schemas.microsoft.com/office/drawing/2014/main" id="{4C4269DF-416F-A32A-7646-87E479F4E7A3}"/>
              </a:ext>
            </a:extLst>
          </p:cNvPr>
          <p:cNvSpPr/>
          <p:nvPr/>
        </p:nvSpPr>
        <p:spPr>
          <a:xfrm>
            <a:off x="6121400" y="42926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🛡 </a:t>
            </a:r>
            <a:r>
              <a:rPr lang="en-US" sz="1300" b="1" i="0" u="none" strike="noStrike" dirty="0" err="1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资产安全升级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引入事务机制保障一致性，修复时区计算偏差，极大降低资损风险与客诉运维成本</a:t>
            </a:r>
            <a:r>
              <a:rPr lang="en-US" sz="1300" b="0" i="0" u="none" strike="noStrike" dirty="0">
                <a:solidFill>
                  <a:srgbClr val="5D6D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48" name="AutoShape 21">
            <a:extLst>
              <a:ext uri="{FF2B5EF4-FFF2-40B4-BE49-F238E27FC236}">
                <a16:creationId xmlns:a16="http://schemas.microsoft.com/office/drawing/2014/main" id="{6BA0306B-2CB6-9298-9736-078DC95146BE}"/>
              </a:ext>
            </a:extLst>
          </p:cNvPr>
          <p:cNvSpPr/>
          <p:nvPr/>
        </p:nvSpPr>
        <p:spPr>
          <a:xfrm>
            <a:off x="355600" y="5588000"/>
            <a:ext cx="11252200" cy="635000"/>
          </a:xfrm>
          <a:prstGeom prst="roundRect">
            <a:avLst>
              <a:gd name="adj" fmla="val 0"/>
            </a:avLst>
          </a:prstGeom>
          <a:solidFill>
            <a:srgbClr val="6B8E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2">
            <a:extLst>
              <a:ext uri="{FF2B5EF4-FFF2-40B4-BE49-F238E27FC236}">
                <a16:creationId xmlns:a16="http://schemas.microsoft.com/office/drawing/2014/main" id="{C26A2E60-1797-C6AC-27B9-FBC07A221F6B}"/>
              </a:ext>
            </a:extLst>
          </p:cNvPr>
          <p:cNvSpPr/>
          <p:nvPr/>
        </p:nvSpPr>
        <p:spPr>
          <a:xfrm>
            <a:off x="546100" y="5660572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深度重构不仅解决了眼前的技术债务，更构建了可复用的技术资产，为业务快速发展奠定坚实基础</a:t>
            </a:r>
            <a:r>
              <a:rPr lang="en-US" sz="1400" b="1" i="0" u="none" strike="noStrike" dirty="0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2278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A04DA-F30A-361F-AF5C-AC98B409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53571-40B9-A5CB-71A6-4326B8DE2A3C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四、关键问题突破举例（四）：业务交付外的主动优化和团队沉淀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6D18DB9A-38B0-DAAF-ED81-43380B7002A2}"/>
              </a:ext>
            </a:extLst>
          </p:cNvPr>
          <p:cNvSpPr/>
          <p:nvPr/>
        </p:nvSpPr>
        <p:spPr>
          <a:xfrm>
            <a:off x="508000" y="1397000"/>
            <a:ext cx="3556000" cy="4191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E3A8A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796BE13-83FE-3122-5F0D-0F442C3AAE79}"/>
              </a:ext>
            </a:extLst>
          </p:cNvPr>
          <p:cNvSpPr/>
          <p:nvPr/>
        </p:nvSpPr>
        <p:spPr>
          <a:xfrm>
            <a:off x="1841500" y="1714500"/>
            <a:ext cx="889000" cy="889000"/>
          </a:xfrm>
          <a:prstGeom prst="ellipse">
            <a:avLst/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08B5D21A-E679-FB12-DC2C-6CFE1E577B35}"/>
              </a:ext>
            </a:extLst>
          </p:cNvPr>
          <p:cNvSpPr/>
          <p:nvPr/>
        </p:nvSpPr>
        <p:spPr>
          <a:xfrm>
            <a:off x="2074333" y="1954986"/>
            <a:ext cx="423333" cy="406909"/>
          </a:xfrm>
          <a:custGeom>
            <a:avLst/>
            <a:gdLst>
              <a:gd name="connsiteX0" fmla="*/ 151170 w 423333"/>
              <a:gd name="connsiteY0" fmla="*/ 406910 h 406909"/>
              <a:gd name="connsiteX1" fmla="*/ 59138 w 423333"/>
              <a:gd name="connsiteY1" fmla="*/ 350773 h 406909"/>
              <a:gd name="connsiteX2" fmla="*/ 74083 w 423333"/>
              <a:gd name="connsiteY2" fmla="*/ 309848 h 406909"/>
              <a:gd name="connsiteX3" fmla="*/ 10583 w 423333"/>
              <a:gd name="connsiteY3" fmla="*/ 246348 h 406909"/>
              <a:gd name="connsiteX4" fmla="*/ 4297 w 423333"/>
              <a:gd name="connsiteY4" fmla="*/ 246656 h 406909"/>
              <a:gd name="connsiteX5" fmla="*/ 0 w 423333"/>
              <a:gd name="connsiteY5" fmla="*/ 204014 h 406909"/>
              <a:gd name="connsiteX6" fmla="*/ 9692 w 423333"/>
              <a:gd name="connsiteY6" fmla="*/ 140508 h 406909"/>
              <a:gd name="connsiteX7" fmla="*/ 10583 w 423333"/>
              <a:gd name="connsiteY7" fmla="*/ 140514 h 406909"/>
              <a:gd name="connsiteX8" fmla="*/ 74083 w 423333"/>
              <a:gd name="connsiteY8" fmla="*/ 77015 h 406909"/>
              <a:gd name="connsiteX9" fmla="*/ 67570 w 423333"/>
              <a:gd name="connsiteY9" fmla="*/ 48969 h 406909"/>
              <a:gd name="connsiteX10" fmla="*/ 155068 w 423333"/>
              <a:gd name="connsiteY10" fmla="*/ 0 h 406909"/>
              <a:gd name="connsiteX11" fmla="*/ 211667 w 423333"/>
              <a:gd name="connsiteY11" fmla="*/ 34681 h 406909"/>
              <a:gd name="connsiteX12" fmla="*/ 268265 w 423333"/>
              <a:gd name="connsiteY12" fmla="*/ 0 h 406909"/>
              <a:gd name="connsiteX13" fmla="*/ 355763 w 423333"/>
              <a:gd name="connsiteY13" fmla="*/ 48969 h 406909"/>
              <a:gd name="connsiteX14" fmla="*/ 349250 w 423333"/>
              <a:gd name="connsiteY14" fmla="*/ 77015 h 406909"/>
              <a:gd name="connsiteX15" fmla="*/ 412750 w 423333"/>
              <a:gd name="connsiteY15" fmla="*/ 140514 h 406909"/>
              <a:gd name="connsiteX16" fmla="*/ 413641 w 423333"/>
              <a:gd name="connsiteY16" fmla="*/ 140508 h 406909"/>
              <a:gd name="connsiteX17" fmla="*/ 423333 w 423333"/>
              <a:gd name="connsiteY17" fmla="*/ 204014 h 406909"/>
              <a:gd name="connsiteX18" fmla="*/ 419037 w 423333"/>
              <a:gd name="connsiteY18" fmla="*/ 246656 h 406909"/>
              <a:gd name="connsiteX19" fmla="*/ 412750 w 423333"/>
              <a:gd name="connsiteY19" fmla="*/ 246348 h 406909"/>
              <a:gd name="connsiteX20" fmla="*/ 349250 w 423333"/>
              <a:gd name="connsiteY20" fmla="*/ 309848 h 406909"/>
              <a:gd name="connsiteX21" fmla="*/ 364195 w 423333"/>
              <a:gd name="connsiteY21" fmla="*/ 350773 h 406909"/>
              <a:gd name="connsiteX22" fmla="*/ 272163 w 423333"/>
              <a:gd name="connsiteY22" fmla="*/ 406910 h 406909"/>
              <a:gd name="connsiteX23" fmla="*/ 211667 w 423333"/>
              <a:gd name="connsiteY23" fmla="*/ 362765 h 406909"/>
              <a:gd name="connsiteX24" fmla="*/ 151170 w 423333"/>
              <a:gd name="connsiteY24" fmla="*/ 406910 h 40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23333" h="406909">
                <a:moveTo>
                  <a:pt x="151170" y="406910"/>
                </a:moveTo>
                <a:cubicBezTo>
                  <a:pt x="115704" y="396351"/>
                  <a:pt x="84135" y="376747"/>
                  <a:pt x="59138" y="350773"/>
                </a:cubicBezTo>
                <a:cubicBezTo>
                  <a:pt x="68464" y="339720"/>
                  <a:pt x="74083" y="325440"/>
                  <a:pt x="74083" y="309848"/>
                </a:cubicBezTo>
                <a:cubicBezTo>
                  <a:pt x="74083" y="274778"/>
                  <a:pt x="45653" y="246348"/>
                  <a:pt x="10583" y="246348"/>
                </a:cubicBezTo>
                <a:cubicBezTo>
                  <a:pt x="8462" y="246348"/>
                  <a:pt x="6365" y="246453"/>
                  <a:pt x="4297" y="246656"/>
                </a:cubicBezTo>
                <a:cubicBezTo>
                  <a:pt x="1479" y="232882"/>
                  <a:pt x="0" y="218622"/>
                  <a:pt x="0" y="204014"/>
                </a:cubicBezTo>
                <a:cubicBezTo>
                  <a:pt x="0" y="181889"/>
                  <a:pt x="3395" y="160556"/>
                  <a:pt x="9692" y="140508"/>
                </a:cubicBezTo>
                <a:cubicBezTo>
                  <a:pt x="9989" y="140512"/>
                  <a:pt x="10286" y="140514"/>
                  <a:pt x="10583" y="140514"/>
                </a:cubicBezTo>
                <a:cubicBezTo>
                  <a:pt x="45653" y="140514"/>
                  <a:pt x="74083" y="112084"/>
                  <a:pt x="74083" y="77015"/>
                </a:cubicBezTo>
                <a:cubicBezTo>
                  <a:pt x="74083" y="66947"/>
                  <a:pt x="71740" y="57427"/>
                  <a:pt x="67570" y="48969"/>
                </a:cubicBezTo>
                <a:cubicBezTo>
                  <a:pt x="92049" y="26208"/>
                  <a:pt x="121925" y="9174"/>
                  <a:pt x="155068" y="0"/>
                </a:cubicBezTo>
                <a:cubicBezTo>
                  <a:pt x="165570" y="20585"/>
                  <a:pt x="186973" y="34681"/>
                  <a:pt x="211667" y="34681"/>
                </a:cubicBezTo>
                <a:cubicBezTo>
                  <a:pt x="236361" y="34681"/>
                  <a:pt x="257763" y="20585"/>
                  <a:pt x="268265" y="0"/>
                </a:cubicBezTo>
                <a:cubicBezTo>
                  <a:pt x="301408" y="9174"/>
                  <a:pt x="331285" y="26208"/>
                  <a:pt x="355763" y="48969"/>
                </a:cubicBezTo>
                <a:cubicBezTo>
                  <a:pt x="351593" y="57427"/>
                  <a:pt x="349250" y="66947"/>
                  <a:pt x="349250" y="77015"/>
                </a:cubicBezTo>
                <a:cubicBezTo>
                  <a:pt x="349250" y="112084"/>
                  <a:pt x="377680" y="140514"/>
                  <a:pt x="412750" y="140514"/>
                </a:cubicBezTo>
                <a:cubicBezTo>
                  <a:pt x="413047" y="140514"/>
                  <a:pt x="413345" y="140512"/>
                  <a:pt x="413641" y="140508"/>
                </a:cubicBezTo>
                <a:cubicBezTo>
                  <a:pt x="419938" y="160556"/>
                  <a:pt x="423333" y="181889"/>
                  <a:pt x="423333" y="204014"/>
                </a:cubicBezTo>
                <a:cubicBezTo>
                  <a:pt x="423333" y="218622"/>
                  <a:pt x="421854" y="232882"/>
                  <a:pt x="419037" y="246656"/>
                </a:cubicBezTo>
                <a:cubicBezTo>
                  <a:pt x="416969" y="246453"/>
                  <a:pt x="414872" y="246348"/>
                  <a:pt x="412750" y="246348"/>
                </a:cubicBezTo>
                <a:cubicBezTo>
                  <a:pt x="377680" y="246348"/>
                  <a:pt x="349250" y="274778"/>
                  <a:pt x="349250" y="309848"/>
                </a:cubicBezTo>
                <a:cubicBezTo>
                  <a:pt x="349250" y="325440"/>
                  <a:pt x="354870" y="339720"/>
                  <a:pt x="364195" y="350773"/>
                </a:cubicBezTo>
                <a:cubicBezTo>
                  <a:pt x="339198" y="376747"/>
                  <a:pt x="307629" y="396351"/>
                  <a:pt x="272163" y="406910"/>
                </a:cubicBezTo>
                <a:cubicBezTo>
                  <a:pt x="263978" y="381305"/>
                  <a:pt x="239988" y="362765"/>
                  <a:pt x="211667" y="362765"/>
                </a:cubicBezTo>
                <a:cubicBezTo>
                  <a:pt x="183346" y="362765"/>
                  <a:pt x="159355" y="381305"/>
                  <a:pt x="151170" y="406910"/>
                </a:cubicBezTo>
                <a:close/>
              </a:path>
            </a:pathLst>
          </a:custGeom>
          <a:solidFill>
            <a:srgbClr val="87B22E"/>
          </a:solidFill>
          <a:ln w="21034" cap="flat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9CD6D69F-94E5-8AEC-9D1A-6FAFB0E47F2D}"/>
              </a:ext>
            </a:extLst>
          </p:cNvPr>
          <p:cNvSpPr/>
          <p:nvPr/>
        </p:nvSpPr>
        <p:spPr>
          <a:xfrm>
            <a:off x="2211916" y="2084916"/>
            <a:ext cx="148166" cy="148166"/>
          </a:xfrm>
          <a:custGeom>
            <a:avLst/>
            <a:gdLst>
              <a:gd name="connsiteX0" fmla="*/ 74083 w 148166"/>
              <a:gd name="connsiteY0" fmla="*/ 148167 h 148166"/>
              <a:gd name="connsiteX1" fmla="*/ 148167 w 148166"/>
              <a:gd name="connsiteY1" fmla="*/ 74083 h 148166"/>
              <a:gd name="connsiteX2" fmla="*/ 74083 w 148166"/>
              <a:gd name="connsiteY2" fmla="*/ 0 h 148166"/>
              <a:gd name="connsiteX3" fmla="*/ 0 w 148166"/>
              <a:gd name="connsiteY3" fmla="*/ 74083 h 148166"/>
              <a:gd name="connsiteX4" fmla="*/ 74083 w 148166"/>
              <a:gd name="connsiteY4" fmla="*/ 148167 h 148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66" h="148166">
                <a:moveTo>
                  <a:pt x="74083" y="148167"/>
                </a:moveTo>
                <a:cubicBezTo>
                  <a:pt x="114998" y="148167"/>
                  <a:pt x="148167" y="114998"/>
                  <a:pt x="148167" y="74083"/>
                </a:cubicBezTo>
                <a:cubicBezTo>
                  <a:pt x="148167" y="33168"/>
                  <a:pt x="114998" y="0"/>
                  <a:pt x="74083" y="0"/>
                </a:cubicBezTo>
                <a:cubicBezTo>
                  <a:pt x="33168" y="0"/>
                  <a:pt x="0" y="33168"/>
                  <a:pt x="0" y="74083"/>
                </a:cubicBezTo>
                <a:cubicBezTo>
                  <a:pt x="0" y="114998"/>
                  <a:pt x="33168" y="148167"/>
                  <a:pt x="74083" y="148167"/>
                </a:cubicBezTo>
                <a:close/>
              </a:path>
            </a:pathLst>
          </a:custGeom>
          <a:solidFill>
            <a:srgbClr val="FFFFFF"/>
          </a:solidFill>
          <a:ln w="21034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AA78BE47-2B0F-9F6C-ED3B-3410724A1E40}"/>
              </a:ext>
            </a:extLst>
          </p:cNvPr>
          <p:cNvSpPr/>
          <p:nvPr/>
        </p:nvSpPr>
        <p:spPr>
          <a:xfrm>
            <a:off x="6350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营销转盘配置化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Connector 7">
            <a:extLst>
              <a:ext uri="{FF2B5EF4-FFF2-40B4-BE49-F238E27FC236}">
                <a16:creationId xmlns:a16="http://schemas.microsoft.com/office/drawing/2014/main" id="{67E4DFEE-F117-DAA8-81BA-785FDB772474}"/>
              </a:ext>
            </a:extLst>
          </p:cNvPr>
          <p:cNvCxnSpPr/>
          <p:nvPr/>
        </p:nvCxnSpPr>
        <p:spPr>
          <a:xfrm rot="21585677">
            <a:off x="762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8">
            <a:extLst>
              <a:ext uri="{FF2B5EF4-FFF2-40B4-BE49-F238E27FC236}">
                <a16:creationId xmlns:a16="http://schemas.microsoft.com/office/drawing/2014/main" id="{F90ED235-F18D-DA23-204A-211D9AAB56E8}"/>
              </a:ext>
            </a:extLst>
          </p:cNvPr>
          <p:cNvSpPr/>
          <p:nvPr/>
        </p:nvSpPr>
        <p:spPr>
          <a:xfrm>
            <a:off x="698500" y="342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代码耦合严重，33个子类散落，上新活动需硬编码开发。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BC5A27BF-D023-FB5E-F30E-1DBD5F247EE3}"/>
              </a:ext>
            </a:extLst>
          </p:cNvPr>
          <p:cNvSpPr/>
          <p:nvPr/>
        </p:nvSpPr>
        <p:spPr>
          <a:xfrm>
            <a:off x="698500" y="419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动作：</a:t>
            </a: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主动收敛业务逻辑，实现配置化组合，脱离硬编码依赖。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DCE26FA5-98AC-7001-F0DE-8CACD5EA65CE}"/>
              </a:ext>
            </a:extLst>
          </p:cNvPr>
          <p:cNvSpPr/>
          <p:nvPr/>
        </p:nvSpPr>
        <p:spPr>
          <a:xfrm>
            <a:off x="698500" y="5016500"/>
            <a:ext cx="3175000" cy="444500"/>
          </a:xfrm>
          <a:prstGeom prst="roundRect">
            <a:avLst>
              <a:gd name="adj" fmla="val 22857"/>
            </a:avLst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11">
            <a:extLst>
              <a:ext uri="{FF2B5EF4-FFF2-40B4-BE49-F238E27FC236}">
                <a16:creationId xmlns:a16="http://schemas.microsoft.com/office/drawing/2014/main" id="{9E3F4E5B-2D6D-8627-69F8-3D554BDBD2DB}"/>
              </a:ext>
            </a:extLst>
          </p:cNvPr>
          <p:cNvSpPr/>
          <p:nvPr/>
        </p:nvSpPr>
        <p:spPr>
          <a:xfrm>
            <a:off x="698500" y="5016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研发耗时：1天 → 2小时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12">
            <a:extLst>
              <a:ext uri="{FF2B5EF4-FFF2-40B4-BE49-F238E27FC236}">
                <a16:creationId xmlns:a16="http://schemas.microsoft.com/office/drawing/2014/main" id="{6D56C892-2430-C123-D8D9-794D6B3489C6}"/>
              </a:ext>
            </a:extLst>
          </p:cNvPr>
          <p:cNvSpPr/>
          <p:nvPr/>
        </p:nvSpPr>
        <p:spPr>
          <a:xfrm>
            <a:off x="4254500" y="1397000"/>
            <a:ext cx="3556000" cy="4191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E3A8A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13">
            <a:extLst>
              <a:ext uri="{FF2B5EF4-FFF2-40B4-BE49-F238E27FC236}">
                <a16:creationId xmlns:a16="http://schemas.microsoft.com/office/drawing/2014/main" id="{48724325-4D59-3224-E81A-6D04FB67369A}"/>
              </a:ext>
            </a:extLst>
          </p:cNvPr>
          <p:cNvSpPr/>
          <p:nvPr/>
        </p:nvSpPr>
        <p:spPr>
          <a:xfrm>
            <a:off x="5588000" y="1714500"/>
            <a:ext cx="889000" cy="889000"/>
          </a:xfrm>
          <a:prstGeom prst="ellipse">
            <a:avLst/>
          </a:prstGeom>
          <a:solidFill>
            <a:srgbClr val="92D0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834BDEB8-FC8E-BCF5-CD37-03FCBA3E2512}"/>
              </a:ext>
            </a:extLst>
          </p:cNvPr>
          <p:cNvSpPr/>
          <p:nvPr/>
        </p:nvSpPr>
        <p:spPr>
          <a:xfrm>
            <a:off x="5975942" y="2103740"/>
            <a:ext cx="123203" cy="126076"/>
          </a:xfrm>
          <a:custGeom>
            <a:avLst/>
            <a:gdLst>
              <a:gd name="connsiteX0" fmla="*/ 123203 w 123203"/>
              <a:gd name="connsiteY0" fmla="*/ 0 h 126076"/>
              <a:gd name="connsiteX1" fmla="*/ 72786 w 123203"/>
              <a:gd name="connsiteY1" fmla="*/ 113151 h 126076"/>
              <a:gd name="connsiteX2" fmla="*/ 12927 w 123203"/>
              <a:gd name="connsiteY2" fmla="*/ 114195 h 126076"/>
              <a:gd name="connsiteX3" fmla="*/ 11881 w 123203"/>
              <a:gd name="connsiteY3" fmla="*/ 54336 h 126076"/>
              <a:gd name="connsiteX4" fmla="*/ 123203 w 123203"/>
              <a:gd name="connsiteY4" fmla="*/ 0 h 126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03" h="126076">
                <a:moveTo>
                  <a:pt x="123203" y="0"/>
                </a:moveTo>
                <a:cubicBezTo>
                  <a:pt x="123203" y="0"/>
                  <a:pt x="89026" y="96333"/>
                  <a:pt x="72786" y="113151"/>
                </a:cubicBezTo>
                <a:cubicBezTo>
                  <a:pt x="56545" y="129969"/>
                  <a:pt x="29745" y="130436"/>
                  <a:pt x="12927" y="114195"/>
                </a:cubicBezTo>
                <a:cubicBezTo>
                  <a:pt x="-3892" y="97954"/>
                  <a:pt x="-4360" y="71155"/>
                  <a:pt x="11881" y="54336"/>
                </a:cubicBezTo>
                <a:cubicBezTo>
                  <a:pt x="28122" y="37518"/>
                  <a:pt x="123203" y="0"/>
                  <a:pt x="123203" y="0"/>
                </a:cubicBezTo>
                <a:close/>
              </a:path>
            </a:pathLst>
          </a:custGeom>
          <a:solidFill>
            <a:srgbClr val="87B22E"/>
          </a:solidFill>
          <a:ln w="21034" cap="flat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7A34E32B-8B37-E29A-14F4-5204E9FA6FC4}"/>
              </a:ext>
            </a:extLst>
          </p:cNvPr>
          <p:cNvSpPr/>
          <p:nvPr/>
        </p:nvSpPr>
        <p:spPr>
          <a:xfrm>
            <a:off x="5810250" y="1936750"/>
            <a:ext cx="444500" cy="379404"/>
          </a:xfrm>
          <a:custGeom>
            <a:avLst/>
            <a:gdLst>
              <a:gd name="connsiteX0" fmla="*/ 379404 w 444500"/>
              <a:gd name="connsiteY0" fmla="*/ 379404 h 379404"/>
              <a:gd name="connsiteX1" fmla="*/ 444500 w 444500"/>
              <a:gd name="connsiteY1" fmla="*/ 222250 h 379404"/>
              <a:gd name="connsiteX2" fmla="*/ 222250 w 444500"/>
              <a:gd name="connsiteY2" fmla="*/ 0 h 379404"/>
              <a:gd name="connsiteX3" fmla="*/ 0 w 444500"/>
              <a:gd name="connsiteY3" fmla="*/ 222250 h 379404"/>
              <a:gd name="connsiteX4" fmla="*/ 65096 w 444500"/>
              <a:gd name="connsiteY4" fmla="*/ 379404 h 3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00" h="379404">
                <a:moveTo>
                  <a:pt x="379404" y="379404"/>
                </a:moveTo>
                <a:cubicBezTo>
                  <a:pt x="419624" y="339185"/>
                  <a:pt x="444500" y="283623"/>
                  <a:pt x="444500" y="222250"/>
                </a:cubicBezTo>
                <a:cubicBezTo>
                  <a:pt x="444500" y="99505"/>
                  <a:pt x="344996" y="0"/>
                  <a:pt x="222250" y="0"/>
                </a:cubicBezTo>
                <a:cubicBezTo>
                  <a:pt x="99505" y="0"/>
                  <a:pt x="0" y="99505"/>
                  <a:pt x="0" y="222250"/>
                </a:cubicBezTo>
                <a:cubicBezTo>
                  <a:pt x="0" y="283623"/>
                  <a:pt x="24876" y="339185"/>
                  <a:pt x="65096" y="379404"/>
                </a:cubicBez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9C5D0E38-CA10-BFCD-169A-F3F2FBB79A79}"/>
              </a:ext>
            </a:extLst>
          </p:cNvPr>
          <p:cNvSpPr/>
          <p:nvPr/>
        </p:nvSpPr>
        <p:spPr>
          <a:xfrm>
            <a:off x="6032500" y="1947333"/>
            <a:ext cx="10583" cy="42333"/>
          </a:xfrm>
          <a:custGeom>
            <a:avLst/>
            <a:gdLst>
              <a:gd name="connsiteX0" fmla="*/ 0 w 10583"/>
              <a:gd name="connsiteY0" fmla="*/ 0 h 42333"/>
              <a:gd name="connsiteX1" fmla="*/ 0 w 10583"/>
              <a:gd name="connsiteY1" fmla="*/ 42333 h 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83" h="42333">
                <a:moveTo>
                  <a:pt x="0" y="0"/>
                </a:moveTo>
                <a:lnTo>
                  <a:pt x="0" y="42333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F0F6D22B-7FCF-83A2-CCB4-6E704B2F97AC}"/>
              </a:ext>
            </a:extLst>
          </p:cNvPr>
          <p:cNvSpPr/>
          <p:nvPr/>
        </p:nvSpPr>
        <p:spPr>
          <a:xfrm>
            <a:off x="6156714" y="2022920"/>
            <a:ext cx="32899" cy="26640"/>
          </a:xfrm>
          <a:custGeom>
            <a:avLst/>
            <a:gdLst>
              <a:gd name="connsiteX0" fmla="*/ 32899 w 32899"/>
              <a:gd name="connsiteY0" fmla="*/ 0 h 26640"/>
              <a:gd name="connsiteX1" fmla="*/ 0 w 32899"/>
              <a:gd name="connsiteY1" fmla="*/ 26640 h 2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99" h="26640">
                <a:moveTo>
                  <a:pt x="32899" y="0"/>
                </a:moveTo>
                <a:lnTo>
                  <a:pt x="0" y="2664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17B79C0A-B0DA-40F6-162E-E3C7C8F2C6F0}"/>
              </a:ext>
            </a:extLst>
          </p:cNvPr>
          <p:cNvSpPr/>
          <p:nvPr/>
        </p:nvSpPr>
        <p:spPr>
          <a:xfrm>
            <a:off x="6187279" y="2183690"/>
            <a:ext cx="41248" cy="9522"/>
          </a:xfrm>
          <a:custGeom>
            <a:avLst/>
            <a:gdLst>
              <a:gd name="connsiteX0" fmla="*/ 41249 w 41248"/>
              <a:gd name="connsiteY0" fmla="*/ 9523 h 9522"/>
              <a:gd name="connsiteX1" fmla="*/ 0 w 41248"/>
              <a:gd name="connsiteY1" fmla="*/ 0 h 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248" h="9522">
                <a:moveTo>
                  <a:pt x="41249" y="9523"/>
                </a:moveTo>
                <a:lnTo>
                  <a:pt x="0" y="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2E669672-AD5E-A3DC-31A6-6CB37641767A}"/>
              </a:ext>
            </a:extLst>
          </p:cNvPr>
          <p:cNvSpPr/>
          <p:nvPr/>
        </p:nvSpPr>
        <p:spPr>
          <a:xfrm>
            <a:off x="5836468" y="2183690"/>
            <a:ext cx="41248" cy="9522"/>
          </a:xfrm>
          <a:custGeom>
            <a:avLst/>
            <a:gdLst>
              <a:gd name="connsiteX0" fmla="*/ 0 w 41248"/>
              <a:gd name="connsiteY0" fmla="*/ 9523 h 9522"/>
              <a:gd name="connsiteX1" fmla="*/ 41248 w 41248"/>
              <a:gd name="connsiteY1" fmla="*/ 0 h 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248" h="9522">
                <a:moveTo>
                  <a:pt x="0" y="9523"/>
                </a:moveTo>
                <a:lnTo>
                  <a:pt x="41248" y="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6C5F6368-D17E-9904-BC54-E1BABFD9E0A1}"/>
              </a:ext>
            </a:extLst>
          </p:cNvPr>
          <p:cNvSpPr/>
          <p:nvPr/>
        </p:nvSpPr>
        <p:spPr>
          <a:xfrm>
            <a:off x="5875386" y="2022919"/>
            <a:ext cx="32899" cy="26641"/>
          </a:xfrm>
          <a:custGeom>
            <a:avLst/>
            <a:gdLst>
              <a:gd name="connsiteX0" fmla="*/ 0 w 32899"/>
              <a:gd name="connsiteY0" fmla="*/ 0 h 26641"/>
              <a:gd name="connsiteX1" fmla="*/ 32899 w 32899"/>
              <a:gd name="connsiteY1" fmla="*/ 26641 h 2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99" h="26641">
                <a:moveTo>
                  <a:pt x="0" y="0"/>
                </a:moveTo>
                <a:lnTo>
                  <a:pt x="32899" y="26641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83B086C9-C815-8062-43CC-EB75B5B7AC6A}"/>
              </a:ext>
            </a:extLst>
          </p:cNvPr>
          <p:cNvSpPr/>
          <p:nvPr/>
        </p:nvSpPr>
        <p:spPr>
          <a:xfrm>
            <a:off x="43815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CRM查询提速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Connector 16">
            <a:extLst>
              <a:ext uri="{FF2B5EF4-FFF2-40B4-BE49-F238E27FC236}">
                <a16:creationId xmlns:a16="http://schemas.microsoft.com/office/drawing/2014/main" id="{5FC9F582-01B5-6F39-7A76-43C0B8EADE01}"/>
              </a:ext>
            </a:extLst>
          </p:cNvPr>
          <p:cNvCxnSpPr/>
          <p:nvPr/>
        </p:nvCxnSpPr>
        <p:spPr>
          <a:xfrm rot="21585677">
            <a:off x="45085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17">
            <a:extLst>
              <a:ext uri="{FF2B5EF4-FFF2-40B4-BE49-F238E27FC236}">
                <a16:creationId xmlns:a16="http://schemas.microsoft.com/office/drawing/2014/main" id="{BF3F8B8C-306F-FD98-518D-80B2761A107E}"/>
              </a:ext>
            </a:extLst>
          </p:cNvPr>
          <p:cNvSpPr/>
          <p:nvPr/>
        </p:nvSpPr>
        <p:spPr>
          <a:xfrm>
            <a:off x="4445000" y="342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痛点</a:t>
            </a:r>
            <a:r>
              <a:rPr lang="en-US" sz="1300" b="1" i="0" u="none" strike="noStrik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杂志列表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数据查询卡顿，影响</a:t>
            </a:r>
            <a:r>
              <a:rPr lang="zh-CN" alt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使用体验</a:t>
            </a: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18">
            <a:extLst>
              <a:ext uri="{FF2B5EF4-FFF2-40B4-BE49-F238E27FC236}">
                <a16:creationId xmlns:a16="http://schemas.microsoft.com/office/drawing/2014/main" id="{358A40FE-A291-8E7E-5318-6AA5E9965F3F}"/>
              </a:ext>
            </a:extLst>
          </p:cNvPr>
          <p:cNvSpPr/>
          <p:nvPr/>
        </p:nvSpPr>
        <p:spPr>
          <a:xfrm>
            <a:off x="4445000" y="419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动作：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主动排查性能瓶颈，重构数据库查询链路与索引</a:t>
            </a: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19">
            <a:extLst>
              <a:ext uri="{FF2B5EF4-FFF2-40B4-BE49-F238E27FC236}">
                <a16:creationId xmlns:a16="http://schemas.microsoft.com/office/drawing/2014/main" id="{81834DE7-F1CA-4D0D-A5BB-5D830B93F7D9}"/>
              </a:ext>
            </a:extLst>
          </p:cNvPr>
          <p:cNvSpPr/>
          <p:nvPr/>
        </p:nvSpPr>
        <p:spPr>
          <a:xfrm>
            <a:off x="4445000" y="5016500"/>
            <a:ext cx="3175000" cy="444500"/>
          </a:xfrm>
          <a:prstGeom prst="roundRect">
            <a:avLst>
              <a:gd name="adj" fmla="val 22857"/>
            </a:avLst>
          </a:prstGeom>
          <a:solidFill>
            <a:srgbClr val="92D0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20">
            <a:extLst>
              <a:ext uri="{FF2B5EF4-FFF2-40B4-BE49-F238E27FC236}">
                <a16:creationId xmlns:a16="http://schemas.microsoft.com/office/drawing/2014/main" id="{D2DB796F-DDEC-33ED-EA8A-83FBB62A1C4A}"/>
              </a:ext>
            </a:extLst>
          </p:cNvPr>
          <p:cNvSpPr/>
          <p:nvPr/>
        </p:nvSpPr>
        <p:spPr>
          <a:xfrm>
            <a:off x="4445000" y="5016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EA58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响应时间：2s → &lt;1s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21">
            <a:extLst>
              <a:ext uri="{FF2B5EF4-FFF2-40B4-BE49-F238E27FC236}">
                <a16:creationId xmlns:a16="http://schemas.microsoft.com/office/drawing/2014/main" id="{04EF8821-7B6F-E6D9-CC1F-D6E9D7A12D7B}"/>
              </a:ext>
            </a:extLst>
          </p:cNvPr>
          <p:cNvSpPr/>
          <p:nvPr/>
        </p:nvSpPr>
        <p:spPr>
          <a:xfrm>
            <a:off x="8001000" y="1397000"/>
            <a:ext cx="3556000" cy="4191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E3A8A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22">
            <a:extLst>
              <a:ext uri="{FF2B5EF4-FFF2-40B4-BE49-F238E27FC236}">
                <a16:creationId xmlns:a16="http://schemas.microsoft.com/office/drawing/2014/main" id="{65A0A7D8-0D09-7461-FC42-65503298E2DE}"/>
              </a:ext>
            </a:extLst>
          </p:cNvPr>
          <p:cNvSpPr/>
          <p:nvPr/>
        </p:nvSpPr>
        <p:spPr>
          <a:xfrm>
            <a:off x="9334500" y="1714500"/>
            <a:ext cx="889000" cy="889000"/>
          </a:xfrm>
          <a:prstGeom prst="ellipse">
            <a:avLst/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E3EC4A36-61F5-0CDC-0AED-F90CBE4C9D72}"/>
              </a:ext>
            </a:extLst>
          </p:cNvPr>
          <p:cNvSpPr/>
          <p:nvPr/>
        </p:nvSpPr>
        <p:spPr>
          <a:xfrm>
            <a:off x="9599083" y="1957916"/>
            <a:ext cx="296333" cy="338666"/>
          </a:xfrm>
          <a:custGeom>
            <a:avLst/>
            <a:gdLst>
              <a:gd name="connsiteX0" fmla="*/ 0 w 296333"/>
              <a:gd name="connsiteY0" fmla="*/ 338667 h 338666"/>
              <a:gd name="connsiteX1" fmla="*/ 0 w 296333"/>
              <a:gd name="connsiteY1" fmla="*/ 63500 h 338666"/>
              <a:gd name="connsiteX2" fmla="*/ 63500 w 296333"/>
              <a:gd name="connsiteY2" fmla="*/ 0 h 338666"/>
              <a:gd name="connsiteX3" fmla="*/ 296333 w 296333"/>
              <a:gd name="connsiteY3" fmla="*/ 0 h 338666"/>
              <a:gd name="connsiteX4" fmla="*/ 296333 w 296333"/>
              <a:gd name="connsiteY4" fmla="*/ 275167 h 338666"/>
              <a:gd name="connsiteX5" fmla="*/ 63500 w 296333"/>
              <a:gd name="connsiteY5" fmla="*/ 275167 h 338666"/>
              <a:gd name="connsiteX6" fmla="*/ 0 w 296333"/>
              <a:gd name="connsiteY6" fmla="*/ 338667 h 33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333" h="338666">
                <a:moveTo>
                  <a:pt x="0" y="338667"/>
                </a:moveTo>
                <a:cubicBezTo>
                  <a:pt x="0" y="257140"/>
                  <a:pt x="0" y="6350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lnTo>
                  <a:pt x="296333" y="0"/>
                </a:lnTo>
                <a:lnTo>
                  <a:pt x="296333" y="275167"/>
                </a:lnTo>
                <a:cubicBezTo>
                  <a:pt x="296333" y="275167"/>
                  <a:pt x="118878" y="275167"/>
                  <a:pt x="63500" y="275167"/>
                </a:cubicBezTo>
                <a:cubicBezTo>
                  <a:pt x="28575" y="275167"/>
                  <a:pt x="0" y="303574"/>
                  <a:pt x="0" y="338667"/>
                </a:cubicBezTo>
                <a:close/>
              </a:path>
            </a:pathLst>
          </a:custGeom>
          <a:solidFill>
            <a:srgbClr val="87B22E"/>
          </a:solidFill>
          <a:ln w="21034" cap="flat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0413C778-1D2F-301A-5272-B6084FA2B360}"/>
              </a:ext>
            </a:extLst>
          </p:cNvPr>
          <p:cNvSpPr/>
          <p:nvPr/>
        </p:nvSpPr>
        <p:spPr>
          <a:xfrm>
            <a:off x="9599083" y="1979083"/>
            <a:ext cx="359833" cy="381000"/>
          </a:xfrm>
          <a:custGeom>
            <a:avLst/>
            <a:gdLst>
              <a:gd name="connsiteX0" fmla="*/ 296333 w 359833"/>
              <a:gd name="connsiteY0" fmla="*/ 254000 h 381000"/>
              <a:gd name="connsiteX1" fmla="*/ 63500 w 359833"/>
              <a:gd name="connsiteY1" fmla="*/ 254000 h 381000"/>
              <a:gd name="connsiteX2" fmla="*/ 0 w 359833"/>
              <a:gd name="connsiteY2" fmla="*/ 317500 h 381000"/>
              <a:gd name="connsiteX3" fmla="*/ 63500 w 359833"/>
              <a:gd name="connsiteY3" fmla="*/ 381000 h 381000"/>
              <a:gd name="connsiteX4" fmla="*/ 359833 w 359833"/>
              <a:gd name="connsiteY4" fmla="*/ 381000 h 381000"/>
              <a:gd name="connsiteX5" fmla="*/ 359833 w 359833"/>
              <a:gd name="connsiteY5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9833" h="381000">
                <a:moveTo>
                  <a:pt x="296333" y="254000"/>
                </a:moveTo>
                <a:cubicBezTo>
                  <a:pt x="296333" y="254000"/>
                  <a:pt x="75710" y="254000"/>
                  <a:pt x="63500" y="254000"/>
                </a:cubicBezTo>
                <a:cubicBezTo>
                  <a:pt x="28430" y="254000"/>
                  <a:pt x="0" y="282430"/>
                  <a:pt x="0" y="317500"/>
                </a:cubicBezTo>
                <a:cubicBezTo>
                  <a:pt x="0" y="352570"/>
                  <a:pt x="28430" y="381000"/>
                  <a:pt x="63500" y="381000"/>
                </a:cubicBezTo>
                <a:cubicBezTo>
                  <a:pt x="86880" y="381000"/>
                  <a:pt x="199769" y="381000"/>
                  <a:pt x="359833" y="381000"/>
                </a:cubicBezTo>
                <a:lnTo>
                  <a:pt x="359833" y="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1A77586D-A68B-CE56-F6C4-4B280CE2F489}"/>
              </a:ext>
            </a:extLst>
          </p:cNvPr>
          <p:cNvSpPr/>
          <p:nvPr/>
        </p:nvSpPr>
        <p:spPr>
          <a:xfrm>
            <a:off x="9673166" y="2296583"/>
            <a:ext cx="211666" cy="10583"/>
          </a:xfrm>
          <a:custGeom>
            <a:avLst/>
            <a:gdLst>
              <a:gd name="connsiteX0" fmla="*/ 0 w 211666"/>
              <a:gd name="connsiteY0" fmla="*/ 0 h 10583"/>
              <a:gd name="connsiteX1" fmla="*/ 211667 w 211666"/>
              <a:gd name="connsiteY1" fmla="*/ 0 h 1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1666" h="10583">
                <a:moveTo>
                  <a:pt x="0" y="0"/>
                </a:moveTo>
                <a:lnTo>
                  <a:pt x="211667" y="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24">
            <a:extLst>
              <a:ext uri="{FF2B5EF4-FFF2-40B4-BE49-F238E27FC236}">
                <a16:creationId xmlns:a16="http://schemas.microsoft.com/office/drawing/2014/main" id="{321ED28C-177C-815C-B0A2-0B2E30A821F0}"/>
              </a:ext>
            </a:extLst>
          </p:cNvPr>
          <p:cNvSpPr/>
          <p:nvPr/>
        </p:nvSpPr>
        <p:spPr>
          <a:xfrm>
            <a:off x="81280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团队机制沉淀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Connector 25">
            <a:extLst>
              <a:ext uri="{FF2B5EF4-FFF2-40B4-BE49-F238E27FC236}">
                <a16:creationId xmlns:a16="http://schemas.microsoft.com/office/drawing/2014/main" id="{F9AB3761-1B19-E4B0-5DD5-5C580DED643A}"/>
              </a:ext>
            </a:extLst>
          </p:cNvPr>
          <p:cNvCxnSpPr/>
          <p:nvPr/>
        </p:nvCxnSpPr>
        <p:spPr>
          <a:xfrm rot="21585677">
            <a:off x="8255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AutoShape 26">
            <a:extLst>
              <a:ext uri="{FF2B5EF4-FFF2-40B4-BE49-F238E27FC236}">
                <a16:creationId xmlns:a16="http://schemas.microsoft.com/office/drawing/2014/main" id="{B0D699C7-A2E5-DD3A-A0F2-816352ED0B98}"/>
              </a:ext>
            </a:extLst>
          </p:cNvPr>
          <p:cNvSpPr/>
          <p:nvPr/>
        </p:nvSpPr>
        <p:spPr>
          <a:xfrm>
            <a:off x="8191500" y="342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痛点</a:t>
            </a:r>
            <a:r>
              <a:rPr lang="en-US" sz="1300" b="1" i="0" u="none" strike="noStrik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新应用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上线流程模糊无SOP，新人Onboarding无</a:t>
            </a:r>
            <a:r>
              <a:rPr lang="zh-CN" alt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详细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指引，沟通成本高</a:t>
            </a: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AutoShape 27">
            <a:extLst>
              <a:ext uri="{FF2B5EF4-FFF2-40B4-BE49-F238E27FC236}">
                <a16:creationId xmlns:a16="http://schemas.microsoft.com/office/drawing/2014/main" id="{5D1C2E81-1CE5-4DCE-77B8-E1785C349013}"/>
              </a:ext>
            </a:extLst>
          </p:cNvPr>
          <p:cNvSpPr/>
          <p:nvPr/>
        </p:nvSpPr>
        <p:spPr>
          <a:xfrm>
            <a:off x="8191500" y="419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动作：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输出标准化SOP与新人指引，引入AI辅助工具提升研发体验</a:t>
            </a: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28">
            <a:extLst>
              <a:ext uri="{FF2B5EF4-FFF2-40B4-BE49-F238E27FC236}">
                <a16:creationId xmlns:a16="http://schemas.microsoft.com/office/drawing/2014/main" id="{94A3B6E9-C42D-B983-D5B2-C59FC7F248CB}"/>
              </a:ext>
            </a:extLst>
          </p:cNvPr>
          <p:cNvSpPr/>
          <p:nvPr/>
        </p:nvSpPr>
        <p:spPr>
          <a:xfrm>
            <a:off x="8191500" y="5016500"/>
            <a:ext cx="3175000" cy="444500"/>
          </a:xfrm>
          <a:prstGeom prst="roundRect">
            <a:avLst>
              <a:gd name="adj" fmla="val 22857"/>
            </a:avLst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AutoShape 29">
            <a:extLst>
              <a:ext uri="{FF2B5EF4-FFF2-40B4-BE49-F238E27FC236}">
                <a16:creationId xmlns:a16="http://schemas.microsoft.com/office/drawing/2014/main" id="{DB789D02-B479-5BA4-F994-2227DA53B813}"/>
              </a:ext>
            </a:extLst>
          </p:cNvPr>
          <p:cNvSpPr/>
          <p:nvPr/>
        </p:nvSpPr>
        <p:spPr>
          <a:xfrm>
            <a:off x="8191500" y="5016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EA58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成果：填补文档空白，降本增效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AutoShape 21">
            <a:extLst>
              <a:ext uri="{FF2B5EF4-FFF2-40B4-BE49-F238E27FC236}">
                <a16:creationId xmlns:a16="http://schemas.microsoft.com/office/drawing/2014/main" id="{EABE86B9-19A3-0AA5-ADC1-4D0A989B0727}"/>
              </a:ext>
            </a:extLst>
          </p:cNvPr>
          <p:cNvSpPr/>
          <p:nvPr/>
        </p:nvSpPr>
        <p:spPr>
          <a:xfrm>
            <a:off x="469900" y="5905500"/>
            <a:ext cx="11252200" cy="635000"/>
          </a:xfrm>
          <a:prstGeom prst="roundRect">
            <a:avLst>
              <a:gd name="adj" fmla="val 0"/>
            </a:avLst>
          </a:prstGeom>
          <a:solidFill>
            <a:srgbClr val="6B8E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400" b="1" dirty="0">
                <a:solidFill>
                  <a:srgbClr val="4D7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不止于交付，更致力于团队成长与效率提升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3917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ECB8C-D4BE-057D-23ED-42A7A4DB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86FEE3AD-DD6F-51FB-6FE0-2EA99110935E}"/>
              </a:ext>
            </a:extLst>
          </p:cNvPr>
          <p:cNvSpPr txBox="1">
            <a:spLocks noGrp="1"/>
          </p:cNvSpPr>
          <p:nvPr/>
        </p:nvSpPr>
        <p:spPr>
          <a:xfrm>
            <a:off x="963930" y="17399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五、</a:t>
            </a:r>
            <a:r>
              <a:rPr lang="zh-CN" sz="2800" b="1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未来工作计划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CD6ABB-13DA-74A4-ED23-8D79A3E60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37637"/>
              </p:ext>
            </p:extLst>
          </p:nvPr>
        </p:nvGraphicFramePr>
        <p:xfrm>
          <a:off x="276661" y="1136902"/>
          <a:ext cx="11638678" cy="51223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33755">
                  <a:extLst>
                    <a:ext uri="{9D8B030D-6E8A-4147-A177-3AD203B41FA5}">
                      <a16:colId xmlns:a16="http://schemas.microsoft.com/office/drawing/2014/main" val="150551764"/>
                    </a:ext>
                  </a:extLst>
                </a:gridCol>
                <a:gridCol w="6205415">
                  <a:extLst>
                    <a:ext uri="{9D8B030D-6E8A-4147-A177-3AD203B41FA5}">
                      <a16:colId xmlns:a16="http://schemas.microsoft.com/office/drawing/2014/main" val="1929531082"/>
                    </a:ext>
                  </a:extLst>
                </a:gridCol>
                <a:gridCol w="1281723">
                  <a:extLst>
                    <a:ext uri="{9D8B030D-6E8A-4147-A177-3AD203B41FA5}">
                      <a16:colId xmlns:a16="http://schemas.microsoft.com/office/drawing/2014/main" val="4084327561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542000716"/>
                    </a:ext>
                  </a:extLst>
                </a:gridCol>
              </a:tblGrid>
              <a:tr h="45890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重点方向</a:t>
                      </a:r>
                    </a:p>
                  </a:txBody>
                  <a:tcPr>
                    <a:solidFill>
                      <a:srgbClr val="87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行动计划</a:t>
                      </a:r>
                    </a:p>
                  </a:txBody>
                  <a:tcPr>
                    <a:solidFill>
                      <a:srgbClr val="87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落地时间</a:t>
                      </a:r>
                    </a:p>
                  </a:txBody>
                  <a:tcPr>
                    <a:solidFill>
                      <a:srgbClr val="87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协同方</a:t>
                      </a:r>
                    </a:p>
                  </a:txBody>
                  <a:tcPr>
                    <a:solidFill>
                      <a:srgbClr val="87B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948860"/>
                  </a:ext>
                </a:extLst>
              </a:tr>
              <a:tr h="13820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业务支撑：</a:t>
                      </a:r>
                      <a:b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会员体系升级与</a:t>
                      </a:r>
                      <a:b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营销中台化</a:t>
                      </a:r>
                      <a:endParaRPr lang="zh-CN" altLang="en-US" b="1" dirty="0">
                        <a:solidFill>
                          <a:srgbClr val="87B2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近期：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会员等级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新任务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(P0)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上线；会员中心多站点打通；重构裂变活动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中期：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落地虚拟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付费权益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(P0)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；输出标准协议支撑前端动态渲染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远期：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构建勋章与联盟权益；固化营销规则池，支撑</a:t>
                      </a: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“模板化配置”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自助上线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2026.04-05</a:t>
                      </a:r>
                      <a:br>
                        <a:rPr lang="en-US" altLang="zh-CN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2026.06-09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2026.12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产品：廖志龙、吴雨宁</a:t>
                      </a:r>
                      <a:b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业务方</a:t>
                      </a:r>
                      <a:b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前端</a:t>
                      </a:r>
                      <a:b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测试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486241"/>
                  </a:ext>
                </a:extLst>
              </a:tr>
              <a:tr h="10426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技术自建：</a:t>
                      </a:r>
                      <a:b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后端架构与系统稳定性</a:t>
                      </a:r>
                      <a:endParaRPr lang="zh-CN" altLang="en-US" b="1" dirty="0">
                        <a:solidFill>
                          <a:srgbClr val="87B2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6FA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近期 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高频接口性能调优；慢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SQL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集中治理；优化核心缓存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中期 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完善可观测性；建立核心接口超时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异常精准报警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远期 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面向黑五流量洪峰落地限流策略，保障</a:t>
                      </a: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核心链路平稳降级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6F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2026.04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2026.07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2026.11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6F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运维</a:t>
                      </a:r>
                      <a:b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</a:p>
                  </a:txBody>
                  <a:tcPr>
                    <a:solidFill>
                      <a:srgbClr val="F6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088007"/>
                  </a:ext>
                </a:extLst>
              </a:tr>
              <a:tr h="9061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效能赋能：</a:t>
                      </a:r>
                      <a:b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 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驱动与提效</a:t>
                      </a:r>
                      <a:endParaRPr lang="zh-CN" altLang="en-US" b="1" dirty="0">
                        <a:solidFill>
                          <a:srgbClr val="87B2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近期 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跑通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 Spec Coding 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，应用于复杂需求的逻辑骨架生成，加速业务交付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中期 ：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沉淀标准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Spec 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模板，提升生成可用率，开发量</a:t>
                      </a: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减少</a:t>
                      </a:r>
                      <a:r>
                        <a:rPr lang="en-US" altLang="zh-CN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15%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endParaRPr lang="en-US" altLang="zh-CN" sz="1600" b="0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远期 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编码结合营销配置化，双管齐下，整体研发成本</a:t>
                      </a: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减少</a:t>
                      </a:r>
                      <a:r>
                        <a:rPr lang="en-US" altLang="zh-CN" sz="16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30%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2026.04-05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2026.08</a:t>
                      </a: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b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2026.12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D7EB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团队内部</a:t>
                      </a:r>
                      <a:b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</a:p>
                  </a:txBody>
                  <a:tcPr>
                    <a:solidFill>
                      <a:srgbClr val="D7EB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200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82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2EA2A-8864-32D0-EC04-94CFE28D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D6826A-2E3A-4164-36E3-976D21A13FEB}"/>
              </a:ext>
            </a:extLst>
          </p:cNvPr>
          <p:cNvSpPr txBox="1"/>
          <p:nvPr/>
        </p:nvSpPr>
        <p:spPr>
          <a:xfrm>
            <a:off x="1074420" y="164465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六、个人的不足与提升计划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0B5D173D-305D-79F6-1E3C-A5B0ACECC525}"/>
              </a:ext>
            </a:extLst>
          </p:cNvPr>
          <p:cNvSpPr/>
          <p:nvPr/>
        </p:nvSpPr>
        <p:spPr>
          <a:xfrm>
            <a:off x="635000" y="1187450"/>
            <a:ext cx="3429000" cy="4767942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A42D3868-D14D-7A7E-FEAC-869B2BA861BD}"/>
              </a:ext>
            </a:extLst>
          </p:cNvPr>
          <p:cNvSpPr/>
          <p:nvPr/>
        </p:nvSpPr>
        <p:spPr>
          <a:xfrm>
            <a:off x="1841500" y="1568450"/>
            <a:ext cx="1016000" cy="1016000"/>
          </a:xfrm>
          <a:prstGeom prst="ellipse">
            <a:avLst/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AF13CC45-2D6B-989F-6489-5DC79C4DE79D}"/>
              </a:ext>
            </a:extLst>
          </p:cNvPr>
          <p:cNvSpPr/>
          <p:nvPr/>
        </p:nvSpPr>
        <p:spPr>
          <a:xfrm>
            <a:off x="2442633" y="1843616"/>
            <a:ext cx="93133" cy="93133"/>
          </a:xfrm>
          <a:custGeom>
            <a:avLst/>
            <a:gdLst>
              <a:gd name="connsiteX0" fmla="*/ 46567 w 93133"/>
              <a:gd name="connsiteY0" fmla="*/ 93133 h 93133"/>
              <a:gd name="connsiteX1" fmla="*/ 93133 w 93133"/>
              <a:gd name="connsiteY1" fmla="*/ 46567 h 93133"/>
              <a:gd name="connsiteX2" fmla="*/ 46567 w 93133"/>
              <a:gd name="connsiteY2" fmla="*/ 0 h 93133"/>
              <a:gd name="connsiteX3" fmla="*/ 0 w 93133"/>
              <a:gd name="connsiteY3" fmla="*/ 46567 h 93133"/>
              <a:gd name="connsiteX4" fmla="*/ 46567 w 93133"/>
              <a:gd name="connsiteY4" fmla="*/ 93133 h 9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133" h="93133">
                <a:moveTo>
                  <a:pt x="46567" y="93133"/>
                </a:moveTo>
                <a:cubicBezTo>
                  <a:pt x="72284" y="93133"/>
                  <a:pt x="93133" y="72284"/>
                  <a:pt x="93133" y="46567"/>
                </a:cubicBezTo>
                <a:cubicBezTo>
                  <a:pt x="93133" y="20849"/>
                  <a:pt x="72284" y="0"/>
                  <a:pt x="46567" y="0"/>
                </a:cubicBezTo>
                <a:cubicBezTo>
                  <a:pt x="20849" y="0"/>
                  <a:pt x="0" y="20849"/>
                  <a:pt x="0" y="46567"/>
                </a:cubicBezTo>
                <a:cubicBezTo>
                  <a:pt x="0" y="72284"/>
                  <a:pt x="20849" y="93133"/>
                  <a:pt x="46567" y="93133"/>
                </a:cubicBezTo>
                <a:close/>
              </a:path>
            </a:pathLst>
          </a:custGeom>
          <a:solidFill>
            <a:srgbClr val="87B22E"/>
          </a:solidFill>
          <a:ln w="23019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3101E5B-1E53-34BC-EBBD-EC45D985FA37}"/>
              </a:ext>
            </a:extLst>
          </p:cNvPr>
          <p:cNvSpPr/>
          <p:nvPr/>
        </p:nvSpPr>
        <p:spPr>
          <a:xfrm>
            <a:off x="2186516" y="1843616"/>
            <a:ext cx="93133" cy="93133"/>
          </a:xfrm>
          <a:custGeom>
            <a:avLst/>
            <a:gdLst>
              <a:gd name="connsiteX0" fmla="*/ 46567 w 93133"/>
              <a:gd name="connsiteY0" fmla="*/ 93133 h 93133"/>
              <a:gd name="connsiteX1" fmla="*/ 93133 w 93133"/>
              <a:gd name="connsiteY1" fmla="*/ 46567 h 93133"/>
              <a:gd name="connsiteX2" fmla="*/ 46567 w 93133"/>
              <a:gd name="connsiteY2" fmla="*/ 0 h 93133"/>
              <a:gd name="connsiteX3" fmla="*/ 0 w 93133"/>
              <a:gd name="connsiteY3" fmla="*/ 46567 h 93133"/>
              <a:gd name="connsiteX4" fmla="*/ 46567 w 93133"/>
              <a:gd name="connsiteY4" fmla="*/ 93133 h 9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133" h="93133">
                <a:moveTo>
                  <a:pt x="46567" y="93133"/>
                </a:moveTo>
                <a:cubicBezTo>
                  <a:pt x="72284" y="93133"/>
                  <a:pt x="93133" y="72284"/>
                  <a:pt x="93133" y="46567"/>
                </a:cubicBezTo>
                <a:cubicBezTo>
                  <a:pt x="93133" y="20849"/>
                  <a:pt x="72284" y="0"/>
                  <a:pt x="46567" y="0"/>
                </a:cubicBezTo>
                <a:cubicBezTo>
                  <a:pt x="20849" y="0"/>
                  <a:pt x="0" y="20849"/>
                  <a:pt x="0" y="46567"/>
                </a:cubicBezTo>
                <a:cubicBezTo>
                  <a:pt x="0" y="72284"/>
                  <a:pt x="20849" y="93133"/>
                  <a:pt x="46567" y="93133"/>
                </a:cubicBezTo>
                <a:close/>
              </a:path>
            </a:pathLst>
          </a:custGeom>
          <a:solidFill>
            <a:srgbClr val="87B22E"/>
          </a:solidFill>
          <a:ln w="23019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FC43BA5E-CC27-A56D-8525-8BD3059349DA}"/>
              </a:ext>
            </a:extLst>
          </p:cNvPr>
          <p:cNvSpPr/>
          <p:nvPr/>
        </p:nvSpPr>
        <p:spPr>
          <a:xfrm>
            <a:off x="2186516" y="2216150"/>
            <a:ext cx="93133" cy="93133"/>
          </a:xfrm>
          <a:custGeom>
            <a:avLst/>
            <a:gdLst>
              <a:gd name="connsiteX0" fmla="*/ 46567 w 93133"/>
              <a:gd name="connsiteY0" fmla="*/ 93133 h 93133"/>
              <a:gd name="connsiteX1" fmla="*/ 93133 w 93133"/>
              <a:gd name="connsiteY1" fmla="*/ 46567 h 93133"/>
              <a:gd name="connsiteX2" fmla="*/ 46567 w 93133"/>
              <a:gd name="connsiteY2" fmla="*/ 0 h 93133"/>
              <a:gd name="connsiteX3" fmla="*/ 0 w 93133"/>
              <a:gd name="connsiteY3" fmla="*/ 46567 h 93133"/>
              <a:gd name="connsiteX4" fmla="*/ 46567 w 93133"/>
              <a:gd name="connsiteY4" fmla="*/ 93133 h 9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133" h="93133">
                <a:moveTo>
                  <a:pt x="46567" y="93133"/>
                </a:moveTo>
                <a:cubicBezTo>
                  <a:pt x="72284" y="93133"/>
                  <a:pt x="93133" y="72284"/>
                  <a:pt x="93133" y="46567"/>
                </a:cubicBezTo>
                <a:cubicBezTo>
                  <a:pt x="93133" y="20849"/>
                  <a:pt x="72284" y="0"/>
                  <a:pt x="46567" y="0"/>
                </a:cubicBezTo>
                <a:cubicBezTo>
                  <a:pt x="20849" y="0"/>
                  <a:pt x="0" y="20849"/>
                  <a:pt x="0" y="46567"/>
                </a:cubicBezTo>
                <a:cubicBezTo>
                  <a:pt x="0" y="72284"/>
                  <a:pt x="20849" y="93133"/>
                  <a:pt x="46567" y="93133"/>
                </a:cubicBezTo>
                <a:close/>
              </a:path>
            </a:pathLst>
          </a:custGeom>
          <a:solidFill>
            <a:srgbClr val="87B22E"/>
          </a:solidFill>
          <a:ln w="23019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6317E965-2A97-9F28-DE8C-389505753B1C}"/>
              </a:ext>
            </a:extLst>
          </p:cNvPr>
          <p:cNvSpPr/>
          <p:nvPr/>
        </p:nvSpPr>
        <p:spPr>
          <a:xfrm>
            <a:off x="2233083" y="1936750"/>
            <a:ext cx="256116" cy="279400"/>
          </a:xfrm>
          <a:custGeom>
            <a:avLst/>
            <a:gdLst>
              <a:gd name="connsiteX0" fmla="*/ 0 w 256116"/>
              <a:gd name="connsiteY0" fmla="*/ 0 h 279400"/>
              <a:gd name="connsiteX1" fmla="*/ 0 w 256116"/>
              <a:gd name="connsiteY1" fmla="*/ 279400 h 279400"/>
              <a:gd name="connsiteX2" fmla="*/ 0 w 256116"/>
              <a:gd name="connsiteY2" fmla="*/ 244475 h 279400"/>
              <a:gd name="connsiteX3" fmla="*/ 256117 w 256116"/>
              <a:gd name="connsiteY3" fmla="*/ 46567 h 279400"/>
              <a:gd name="connsiteX4" fmla="*/ 256117 w 256116"/>
              <a:gd name="connsiteY4" fmla="*/ 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16" h="279400">
                <a:moveTo>
                  <a:pt x="0" y="0"/>
                </a:moveTo>
                <a:lnTo>
                  <a:pt x="0" y="279400"/>
                </a:lnTo>
                <a:lnTo>
                  <a:pt x="0" y="244475"/>
                </a:lnTo>
                <a:cubicBezTo>
                  <a:pt x="0" y="151342"/>
                  <a:pt x="256117" y="139700"/>
                  <a:pt x="256117" y="46567"/>
                </a:cubicBezTo>
                <a:lnTo>
                  <a:pt x="256117" y="0"/>
                </a:lnTo>
              </a:path>
            </a:pathLst>
          </a:custGeom>
          <a:noFill/>
          <a:ln w="23019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05B0C50-B4BD-079B-E0AB-CE98BDFE6ABE}"/>
              </a:ext>
            </a:extLst>
          </p:cNvPr>
          <p:cNvSpPr/>
          <p:nvPr/>
        </p:nvSpPr>
        <p:spPr>
          <a:xfrm>
            <a:off x="889000" y="271145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全链路业务理解深度不足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10579CF4-EDE8-8C5E-D649-9A809542710A}"/>
              </a:ext>
            </a:extLst>
          </p:cNvPr>
          <p:cNvSpPr/>
          <p:nvPr/>
        </p:nvSpPr>
        <p:spPr>
          <a:xfrm>
            <a:off x="939800" y="3071178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现状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局限个人模块，缺乏上下游及全局架构视角。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3756F11-DEB3-6852-4CE7-DBDB870A9DEE}"/>
              </a:ext>
            </a:extLst>
          </p:cNvPr>
          <p:cNvSpPr/>
          <p:nvPr/>
        </p:nvSpPr>
        <p:spPr>
          <a:xfrm>
            <a:off x="939799" y="5135053"/>
            <a:ext cx="2921001" cy="606145"/>
          </a:xfrm>
          <a:prstGeom prst="roundRect">
            <a:avLst>
              <a:gd name="adj" fmla="val 50000"/>
            </a:avLst>
          </a:prstGeom>
          <a:solidFill>
            <a:srgbClr val="87B22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🎯 </a:t>
            </a:r>
            <a:r>
              <a:rPr lang="en-US" altLang="zh-CN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5</a:t>
            </a:r>
            <a:r>
              <a:rPr lang="zh-CN" altLang="en-US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月底：输出跨服务核心时序图</a:t>
            </a:r>
            <a:endParaRPr lang="en-US" sz="11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95E9E027-C789-B79B-DFE0-53C4E0D2831F}"/>
              </a:ext>
            </a:extLst>
          </p:cNvPr>
          <p:cNvSpPr/>
          <p:nvPr/>
        </p:nvSpPr>
        <p:spPr>
          <a:xfrm>
            <a:off x="4318000" y="1187450"/>
            <a:ext cx="3429000" cy="4767943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050EF883-3ED4-B14F-AB88-CFDFE25755DA}"/>
              </a:ext>
            </a:extLst>
          </p:cNvPr>
          <p:cNvSpPr/>
          <p:nvPr/>
        </p:nvSpPr>
        <p:spPr>
          <a:xfrm>
            <a:off x="5524500" y="1568450"/>
            <a:ext cx="1016000" cy="1016000"/>
          </a:xfrm>
          <a:prstGeom prst="ellipse">
            <a:avLst/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990C778-EDE7-C46A-CF4C-09312EF87BEB}"/>
              </a:ext>
            </a:extLst>
          </p:cNvPr>
          <p:cNvSpPr/>
          <p:nvPr/>
        </p:nvSpPr>
        <p:spPr>
          <a:xfrm>
            <a:off x="5799666" y="1843616"/>
            <a:ext cx="465666" cy="186266"/>
          </a:xfrm>
          <a:custGeom>
            <a:avLst/>
            <a:gdLst>
              <a:gd name="connsiteX0" fmla="*/ 465667 w 465666"/>
              <a:gd name="connsiteY0" fmla="*/ 0 h 186266"/>
              <a:gd name="connsiteX1" fmla="*/ 0 w 465666"/>
              <a:gd name="connsiteY1" fmla="*/ 0 h 186266"/>
              <a:gd name="connsiteX2" fmla="*/ 0 w 465666"/>
              <a:gd name="connsiteY2" fmla="*/ 186267 h 186266"/>
              <a:gd name="connsiteX3" fmla="*/ 465667 w 465666"/>
              <a:gd name="connsiteY3" fmla="*/ 186267 h 186266"/>
              <a:gd name="connsiteX4" fmla="*/ 465667 w 465666"/>
              <a:gd name="connsiteY4" fmla="*/ 0 h 186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666" h="186266">
                <a:moveTo>
                  <a:pt x="465667" y="0"/>
                </a:moveTo>
                <a:lnTo>
                  <a:pt x="0" y="0"/>
                </a:lnTo>
                <a:lnTo>
                  <a:pt x="0" y="186267"/>
                </a:lnTo>
                <a:lnTo>
                  <a:pt x="465667" y="186267"/>
                </a:lnTo>
                <a:lnTo>
                  <a:pt x="465667" y="0"/>
                </a:lnTo>
                <a:close/>
              </a:path>
            </a:pathLst>
          </a:custGeom>
          <a:solidFill>
            <a:srgbClr val="87B22E"/>
          </a:solidFill>
          <a:ln w="23019" cap="flat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1C06E0B-C543-D649-FD66-45B1896FCEFB}"/>
              </a:ext>
            </a:extLst>
          </p:cNvPr>
          <p:cNvSpPr/>
          <p:nvPr/>
        </p:nvSpPr>
        <p:spPr>
          <a:xfrm>
            <a:off x="5799666" y="2123016"/>
            <a:ext cx="465666" cy="186266"/>
          </a:xfrm>
          <a:custGeom>
            <a:avLst/>
            <a:gdLst>
              <a:gd name="connsiteX0" fmla="*/ 465667 w 465666"/>
              <a:gd name="connsiteY0" fmla="*/ 0 h 186266"/>
              <a:gd name="connsiteX1" fmla="*/ 0 w 465666"/>
              <a:gd name="connsiteY1" fmla="*/ 0 h 186266"/>
              <a:gd name="connsiteX2" fmla="*/ 0 w 465666"/>
              <a:gd name="connsiteY2" fmla="*/ 186267 h 186266"/>
              <a:gd name="connsiteX3" fmla="*/ 465667 w 465666"/>
              <a:gd name="connsiteY3" fmla="*/ 186267 h 186266"/>
              <a:gd name="connsiteX4" fmla="*/ 465667 w 465666"/>
              <a:gd name="connsiteY4" fmla="*/ 0 h 186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666" h="186266">
                <a:moveTo>
                  <a:pt x="465667" y="0"/>
                </a:moveTo>
                <a:lnTo>
                  <a:pt x="0" y="0"/>
                </a:lnTo>
                <a:lnTo>
                  <a:pt x="0" y="186267"/>
                </a:lnTo>
                <a:lnTo>
                  <a:pt x="465667" y="186267"/>
                </a:lnTo>
                <a:lnTo>
                  <a:pt x="465667" y="0"/>
                </a:lnTo>
                <a:close/>
              </a:path>
            </a:pathLst>
          </a:custGeom>
          <a:solidFill>
            <a:srgbClr val="87B22E"/>
          </a:solidFill>
          <a:ln w="23019" cap="flat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E845433-F137-D431-34EA-925F761F6345}"/>
              </a:ext>
            </a:extLst>
          </p:cNvPr>
          <p:cNvSpPr/>
          <p:nvPr/>
        </p:nvSpPr>
        <p:spPr>
          <a:xfrm>
            <a:off x="5869516" y="1913466"/>
            <a:ext cx="46566" cy="46566"/>
          </a:xfrm>
          <a:custGeom>
            <a:avLst/>
            <a:gdLst>
              <a:gd name="connsiteX0" fmla="*/ 34925 w 46566"/>
              <a:gd name="connsiteY0" fmla="*/ 0 h 46566"/>
              <a:gd name="connsiteX1" fmla="*/ 11642 w 46566"/>
              <a:gd name="connsiteY1" fmla="*/ 0 h 46566"/>
              <a:gd name="connsiteX2" fmla="*/ 0 w 46566"/>
              <a:gd name="connsiteY2" fmla="*/ 11642 h 46566"/>
              <a:gd name="connsiteX3" fmla="*/ 0 w 46566"/>
              <a:gd name="connsiteY3" fmla="*/ 34925 h 46566"/>
              <a:gd name="connsiteX4" fmla="*/ 11642 w 46566"/>
              <a:gd name="connsiteY4" fmla="*/ 46567 h 46566"/>
              <a:gd name="connsiteX5" fmla="*/ 34925 w 46566"/>
              <a:gd name="connsiteY5" fmla="*/ 46567 h 46566"/>
              <a:gd name="connsiteX6" fmla="*/ 46567 w 46566"/>
              <a:gd name="connsiteY6" fmla="*/ 34925 h 46566"/>
              <a:gd name="connsiteX7" fmla="*/ 46567 w 46566"/>
              <a:gd name="connsiteY7" fmla="*/ 11642 h 46566"/>
              <a:gd name="connsiteX8" fmla="*/ 34925 w 46566"/>
              <a:gd name="connsiteY8" fmla="*/ 0 h 4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66" h="46566">
                <a:moveTo>
                  <a:pt x="34925" y="0"/>
                </a:moveTo>
                <a:lnTo>
                  <a:pt x="11642" y="0"/>
                </a:lnTo>
                <a:cubicBezTo>
                  <a:pt x="5212" y="0"/>
                  <a:pt x="0" y="5212"/>
                  <a:pt x="0" y="11642"/>
                </a:cubicBezTo>
                <a:lnTo>
                  <a:pt x="0" y="34925"/>
                </a:lnTo>
                <a:cubicBezTo>
                  <a:pt x="0" y="41355"/>
                  <a:pt x="5212" y="46567"/>
                  <a:pt x="11642" y="46567"/>
                </a:cubicBezTo>
                <a:lnTo>
                  <a:pt x="34925" y="46567"/>
                </a:lnTo>
                <a:cubicBezTo>
                  <a:pt x="41355" y="46567"/>
                  <a:pt x="46567" y="41355"/>
                  <a:pt x="46567" y="34925"/>
                </a:cubicBezTo>
                <a:lnTo>
                  <a:pt x="46567" y="11642"/>
                </a:lnTo>
                <a:cubicBezTo>
                  <a:pt x="46567" y="5212"/>
                  <a:pt x="41355" y="0"/>
                  <a:pt x="34925" y="0"/>
                </a:cubicBezTo>
                <a:close/>
              </a:path>
            </a:pathLst>
          </a:custGeom>
          <a:solidFill>
            <a:srgbClr val="FFFFFF"/>
          </a:solidFill>
          <a:ln w="115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D8C2875D-10FC-A164-586B-A99B7008537B}"/>
              </a:ext>
            </a:extLst>
          </p:cNvPr>
          <p:cNvSpPr/>
          <p:nvPr/>
        </p:nvSpPr>
        <p:spPr>
          <a:xfrm>
            <a:off x="5869516" y="2192866"/>
            <a:ext cx="46566" cy="46566"/>
          </a:xfrm>
          <a:custGeom>
            <a:avLst/>
            <a:gdLst>
              <a:gd name="connsiteX0" fmla="*/ 34925 w 46566"/>
              <a:gd name="connsiteY0" fmla="*/ 0 h 46566"/>
              <a:gd name="connsiteX1" fmla="*/ 11642 w 46566"/>
              <a:gd name="connsiteY1" fmla="*/ 0 h 46566"/>
              <a:gd name="connsiteX2" fmla="*/ 0 w 46566"/>
              <a:gd name="connsiteY2" fmla="*/ 11642 h 46566"/>
              <a:gd name="connsiteX3" fmla="*/ 0 w 46566"/>
              <a:gd name="connsiteY3" fmla="*/ 34925 h 46566"/>
              <a:gd name="connsiteX4" fmla="*/ 11642 w 46566"/>
              <a:gd name="connsiteY4" fmla="*/ 46567 h 46566"/>
              <a:gd name="connsiteX5" fmla="*/ 34925 w 46566"/>
              <a:gd name="connsiteY5" fmla="*/ 46567 h 46566"/>
              <a:gd name="connsiteX6" fmla="*/ 46567 w 46566"/>
              <a:gd name="connsiteY6" fmla="*/ 34925 h 46566"/>
              <a:gd name="connsiteX7" fmla="*/ 46567 w 46566"/>
              <a:gd name="connsiteY7" fmla="*/ 11642 h 46566"/>
              <a:gd name="connsiteX8" fmla="*/ 34925 w 46566"/>
              <a:gd name="connsiteY8" fmla="*/ 0 h 4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66" h="46566">
                <a:moveTo>
                  <a:pt x="34925" y="0"/>
                </a:moveTo>
                <a:lnTo>
                  <a:pt x="11642" y="0"/>
                </a:lnTo>
                <a:cubicBezTo>
                  <a:pt x="5212" y="0"/>
                  <a:pt x="0" y="5212"/>
                  <a:pt x="0" y="11642"/>
                </a:cubicBezTo>
                <a:lnTo>
                  <a:pt x="0" y="34925"/>
                </a:lnTo>
                <a:cubicBezTo>
                  <a:pt x="0" y="41355"/>
                  <a:pt x="5212" y="46567"/>
                  <a:pt x="11642" y="46567"/>
                </a:cubicBezTo>
                <a:lnTo>
                  <a:pt x="34925" y="46567"/>
                </a:lnTo>
                <a:cubicBezTo>
                  <a:pt x="41355" y="46567"/>
                  <a:pt x="46567" y="41355"/>
                  <a:pt x="46567" y="34925"/>
                </a:cubicBezTo>
                <a:lnTo>
                  <a:pt x="46567" y="11642"/>
                </a:lnTo>
                <a:cubicBezTo>
                  <a:pt x="46567" y="5212"/>
                  <a:pt x="41355" y="0"/>
                  <a:pt x="34925" y="0"/>
                </a:cubicBezTo>
                <a:close/>
              </a:path>
            </a:pathLst>
          </a:custGeom>
          <a:solidFill>
            <a:srgbClr val="FFFFFF"/>
          </a:solidFill>
          <a:ln w="115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0360E7D-8CDD-FA2B-65C1-A9209F4EB17D}"/>
              </a:ext>
            </a:extLst>
          </p:cNvPr>
          <p:cNvSpPr/>
          <p:nvPr/>
        </p:nvSpPr>
        <p:spPr>
          <a:xfrm>
            <a:off x="5962650" y="1913466"/>
            <a:ext cx="46566" cy="46566"/>
          </a:xfrm>
          <a:custGeom>
            <a:avLst/>
            <a:gdLst>
              <a:gd name="connsiteX0" fmla="*/ 34925 w 46566"/>
              <a:gd name="connsiteY0" fmla="*/ 0 h 46566"/>
              <a:gd name="connsiteX1" fmla="*/ 11642 w 46566"/>
              <a:gd name="connsiteY1" fmla="*/ 0 h 46566"/>
              <a:gd name="connsiteX2" fmla="*/ 0 w 46566"/>
              <a:gd name="connsiteY2" fmla="*/ 11642 h 46566"/>
              <a:gd name="connsiteX3" fmla="*/ 0 w 46566"/>
              <a:gd name="connsiteY3" fmla="*/ 34925 h 46566"/>
              <a:gd name="connsiteX4" fmla="*/ 11642 w 46566"/>
              <a:gd name="connsiteY4" fmla="*/ 46567 h 46566"/>
              <a:gd name="connsiteX5" fmla="*/ 34925 w 46566"/>
              <a:gd name="connsiteY5" fmla="*/ 46567 h 46566"/>
              <a:gd name="connsiteX6" fmla="*/ 46567 w 46566"/>
              <a:gd name="connsiteY6" fmla="*/ 34925 h 46566"/>
              <a:gd name="connsiteX7" fmla="*/ 46567 w 46566"/>
              <a:gd name="connsiteY7" fmla="*/ 11642 h 46566"/>
              <a:gd name="connsiteX8" fmla="*/ 34925 w 46566"/>
              <a:gd name="connsiteY8" fmla="*/ 0 h 4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66" h="46566">
                <a:moveTo>
                  <a:pt x="34925" y="0"/>
                </a:moveTo>
                <a:lnTo>
                  <a:pt x="11642" y="0"/>
                </a:lnTo>
                <a:cubicBezTo>
                  <a:pt x="5212" y="0"/>
                  <a:pt x="0" y="5212"/>
                  <a:pt x="0" y="11642"/>
                </a:cubicBezTo>
                <a:lnTo>
                  <a:pt x="0" y="34925"/>
                </a:lnTo>
                <a:cubicBezTo>
                  <a:pt x="0" y="41355"/>
                  <a:pt x="5212" y="46567"/>
                  <a:pt x="11642" y="46567"/>
                </a:cubicBezTo>
                <a:lnTo>
                  <a:pt x="34925" y="46567"/>
                </a:lnTo>
                <a:cubicBezTo>
                  <a:pt x="41355" y="46567"/>
                  <a:pt x="46567" y="41355"/>
                  <a:pt x="46567" y="34925"/>
                </a:cubicBezTo>
                <a:lnTo>
                  <a:pt x="46567" y="11642"/>
                </a:lnTo>
                <a:cubicBezTo>
                  <a:pt x="46567" y="5212"/>
                  <a:pt x="41355" y="0"/>
                  <a:pt x="34925" y="0"/>
                </a:cubicBezTo>
                <a:close/>
              </a:path>
            </a:pathLst>
          </a:custGeom>
          <a:solidFill>
            <a:srgbClr val="FFFFFF"/>
          </a:solidFill>
          <a:ln w="115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062786C3-6649-2BF3-B383-4538FA4E5095}"/>
              </a:ext>
            </a:extLst>
          </p:cNvPr>
          <p:cNvSpPr/>
          <p:nvPr/>
        </p:nvSpPr>
        <p:spPr>
          <a:xfrm>
            <a:off x="5962650" y="2192866"/>
            <a:ext cx="46566" cy="46566"/>
          </a:xfrm>
          <a:custGeom>
            <a:avLst/>
            <a:gdLst>
              <a:gd name="connsiteX0" fmla="*/ 34925 w 46566"/>
              <a:gd name="connsiteY0" fmla="*/ 0 h 46566"/>
              <a:gd name="connsiteX1" fmla="*/ 11642 w 46566"/>
              <a:gd name="connsiteY1" fmla="*/ 0 h 46566"/>
              <a:gd name="connsiteX2" fmla="*/ 0 w 46566"/>
              <a:gd name="connsiteY2" fmla="*/ 11642 h 46566"/>
              <a:gd name="connsiteX3" fmla="*/ 0 w 46566"/>
              <a:gd name="connsiteY3" fmla="*/ 34925 h 46566"/>
              <a:gd name="connsiteX4" fmla="*/ 11642 w 46566"/>
              <a:gd name="connsiteY4" fmla="*/ 46567 h 46566"/>
              <a:gd name="connsiteX5" fmla="*/ 34925 w 46566"/>
              <a:gd name="connsiteY5" fmla="*/ 46567 h 46566"/>
              <a:gd name="connsiteX6" fmla="*/ 46567 w 46566"/>
              <a:gd name="connsiteY6" fmla="*/ 34925 h 46566"/>
              <a:gd name="connsiteX7" fmla="*/ 46567 w 46566"/>
              <a:gd name="connsiteY7" fmla="*/ 11642 h 46566"/>
              <a:gd name="connsiteX8" fmla="*/ 34925 w 46566"/>
              <a:gd name="connsiteY8" fmla="*/ 0 h 4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66" h="46566">
                <a:moveTo>
                  <a:pt x="34925" y="0"/>
                </a:moveTo>
                <a:lnTo>
                  <a:pt x="11642" y="0"/>
                </a:lnTo>
                <a:cubicBezTo>
                  <a:pt x="5212" y="0"/>
                  <a:pt x="0" y="5212"/>
                  <a:pt x="0" y="11642"/>
                </a:cubicBezTo>
                <a:lnTo>
                  <a:pt x="0" y="34925"/>
                </a:lnTo>
                <a:cubicBezTo>
                  <a:pt x="0" y="41355"/>
                  <a:pt x="5212" y="46567"/>
                  <a:pt x="11642" y="46567"/>
                </a:cubicBezTo>
                <a:lnTo>
                  <a:pt x="34925" y="46567"/>
                </a:lnTo>
                <a:cubicBezTo>
                  <a:pt x="41355" y="46567"/>
                  <a:pt x="46567" y="41355"/>
                  <a:pt x="46567" y="34925"/>
                </a:cubicBezTo>
                <a:lnTo>
                  <a:pt x="46567" y="11642"/>
                </a:lnTo>
                <a:cubicBezTo>
                  <a:pt x="46567" y="5212"/>
                  <a:pt x="41355" y="0"/>
                  <a:pt x="34925" y="0"/>
                </a:cubicBezTo>
                <a:close/>
              </a:path>
            </a:pathLst>
          </a:custGeom>
          <a:solidFill>
            <a:srgbClr val="FFFFFF"/>
          </a:solidFill>
          <a:ln w="115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3E39E881-E8E4-CDC2-FB29-69A1B792FB13}"/>
              </a:ext>
            </a:extLst>
          </p:cNvPr>
          <p:cNvSpPr/>
          <p:nvPr/>
        </p:nvSpPr>
        <p:spPr>
          <a:xfrm>
            <a:off x="4572000" y="271145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结果量化与数据意识不足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6B2B2572-DFCB-B9F0-0556-9BD428BBD72A}"/>
              </a:ext>
            </a:extLst>
          </p:cNvPr>
          <p:cNvSpPr/>
          <p:nvPr/>
        </p:nvSpPr>
        <p:spPr>
          <a:xfrm>
            <a:off x="4635499" y="2936421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现状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偏向“功能交付”，缺乏用数据衡量价值的闭环思维。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ACAB64F6-276F-A8C8-6068-C9143537F8AF}"/>
              </a:ext>
            </a:extLst>
          </p:cNvPr>
          <p:cNvSpPr/>
          <p:nvPr/>
        </p:nvSpPr>
        <p:spPr>
          <a:xfrm>
            <a:off x="4572001" y="5106681"/>
            <a:ext cx="2921000" cy="634517"/>
          </a:xfrm>
          <a:prstGeom prst="roundRect">
            <a:avLst>
              <a:gd name="adj" fmla="val 50000"/>
            </a:avLst>
          </a:prstGeom>
          <a:solidFill>
            <a:srgbClr val="87B22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🎯 </a:t>
            </a:r>
            <a:r>
              <a:rPr lang="en-US" altLang="zh-CN" sz="13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4</a:t>
            </a:r>
            <a:r>
              <a:rPr lang="zh-CN" altLang="en-US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月起：技术方案</a:t>
            </a:r>
            <a:r>
              <a:rPr lang="en-US" altLang="zh-CN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100%</a:t>
            </a:r>
            <a:r>
              <a:rPr lang="zh-CN" altLang="en-US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补充指标</a:t>
            </a:r>
            <a:endParaRPr lang="en-US" sz="11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D55382DA-2305-DAF0-5D76-F56B95E1B40A}"/>
              </a:ext>
            </a:extLst>
          </p:cNvPr>
          <p:cNvSpPr/>
          <p:nvPr/>
        </p:nvSpPr>
        <p:spPr>
          <a:xfrm>
            <a:off x="8001000" y="1187450"/>
            <a:ext cx="3429000" cy="4767942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8">
            <a:extLst>
              <a:ext uri="{FF2B5EF4-FFF2-40B4-BE49-F238E27FC236}">
                <a16:creationId xmlns:a16="http://schemas.microsoft.com/office/drawing/2014/main" id="{89FBD727-5CA0-DF2C-1D20-CC7AF521DDDA}"/>
              </a:ext>
            </a:extLst>
          </p:cNvPr>
          <p:cNvSpPr/>
          <p:nvPr/>
        </p:nvSpPr>
        <p:spPr>
          <a:xfrm>
            <a:off x="9207500" y="1568450"/>
            <a:ext cx="1016000" cy="1016000"/>
          </a:xfrm>
          <a:prstGeom prst="ellipse">
            <a:avLst/>
          </a:prstGeom>
          <a:solidFill>
            <a:srgbClr val="87B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19">
            <a:extLst>
              <a:ext uri="{FF2B5EF4-FFF2-40B4-BE49-F238E27FC236}">
                <a16:creationId xmlns:a16="http://schemas.microsoft.com/office/drawing/2014/main" id="{83F65A0F-0F23-DF4D-C83E-1CF839E5A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0" y="1797050"/>
            <a:ext cx="558800" cy="558800"/>
          </a:xfrm>
          <a:prstGeom prst="rect">
            <a:avLst/>
          </a:prstGeom>
        </p:spPr>
      </p:pic>
      <p:sp>
        <p:nvSpPr>
          <p:cNvPr id="19" name="AutoShape 20">
            <a:extLst>
              <a:ext uri="{FF2B5EF4-FFF2-40B4-BE49-F238E27FC236}">
                <a16:creationId xmlns:a16="http://schemas.microsoft.com/office/drawing/2014/main" id="{C375396D-707A-588C-ED33-6CB9641DEFE8}"/>
              </a:ext>
            </a:extLst>
          </p:cNvPr>
          <p:cNvSpPr/>
          <p:nvPr/>
        </p:nvSpPr>
        <p:spPr>
          <a:xfrm>
            <a:off x="8255000" y="271145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沟通与技术影响力较弱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DBFD18ED-D16F-9650-11B5-A8C433F34D10}"/>
              </a:ext>
            </a:extLst>
          </p:cNvPr>
          <p:cNvSpPr/>
          <p:nvPr/>
        </p:nvSpPr>
        <p:spPr>
          <a:xfrm>
            <a:off x="8255000" y="3811905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行动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化被动为主动。沉淀至公共</a:t>
            </a:r>
            <a:r>
              <a:rPr lang="zh-CN" altLang="en-US" sz="14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知识库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，评审中增加发声。</a:t>
            </a:r>
          </a:p>
        </p:txBody>
      </p:sp>
      <p:sp>
        <p:nvSpPr>
          <p:cNvPr id="21" name="AutoShape 22">
            <a:extLst>
              <a:ext uri="{FF2B5EF4-FFF2-40B4-BE49-F238E27FC236}">
                <a16:creationId xmlns:a16="http://schemas.microsoft.com/office/drawing/2014/main" id="{3171CBC7-D219-3FE1-D62D-E0CE572DF9E2}"/>
              </a:ext>
            </a:extLst>
          </p:cNvPr>
          <p:cNvSpPr/>
          <p:nvPr/>
        </p:nvSpPr>
        <p:spPr>
          <a:xfrm>
            <a:off x="8255000" y="5135053"/>
            <a:ext cx="2921000" cy="606145"/>
          </a:xfrm>
          <a:prstGeom prst="roundRect">
            <a:avLst>
              <a:gd name="adj" fmla="val 50000"/>
            </a:avLst>
          </a:prstGeom>
          <a:solidFill>
            <a:srgbClr val="87B22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🎯 </a:t>
            </a:r>
            <a:r>
              <a:rPr lang="en-US" altLang="zh-CN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Q2</a:t>
            </a:r>
            <a:r>
              <a:rPr lang="zh-CN" altLang="en-US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内：完成 </a:t>
            </a:r>
            <a:r>
              <a:rPr lang="en-US" altLang="zh-CN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 </a:t>
            </a:r>
            <a:r>
              <a:rPr lang="zh-CN" altLang="en-US" sz="1300" b="1" i="0" u="none" strike="noStrike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次组内技术分享</a:t>
            </a:r>
            <a:endParaRPr lang="en-US" sz="11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12DF8416-79AB-8380-0951-69941864960F}"/>
              </a:ext>
            </a:extLst>
          </p:cNvPr>
          <p:cNvSpPr/>
          <p:nvPr/>
        </p:nvSpPr>
        <p:spPr>
          <a:xfrm>
            <a:off x="4572000" y="3854133"/>
            <a:ext cx="2921000" cy="10585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行动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事前对齐指标，事后追踪复盘，用数据指导迭代。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35" name="AutoShape 21">
            <a:extLst>
              <a:ext uri="{FF2B5EF4-FFF2-40B4-BE49-F238E27FC236}">
                <a16:creationId xmlns:a16="http://schemas.microsoft.com/office/drawing/2014/main" id="{1B6CF743-F205-F54C-1B22-66E23A4A5D46}"/>
              </a:ext>
            </a:extLst>
          </p:cNvPr>
          <p:cNvSpPr/>
          <p:nvPr/>
        </p:nvSpPr>
        <p:spPr>
          <a:xfrm>
            <a:off x="8255000" y="2936421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现状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已有沉淀</a:t>
            </a:r>
            <a:r>
              <a:rPr lang="en-US" altLang="zh-CN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(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如新人指引</a:t>
            </a:r>
            <a:r>
              <a:rPr lang="en-US" altLang="zh-CN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)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但偏被动解答，主动输出不足。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36" name="AutoShape 9">
            <a:extLst>
              <a:ext uri="{FF2B5EF4-FFF2-40B4-BE49-F238E27FC236}">
                <a16:creationId xmlns:a16="http://schemas.microsoft.com/office/drawing/2014/main" id="{A06965A5-6263-B478-8C79-786D1E18841F}"/>
              </a:ext>
            </a:extLst>
          </p:cNvPr>
          <p:cNvSpPr/>
          <p:nvPr/>
        </p:nvSpPr>
        <p:spPr>
          <a:xfrm>
            <a:off x="889000" y="3811905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【</a:t>
            </a:r>
            <a:r>
              <a:rPr lang="zh-CN" altLang="en-US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行动</a:t>
            </a:r>
            <a:r>
              <a:rPr lang="en-US" altLang="zh-CN" sz="14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】 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点面结合。向下精读源码，向上梳理跨服务交互。</a:t>
            </a:r>
            <a:endParaRPr lang="en-US" sz="1400" b="0" i="0" u="none" strike="noStrike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093840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E635-767E-25A0-484B-FE77E6F9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A1DC927-9359-96A5-F123-7011215B7E49}"/>
              </a:ext>
            </a:extLst>
          </p:cNvPr>
          <p:cNvSpPr txBox="1">
            <a:spLocks noGrp="1"/>
          </p:cNvSpPr>
          <p:nvPr/>
        </p:nvSpPr>
        <p:spPr>
          <a:xfrm>
            <a:off x="1002030" y="20256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七、建议与求助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21A811F5-5A2D-1E52-5A20-807654B89E41}"/>
              </a:ext>
            </a:extLst>
          </p:cNvPr>
          <p:cNvSpPr/>
          <p:nvPr/>
        </p:nvSpPr>
        <p:spPr>
          <a:xfrm>
            <a:off x="584200" y="1015999"/>
            <a:ext cx="5334000" cy="5549558"/>
          </a:xfrm>
          <a:prstGeom prst="roundRect">
            <a:avLst>
              <a:gd name="adj" fmla="val 2631"/>
            </a:avLst>
          </a:prstGeom>
          <a:solidFill>
            <a:srgbClr val="F6FAF3"/>
          </a:solidFill>
          <a:ln w="12700" cap="flat" cmpd="sng">
            <a:solidFill>
              <a:schemeClr val="accent5">
                <a:lumMod val="95000"/>
                <a:alpha val="50000"/>
              </a:scheme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F0E40DE9-7DF7-1717-7A63-BC14AFCCD8D9}"/>
              </a:ext>
            </a:extLst>
          </p:cNvPr>
          <p:cNvSpPr/>
          <p:nvPr/>
        </p:nvSpPr>
        <p:spPr>
          <a:xfrm>
            <a:off x="1651000" y="14224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日常工作中的几点观察</a:t>
            </a:r>
            <a:endParaRPr lang="en-US" sz="1100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87EA2F8C-D565-324C-2A06-3BCA4E6456ED}"/>
              </a:ext>
            </a:extLst>
          </p:cNvPr>
          <p:cNvCxnSpPr/>
          <p:nvPr/>
        </p:nvCxnSpPr>
        <p:spPr>
          <a:xfrm rot="-9549">
            <a:off x="965209" y="2089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2D0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13">
            <a:extLst>
              <a:ext uri="{FF2B5EF4-FFF2-40B4-BE49-F238E27FC236}">
                <a16:creationId xmlns:a16="http://schemas.microsoft.com/office/drawing/2014/main" id="{60198D64-F4B9-C4DA-5A1A-7544C2BBEB5C}"/>
              </a:ext>
            </a:extLst>
          </p:cNvPr>
          <p:cNvSpPr/>
          <p:nvPr/>
        </p:nvSpPr>
        <p:spPr>
          <a:xfrm>
            <a:off x="965200" y="2222500"/>
            <a:ext cx="4572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</a:t>
            </a:r>
            <a:r>
              <a:rPr lang="zh-CN" altLang="en-US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流程配置可提效</a:t>
            </a:r>
            <a:endParaRPr lang="en-US" altLang="zh-CN" b="1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27000">
              <a:lnSpc>
                <a:spcPct val="125000"/>
              </a:lnSpc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目前域名配置、端口管理、线上 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SQL 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变更较依赖人工沟通，建议逐步引入自动化流程，降低人工漏配错配的风险。</a:t>
            </a:r>
            <a:b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</a:b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排查问题手段待完善</a:t>
            </a:r>
            <a:endParaRPr lang="en-US" altLang="zh-CN" b="1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27000">
              <a:lnSpc>
                <a:spcPct val="125000"/>
              </a:lnSpc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当前缺乏统一的日志查询系统（需手动登机器捞日志），且核心接口监控未全覆盖。线上定位问题的链路较长、耗时久。</a:t>
            </a:r>
            <a:b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</a:b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b="1" dirty="0">
                <a:solidFill>
                  <a:srgbClr val="87B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应用资产维护待规范</a:t>
            </a:r>
            <a:endParaRPr lang="en-US" altLang="zh-CN" b="1" dirty="0">
              <a:solidFill>
                <a:srgbClr val="87B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27000">
              <a:lnSpc>
                <a:spcPct val="125000"/>
              </a:lnSpc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应用基本信息（域名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/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端口等）虽有集中文档，但缺乏强制更新机制，易出现信息滞后与配置冲突，建议逐步向工具化过渡。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95D37468-7B9E-649B-1D3F-3FC279F592D5}"/>
              </a:ext>
            </a:extLst>
          </p:cNvPr>
          <p:cNvSpPr/>
          <p:nvPr/>
        </p:nvSpPr>
        <p:spPr>
          <a:xfrm>
            <a:off x="6273800" y="1015999"/>
            <a:ext cx="5334000" cy="5549557"/>
          </a:xfrm>
          <a:prstGeom prst="roundRect">
            <a:avLst>
              <a:gd name="adj" fmla="val 2631"/>
            </a:avLst>
          </a:prstGeom>
          <a:solidFill>
            <a:srgbClr val="DCFCE7"/>
          </a:solidFill>
          <a:ln w="12700" cap="flat" cmpd="sng">
            <a:solidFill>
              <a:srgbClr val="C8E391">
                <a:alpha val="5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BE00D491-9EE3-2315-084C-7F03FB5C1D4A}"/>
              </a:ext>
            </a:extLst>
          </p:cNvPr>
          <p:cNvSpPr/>
          <p:nvPr/>
        </p:nvSpPr>
        <p:spPr>
          <a:xfrm>
            <a:off x="6738288" y="1480488"/>
            <a:ext cx="338666" cy="338666"/>
          </a:xfrm>
          <a:custGeom>
            <a:avLst/>
            <a:gdLst>
              <a:gd name="connsiteX0" fmla="*/ 169334 w 338666"/>
              <a:gd name="connsiteY0" fmla="*/ 338667 h 338666"/>
              <a:gd name="connsiteX1" fmla="*/ 338667 w 338666"/>
              <a:gd name="connsiteY1" fmla="*/ 169334 h 338666"/>
              <a:gd name="connsiteX2" fmla="*/ 169334 w 338666"/>
              <a:gd name="connsiteY2" fmla="*/ 0 h 338666"/>
              <a:gd name="connsiteX3" fmla="*/ 0 w 338666"/>
              <a:gd name="connsiteY3" fmla="*/ 169334 h 338666"/>
              <a:gd name="connsiteX4" fmla="*/ 169334 w 338666"/>
              <a:gd name="connsiteY4" fmla="*/ 338667 h 33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666" h="338666">
                <a:moveTo>
                  <a:pt x="169334" y="338667"/>
                </a:moveTo>
                <a:cubicBezTo>
                  <a:pt x="262890" y="338667"/>
                  <a:pt x="338667" y="262890"/>
                  <a:pt x="338667" y="169334"/>
                </a:cubicBezTo>
                <a:cubicBezTo>
                  <a:pt x="338667" y="75777"/>
                  <a:pt x="262890" y="0"/>
                  <a:pt x="169334" y="0"/>
                </a:cubicBezTo>
                <a:cubicBezTo>
                  <a:pt x="75777" y="0"/>
                  <a:pt x="0" y="75777"/>
                  <a:pt x="0" y="169334"/>
                </a:cubicBezTo>
                <a:cubicBezTo>
                  <a:pt x="0" y="262890"/>
                  <a:pt x="75777" y="338667"/>
                  <a:pt x="169334" y="338667"/>
                </a:cubicBezTo>
                <a:close/>
              </a:path>
            </a:pathLst>
          </a:custGeom>
          <a:solidFill>
            <a:srgbClr val="10B981"/>
          </a:solidFill>
          <a:ln w="21034" cap="flat">
            <a:solidFill>
              <a:srgbClr val="10B98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8F977EC2-C07C-8883-0C98-6E7A57B6C247}"/>
              </a:ext>
            </a:extLst>
          </p:cNvPr>
          <p:cNvSpPr/>
          <p:nvPr/>
        </p:nvSpPr>
        <p:spPr>
          <a:xfrm>
            <a:off x="6822955" y="1565155"/>
            <a:ext cx="169333" cy="169333"/>
          </a:xfrm>
          <a:custGeom>
            <a:avLst/>
            <a:gdLst>
              <a:gd name="connsiteX0" fmla="*/ 84667 w 169333"/>
              <a:gd name="connsiteY0" fmla="*/ 169333 h 169333"/>
              <a:gd name="connsiteX1" fmla="*/ 169333 w 169333"/>
              <a:gd name="connsiteY1" fmla="*/ 84667 h 169333"/>
              <a:gd name="connsiteX2" fmla="*/ 84667 w 169333"/>
              <a:gd name="connsiteY2" fmla="*/ 0 h 169333"/>
              <a:gd name="connsiteX3" fmla="*/ 0 w 169333"/>
              <a:gd name="connsiteY3" fmla="*/ 84667 h 169333"/>
              <a:gd name="connsiteX4" fmla="*/ 84667 w 169333"/>
              <a:gd name="connsiteY4" fmla="*/ 169333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445" y="169333"/>
                  <a:pt x="169333" y="131445"/>
                  <a:pt x="169333" y="84667"/>
                </a:cubicBezTo>
                <a:cubicBezTo>
                  <a:pt x="169333" y="37888"/>
                  <a:pt x="131445" y="0"/>
                  <a:pt x="84667" y="0"/>
                </a:cubicBezTo>
                <a:cubicBezTo>
                  <a:pt x="37888" y="0"/>
                  <a:pt x="0" y="37888"/>
                  <a:pt x="0" y="84667"/>
                </a:cubicBezTo>
                <a:cubicBezTo>
                  <a:pt x="0" y="131445"/>
                  <a:pt x="37888" y="169333"/>
                  <a:pt x="84667" y="169333"/>
                </a:cubicBezTo>
                <a:close/>
              </a:path>
            </a:pathLst>
          </a:custGeom>
          <a:solidFill>
            <a:srgbClr val="FFFFFF"/>
          </a:solidFill>
          <a:ln w="21034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2A602D44-B8C2-B6BB-D39A-746E96F8F97E}"/>
              </a:ext>
            </a:extLst>
          </p:cNvPr>
          <p:cNvSpPr/>
          <p:nvPr/>
        </p:nvSpPr>
        <p:spPr>
          <a:xfrm>
            <a:off x="6886455" y="1628655"/>
            <a:ext cx="42333" cy="42333"/>
          </a:xfrm>
          <a:custGeom>
            <a:avLst/>
            <a:gdLst>
              <a:gd name="connsiteX0" fmla="*/ 21167 w 42333"/>
              <a:gd name="connsiteY0" fmla="*/ 42333 h 42333"/>
              <a:gd name="connsiteX1" fmla="*/ 42333 w 42333"/>
              <a:gd name="connsiteY1" fmla="*/ 21167 h 42333"/>
              <a:gd name="connsiteX2" fmla="*/ 21167 w 42333"/>
              <a:gd name="connsiteY2" fmla="*/ 0 h 42333"/>
              <a:gd name="connsiteX3" fmla="*/ 0 w 42333"/>
              <a:gd name="connsiteY3" fmla="*/ 21167 h 42333"/>
              <a:gd name="connsiteX4" fmla="*/ 21167 w 42333"/>
              <a:gd name="connsiteY4" fmla="*/ 42333 h 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333" h="42333">
                <a:moveTo>
                  <a:pt x="21167" y="42333"/>
                </a:moveTo>
                <a:cubicBezTo>
                  <a:pt x="32808" y="42333"/>
                  <a:pt x="42333" y="32808"/>
                  <a:pt x="42333" y="21167"/>
                </a:cubicBezTo>
                <a:cubicBezTo>
                  <a:pt x="42333" y="9525"/>
                  <a:pt x="32808" y="0"/>
                  <a:pt x="21167" y="0"/>
                </a:cubicBezTo>
                <a:cubicBezTo>
                  <a:pt x="9525" y="0"/>
                  <a:pt x="0" y="9525"/>
                  <a:pt x="0" y="21167"/>
                </a:cubicBezTo>
                <a:cubicBezTo>
                  <a:pt x="0" y="32808"/>
                  <a:pt x="9525" y="42333"/>
                  <a:pt x="21167" y="42333"/>
                </a:cubicBezTo>
                <a:close/>
              </a:path>
            </a:pathLst>
          </a:custGeom>
          <a:solidFill>
            <a:srgbClr val="10B981"/>
          </a:solidFill>
          <a:ln w="1051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A456932E-C527-9C41-7B5F-6845C296736F}"/>
              </a:ext>
            </a:extLst>
          </p:cNvPr>
          <p:cNvSpPr/>
          <p:nvPr/>
        </p:nvSpPr>
        <p:spPr>
          <a:xfrm>
            <a:off x="6907622" y="1438155"/>
            <a:ext cx="10583" cy="42333"/>
          </a:xfrm>
          <a:custGeom>
            <a:avLst/>
            <a:gdLst>
              <a:gd name="connsiteX0" fmla="*/ 0 w 10583"/>
              <a:gd name="connsiteY0" fmla="*/ 42333 h 42333"/>
              <a:gd name="connsiteX1" fmla="*/ 0 w 10583"/>
              <a:gd name="connsiteY1" fmla="*/ 0 h 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83" h="42333">
                <a:moveTo>
                  <a:pt x="0" y="42333"/>
                </a:moveTo>
                <a:lnTo>
                  <a:pt x="0" y="0"/>
                </a:lnTo>
              </a:path>
            </a:pathLst>
          </a:custGeom>
          <a:noFill/>
          <a:ln w="21034" cap="rnd">
            <a:solidFill>
              <a:srgbClr val="10B98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24DD724-4A0B-ECF2-9E77-2D00F0C2C156}"/>
              </a:ext>
            </a:extLst>
          </p:cNvPr>
          <p:cNvSpPr/>
          <p:nvPr/>
        </p:nvSpPr>
        <p:spPr>
          <a:xfrm>
            <a:off x="7013455" y="1787405"/>
            <a:ext cx="42333" cy="74083"/>
          </a:xfrm>
          <a:custGeom>
            <a:avLst/>
            <a:gdLst>
              <a:gd name="connsiteX0" fmla="*/ 42333 w 42333"/>
              <a:gd name="connsiteY0" fmla="*/ 74083 h 74083"/>
              <a:gd name="connsiteX1" fmla="*/ 0 w 42333"/>
              <a:gd name="connsiteY1" fmla="*/ 0 h 7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33" h="74083">
                <a:moveTo>
                  <a:pt x="42333" y="74083"/>
                </a:moveTo>
                <a:lnTo>
                  <a:pt x="0" y="0"/>
                </a:lnTo>
              </a:path>
            </a:pathLst>
          </a:custGeom>
          <a:noFill/>
          <a:ln w="21034" cap="rnd">
            <a:solidFill>
              <a:srgbClr val="10B98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57FC2D89-FDFA-EB6F-D2DD-6FA9C55B9CB2}"/>
              </a:ext>
            </a:extLst>
          </p:cNvPr>
          <p:cNvSpPr/>
          <p:nvPr/>
        </p:nvSpPr>
        <p:spPr>
          <a:xfrm>
            <a:off x="6759455" y="1787405"/>
            <a:ext cx="42333" cy="74083"/>
          </a:xfrm>
          <a:custGeom>
            <a:avLst/>
            <a:gdLst>
              <a:gd name="connsiteX0" fmla="*/ 42334 w 42333"/>
              <a:gd name="connsiteY0" fmla="*/ 0 h 74083"/>
              <a:gd name="connsiteX1" fmla="*/ 0 w 42333"/>
              <a:gd name="connsiteY1" fmla="*/ 74083 h 7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33" h="74083">
                <a:moveTo>
                  <a:pt x="42334" y="0"/>
                </a:moveTo>
                <a:lnTo>
                  <a:pt x="0" y="74083"/>
                </a:lnTo>
              </a:path>
            </a:pathLst>
          </a:custGeom>
          <a:noFill/>
          <a:ln w="21034" cap="rnd">
            <a:solidFill>
              <a:srgbClr val="10B98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09BF791C-FB48-830A-2DF7-D397F1C699A9}"/>
              </a:ext>
            </a:extLst>
          </p:cNvPr>
          <p:cNvSpPr/>
          <p:nvPr/>
        </p:nvSpPr>
        <p:spPr>
          <a:xfrm>
            <a:off x="7340600" y="14224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我的行动计划与</a:t>
            </a:r>
            <a:r>
              <a:rPr lang="zh-CN" altLang="en-US" sz="2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所需支持</a:t>
            </a:r>
            <a:endParaRPr lang="en-US" sz="1100" dirty="0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7">
            <a:extLst>
              <a:ext uri="{FF2B5EF4-FFF2-40B4-BE49-F238E27FC236}">
                <a16:creationId xmlns:a16="http://schemas.microsoft.com/office/drawing/2014/main" id="{00FF4583-C2A7-1855-4DFE-AB5E4ED6291E}"/>
              </a:ext>
            </a:extLst>
          </p:cNvPr>
          <p:cNvCxnSpPr/>
          <p:nvPr/>
        </p:nvCxnSpPr>
        <p:spPr>
          <a:xfrm rot="-9549">
            <a:off x="6654809" y="2089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8">
            <a:extLst>
              <a:ext uri="{FF2B5EF4-FFF2-40B4-BE49-F238E27FC236}">
                <a16:creationId xmlns:a16="http://schemas.microsoft.com/office/drawing/2014/main" id="{F3212F75-1623-6097-B6E3-324315E2AEFE}"/>
              </a:ext>
            </a:extLst>
          </p:cNvPr>
          <p:cNvSpPr/>
          <p:nvPr/>
        </p:nvSpPr>
        <p:spPr>
          <a:xfrm>
            <a:off x="6654800" y="2222500"/>
            <a:ext cx="4572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🎯 </a:t>
            </a:r>
            <a:r>
              <a:rPr lang="zh-CN" altLang="en-US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我的行动</a:t>
            </a:r>
            <a:r>
              <a:rPr lang="en-US" altLang="zh-CN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（</a:t>
            </a:r>
            <a:r>
              <a:rPr lang="zh-CN" altLang="en-US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从我负责的模块做起</a:t>
            </a:r>
            <a:r>
              <a:rPr lang="en-US" altLang="zh-CN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）</a:t>
            </a:r>
          </a:p>
          <a:p>
            <a:pPr marL="127000">
              <a:lnSpc>
                <a:spcPct val="125000"/>
              </a:lnSpc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我计划主动梳理负责模块的系统文档。同时，带头规范我负责模块的日志输出格式、配齐可用监控，并严格执行应用信息的同步更新，为后续接入统一基建做好准备。</a:t>
            </a:r>
            <a:b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</a:br>
            <a:endParaRPr lang="en-US" altLang="zh-CN" b="1" dirty="0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🤝 </a:t>
            </a:r>
            <a:r>
              <a:rPr lang="zh-CN" altLang="en-US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团队协同与基建诉求</a:t>
            </a:r>
            <a:endParaRPr lang="en-US" altLang="zh-CN" b="1" dirty="0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27000">
              <a:lnSpc>
                <a:spcPct val="125000"/>
              </a:lnSpc>
            </a:pPr>
            <a:r>
              <a:rPr lang="en-US" altLang="zh-CN" b="1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基建</a:t>
            </a:r>
            <a:r>
              <a:rPr lang="zh-CN" altLang="en-US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与工具诉求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：希望后续能统一规划集中的日志平台、统网关和实时监控，这样能极大释放一线研发的生产力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b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</a:b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27000">
              <a:lnSpc>
                <a:spcPct val="125000"/>
              </a:lnSpc>
            </a:pPr>
            <a:r>
              <a:rPr lang="zh-CN" altLang="en-US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规范与流程牵引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：在梳理我负责模块的应用资产、并尝试在组内建立标准配置规范的过程中，期望能得到主管与资深前辈的专业把关与经验指导。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3A93577C-1901-6864-0A80-4B9C2781067B}"/>
              </a:ext>
            </a:extLst>
          </p:cNvPr>
          <p:cNvSpPr/>
          <p:nvPr/>
        </p:nvSpPr>
        <p:spPr>
          <a:xfrm>
            <a:off x="781068" y="1206500"/>
            <a:ext cx="977900" cy="9144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B6B562C-1B2C-3885-674E-E75920DB07F5}"/>
              </a:ext>
            </a:extLst>
          </p:cNvPr>
          <p:cNvSpPr/>
          <p:nvPr/>
        </p:nvSpPr>
        <p:spPr>
          <a:xfrm>
            <a:off x="1101414" y="1466630"/>
            <a:ext cx="337206" cy="304802"/>
          </a:xfrm>
          <a:custGeom>
            <a:avLst/>
            <a:gdLst>
              <a:gd name="connsiteX0" fmla="*/ 337207 w 337206"/>
              <a:gd name="connsiteY0" fmla="*/ 157655 h 304802"/>
              <a:gd name="connsiteX1" fmla="*/ 229253 w 337206"/>
              <a:gd name="connsiteY1" fmla="*/ 304803 h 304802"/>
              <a:gd name="connsiteX2" fmla="*/ 168603 w 337206"/>
              <a:gd name="connsiteY2" fmla="*/ 304803 h 304802"/>
              <a:gd name="connsiteX3" fmla="*/ 107954 w 337206"/>
              <a:gd name="connsiteY3" fmla="*/ 304803 h 304802"/>
              <a:gd name="connsiteX4" fmla="*/ 0 w 337206"/>
              <a:gd name="connsiteY4" fmla="*/ 157655 h 304802"/>
              <a:gd name="connsiteX5" fmla="*/ 168603 w 337206"/>
              <a:gd name="connsiteY5" fmla="*/ 0 h 304802"/>
              <a:gd name="connsiteX6" fmla="*/ 337207 w 337206"/>
              <a:gd name="connsiteY6" fmla="*/ 157655 h 30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7206" h="304802">
                <a:moveTo>
                  <a:pt x="337207" y="157655"/>
                </a:moveTo>
                <a:cubicBezTo>
                  <a:pt x="337207" y="224735"/>
                  <a:pt x="292405" y="282030"/>
                  <a:pt x="229253" y="304803"/>
                </a:cubicBezTo>
                <a:lnTo>
                  <a:pt x="168603" y="304803"/>
                </a:lnTo>
                <a:lnTo>
                  <a:pt x="107954" y="304803"/>
                </a:lnTo>
                <a:cubicBezTo>
                  <a:pt x="44802" y="282030"/>
                  <a:pt x="0" y="224735"/>
                  <a:pt x="0" y="157655"/>
                </a:cubicBezTo>
                <a:cubicBezTo>
                  <a:pt x="0" y="70584"/>
                  <a:pt x="75486" y="0"/>
                  <a:pt x="168603" y="0"/>
                </a:cubicBezTo>
                <a:cubicBezTo>
                  <a:pt x="261721" y="0"/>
                  <a:pt x="337207" y="70584"/>
                  <a:pt x="337207" y="157655"/>
                </a:cubicBezTo>
                <a:close/>
              </a:path>
            </a:pathLst>
          </a:custGeom>
          <a:solidFill>
            <a:srgbClr val="87B22E"/>
          </a:solidFill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3F7E8AB-32FE-9C8F-9850-2E978EE1DA48}"/>
              </a:ext>
            </a:extLst>
          </p:cNvPr>
          <p:cNvSpPr/>
          <p:nvPr/>
        </p:nvSpPr>
        <p:spPr>
          <a:xfrm>
            <a:off x="1209369" y="1771433"/>
            <a:ext cx="121300" cy="89335"/>
          </a:xfrm>
          <a:custGeom>
            <a:avLst/>
            <a:gdLst>
              <a:gd name="connsiteX0" fmla="*/ 121301 w 121300"/>
              <a:gd name="connsiteY0" fmla="*/ 0 h 89335"/>
              <a:gd name="connsiteX1" fmla="*/ 114144 w 121300"/>
              <a:gd name="connsiteY1" fmla="*/ 80301 h 89335"/>
              <a:gd name="connsiteX2" fmla="*/ 103643 w 121300"/>
              <a:gd name="connsiteY2" fmla="*/ 89335 h 89335"/>
              <a:gd name="connsiteX3" fmla="*/ 17658 w 121300"/>
              <a:gd name="connsiteY3" fmla="*/ 89335 h 89335"/>
              <a:gd name="connsiteX4" fmla="*/ 7157 w 121300"/>
              <a:gd name="connsiteY4" fmla="*/ 80301 h 89335"/>
              <a:gd name="connsiteX5" fmla="*/ 0 w 121300"/>
              <a:gd name="connsiteY5" fmla="*/ 0 h 89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300" h="89335">
                <a:moveTo>
                  <a:pt x="121301" y="0"/>
                </a:moveTo>
                <a:lnTo>
                  <a:pt x="114144" y="80301"/>
                </a:lnTo>
                <a:cubicBezTo>
                  <a:pt x="113689" y="85408"/>
                  <a:pt x="109123" y="89335"/>
                  <a:pt x="103643" y="89335"/>
                </a:cubicBezTo>
                <a:lnTo>
                  <a:pt x="17658" y="89335"/>
                </a:lnTo>
                <a:cubicBezTo>
                  <a:pt x="12177" y="89335"/>
                  <a:pt x="7611" y="85408"/>
                  <a:pt x="7157" y="80301"/>
                </a:cubicBezTo>
                <a:lnTo>
                  <a:pt x="0" y="0"/>
                </a:lnTo>
              </a:path>
            </a:pathLst>
          </a:custGeom>
          <a:noFill/>
          <a:ln w="21034" cap="rnd">
            <a:solidFill>
              <a:srgbClr val="87B22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A920594-C586-2E97-43A0-6A211C064004}"/>
              </a:ext>
            </a:extLst>
          </p:cNvPr>
          <p:cNvSpPr/>
          <p:nvPr/>
        </p:nvSpPr>
        <p:spPr>
          <a:xfrm>
            <a:off x="1206791" y="1594725"/>
            <a:ext cx="126452" cy="59120"/>
          </a:xfrm>
          <a:custGeom>
            <a:avLst/>
            <a:gdLst>
              <a:gd name="connsiteX0" fmla="*/ 0 w 126452"/>
              <a:gd name="connsiteY0" fmla="*/ 0 h 59120"/>
              <a:gd name="connsiteX1" fmla="*/ 0 w 126452"/>
              <a:gd name="connsiteY1" fmla="*/ 59121 h 59120"/>
              <a:gd name="connsiteX2" fmla="*/ 63226 w 126452"/>
              <a:gd name="connsiteY2" fmla="*/ 29560 h 59120"/>
              <a:gd name="connsiteX3" fmla="*/ 126453 w 126452"/>
              <a:gd name="connsiteY3" fmla="*/ 59121 h 59120"/>
              <a:gd name="connsiteX4" fmla="*/ 126453 w 126452"/>
              <a:gd name="connsiteY4" fmla="*/ 0 h 5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452" h="59120">
                <a:moveTo>
                  <a:pt x="0" y="0"/>
                </a:moveTo>
                <a:lnTo>
                  <a:pt x="0" y="59121"/>
                </a:lnTo>
                <a:lnTo>
                  <a:pt x="63226" y="29560"/>
                </a:lnTo>
                <a:lnTo>
                  <a:pt x="126453" y="59121"/>
                </a:lnTo>
                <a:lnTo>
                  <a:pt x="126453" y="0"/>
                </a:lnTo>
              </a:path>
            </a:pathLst>
          </a:custGeom>
          <a:noFill/>
          <a:ln w="21034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46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11283" b="-1136"/>
          <a:stretch>
            <a:fillRect/>
          </a:stretch>
        </p:blipFill>
        <p:spPr>
          <a:xfrm>
            <a:off x="-133552" y="-993069"/>
            <a:ext cx="12325552" cy="7684852"/>
          </a:xfrm>
          <a:prstGeom prst="rect">
            <a:avLst/>
          </a:prstGeom>
          <a:effectLst>
            <a:glow rad="127000">
              <a:schemeClr val="bg1">
                <a:alpha val="3000"/>
              </a:schemeClr>
            </a:glow>
          </a:effectLst>
          <a:scene3d>
            <a:camera prst="orthographicFront"/>
            <a:lightRig rig="threePt" dir="t"/>
          </a:scene3d>
          <a:sp3d prstMaterial="softEdge"/>
        </p:spPr>
      </p:pic>
      <p:sp>
        <p:nvSpPr>
          <p:cNvPr id="5" name="矩形 4"/>
          <p:cNvSpPr/>
          <p:nvPr/>
        </p:nvSpPr>
        <p:spPr>
          <a:xfrm>
            <a:off x="-133552" y="3132306"/>
            <a:ext cx="12325552" cy="3418426"/>
          </a:xfrm>
          <a:prstGeom prst="rect">
            <a:avLst/>
          </a:prstGeom>
          <a:solidFill>
            <a:schemeClr val="bg2">
              <a:lumMod val="90000"/>
              <a:alpha val="84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022" y="3726962"/>
            <a:ext cx="970920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czZGJiMzk3NmE4MTFmY2I0NmVkOTVhODY4OTk3OTcifQ=="/>
  <p:tag name="KSO_WPP_MARK_KEY" val="3536debe-df78-49c7-bf0c-665265cb9116"/>
  <p:tag name="OPCH-C384B3F11C01A1FE27D1DD8162F3FE67E931813C4DE173FAAD7C996EBE479C0E" val="[{&quot;GradientColorId&quot;:&quot;&quot;,&quot;IsFree&quot;:true,&quot;IsGradient&quot;:false,&quot;ImagePath&quot;:&quot;&quot;,&quot;GradientColor&quot;:null,&quot;SimpleColor&quot;:&quot;#92D050&quot;},{&quot;GradientColorId&quot;:&quot;&quot;,&quot;IsFree&quot;:true,&quot;IsGradient&quot;:false,&quot;ImagePath&quot;:&quot;&quot;,&quot;GradientColor&quot;:null,&quot;SimpleColor&quot;:&quot;#00B05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7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6050</Words>
  <Application>Microsoft Office PowerPoint</Application>
  <PresentationFormat>宽屏</PresentationFormat>
  <Paragraphs>379</Paragraphs>
  <Slides>16</Slides>
  <Notes>14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微软雅黑</vt:lpstr>
      <vt:lpstr>等线</vt:lpstr>
      <vt:lpstr>Calibri</vt:lpstr>
      <vt:lpstr>Arial</vt:lpstr>
      <vt:lpstr>腾讯体 W3</vt:lpstr>
      <vt:lpstr>7_Office 主题​​</vt:lpstr>
      <vt:lpstr>6_Office 主题​​</vt:lpstr>
      <vt:lpstr>5_Office 主题​​</vt:lpstr>
      <vt:lpstr>4_Office 主题​​</vt:lpstr>
      <vt:lpstr>3_Office 主题​​</vt:lpstr>
      <vt:lpstr>2_Office 主题​​</vt:lpstr>
      <vt:lpstr>1_Office 主题​​</vt:lpstr>
      <vt:lpstr>Office 主题​​</vt:lpstr>
      <vt:lpstr>8_Office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汉涛 方</cp:lastModifiedBy>
  <cp:revision>18</cp:revision>
  <dcterms:created xsi:type="dcterms:W3CDTF">2025-07-15T03:10:04Z</dcterms:created>
  <dcterms:modified xsi:type="dcterms:W3CDTF">2026-04-06T04:18:14Z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CA7C76E29F294D83B6CF9B9FBF02C5A3</vt:lpwstr>
  </property>
  <property fmtid="{D5CDD505-2E9C-101B-9397-08002B2CF9AE}" pid="4" name="KSOSaveFontToCloudKey">
    <vt:lpwstr>304203530_embed</vt:lpwstr>
  </property>
</Properties>
</file>