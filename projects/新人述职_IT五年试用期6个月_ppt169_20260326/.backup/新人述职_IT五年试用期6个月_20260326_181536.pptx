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感谢各位领导与同事参加我的述职汇报。今天我将围绕试用期6个月的工作结果、问题改进和下一阶段计划进行汇报，核心目标是说明我如何将5年IT经验转化为团队可衡量价值。 [Pause]</a:t>
            </a:r>
          </a:p>
          <a:p>
            <a:endParaRPr lang="zh-CN" dirty="0"/>
          </a:p>
          <a:p>
            <a:r>
              <a:rPr lang="zh-CN" dirty="0"/>
              <a:t>Key points: 汇报结构 核心结论先行 价值导向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为了让大家快速把握重点，本次汇报分为四个部分：背景与角色、结果与价值、问题与改进、下阶段计划。</a:t>
            </a:r>
          </a:p>
          <a:p>
            <a:r>
              <a:rPr lang="zh-CN" dirty="0"/>
              <a:t>我会先给出结论，再用关键数据和案例支撑，最后提出资源诉求和落地计划。</a:t>
            </a:r>
          </a:p>
          <a:p>
            <a:endParaRPr lang="zh-CN" dirty="0"/>
          </a:p>
          <a:p>
            <a:r>
              <a:rPr lang="zh-CN" dirty="0"/>
              <a:t>Key points: 目录导航 结论先行 数据支撑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在进入细节之前，我先给出本阶段的总体结论：试用期目标整体达成，并且已经建立了可持续改善的工作机制。</a:t>
            </a:r>
          </a:p>
          <a:p>
            <a:r>
              <a:rPr lang="zh-CN" dirty="0"/>
              <a:t>后续页面我会具体展开做了什么、带来什么、下一步怎么做。 [Pause]</a:t>
            </a:r>
          </a:p>
          <a:p>
            <a:endParaRPr lang="zh-CN" dirty="0"/>
          </a:p>
          <a:p>
            <a:r>
              <a:rPr lang="zh-CN" dirty="0"/>
              <a:t>Key points: 总体结论 结构承接 汇报主线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这页主要说明我的角色定位和试用期目标。</a:t>
            </a:r>
          </a:p>
          <a:p>
            <a:r>
              <a:rPr lang="zh-CN" dirty="0"/>
              <a:t>基于5年IT经验，我在试用期内重点承担了交付推进与协同提效职责，目标是提升交付确定性、降低质量风险并沉淀可复用机制。</a:t>
            </a:r>
          </a:p>
          <a:p>
            <a:r>
              <a:rPr lang="zh-CN" dirty="0"/>
              <a:t>从执行贡献转向交付负责人是这6个月的关键变化。</a:t>
            </a:r>
          </a:p>
          <a:p>
            <a:endParaRPr lang="zh-CN" dirty="0"/>
          </a:p>
          <a:p>
            <a:r>
              <a:rPr lang="zh-CN" dirty="0"/>
              <a:t>Key points: 角色定位 职责边界 转变路径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接下来汇报关键指标结果，这页是核心数据页。</a:t>
            </a:r>
          </a:p>
          <a:p>
            <a:r>
              <a:rPr lang="zh-CN" dirty="0"/>
              <a:t>[Data] 四项核心KPI均达到预期，其中按期交付率达到96%，交付周期下降22%，缺陷密度下降28%。</a:t>
            </a:r>
          </a:p>
          <a:p>
            <a:r>
              <a:rPr lang="zh-CN" dirty="0"/>
              <a:t>这些结果说明当前方法不仅能交付，还能稳定地提升质量和效率。 [Pause]</a:t>
            </a:r>
          </a:p>
          <a:p>
            <a:endParaRPr lang="zh-CN" dirty="0"/>
          </a:p>
          <a:p>
            <a:r>
              <a:rPr lang="zh-CN" dirty="0"/>
              <a:t>Key points: KPI达成 目标对比 结果解读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仅有指标还不够，这页补充两个代表性项目案例。</a:t>
            </a:r>
          </a:p>
          <a:p>
            <a:r>
              <a:rPr lang="zh-CN" dirty="0"/>
              <a:t>案例A通过里程碑拆分将周期从8周压缩到6周；案例B通过监控与分级处理提升了31%的问题修复效率。</a:t>
            </a:r>
          </a:p>
          <a:p>
            <a:r>
              <a:rPr lang="zh-CN" dirty="0"/>
              <a:t>这证明改进方法可在不同场景下复用并持续产出业务价值。</a:t>
            </a:r>
          </a:p>
          <a:p>
            <a:endParaRPr lang="zh-CN" dirty="0"/>
          </a:p>
          <a:p>
            <a:r>
              <a:rPr lang="zh-CN" dirty="0"/>
              <a:t>Key points: 案例证据 前后对比 业务价值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在成绩之外，也必须清晰识别问题和根因。</a:t>
            </a:r>
          </a:p>
          <a:p>
            <a:r>
              <a:rPr lang="zh-CN" dirty="0"/>
              <a:t>当前主要瓶颈集中在流程标准化和跨团队同步节奏，表现为需求口径不一致、响应机制依赖个人经验。</a:t>
            </a:r>
          </a:p>
          <a:p>
            <a:r>
              <a:rPr lang="zh-CN" dirty="0"/>
              <a:t>这也是下一阶段优先攻坚的方向。</a:t>
            </a:r>
          </a:p>
          <a:p>
            <a:endParaRPr lang="zh-CN" dirty="0"/>
          </a:p>
          <a:p>
            <a:r>
              <a:rPr lang="zh-CN" dirty="0"/>
              <a:t>Key points: 问题识别 根因拆解 优先级判断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针对问题，我们已经完成第一轮改进行动并形成机制沉淀。</a:t>
            </a:r>
          </a:p>
          <a:p>
            <a:r>
              <a:rPr lang="zh-CN" dirty="0"/>
              <a:t>包括需求评审清单、上线验收标准、风险同步机制和复盘模板标准化。</a:t>
            </a:r>
          </a:p>
          <a:p>
            <a:r>
              <a:rPr lang="zh-CN" dirty="0"/>
              <a:t>这些动作让改善不依赖个体，而是能够复制到团队流程中。</a:t>
            </a:r>
          </a:p>
          <a:p>
            <a:endParaRPr lang="zh-CN" dirty="0"/>
          </a:p>
          <a:p>
            <a:r>
              <a:rPr lang="zh-CN" dirty="0"/>
              <a:t>Key points: 改进行动 机制化沉淀 可复制性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下一阶段计划围绕效率、质量和可复制三条主线推进。</a:t>
            </a:r>
          </a:p>
          <a:p>
            <a:r>
              <a:rPr lang="zh-CN" dirty="0"/>
              <a:t>按里程碑拆分到6个月：前两个月做流程自动化试点，中段强化质量看板，后段固化协同机制并复盘扩展。</a:t>
            </a:r>
          </a:p>
          <a:p>
            <a:r>
              <a:rPr lang="zh-CN" dirty="0"/>
              <a:t>目标是再降低15%交付周期，并进一步提升稳定性。</a:t>
            </a:r>
          </a:p>
          <a:p>
            <a:endParaRPr lang="zh-CN" dirty="0"/>
          </a:p>
          <a:p>
            <a:r>
              <a:rPr lang="zh-CN" dirty="0"/>
              <a:t>Key points: 里程碑计划 量化目标 推进节奏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为保证计划达成，我同步汇报风险与支持诉求。</a:t>
            </a:r>
          </a:p>
          <a:p>
            <a:r>
              <a:rPr lang="zh-CN" dirty="0"/>
              <a:t>高优先级风险是关键人员带宽和需求波动，因此需要跨团队优先级窗口、评审资源和平台能力建设支持。</a:t>
            </a:r>
          </a:p>
          <a:p>
            <a:r>
              <a:rPr lang="zh-CN" dirty="0"/>
              <a:t>资源前置后，可以显著降低高风险事件发生概率。</a:t>
            </a:r>
          </a:p>
          <a:p>
            <a:endParaRPr lang="zh-CN" dirty="0"/>
          </a:p>
          <a:p>
            <a:r>
              <a:rPr lang="zh-CN" dirty="0"/>
              <a:t>Key points: 风险矩阵 支持诉求 收益预期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最后做整体总结：我在试用期内已经形成交付可靠、质量可控、机制沉淀三项核心价值。</a:t>
            </a:r>
          </a:p>
          <a:p>
            <a:r>
              <a:rPr lang="zh-CN" dirty="0"/>
              <a:t>从结果看，目标达成；从过程看，方法可复制；从未来看，具备承担更大范围职责的条件。</a:t>
            </a:r>
          </a:p>
          <a:p>
            <a:r>
              <a:rPr lang="zh-CN" dirty="0"/>
              <a:t>因此我建议按期转正，并在后续承担项目与机制双维度责任。 [Pause]</a:t>
            </a:r>
          </a:p>
          <a:p>
            <a:endParaRPr lang="zh-CN" dirty="0"/>
          </a:p>
          <a:p>
            <a:r>
              <a:rPr lang="zh-CN" dirty="0"/>
              <a:t>Key points: 价值总结 转正建议 未来定位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我的汇报到这里结束，感谢各位的时间和指导。</a:t>
            </a:r>
          </a:p>
          <a:p>
            <a:r>
              <a:rPr lang="zh-CN" dirty="0"/>
              <a:t>如有任何问题，我可以按项目、指标或改进机制三个维度做进一步说明。</a:t>
            </a:r>
          </a:p>
          <a:p>
            <a:endParaRPr lang="zh-CN" dirty="0"/>
          </a:p>
          <a:p>
            <a:r>
              <a:rPr lang="zh-CN" dirty="0"/>
              <a:t>Key points: 感谢 开放问答 补充说明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" y="0"/>
            <a:ext cx="28575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23875"/>
            <a:ext cx="17145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18160" y="20231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新人述职报告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8160" y="2689860"/>
            <a:ext cx="496948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试用期6个月总结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735" y="3551872"/>
            <a:ext cx="460629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IT行业 工作5年 数据驱动的价值交付</a:t>
            </a:r>
          </a:p>
        </p:txBody>
      </p:sp>
      <p:sp>
        <p:nvSpPr>
          <p:cNvPr id="9" name="Line 9"/>
          <p:cNvSpPr/>
          <p:nvPr/>
        </p:nvSpPr>
        <p:spPr>
          <a:xfrm>
            <a:off x="571500" y="42100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9050">
            <a:solidFill>
              <a:srgbClr val="ECF0F1"/>
            </a:solidFill>
          </a:ln>
        </p:spPr>
      </p:sp>
      <p:sp>
        <p:nvSpPr>
          <p:cNvPr id="10" name="Line 10"/>
          <p:cNvSpPr/>
          <p:nvPr/>
        </p:nvSpPr>
        <p:spPr>
          <a:xfrm>
            <a:off x="571500" y="42672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19050">
            <a:solidFill>
              <a:srgbClr val="005587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4953000"/>
            <a:ext cx="4286250" cy="933450"/>
          </a:xfrm>
          <a:custGeom>
            <a:avLst/>
            <a:gdLst/>
            <a:ahLst/>
            <a:cxnLst/>
            <a:rect l="l" t="t" r="r" b="b"/>
            <a:pathLst>
              <a:path w="4286250" h="933450">
                <a:moveTo>
                  <a:pt x="38100" y="0"/>
                </a:moveTo>
                <a:lnTo>
                  <a:pt x="4248150" y="0"/>
                </a:lnTo>
                <a:cubicBezTo>
                  <a:pt x="4269192" y="0"/>
                  <a:pt x="4286250" y="17058"/>
                  <a:pt x="4286250" y="38100"/>
                </a:cubicBezTo>
                <a:lnTo>
                  <a:pt x="4286250" y="895350"/>
                </a:lnTo>
                <a:cubicBezTo>
                  <a:pt x="4286250" y="916392"/>
                  <a:pt x="4269192" y="933450"/>
                  <a:pt x="4248150" y="933450"/>
                </a:cubicBezTo>
                <a:lnTo>
                  <a:pt x="38100" y="933450"/>
                </a:lnTo>
                <a:cubicBezTo>
                  <a:pt x="17058" y="933450"/>
                  <a:pt x="0" y="916392"/>
                  <a:pt x="0" y="8953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571500" y="4953000"/>
            <a:ext cx="38100" cy="933450"/>
          </a:xfrm>
          <a:custGeom>
            <a:avLst/>
            <a:gdLst/>
            <a:ahLst/>
            <a:cxnLst/>
            <a:rect l="l" t="t" r="r" b="b"/>
            <a:pathLst>
              <a:path w="38100" h="9334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14400"/>
                </a:lnTo>
                <a:cubicBezTo>
                  <a:pt x="38100" y="924921"/>
                  <a:pt x="29571" y="933450"/>
                  <a:pt x="19050" y="933450"/>
                </a:cubicBezTo>
                <a:lnTo>
                  <a:pt x="19050" y="933450"/>
                </a:lnTo>
                <a:cubicBezTo>
                  <a:pt x="8529" y="933450"/>
                  <a:pt x="0" y="924921"/>
                  <a:pt x="0" y="914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6765" y="5173028"/>
            <a:ext cx="647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5372100"/>
            <a:ext cx="22923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IT新人述职_20260326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20415" y="5173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DATE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14700" y="5372100"/>
            <a:ext cx="1303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2026-03-26</a:t>
            </a:r>
          </a:p>
        </p:txBody>
      </p:sp>
      <p:sp>
        <p:nvSpPr>
          <p:cNvPr id="17" name="Line 17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58165" y="65732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8061" y="6589395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572452"/>
            <a:ext cx="7673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" y="762000"/>
            <a:ext cx="9963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763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38100">
            <a:solidFill>
              <a:srgbClr val="005587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714500"/>
            <a:ext cx="5334000" cy="904875"/>
          </a:xfrm>
          <a:custGeom>
            <a:avLst/>
            <a:gdLst/>
            <a:ahLst/>
            <a:cxnLst/>
            <a:rect l="l" t="t" r="r" b="b"/>
            <a:pathLst>
              <a:path w="5334000" h="904875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47725"/>
                </a:lnTo>
                <a:cubicBezTo>
                  <a:pt x="5334000" y="879288"/>
                  <a:pt x="5308413" y="904875"/>
                  <a:pt x="5276850" y="904875"/>
                </a:cubicBezTo>
                <a:lnTo>
                  <a:pt x="57150" y="904875"/>
                </a:lnTo>
                <a:cubicBezTo>
                  <a:pt x="25587" y="904875"/>
                  <a:pt x="0" y="879288"/>
                  <a:pt x="0" y="847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30580" y="20402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8295" y="19745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背景与角色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5915" y="22869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个人定位、职责边界、试用期目标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86500" y="1714500"/>
            <a:ext cx="5334000" cy="904875"/>
          </a:xfrm>
          <a:custGeom>
            <a:avLst/>
            <a:gdLst/>
            <a:ahLst/>
            <a:cxnLst/>
            <a:rect l="l" t="t" r="r" b="b"/>
            <a:pathLst>
              <a:path w="5334000" h="904875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47725"/>
                </a:lnTo>
                <a:cubicBezTo>
                  <a:pt x="5334000" y="879288"/>
                  <a:pt x="5308413" y="904875"/>
                  <a:pt x="5276850" y="904875"/>
                </a:cubicBezTo>
                <a:lnTo>
                  <a:pt x="57150" y="904875"/>
                </a:lnTo>
                <a:cubicBezTo>
                  <a:pt x="25587" y="904875"/>
                  <a:pt x="0" y="879288"/>
                  <a:pt x="0" y="847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545580" y="20402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76A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3295" y="19745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结果与价值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20915" y="228695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KPI达成与项目收益证明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2857500"/>
            <a:ext cx="5334000" cy="904875"/>
          </a:xfrm>
          <a:custGeom>
            <a:avLst/>
            <a:gdLst/>
            <a:ahLst/>
            <a:cxnLst/>
            <a:rect l="l" t="t" r="r" b="b"/>
            <a:pathLst>
              <a:path w="5334000" h="904875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47725"/>
                </a:lnTo>
                <a:cubicBezTo>
                  <a:pt x="5334000" y="879288"/>
                  <a:pt x="5308413" y="904875"/>
                  <a:pt x="5276850" y="904875"/>
                </a:cubicBezTo>
                <a:lnTo>
                  <a:pt x="57150" y="904875"/>
                </a:lnTo>
                <a:cubicBezTo>
                  <a:pt x="25587" y="904875"/>
                  <a:pt x="0" y="879288"/>
                  <a:pt x="0" y="847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30580" y="31832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D5C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8295" y="31175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问题与改进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5915" y="34299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根因拆解与改进行动闭环</a:t>
            </a:r>
          </a:p>
        </p:txBody>
      </p:sp>
      <p:sp>
        <p:nvSpPr>
          <p:cNvPr id="19" name="Freeform 19"/>
          <p:cNvSpPr/>
          <p:nvPr/>
        </p:nvSpPr>
        <p:spPr>
          <a:xfrm>
            <a:off x="6286500" y="2857500"/>
            <a:ext cx="5334000" cy="904875"/>
          </a:xfrm>
          <a:custGeom>
            <a:avLst/>
            <a:gdLst/>
            <a:ahLst/>
            <a:cxnLst/>
            <a:rect l="l" t="t" r="r" b="b"/>
            <a:pathLst>
              <a:path w="5334000" h="904875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47725"/>
                </a:lnTo>
                <a:cubicBezTo>
                  <a:pt x="5334000" y="879288"/>
                  <a:pt x="5308413" y="904875"/>
                  <a:pt x="5276850" y="904875"/>
                </a:cubicBezTo>
                <a:lnTo>
                  <a:pt x="57150" y="904875"/>
                </a:lnTo>
                <a:cubicBezTo>
                  <a:pt x="25587" y="904875"/>
                  <a:pt x="0" y="879288"/>
                  <a:pt x="0" y="847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545580" y="31832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13295" y="31175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下阶段计划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20915" y="3429952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6个月目标、风险与资源诉求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5524500"/>
            <a:ext cx="11049000" cy="533400"/>
          </a:xfrm>
          <a:custGeom>
            <a:avLst/>
            <a:gdLst/>
            <a:ahLst/>
            <a:cxnLst/>
            <a:rect l="l" t="t" r="r" b="b"/>
            <a:pathLst>
              <a:path w="11049000" h="5334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76250"/>
                </a:lnTo>
                <a:cubicBezTo>
                  <a:pt x="11049000" y="507813"/>
                  <a:pt x="11023413" y="533400"/>
                  <a:pt x="109918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42962" y="5736431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关键焦点：证明可持续交付价值与可预期成长曲线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58165" y="6554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72589" y="2631758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CHAPTER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2422" y="3149918"/>
            <a:ext cx="5447157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试用期目标与结论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9905" y="3977640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DEAF2"/>
                </a:solidFill>
                <a:latin typeface="Arial"/>
                <a:ea typeface="Microsoft YaHei"/>
                <a:cs typeface="Arial"/>
              </a:rPr>
              <a:t>结论先行：目标达成，并具备进一步放大价值的条件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6554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DEAF2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角色转变与职责边界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33428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关键结论：从执行贡献升级为交付负责人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733550"/>
                </a:lnTo>
                <a:cubicBezTo>
                  <a:pt x="5334000" y="1775634"/>
                  <a:pt x="5299884" y="1809750"/>
                  <a:pt x="525780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背景与经验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0105" y="2311718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IT行业工作经验：5年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0105" y="263556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方向：系统建设、交付协同、效率优化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105" y="2959418"/>
            <a:ext cx="30706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试用期周期：6个月（目标导向）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7145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733550"/>
                </a:lnTo>
                <a:cubicBezTo>
                  <a:pt x="5334000" y="1775634"/>
                  <a:pt x="5299884" y="1809750"/>
                  <a:pt x="525780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551295" y="19173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职责与目标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5105" y="231171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保证重点项目按期高质量交付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5105" y="26355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建立可复用流程，降低跨团队摩擦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55105" y="2959418"/>
            <a:ext cx="25678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对关键指标负责并持续改善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810000"/>
            <a:ext cx="11049000" cy="2095500"/>
          </a:xfrm>
          <a:custGeom>
            <a:avLst/>
            <a:gdLst/>
            <a:ahLst/>
            <a:cxnLst/>
            <a:rect l="l" t="t" r="r" b="b"/>
            <a:pathLst>
              <a:path w="11049000" h="2095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019300"/>
                </a:lnTo>
                <a:cubicBezTo>
                  <a:pt x="11049000" y="2061384"/>
                  <a:pt x="11014884" y="2095500"/>
                  <a:pt x="10972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36295" y="4012882"/>
            <a:ext cx="27113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角色转变路径（6个月）</a:t>
            </a:r>
          </a:p>
        </p:txBody>
      </p:sp>
      <p:sp>
        <p:nvSpPr>
          <p:cNvPr id="22" name="Line 22"/>
          <p:cNvSpPr/>
          <p:nvPr/>
        </p:nvSpPr>
        <p:spPr>
          <a:xfrm>
            <a:off x="1238250" y="476250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BED6E6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2247900" y="4629150"/>
            <a:ext cx="266700" cy="26670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350103" y="4722495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5" name="Ellipse 25"/>
          <p:cNvSpPr/>
          <p:nvPr/>
        </p:nvSpPr>
        <p:spPr>
          <a:xfrm>
            <a:off x="4819650" y="4629150"/>
            <a:ext cx="266700" cy="266700"/>
          </a:xfrm>
          <a:prstGeom prst="ellipse">
            <a:avLst/>
          </a:prstGeom>
          <a:solidFill>
            <a:srgbClr val="0076A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905423" y="472249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7" name="Ellipse 27"/>
          <p:cNvSpPr/>
          <p:nvPr/>
        </p:nvSpPr>
        <p:spPr>
          <a:xfrm>
            <a:off x="7391400" y="4629150"/>
            <a:ext cx="266700" cy="26670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77173" y="472249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9" name="Ellipse 29"/>
          <p:cNvSpPr/>
          <p:nvPr/>
        </p:nvSpPr>
        <p:spPr>
          <a:xfrm>
            <a:off x="9963150" y="4629150"/>
            <a:ext cx="266700" cy="2667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048923" y="472249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85010" y="5013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融入业务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61510" y="5013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稳定交付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33260" y="5013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效率提升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5010" y="5013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价值放大</a:t>
            </a:r>
          </a:p>
        </p:txBody>
      </p:sp>
      <p:sp>
        <p:nvSpPr>
          <p:cNvPr id="35" name="Line 35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60070" y="6332220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个人述职整理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83537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试用期6个月KPI达成情况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35453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关键结论：4项核心指标均达标，2项超预期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8625" y="1714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638300"/>
                </a:lnTo>
                <a:cubicBezTo>
                  <a:pt x="2667000" y="1680384"/>
                  <a:pt x="2632884" y="1714500"/>
                  <a:pt x="2590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AF4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666750" y="1960959"/>
            <a:ext cx="285750" cy="250032"/>
            <a:chOff x="666750" y="1960959"/>
            <a:chExt cx="285750" cy="250032"/>
          </a:xfrm>
        </p:grpSpPr>
        <p:sp>
          <p:nvSpPr>
            <p:cNvPr id="11" name="Freeform 11"/>
            <p:cNvSpPr/>
            <p:nvPr/>
          </p:nvSpPr>
          <p:spPr>
            <a:xfrm>
              <a:off x="881062" y="1960959"/>
              <a:ext cx="71438" cy="250031"/>
            </a:xfrm>
            <a:custGeom>
              <a:avLst/>
              <a:gdLst/>
              <a:ahLst/>
              <a:cxnLst/>
              <a:rect l="l" t="t" r="r" b="b"/>
              <a:pathLst>
                <a:path w="71438" h="250031">
                  <a:moveTo>
                    <a:pt x="71438" y="0"/>
                  </a:moveTo>
                  <a:lnTo>
                    <a:pt x="0" y="0"/>
                  </a:lnTo>
                  <a:lnTo>
                    <a:pt x="0" y="250031"/>
                  </a:lnTo>
                  <a:lnTo>
                    <a:pt x="71438" y="250031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73906" y="2032397"/>
              <a:ext cx="71438" cy="178594"/>
            </a:xfrm>
            <a:custGeom>
              <a:avLst/>
              <a:gdLst/>
              <a:ahLst/>
              <a:cxnLst/>
              <a:rect l="l" t="t" r="r" b="b"/>
              <a:pathLst>
                <a:path w="71438" h="178594">
                  <a:moveTo>
                    <a:pt x="0" y="0"/>
                  </a:moveTo>
                  <a:lnTo>
                    <a:pt x="71438" y="0"/>
                  </a:lnTo>
                  <a:lnTo>
                    <a:pt x="71438" y="178594"/>
                  </a:lnTo>
                  <a:lnTo>
                    <a:pt x="0" y="178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66750" y="2103834"/>
              <a:ext cx="71438" cy="107156"/>
            </a:xfrm>
            <a:custGeom>
              <a:avLst/>
              <a:gdLst/>
              <a:ahLst/>
              <a:cxnLst/>
              <a:rect l="l" t="t" r="r" b="b"/>
              <a:pathLst>
                <a:path w="71438" h="107156">
                  <a:moveTo>
                    <a:pt x="0" y="0"/>
                  </a:moveTo>
                  <a:lnTo>
                    <a:pt x="71438" y="0"/>
                  </a:lnTo>
                  <a:lnTo>
                    <a:pt x="71438" y="107156"/>
                  </a:lnTo>
                  <a:lnTo>
                    <a:pt x="0" y="107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34415" y="2039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按期交付率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2935" y="2342198"/>
            <a:ext cx="960589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415" y="2982278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+8% vs 试用期目标</a:t>
            </a:r>
          </a:p>
        </p:txBody>
      </p:sp>
      <p:sp>
        <p:nvSpPr>
          <p:cNvPr id="18" name="Freeform 18"/>
          <p:cNvSpPr/>
          <p:nvPr/>
        </p:nvSpPr>
        <p:spPr>
          <a:xfrm>
            <a:off x="3381375" y="1714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638300"/>
                </a:lnTo>
                <a:cubicBezTo>
                  <a:pt x="2667000" y="1680384"/>
                  <a:pt x="2632884" y="1714500"/>
                  <a:pt x="2590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AF4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3619500" y="19431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lose/>
                <a:moveTo>
                  <a:pt x="226941" y="101925"/>
                </a:moveTo>
                <a:lnTo>
                  <a:pt x="201684" y="76668"/>
                </a:lnTo>
                <a:lnTo>
                  <a:pt x="116086" y="162267"/>
                </a:lnTo>
                <a:lnTo>
                  <a:pt x="84066" y="130246"/>
                </a:lnTo>
                <a:lnTo>
                  <a:pt x="58809" y="155504"/>
                </a:lnTo>
                <a:lnTo>
                  <a:pt x="116086" y="212780"/>
                </a:lnTo>
                <a:lnTo>
                  <a:pt x="226941" y="101925"/>
                </a:ln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987165" y="20393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缺陷密度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75685" y="2342198"/>
            <a:ext cx="125157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-28%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6165" y="2982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质量稳定性提升</a:t>
            </a:r>
          </a:p>
        </p:txBody>
      </p:sp>
      <p:sp>
        <p:nvSpPr>
          <p:cNvPr id="23" name="Freeform 23"/>
          <p:cNvSpPr/>
          <p:nvPr/>
        </p:nvSpPr>
        <p:spPr>
          <a:xfrm>
            <a:off x="6334125" y="1714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638300"/>
                </a:lnTo>
                <a:cubicBezTo>
                  <a:pt x="2667000" y="1680384"/>
                  <a:pt x="2632884" y="1714500"/>
                  <a:pt x="2590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AF4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6572250" y="1960959"/>
            <a:ext cx="285750" cy="250032"/>
            <a:chOff x="6572250" y="1960959"/>
            <a:chExt cx="285750" cy="250032"/>
          </a:xfrm>
        </p:grpSpPr>
        <p:sp>
          <p:nvSpPr>
            <p:cNvPr id="24" name="Freeform 24"/>
            <p:cNvSpPr/>
            <p:nvPr/>
          </p:nvSpPr>
          <p:spPr>
            <a:xfrm>
              <a:off x="6625828" y="1960959"/>
              <a:ext cx="89297" cy="89297"/>
            </a:xfrm>
            <a:custGeom>
              <a:avLst/>
              <a:gdLst/>
              <a:ahLst/>
              <a:cxnLst/>
              <a:rect l="l" t="t" r="r" b="b"/>
              <a:pathLst>
                <a:path w="89297" h="89297">
                  <a:moveTo>
                    <a:pt x="89297" y="44648"/>
                  </a:moveTo>
                  <a:cubicBezTo>
                    <a:pt x="89297" y="69307"/>
                    <a:pt x="69307" y="89297"/>
                    <a:pt x="44648" y="89297"/>
                  </a:cubicBezTo>
                  <a:cubicBezTo>
                    <a:pt x="19990" y="89297"/>
                    <a:pt x="0" y="69307"/>
                    <a:pt x="0" y="44648"/>
                  </a:cubicBezTo>
                  <a:cubicBezTo>
                    <a:pt x="0" y="19990"/>
                    <a:pt x="19990" y="0"/>
                    <a:pt x="44648" y="0"/>
                  </a:cubicBezTo>
                  <a:cubicBezTo>
                    <a:pt x="69307" y="0"/>
                    <a:pt x="89297" y="19990"/>
                    <a:pt x="89297" y="44648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085975"/>
              <a:ext cx="142875" cy="125016"/>
            </a:xfrm>
            <a:custGeom>
              <a:avLst/>
              <a:gdLst/>
              <a:ahLst/>
              <a:cxnLst/>
              <a:rect l="l" t="t" r="r" b="b"/>
              <a:pathLst>
                <a:path w="142875" h="125016">
                  <a:moveTo>
                    <a:pt x="53578" y="0"/>
                  </a:moveTo>
                  <a:cubicBezTo>
                    <a:pt x="23988" y="0"/>
                    <a:pt x="0" y="23988"/>
                    <a:pt x="0" y="53578"/>
                  </a:cubicBezTo>
                  <a:lnTo>
                    <a:pt x="0" y="125016"/>
                  </a:lnTo>
                  <a:lnTo>
                    <a:pt x="142875" y="125016"/>
                  </a:lnTo>
                  <a:lnTo>
                    <a:pt x="142875" y="0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750844" y="2085975"/>
              <a:ext cx="107156" cy="125016"/>
            </a:xfrm>
            <a:custGeom>
              <a:avLst/>
              <a:gdLst/>
              <a:ahLst/>
              <a:cxnLst/>
              <a:rect l="l" t="t" r="r" b="b"/>
              <a:pathLst>
                <a:path w="107156" h="125016">
                  <a:moveTo>
                    <a:pt x="53578" y="0"/>
                  </a:moveTo>
                  <a:lnTo>
                    <a:pt x="0" y="0"/>
                  </a:lnTo>
                  <a:lnTo>
                    <a:pt x="0" y="125016"/>
                  </a:lnTo>
                  <a:lnTo>
                    <a:pt x="107156" y="125016"/>
                  </a:lnTo>
                  <a:lnTo>
                    <a:pt x="107156" y="53578"/>
                  </a:lnTo>
                  <a:cubicBezTo>
                    <a:pt x="107156" y="23988"/>
                    <a:pt x="83169" y="0"/>
                    <a:pt x="53578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750844" y="1978819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35719" y="71438"/>
                  </a:moveTo>
                  <a:cubicBezTo>
                    <a:pt x="55446" y="71438"/>
                    <a:pt x="71438" y="55446"/>
                    <a:pt x="71438" y="35719"/>
                  </a:cubicBezTo>
                  <a:cubicBezTo>
                    <a:pt x="71438" y="15992"/>
                    <a:pt x="55446" y="0"/>
                    <a:pt x="35719" y="0"/>
                  </a:cubicBezTo>
                  <a:cubicBezTo>
                    <a:pt x="15991" y="0"/>
                    <a:pt x="0" y="15992"/>
                    <a:pt x="0" y="35719"/>
                  </a:cubicBezTo>
                  <a:cubicBezTo>
                    <a:pt x="0" y="55446"/>
                    <a:pt x="15991" y="71438"/>
                    <a:pt x="35719" y="71438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6939915" y="20393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跨团队满意度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28435" y="2342198"/>
            <a:ext cx="960589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4.7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8915" y="29822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/5.0，协作体验改善</a:t>
            </a:r>
          </a:p>
        </p:txBody>
      </p:sp>
      <p:sp>
        <p:nvSpPr>
          <p:cNvPr id="32" name="Freeform 32"/>
          <p:cNvSpPr/>
          <p:nvPr/>
        </p:nvSpPr>
        <p:spPr>
          <a:xfrm>
            <a:off x="9286875" y="1714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638300"/>
                </a:lnTo>
                <a:cubicBezTo>
                  <a:pt x="2667000" y="1680384"/>
                  <a:pt x="2632884" y="1714500"/>
                  <a:pt x="2590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AF4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9530231" y="1996678"/>
            <a:ext cx="280519" cy="173363"/>
          </a:xfrm>
          <a:custGeom>
            <a:avLst/>
            <a:gdLst/>
            <a:ahLst/>
            <a:cxnLst/>
            <a:rect l="l" t="t" r="r" b="b"/>
            <a:pathLst>
              <a:path w="280519" h="173363">
                <a:moveTo>
                  <a:pt x="173363" y="0"/>
                </a:moveTo>
                <a:lnTo>
                  <a:pt x="155503" y="17859"/>
                </a:lnTo>
                <a:lnTo>
                  <a:pt x="196453" y="58809"/>
                </a:lnTo>
                <a:lnTo>
                  <a:pt x="146574" y="108688"/>
                </a:lnTo>
                <a:lnTo>
                  <a:pt x="92996" y="55110"/>
                </a:lnTo>
                <a:lnTo>
                  <a:pt x="0" y="148106"/>
                </a:lnTo>
                <a:lnTo>
                  <a:pt x="25257" y="173363"/>
                </a:lnTo>
                <a:lnTo>
                  <a:pt x="92996" y="105624"/>
                </a:lnTo>
                <a:lnTo>
                  <a:pt x="146574" y="159202"/>
                </a:lnTo>
                <a:lnTo>
                  <a:pt x="221710" y="84066"/>
                </a:lnTo>
                <a:lnTo>
                  <a:pt x="262659" y="125016"/>
                </a:lnTo>
                <a:lnTo>
                  <a:pt x="280519" y="107156"/>
                </a:lnTo>
                <a:lnTo>
                  <a:pt x="280519" y="0"/>
                </a:lnTo>
                <a:lnTo>
                  <a:pt x="173363" y="0"/>
                </a:ln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892665" y="20393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交付周期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81185" y="2342198"/>
            <a:ext cx="125157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-22%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11665" y="2982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平均迭代时长下降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3714750"/>
            <a:ext cx="7239000" cy="2095500"/>
          </a:xfrm>
          <a:custGeom>
            <a:avLst/>
            <a:gdLst/>
            <a:ahLst/>
            <a:cxnLst/>
            <a:rect l="l" t="t" r="r" b="b"/>
            <a:pathLst>
              <a:path w="7239000" h="20955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2019300"/>
                </a:lnTo>
                <a:cubicBezTo>
                  <a:pt x="7239000" y="2061384"/>
                  <a:pt x="7204884" y="2095500"/>
                  <a:pt x="7162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38200" y="39338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目标达成对比（示意）</a:t>
            </a:r>
          </a:p>
        </p:txBody>
      </p:sp>
      <p:sp>
        <p:nvSpPr>
          <p:cNvPr id="39" name="Line 39"/>
          <p:cNvSpPr/>
          <p:nvPr/>
        </p:nvSpPr>
        <p:spPr>
          <a:xfrm>
            <a:off x="1143000" y="53340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1428750" y="4762500"/>
            <a:ext cx="666750" cy="571500"/>
          </a:xfrm>
          <a:prstGeom prst="rect">
            <a:avLst/>
          </a:prstGeom>
          <a:solidFill>
            <a:srgbClr val="BED6E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2286000" y="4476750"/>
            <a:ext cx="666750" cy="85725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3333750" y="4857750"/>
            <a:ext cx="666750" cy="476250"/>
          </a:xfrm>
          <a:prstGeom prst="rect">
            <a:avLst/>
          </a:prstGeom>
          <a:solidFill>
            <a:srgbClr val="BED6E6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191000" y="4381500"/>
            <a:ext cx="666750" cy="9525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238750" y="4714875"/>
            <a:ext cx="666750" cy="619125"/>
          </a:xfrm>
          <a:prstGeom prst="rect">
            <a:avLst/>
          </a:prstGeom>
          <a:solidFill>
            <a:srgbClr val="BED6E6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096000" y="4305300"/>
            <a:ext cx="666750" cy="10287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511618" y="5466874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16618" y="5466874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21618" y="5466874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效率</a:t>
            </a:r>
          </a:p>
        </p:txBody>
      </p:sp>
      <p:sp>
        <p:nvSpPr>
          <p:cNvPr id="49" name="Freeform 49"/>
          <p:cNvSpPr/>
          <p:nvPr/>
        </p:nvSpPr>
        <p:spPr>
          <a:xfrm>
            <a:off x="8096250" y="3714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362950" y="3933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管理启示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65808" y="432006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经验与流程结合，可缩短磨合周期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65808" y="4643914"/>
            <a:ext cx="26114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指标透明，能驱动跨团队协同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65808" y="496776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机制化后，改善可持续复制</a:t>
            </a:r>
          </a:p>
        </p:txBody>
      </p:sp>
      <p:sp>
        <p:nvSpPr>
          <p:cNvPr id="54" name="Line 5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60070" y="6332220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项目看板与周报汇总</a:t>
            </a:r>
          </a:p>
        </p:txBody>
      </p:sp>
      <p:sp>
        <p:nvSpPr>
          <p:cNvPr id="56" name="Freeform 56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454271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关键项目案例：从交付到价值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39225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关键结论：两个项目均实现周期缩短 + 质量提升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24583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案例A：核心系统迭代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1058" y="231981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问题：需求变更频繁、返工较高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058" y="262461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动作：拆分里程碑 + 评审前置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058" y="2929414"/>
            <a:ext cx="22297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结果：交付周期缩短 25%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" y="3333750"/>
            <a:ext cx="457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40105" y="35118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前后对比（周期，周）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143000" y="4095750"/>
            <a:ext cx="1143000" cy="1143000"/>
          </a:xfrm>
          <a:prstGeom prst="rect">
            <a:avLst/>
          </a:prstGeom>
          <a:solidFill>
            <a:srgbClr val="BED6E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82959" y="5296852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Before 8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857500" y="4524375"/>
            <a:ext cx="1143000" cy="71437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139630" y="5296852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After 6</a:t>
            </a:r>
          </a:p>
        </p:txBody>
      </p:sp>
      <p:sp>
        <p:nvSpPr>
          <p:cNvPr id="21" name="Freeform 21"/>
          <p:cNvSpPr/>
          <p:nvPr/>
        </p:nvSpPr>
        <p:spPr>
          <a:xfrm>
            <a:off x="6286500" y="171450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551295" y="1917382"/>
            <a:ext cx="24583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案例B：数据平台优化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6058" y="23198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问题：接口故障定位慢，影响上线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56058" y="262461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动作：标准化监控 + 异常分级处理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56058" y="2929414"/>
            <a:ext cx="25555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结果：缺陷修复时效提升 31%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72250" y="3333750"/>
            <a:ext cx="457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55105" y="35118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前后对比（小时）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858000" y="4000500"/>
            <a:ext cx="857250" cy="1238250"/>
          </a:xfrm>
          <a:prstGeom prst="rect">
            <a:avLst/>
          </a:prstGeom>
          <a:solidFill>
            <a:srgbClr val="BED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165943" y="529685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18h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191500" y="4429125"/>
            <a:ext cx="857250" cy="809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99443" y="529685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12h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7010" y="55854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业务价值：降低上线风险，提升响应速度</a:t>
            </a:r>
          </a:p>
        </p:txBody>
      </p:sp>
      <p:sp>
        <p:nvSpPr>
          <p:cNvPr id="33" name="Line 33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60070" y="633222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项目复盘会议纪要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现存问题与根因分析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关键结论：主要瓶颈在流程标准化和跨团队信息同步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7239000" cy="4095750"/>
          </a:xfrm>
          <a:custGeom>
            <a:avLst/>
            <a:gdLst/>
            <a:ahLst/>
            <a:cxnLst/>
            <a:rect l="l" t="t" r="r" b="b"/>
            <a:pathLst>
              <a:path w="7239000" h="409575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4019550"/>
                </a:lnTo>
                <a:cubicBezTo>
                  <a:pt x="7239000" y="4061634"/>
                  <a:pt x="7204884" y="4095750"/>
                  <a:pt x="7162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根因拆解（鱼骨图简化）</a:t>
            </a:r>
          </a:p>
        </p:txBody>
      </p:sp>
      <p:sp>
        <p:nvSpPr>
          <p:cNvPr id="12" name="Line 12"/>
          <p:cNvSpPr/>
          <p:nvPr/>
        </p:nvSpPr>
        <p:spPr>
          <a:xfrm>
            <a:off x="1333500" y="38100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38100">
            <a:solidFill>
              <a:srgbClr val="005587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667500" y="371475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0" y="0"/>
                </a:moveTo>
                <a:lnTo>
                  <a:pt x="2857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31355" y="3711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交付波动</a:t>
            </a:r>
          </a:p>
        </p:txBody>
      </p:sp>
      <p:sp>
        <p:nvSpPr>
          <p:cNvPr id="15" name="Line 15"/>
          <p:cNvSpPr/>
          <p:nvPr/>
        </p:nvSpPr>
        <p:spPr>
          <a:xfrm>
            <a:off x="1905000" y="31432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6667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16" name="Line 16"/>
          <p:cNvSpPr/>
          <p:nvPr/>
        </p:nvSpPr>
        <p:spPr>
          <a:xfrm>
            <a:off x="2857500" y="31432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6667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17" name="Line 17"/>
          <p:cNvSpPr/>
          <p:nvPr/>
        </p:nvSpPr>
        <p:spPr>
          <a:xfrm>
            <a:off x="3810000" y="31432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6667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18" name="Line 18"/>
          <p:cNvSpPr/>
          <p:nvPr/>
        </p:nvSpPr>
        <p:spPr>
          <a:xfrm>
            <a:off x="4762500" y="31432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6667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19" name="Line 19"/>
          <p:cNvSpPr/>
          <p:nvPr/>
        </p:nvSpPr>
        <p:spPr>
          <a:xfrm>
            <a:off x="1905000" y="381000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20" name="Line 20"/>
          <p:cNvSpPr/>
          <p:nvPr/>
        </p:nvSpPr>
        <p:spPr>
          <a:xfrm>
            <a:off x="2857500" y="381000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21" name="Line 21"/>
          <p:cNvSpPr/>
          <p:nvPr/>
        </p:nvSpPr>
        <p:spPr>
          <a:xfrm>
            <a:off x="3810000" y="381000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22" name="Line 22"/>
          <p:cNvSpPr/>
          <p:nvPr/>
        </p:nvSpPr>
        <p:spPr>
          <a:xfrm>
            <a:off x="4762500" y="381000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57150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7AA9C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127760" y="2966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流程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0260" y="2966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工具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32760" y="2966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协作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85260" y="2966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规范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" y="458533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需求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80260" y="458533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32760" y="458533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反馈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85260" y="458533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96250" y="1714500"/>
            <a:ext cx="3524250" cy="4095750"/>
          </a:xfrm>
          <a:custGeom>
            <a:avLst/>
            <a:gdLst/>
            <a:ahLst/>
            <a:cxnLst/>
            <a:rect l="l" t="t" r="r" b="b"/>
            <a:pathLst>
              <a:path w="3524250" h="4095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019550"/>
                </a:lnTo>
                <a:cubicBezTo>
                  <a:pt x="3524250" y="4061634"/>
                  <a:pt x="3490134" y="4095750"/>
                  <a:pt x="344805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AD4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361045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优先问题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5808" y="2386489"/>
            <a:ext cx="28535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1) 需求口径不一致，返工概率偏高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5808" y="2738914"/>
            <a:ext cx="21552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2) 故障响应依赖个人经验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5808" y="3091339"/>
            <a:ext cx="21552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3) 跨团队同步节奏不稳定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82000" y="3600450"/>
            <a:ext cx="2857500" cy="9525"/>
          </a:xfrm>
          <a:prstGeom prst="rect">
            <a:avLst/>
          </a:prstGeom>
          <a:solidFill>
            <a:srgbClr val="F0C2C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64855" y="3854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66760" y="419481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影响交付确定性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66760" y="44996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影响团队协同效率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6760" y="480441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影响管理层预期管理</a:t>
            </a:r>
          </a:p>
        </p:txBody>
      </p:sp>
      <p:sp>
        <p:nvSpPr>
          <p:cNvPr id="41" name="Line 41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60070" y="6332220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过程数据与复盘记录</a:t>
            </a:r>
          </a:p>
        </p:txBody>
      </p:sp>
      <p:sp>
        <p:nvSpPr>
          <p:cNvPr id="43" name="Freeform 43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改进行动与机制沉淀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关键结论：从人治转向机制化，改善可持续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3524250" cy="4095750"/>
          </a:xfrm>
          <a:custGeom>
            <a:avLst/>
            <a:gdLst/>
            <a:ahLst/>
            <a:cxnLst/>
            <a:rect l="l" t="t" r="r" b="b"/>
            <a:pathLst>
              <a:path w="3524250" h="4095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019550"/>
                </a:lnTo>
                <a:cubicBezTo>
                  <a:pt x="3524250" y="4061634"/>
                  <a:pt x="3490134" y="4095750"/>
                  <a:pt x="344805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已落地动作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1058" y="235791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建立需求评审清单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058" y="268176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统一上线验收标准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058" y="300561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每周跨团队风险同步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1058" y="3329464"/>
            <a:ext cx="14941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复盘模板标准化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714500"/>
            <a:ext cx="3524250" cy="4095750"/>
          </a:xfrm>
          <a:custGeom>
            <a:avLst/>
            <a:gdLst/>
            <a:ahLst/>
            <a:cxnLst/>
            <a:rect l="l" t="t" r="r" b="b"/>
            <a:pathLst>
              <a:path w="3524250" h="4095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019550"/>
                </a:lnTo>
                <a:cubicBezTo>
                  <a:pt x="3524250" y="4061634"/>
                  <a:pt x="3490134" y="4095750"/>
                  <a:pt x="344805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98670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效果反馈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3432" y="235791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需求变更返工率下降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3432" y="268176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问题定位响应更快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3432" y="300561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交付节奏更可预测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03432" y="3329464"/>
            <a:ext cx="14941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协作满意度提升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4095750"/>
          </a:xfrm>
          <a:custGeom>
            <a:avLst/>
            <a:gdLst/>
            <a:ahLst/>
            <a:cxnLst/>
            <a:rect l="l" t="t" r="r" b="b"/>
            <a:pathLst>
              <a:path w="3524250" h="4095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019550"/>
                </a:lnTo>
                <a:cubicBezTo>
                  <a:pt x="3524250" y="4061634"/>
                  <a:pt x="3490134" y="4095750"/>
                  <a:pt x="344805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BF5"/>
          </a:solidFill>
          <a:ln w="9525">
            <a:solidFill>
              <a:srgbClr val="CDE7C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361045" y="19173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可复用资产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65808" y="2357914"/>
            <a:ext cx="13545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评审清单 v1.2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5808" y="268176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交付节奏看板模板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5808" y="3005614"/>
            <a:ext cx="16524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故障分级处理SOP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5808" y="3329464"/>
            <a:ext cx="14941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月度复盘知识库</a:t>
            </a:r>
          </a:p>
        </p:txBody>
      </p:sp>
      <p:sp>
        <p:nvSpPr>
          <p:cNvPr id="28" name="Line 2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60070" y="6332220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改进行动台账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00726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下一阶段6个月计划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40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关键结论：围绕效率、质量、可复制三条主线推进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11049000" cy="4095750"/>
          </a:xfrm>
          <a:custGeom>
            <a:avLst/>
            <a:gdLst/>
            <a:ahLst/>
            <a:cxnLst/>
            <a:rect l="l" t="t" r="r" b="b"/>
            <a:pathLst>
              <a:path w="11049000" h="4095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19550"/>
                </a:lnTo>
                <a:cubicBezTo>
                  <a:pt x="11049000" y="4061634"/>
                  <a:pt x="11014884" y="4095750"/>
                  <a:pt x="10972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里程碑时间线</a:t>
            </a:r>
          </a:p>
        </p:txBody>
      </p:sp>
      <p:sp>
        <p:nvSpPr>
          <p:cNvPr id="12" name="Line 12"/>
          <p:cNvSpPr/>
          <p:nvPr/>
        </p:nvSpPr>
        <p:spPr>
          <a:xfrm>
            <a:off x="1238250" y="36195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BED6E6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133600" y="3467100"/>
            <a:ext cx="304800" cy="30480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610100" y="3467100"/>
            <a:ext cx="304800" cy="304800"/>
          </a:xfrm>
          <a:prstGeom prst="ellipse">
            <a:avLst/>
          </a:prstGeom>
          <a:solidFill>
            <a:srgbClr val="0076A8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086600" y="3467100"/>
            <a:ext cx="304800" cy="30480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563100" y="3467100"/>
            <a:ext cx="304800" cy="304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794510" y="3013710"/>
            <a:ext cx="5387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M1-M2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71010" y="30137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M3-M4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7510" y="3013710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M5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24010" y="3013710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M6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8760" y="39662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流程自动化试点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85260" y="39662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质量看板升级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1760" y="39662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跨团队机制固化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43010" y="39662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复盘与扩展</a:t>
            </a:r>
          </a:p>
        </p:txBody>
      </p:sp>
      <p:sp>
        <p:nvSpPr>
          <p:cNvPr id="25" name="Freeform 25"/>
          <p:cNvSpPr/>
          <p:nvPr/>
        </p:nvSpPr>
        <p:spPr>
          <a:xfrm>
            <a:off x="857250" y="4476750"/>
            <a:ext cx="10096500" cy="1047750"/>
          </a:xfrm>
          <a:custGeom>
            <a:avLst/>
            <a:gdLst/>
            <a:ahLst/>
            <a:cxnLst/>
            <a:rect l="l" t="t" r="r" b="b"/>
            <a:pathLst>
              <a:path w="10096500" h="1047750">
                <a:moveTo>
                  <a:pt x="57150" y="0"/>
                </a:moveTo>
                <a:lnTo>
                  <a:pt x="10039350" y="0"/>
                </a:lnTo>
                <a:cubicBezTo>
                  <a:pt x="10070913" y="0"/>
                  <a:pt x="10096500" y="25587"/>
                  <a:pt x="10096500" y="57150"/>
                </a:cubicBezTo>
                <a:lnTo>
                  <a:pt x="10096500" y="990600"/>
                </a:lnTo>
                <a:cubicBezTo>
                  <a:pt x="10096500" y="1022163"/>
                  <a:pt x="10070913" y="1047750"/>
                  <a:pt x="100393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5855" y="4712018"/>
            <a:ext cx="76548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量化目标：交付周期再降 15% ｜ P1故障恢复时长降 20% ｜ 核心流程自动化覆盖率达 70%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5855" y="5073968"/>
            <a:ext cx="6176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组织目标：形成可复用方法包 + 可复制协作机制，支撑团队规模化交付</a:t>
            </a:r>
          </a:p>
        </p:txBody>
      </p:sp>
      <p:sp>
        <p:nvSpPr>
          <p:cNvPr id="28" name="Line 2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60070" y="6332220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阶段计划草案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04494" y="3305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风险识别与支持诉求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3894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关键结论：风险可控，但需要关键资源前置保障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6477000" cy="4095750"/>
          </a:xfrm>
          <a:custGeom>
            <a:avLst/>
            <a:gdLst/>
            <a:ahLst/>
            <a:cxnLst/>
            <a:rect l="l" t="t" r="r" b="b"/>
            <a:pathLst>
              <a:path w="6477000" h="4095750">
                <a:moveTo>
                  <a:pt x="76200" y="0"/>
                </a:moveTo>
                <a:lnTo>
                  <a:pt x="6400800" y="0"/>
                </a:lnTo>
                <a:cubicBezTo>
                  <a:pt x="6442884" y="0"/>
                  <a:pt x="6477000" y="34116"/>
                  <a:pt x="6477000" y="76200"/>
                </a:cubicBezTo>
                <a:lnTo>
                  <a:pt x="6477000" y="4019550"/>
                </a:lnTo>
                <a:cubicBezTo>
                  <a:pt x="6477000" y="4061634"/>
                  <a:pt x="6442884" y="4095750"/>
                  <a:pt x="6400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6295" y="19173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风险优先级矩阵</a:t>
            </a:r>
          </a:p>
        </p:txBody>
      </p:sp>
      <p:sp>
        <p:nvSpPr>
          <p:cNvPr id="12" name="Line 12"/>
          <p:cNvSpPr/>
          <p:nvPr/>
        </p:nvSpPr>
        <p:spPr>
          <a:xfrm>
            <a:off x="1714500" y="533400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19050">
            <a:solidFill>
              <a:srgbClr val="BFD3E2"/>
            </a:solidFill>
          </a:ln>
        </p:spPr>
      </p:sp>
      <p:sp>
        <p:nvSpPr>
          <p:cNvPr id="13" name="Line 13"/>
          <p:cNvSpPr/>
          <p:nvPr/>
        </p:nvSpPr>
        <p:spPr>
          <a:xfrm>
            <a:off x="1714500" y="2476500"/>
            <a:ext cx="9525" cy="2857500"/>
          </a:xfrm>
          <a:custGeom>
            <a:avLst/>
            <a:gdLst/>
            <a:ahLst/>
            <a:cxnLst/>
            <a:rect l="l" t="t" r="r" b="b"/>
            <a:pathLst>
              <a:path w="9525" h="2857500">
                <a:moveTo>
                  <a:pt x="0" y="2857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FD3E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714500" y="2476500"/>
            <a:ext cx="2238375" cy="14287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952875" y="2476500"/>
            <a:ext cx="2238375" cy="1428750"/>
          </a:xfrm>
          <a:prstGeom prst="rect">
            <a:avLst/>
          </a:prstGeom>
          <a:solidFill>
            <a:srgbClr val="FFF1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714500" y="3905250"/>
            <a:ext cx="2238375" cy="1428750"/>
          </a:xfrm>
          <a:prstGeom prst="rect">
            <a:avLst/>
          </a:prstGeom>
          <a:solidFill>
            <a:srgbClr val="F5FBF5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952875" y="3905250"/>
            <a:ext cx="2238375" cy="1428750"/>
          </a:xfrm>
          <a:prstGeom prst="rect">
            <a:avLst/>
          </a:prstGeom>
          <a:solidFill>
            <a:srgbClr val="F7FBF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986915" y="26679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高影响/低概率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25290" y="26679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高影响/高概率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6915" y="409670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低影响/低概率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25290" y="409670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低影响/高概率</a:t>
            </a:r>
          </a:p>
        </p:txBody>
      </p:sp>
      <p:sp>
        <p:nvSpPr>
          <p:cNvPr id="22" name="Ellipse 22"/>
          <p:cNvSpPr/>
          <p:nvPr/>
        </p:nvSpPr>
        <p:spPr>
          <a:xfrm>
            <a:off x="4857750" y="3048000"/>
            <a:ext cx="190500" cy="1905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130165" y="30870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关键人员带宽不足</a:t>
            </a:r>
          </a:p>
        </p:txBody>
      </p:sp>
      <p:sp>
        <p:nvSpPr>
          <p:cNvPr id="24" name="Ellipse 24"/>
          <p:cNvSpPr/>
          <p:nvPr/>
        </p:nvSpPr>
        <p:spPr>
          <a:xfrm>
            <a:off x="4667250" y="4381500"/>
            <a:ext cx="190500" cy="190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939665" y="44205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需求变更频率偏高</a:t>
            </a:r>
          </a:p>
        </p:txBody>
      </p:sp>
      <p:sp>
        <p:nvSpPr>
          <p:cNvPr id="26" name="Freeform 26"/>
          <p:cNvSpPr/>
          <p:nvPr/>
        </p:nvSpPr>
        <p:spPr>
          <a:xfrm>
            <a:off x="7334250" y="1714500"/>
            <a:ext cx="4286250" cy="4095750"/>
          </a:xfrm>
          <a:custGeom>
            <a:avLst/>
            <a:gdLst/>
            <a:ahLst/>
            <a:cxnLst/>
            <a:rect l="l" t="t" r="r" b="b"/>
            <a:pathLst>
              <a:path w="4286250" h="409575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019550"/>
                </a:lnTo>
                <a:cubicBezTo>
                  <a:pt x="4286250" y="4061634"/>
                  <a:pt x="4252134" y="4095750"/>
                  <a:pt x="421005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99045" y="1917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需要支持事项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03808" y="237696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明确跨团队优先级协同窗口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3808" y="271986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核心模块评审资源按月保障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3808" y="306276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关键平台能力建设预算支持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03808" y="34056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统一故障分级SLA口径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0" y="4000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1371600"/>
                </a:lnTo>
                <a:cubicBezTo>
                  <a:pt x="3524250" y="1403163"/>
                  <a:pt x="3498663" y="1428750"/>
                  <a:pt x="3467100" y="1428750"/>
                </a:cubicBezTo>
                <a:lnTo>
                  <a:pt x="57150" y="1428750"/>
                </a:lnTo>
                <a:cubicBezTo>
                  <a:pt x="25587" y="1428750"/>
                  <a:pt x="0" y="1403163"/>
                  <a:pt x="0" y="1371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793355" y="4188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预期收益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95260" y="45186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计划达成稳定性进一步提升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95260" y="4804410"/>
            <a:ext cx="21774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高风险事件预警提前1-2周</a:t>
            </a:r>
          </a:p>
        </p:txBody>
      </p:sp>
      <p:sp>
        <p:nvSpPr>
          <p:cNvPr id="36" name="Line 36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60070" y="6332220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风险台账与资源评估</a:t>
            </a:r>
          </a:p>
        </p:txBody>
      </p:sp>
      <p:sp>
        <p:nvSpPr>
          <p:cNvPr id="38" name="Freeform 38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157731" y="63255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0372" y="330518"/>
            <a:ext cx="158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675" y="25241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价值总结与转正建议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4385" y="1127760"/>
            <a:ext cx="5551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关键结论：已形成稳定交付能力，建议按期转正并承担更大范围职责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11049000" cy="4095750"/>
          </a:xfrm>
          <a:custGeom>
            <a:avLst/>
            <a:gdLst/>
            <a:ahLst/>
            <a:cxnLst/>
            <a:rect l="l" t="t" r="r" b="b"/>
            <a:pathLst>
              <a:path w="11049000" h="4095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19550"/>
                </a:lnTo>
                <a:cubicBezTo>
                  <a:pt x="11049000" y="4061634"/>
                  <a:pt x="11014884" y="4095750"/>
                  <a:pt x="10972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57250" y="2095500"/>
            <a:ext cx="3238500" cy="3143250"/>
          </a:xfrm>
          <a:custGeom>
            <a:avLst/>
            <a:gdLst/>
            <a:ahLst/>
            <a:cxnLst/>
            <a:rect l="l" t="t" r="r" b="b"/>
            <a:pathLst>
              <a:path w="3238500" h="31432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067050"/>
                </a:lnTo>
                <a:cubicBezTo>
                  <a:pt x="3238500" y="3109134"/>
                  <a:pt x="3204384" y="3143250"/>
                  <a:pt x="3162300" y="3143250"/>
                </a:cubicBezTo>
                <a:lnTo>
                  <a:pt x="76200" y="3143250"/>
                </a:lnTo>
                <a:cubicBezTo>
                  <a:pt x="34116" y="3143250"/>
                  <a:pt x="0" y="3109134"/>
                  <a:pt x="0" y="3067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BFE"/>
          </a:solidFill>
          <a:ln w="9525">
            <a:solidFill>
              <a:srgbClr val="DCEAF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22045" y="2298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价值一：交付可靠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6808" y="2738914"/>
            <a:ext cx="22390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关键项目按期率显著提升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808" y="306276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进度透明，预警前置</a:t>
            </a:r>
          </a:p>
        </p:txBody>
      </p:sp>
      <p:sp>
        <p:nvSpPr>
          <p:cNvPr id="15" name="Freeform 15"/>
          <p:cNvSpPr/>
          <p:nvPr/>
        </p:nvSpPr>
        <p:spPr>
          <a:xfrm>
            <a:off x="4476750" y="2095500"/>
            <a:ext cx="3238500" cy="3143250"/>
          </a:xfrm>
          <a:custGeom>
            <a:avLst/>
            <a:gdLst/>
            <a:ahLst/>
            <a:cxnLst/>
            <a:rect l="l" t="t" r="r" b="b"/>
            <a:pathLst>
              <a:path w="3238500" h="31432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067050"/>
                </a:lnTo>
                <a:cubicBezTo>
                  <a:pt x="3238500" y="3109134"/>
                  <a:pt x="3204384" y="3143250"/>
                  <a:pt x="3162300" y="3143250"/>
                </a:cubicBezTo>
                <a:lnTo>
                  <a:pt x="76200" y="3143250"/>
                </a:lnTo>
                <a:cubicBezTo>
                  <a:pt x="34116" y="3143250"/>
                  <a:pt x="0" y="3109134"/>
                  <a:pt x="0" y="3067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BF5"/>
          </a:solidFill>
          <a:ln w="9525">
            <a:solidFill>
              <a:srgbClr val="CDE7C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41545" y="2298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价值二：质量可控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6308" y="273891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缺陷密度持续下降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6308" y="306276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故障响应机制标准化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0" y="2095500"/>
            <a:ext cx="3238500" cy="3143250"/>
          </a:xfrm>
          <a:custGeom>
            <a:avLst/>
            <a:gdLst/>
            <a:ahLst/>
            <a:cxnLst/>
            <a:rect l="l" t="t" r="r" b="b"/>
            <a:pathLst>
              <a:path w="3238500" h="31432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067050"/>
                </a:lnTo>
                <a:cubicBezTo>
                  <a:pt x="3238500" y="3109134"/>
                  <a:pt x="3204384" y="3143250"/>
                  <a:pt x="3162300" y="3143250"/>
                </a:cubicBezTo>
                <a:lnTo>
                  <a:pt x="76200" y="3143250"/>
                </a:lnTo>
                <a:cubicBezTo>
                  <a:pt x="34116" y="3143250"/>
                  <a:pt x="0" y="3109134"/>
                  <a:pt x="0" y="3067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AD4D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361045" y="2298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价值三：机制沉淀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5808" y="2738914"/>
            <a:ext cx="22390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关键流程形成可复用模板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5808" y="3062764"/>
            <a:ext cx="20528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能支持团队规模化协同</a:t>
            </a:r>
          </a:p>
        </p:txBody>
      </p:sp>
      <p:sp>
        <p:nvSpPr>
          <p:cNvPr id="23" name="Line 23"/>
          <p:cNvSpPr/>
          <p:nvPr/>
        </p:nvSpPr>
        <p:spPr>
          <a:xfrm>
            <a:off x="857250" y="5476875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25855" y="5616892"/>
            <a:ext cx="57378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建议：通过试用期转正，目标岗位职责扩大到项目+机制双维度</a:t>
            </a:r>
          </a:p>
        </p:txBody>
      </p:sp>
      <p:sp>
        <p:nvSpPr>
          <p:cNvPr id="25" name="Line 25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60070" y="6332220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试用期综合评估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177859" y="6325552"/>
            <a:ext cx="123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1642" y="2045018"/>
            <a:ext cx="10487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4499" y="242316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6" name="Line 6"/>
          <p:cNvSpPr/>
          <p:nvPr/>
        </p:nvSpPr>
        <p:spPr>
          <a:xfrm>
            <a:off x="4572000" y="3238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00558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508659" y="35556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期待继续为团队创造更大价值</a:t>
            </a:r>
          </a:p>
        </p:txBody>
      </p:sp>
      <p:sp>
        <p:nvSpPr>
          <p:cNvPr id="8" name="Freeform 8"/>
          <p:cNvSpPr/>
          <p:nvPr/>
        </p:nvSpPr>
        <p:spPr>
          <a:xfrm>
            <a:off x="3714750" y="4286250"/>
            <a:ext cx="4762500" cy="1333500"/>
          </a:xfrm>
          <a:custGeom>
            <a:avLst/>
            <a:gdLst/>
            <a:ahLst/>
            <a:cxnLst/>
            <a:rect l="l" t="t" r="r" b="b"/>
            <a:pathLst>
              <a:path w="4762500" h="13335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257300"/>
                </a:lnTo>
                <a:cubicBezTo>
                  <a:pt x="4762500" y="1299384"/>
                  <a:pt x="4728384" y="1333500"/>
                  <a:pt x="46863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7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840991" y="4536758"/>
            <a:ext cx="5100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Q&amp;A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41570" y="4966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欢迎提出问题，我将逐项说明</a:t>
            </a:r>
          </a:p>
        </p:txBody>
      </p:sp>
      <p:sp>
        <p:nvSpPr>
          <p:cNvPr id="11" name="Line 11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58165" y="660177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