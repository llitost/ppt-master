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各位领导与同事参加我的述职汇报。今天我汇报的主题是试用期6个月的工作总结，核心想说明三件事：我做了什么、带来了什么价值、后续还能继续承担什么。结合我过往5年研发经验，这6个月我完成了从快速融入到独立承担、从需求交付到系统沉淀的阶段性转变。 [Pause]</a:t>
            </a:r>
          </a:p>
          <a:p>
            <a:endParaRPr lang="zh-CN" dirty="0"/>
          </a:p>
          <a:p>
            <a:r>
              <a:rPr lang="zh-CN" dirty="0"/>
              <a:t>Key points: 汇报目标 价值导向 阶段转变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为了让大家快速把握重点，本次汇报主要分为四部分。第一部分是个人背景、岗位认知和试用期目标；第二部分是6个月的整体产出和关键案例；第三部分是我在岗位之外形成的沉淀，以及当前的不足；第四部分是未来6个月的工作计划、建议和求助事项。</a:t>
            </a:r>
          </a:p>
          <a:p>
            <a:r>
              <a:rPr lang="zh-CN" dirty="0"/>
              <a:t>我会尽量按照结论先行、案例支撑的方式展开。</a:t>
            </a:r>
          </a:p>
          <a:p>
            <a:endParaRPr lang="zh-CN" dirty="0"/>
          </a:p>
          <a:p>
            <a:r>
              <a:rPr lang="zh-CN" dirty="0"/>
              <a:t>Key points: 目录导航 讲述结构 结论先行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简单介绍一下我的基本情况。我毕业于华南农业大学软件工程专业，时间是2016到2020年；从2019年到2025年在深圳乐信控股有限公司工作。2025年10月20日入职当前公司，岗位是后端开发工程师，入职后主要切入会员、营销活动和运营平台相关业务。</a:t>
            </a:r>
          </a:p>
          <a:p>
            <a:r>
              <a:rPr lang="zh-CN" dirty="0"/>
              <a:t>这段试用期里，我承担的职责不只是完成分配需求，也逐步参与方案设计、项目推进和系统抽象，希望让团队更放心地把复杂事项交给我。 [Pause]</a:t>
            </a:r>
          </a:p>
          <a:p>
            <a:endParaRPr lang="zh-CN" dirty="0"/>
          </a:p>
          <a:p>
            <a:r>
              <a:rPr lang="zh-CN" dirty="0"/>
              <a:t>Key points: 个人背景 岗位定位 角色承担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对我当前岗位的理解，核心不是只完成开发任务，而是要同时对交付结果、系统质量、方案可扩展性和协作成本负责。</a:t>
            </a:r>
          </a:p>
          <a:p>
            <a:r>
              <a:rPr lang="zh-CN" dirty="0"/>
              <a:t>因为实际没有单独的《试用期绩效承诺书》条目，所以我更倾向用月度绩效结果、完成需求个数和任务总数来证明试用期表现。对应到工作目标上，主要有三点：第一，尽快熟悉业务并独立承接需求；第二，在关键项目中承担更大责任；第三，把一次性交付尽量沉淀成可复用机制。从结果看，这三个方向都在逐步落地。</a:t>
            </a:r>
          </a:p>
          <a:p>
            <a:endParaRPr lang="zh-CN" dirty="0"/>
          </a:p>
          <a:p>
            <a:r>
              <a:rPr lang="zh-CN" dirty="0"/>
              <a:t>Key points: 岗位认知 试用期目标 结果导向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页汇报我在试用期6个月内的整体产出。整体上，我参与和推动的工作覆盖活动运营、会员积分、会员权益、规则引擎、频控系统、签到重构等多个方向，工作类型从需求交付逐步延伸到系统建设和平台化优化。</a:t>
            </a:r>
          </a:p>
          <a:p>
            <a:r>
              <a:rPr lang="zh-CN" dirty="0"/>
              <a:t>从交付结果看，试用期累计交付需求数是8个，主导或独立负责的项目和事项也是8个，按期交付率达到100%。在此基础上，还有几项明确的量化结果：管理端查询杂志接口平均耗时从8秒优化到500毫秒；圣诞活动第一期从接到需求到上线仅19个工作日；积分到期提醒场景支撑40万以上用户推送；转盘活动配置化后，后续新增活动的人力投入从1天降低到约2小时。这些结果说明，我不仅完成了交付，也在持续提升效率和复用价值。 [Pause]</a:t>
            </a:r>
          </a:p>
          <a:p>
            <a:endParaRPr lang="zh-CN" dirty="0"/>
          </a:p>
          <a:p>
            <a:r>
              <a:rPr lang="zh-CN" dirty="0"/>
              <a:t>Key points: 整体产出 量化结果 效率提升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第一个重点案例是圣诞和新年活动项目，这个项目最能体现我在高压场景下的统筹和交付能力。</a:t>
            </a:r>
          </a:p>
          <a:p>
            <a:r>
              <a:rPr lang="zh-CN" dirty="0"/>
              <a:t>这个项目从11月到12月持续推进，整体分四期实施。第一期从接到需求到上线只有19个工作日，投入了4位后端、3位前端，我作为项目负责人统筹推进，同时也承担核心研发工作。项目的难点在于时间紧、任务重、节奏长，而且业务目标同时覆盖拉新、活跃和转化。最终项目按期推进，在12月23日完成第四期发布，证明我不仅能做开发，也能在复杂协同场景下扛住结果。</a:t>
            </a:r>
          </a:p>
          <a:p>
            <a:endParaRPr lang="zh-CN" dirty="0"/>
          </a:p>
          <a:p>
            <a:r>
              <a:rPr lang="zh-CN" dirty="0"/>
              <a:t>Key points: 节日活动 项目统筹 高压交付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第二个重点案例是规则引擎系统，这个项目体现的是我从0到1独立建设系统的能力。</a:t>
            </a:r>
          </a:p>
          <a:p>
            <a:r>
              <a:rPr lang="zh-CN" dirty="0"/>
              <a:t>业务上需要一套用于管理调用集、规则链和规则配置的管理平台，我不仅完成了后端实现，还自己绘制了原型交互、编写了管理台需求文档，最终独立实现了规则引擎系统。这个项目让我完成了从“承接需求”到“定义方案并独立落地”的转变，也证明我具备较强的抽象设计和全流程 ownership 能力。</a:t>
            </a:r>
          </a:p>
          <a:p>
            <a:endParaRPr lang="zh-CN" dirty="0"/>
          </a:p>
          <a:p>
            <a:r>
              <a:rPr lang="zh-CN" dirty="0"/>
              <a:t>Key points: 规则引擎 独立建设 方案能力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第三个重点案例，我想放在面向复用的系统优化和平台化建设上，这部分更能体现长期价值。</a:t>
            </a:r>
          </a:p>
          <a:p>
            <a:r>
              <a:rPr lang="zh-CN" dirty="0"/>
              <a:t>一方面，我主动优化历史问题，比如借助AI分析管理端查询链路，把查询杂志接口从平均8秒优化到500毫秒。另一方面，我参与并推动签到重构，通过“公共层加类型扩展层加奖励独立配置”的方式，重建活动平台基础架构，其中约90%的代码由AI生成，我主要负责定义规范和把控核心流程。除此之外，在独立站春促转盘活动中，我推动通过Nacos配置替代新增Java子类，让后续新转盘活动基本可以通过配置完成，把研发投入从1天降到约2小时。这些事情的共同点是，尽量把重复开发升级成可复用能力。</a:t>
            </a:r>
          </a:p>
          <a:p>
            <a:endParaRPr lang="zh-CN" dirty="0"/>
          </a:p>
          <a:p>
            <a:r>
              <a:rPr lang="zh-CN" dirty="0"/>
              <a:t>Key points: 性能优化 平台化建设 复用能力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除了项目交付之外，我也做了一些岗位之外、但对团队协作有帮助的沉淀工作。</a:t>
            </a:r>
          </a:p>
          <a:p>
            <a:r>
              <a:rPr lang="zh-CN" dirty="0"/>
              <a:t>比如我编写了《后端研发新人指引》，帮助新人更快熟悉开发环境、技术栈、研发流程和业务架构；同时梳理了新增工程应用和上线应用的SOP，减少重复沟通成本。我的理解是，个人经验如果只停留在自己这里，价值是有限的；只有沉淀成文档、规范和方法，才能真正转化为团队资产。</a:t>
            </a:r>
          </a:p>
          <a:p>
            <a:endParaRPr lang="zh-CN" dirty="0"/>
          </a:p>
          <a:p>
            <a:r>
              <a:rPr lang="zh-CN" dirty="0"/>
              <a:t>Key points: 额外贡献 文档沉淀 团队资产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在总结成绩的同时，我也想客观说明当前的不足和下一步提升方向。</a:t>
            </a:r>
          </a:p>
          <a:p>
            <a:r>
              <a:rPr lang="zh-CN" dirty="0"/>
              <a:t>第一，我在部分项目上的结果量化还不够充分，后续需要更早定义业务效果指标，做到结果可追踪、可复盘。第二，我对部分业务链路的纵深理解还可以继续加强，尤其是在会员和营销活动平台这类长期方向上，需要更系统的沉淀。第三，我已经开始使用AI提升研发效率，但团队级的规范和上下文沉淀还不够成熟，后续希望把个人实践逐步升级成更稳定的方法。</a:t>
            </a:r>
          </a:p>
          <a:p>
            <a:endParaRPr lang="zh-CN" dirty="0"/>
          </a:p>
          <a:p>
            <a:r>
              <a:rPr lang="zh-CN" dirty="0"/>
              <a:t>Key points: 不足识别 复盘意识 提升方向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最后汇报未来6个月的计划，以及我对组织的一些建议和求助。</a:t>
            </a:r>
          </a:p>
          <a:p>
            <a:r>
              <a:rPr lang="zh-CN" dirty="0"/>
              <a:t>未来我会继续围绕三个方向投入：第一，更熟练地使用AI工具，把SDD等方法更深地融入研发流程，进一步缩短需求交付周期；第二，打造项目级context，沉淀团队可复用的AI研发经验；第三，持续推进营销活动平台建设，争取在Q2完成核心能力建设。与此同时，我也希望在平台化事项上获得更稳定的排期空间，以及在跨团队协同和数据复盘口径上获得更多支持。综合来看，我认为自己已经在试用期内证明了岗位匹配度和持续成长潜力，申请按期转正。 [Pause]</a:t>
            </a:r>
          </a:p>
          <a:p>
            <a:endParaRPr lang="zh-CN" dirty="0"/>
          </a:p>
          <a:p>
            <a:r>
              <a:rPr lang="zh-CN" dirty="0"/>
              <a:t>Key points: 未来计划 建议求助 转正申请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我的汇报到这里结束，感谢各位领导和同事的时间与指导。</a:t>
            </a:r>
          </a:p>
          <a:p>
            <a:r>
              <a:rPr lang="zh-CN" dirty="0"/>
              <a:t>如果大家有问题，我可以继续从项目案例、量化结果，或者后续平台化和AI研发思路三个维度做进一步说明。</a:t>
            </a:r>
          </a:p>
          <a:p>
            <a:endParaRPr lang="zh-CN" dirty="0"/>
          </a:p>
          <a:p>
            <a:r>
              <a:rPr lang="zh-CN" dirty="0"/>
              <a:t>Key points: 感谢 问答收尾 补充说明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-111760" y="-949957"/>
            <a:ext cx="12369003" cy="7807957"/>
            <a:chOff x="-111760" y="-949957"/>
            <a:chExt cx="12369003" cy="780795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-111760" y="-949957"/>
              <a:ext cx="12369003" cy="1788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8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试用期转正述职报告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姓名：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15240" y="-12954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待补姓名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日期：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5240" y="-129540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2026.03.27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17780" y="-151130"/>
              <a:ext cx="105791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表单编号：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17780" y="-151130"/>
              <a:ext cx="209048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PROBATION-20260327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7780" y="-151130"/>
              <a:ext cx="648971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版本：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7780" y="-151130"/>
              <a:ext cx="43427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v1.0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4408" y="338614"/>
            <a:ext cx="921591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333F50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81000" y="1733550"/>
            <a:ext cx="11430000" cy="3790950"/>
            <a:chOff x="381000" y="1733550"/>
            <a:chExt cx="11430000" cy="3790950"/>
          </a:xfrm>
        </p:grpSpPr>
        <p:sp>
          <p:nvSpPr>
            <p:cNvPr id="11" name="Freeform 11"/>
            <p:cNvSpPr/>
            <p:nvPr/>
          </p:nvSpPr>
          <p:spPr>
            <a:xfrm>
              <a:off x="381000" y="1733550"/>
              <a:ext cx="11430000" cy="3790950"/>
            </a:xfrm>
            <a:custGeom>
              <a:avLst/>
              <a:gdLst/>
              <a:ahLst/>
              <a:cxnLst/>
              <a:rect l="l" t="t" r="r" b="b"/>
              <a:pathLst>
                <a:path w="11430000" h="37909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3714750"/>
                  </a:lnTo>
                  <a:cubicBezTo>
                    <a:pt x="11430000" y="3756834"/>
                    <a:pt x="11395884" y="3790950"/>
                    <a:pt x="11353800" y="3790950"/>
                  </a:cubicBezTo>
                  <a:lnTo>
                    <a:pt x="76200" y="3790950"/>
                  </a:lnTo>
                  <a:cubicBezTo>
                    <a:pt x="34116" y="3790950"/>
                    <a:pt x="0" y="3756834"/>
                    <a:pt x="0" y="3714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E5E7E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3875" y="1981200"/>
              <a:ext cx="11239500" cy="523875"/>
              <a:chOff x="523875" y="1981200"/>
              <a:chExt cx="11239500" cy="523875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523875" y="19812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74663" y="2078355"/>
                <a:ext cx="32707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4938" y="2102644"/>
                <a:ext cx="177284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个人基本情况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286250" y="22383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10487025" y="2152650"/>
                <a:ext cx="1276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95250">
                    <a:moveTo>
                      <a:pt x="161925" y="0"/>
                    </a:moveTo>
                    <a:lnTo>
                      <a:pt x="1276350" y="0"/>
                    </a:lnTo>
                    <a:lnTo>
                      <a:pt x="11144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3875" y="2476500"/>
              <a:ext cx="11239500" cy="523875"/>
              <a:chOff x="523875" y="2476500"/>
              <a:chExt cx="11239500" cy="523875"/>
            </a:xfrm>
          </p:grpSpPr>
          <p:sp>
            <p:nvSpPr>
              <p:cNvPr id="18" name="Polygon 18"/>
              <p:cNvSpPr/>
              <p:nvPr/>
            </p:nvSpPr>
            <p:spPr>
              <a:xfrm>
                <a:off x="523875" y="24765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4408" y="25736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04938" y="25979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岗位认知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286250" y="27336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10410825" y="2647950"/>
                <a:ext cx="1352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0">
                    <a:moveTo>
                      <a:pt x="161925" y="0"/>
                    </a:moveTo>
                    <a:lnTo>
                      <a:pt x="1352550" y="0"/>
                    </a:lnTo>
                    <a:lnTo>
                      <a:pt x="11906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23875" y="2971800"/>
              <a:ext cx="11239500" cy="523875"/>
              <a:chOff x="523875" y="2971800"/>
              <a:chExt cx="11239500" cy="523875"/>
            </a:xfrm>
          </p:grpSpPr>
          <p:sp>
            <p:nvSpPr>
              <p:cNvPr id="24" name="Polygon 24"/>
              <p:cNvSpPr/>
              <p:nvPr/>
            </p:nvSpPr>
            <p:spPr>
              <a:xfrm>
                <a:off x="523875" y="29718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34408" y="30689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04938" y="30932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个人绩效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286250" y="32289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467975" y="3143250"/>
                <a:ext cx="1295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0">
                    <a:moveTo>
                      <a:pt x="161925" y="0"/>
                    </a:moveTo>
                    <a:lnTo>
                      <a:pt x="1295400" y="0"/>
                    </a:lnTo>
                    <a:lnTo>
                      <a:pt x="11334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23875" y="3467100"/>
              <a:ext cx="11239500" cy="523875"/>
              <a:chOff x="523875" y="3467100"/>
              <a:chExt cx="11239500" cy="523875"/>
            </a:xfrm>
          </p:grpSpPr>
          <p:sp>
            <p:nvSpPr>
              <p:cNvPr id="30" name="Polygon 30"/>
              <p:cNvSpPr/>
              <p:nvPr/>
            </p:nvSpPr>
            <p:spPr>
              <a:xfrm>
                <a:off x="523875" y="34671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4408" y="35642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04938" y="3588544"/>
                <a:ext cx="234791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关键问题突破举例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4286250" y="37242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10220325" y="3638550"/>
                <a:ext cx="15430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43050" h="95250">
                    <a:moveTo>
                      <a:pt x="161925" y="0"/>
                    </a:moveTo>
                    <a:lnTo>
                      <a:pt x="1543050" y="0"/>
                    </a:lnTo>
                    <a:lnTo>
                      <a:pt x="13811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23875" y="3962400"/>
              <a:ext cx="11239500" cy="523875"/>
              <a:chOff x="523875" y="3962400"/>
              <a:chExt cx="11239500" cy="523875"/>
            </a:xfrm>
          </p:grpSpPr>
          <p:sp>
            <p:nvSpPr>
              <p:cNvPr id="36" name="Polygon 36"/>
              <p:cNvSpPr/>
              <p:nvPr/>
            </p:nvSpPr>
            <p:spPr>
              <a:xfrm>
                <a:off x="523875" y="39624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4408" y="40595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04938" y="4083844"/>
                <a:ext cx="206037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下一步工作规划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286250" y="42195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10391775" y="4133850"/>
                <a:ext cx="13716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0">
                    <a:moveTo>
                      <a:pt x="161925" y="0"/>
                    </a:moveTo>
                    <a:lnTo>
                      <a:pt x="1371600" y="0"/>
                    </a:lnTo>
                    <a:lnTo>
                      <a:pt x="12096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523875" y="4457700"/>
              <a:ext cx="11239500" cy="523875"/>
              <a:chOff x="523875" y="4457700"/>
              <a:chExt cx="11239500" cy="523875"/>
            </a:xfrm>
          </p:grpSpPr>
          <p:sp>
            <p:nvSpPr>
              <p:cNvPr id="42" name="Polygon 42"/>
              <p:cNvSpPr/>
              <p:nvPr/>
            </p:nvSpPr>
            <p:spPr>
              <a:xfrm>
                <a:off x="523875" y="44577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4408" y="45548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04938" y="4579144"/>
                <a:ext cx="292298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个人的不足和提升计划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286250" y="47148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9915525" y="4629150"/>
                <a:ext cx="1847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95250">
                    <a:moveTo>
                      <a:pt x="161925" y="0"/>
                    </a:moveTo>
                    <a:lnTo>
                      <a:pt x="1847850" y="0"/>
                    </a:lnTo>
                    <a:lnTo>
                      <a:pt x="1685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523875" y="4953000"/>
              <a:ext cx="11239500" cy="523875"/>
              <a:chOff x="523875" y="4953000"/>
              <a:chExt cx="11239500" cy="523875"/>
            </a:xfrm>
          </p:grpSpPr>
          <p:sp>
            <p:nvSpPr>
              <p:cNvPr id="48" name="Polygon 48"/>
              <p:cNvSpPr/>
              <p:nvPr/>
            </p:nvSpPr>
            <p:spPr>
              <a:xfrm>
                <a:off x="523875" y="49530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34408" y="50501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404938" y="5074444"/>
                <a:ext cx="14853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建议与求助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286250" y="52101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10296525" y="5124450"/>
                <a:ext cx="1466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95250">
                    <a:moveTo>
                      <a:pt x="161925" y="0"/>
                    </a:moveTo>
                    <a:lnTo>
                      <a:pt x="1466850" y="0"/>
                    </a:lnTo>
                    <a:lnTo>
                      <a:pt x="1304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</p:grpSp>
      <p:grpSp>
        <p:nvGrpSpPr>
          <p:cNvPr id="61" name="Group 6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7670" y="6341745"/>
              <a:ext cx="2750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Probation Presentation Structure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622" y="6578441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固定目录页，不参与动态占位替换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086746" y="6316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TOC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一、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个人背景与岗位定位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46920" y="5086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个人背景与岗位认知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450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具备成熟研发经验，入职后快速切入会员、营销活动与运营平台相关业务。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47850"/>
              <a:ext cx="3390900" cy="1695450"/>
            </a:xfrm>
            <a:custGeom>
              <a:avLst/>
              <a:gdLst/>
              <a:ahLst/>
              <a:cxnLst/>
              <a:rect l="l" t="t" r="r" b="b"/>
              <a:pathLst>
                <a:path w="3390900" h="1695450">
                  <a:moveTo>
                    <a:pt x="95250" y="0"/>
                  </a:moveTo>
                  <a:lnTo>
                    <a:pt x="3295650" y="0"/>
                  </a:lnTo>
                  <a:cubicBezTo>
                    <a:pt x="3348255" y="0"/>
                    <a:pt x="3390900" y="42645"/>
                    <a:pt x="3390900" y="95250"/>
                  </a:cubicBezTo>
                  <a:lnTo>
                    <a:pt x="3390900" y="1600200"/>
                  </a:lnTo>
                  <a:cubicBezTo>
                    <a:pt x="3390900" y="1652805"/>
                    <a:pt x="3348255" y="1695450"/>
                    <a:pt x="3295650" y="1695450"/>
                  </a:cubicBezTo>
                  <a:lnTo>
                    <a:pt x="95250" y="1695450"/>
                  </a:lnTo>
                  <a:cubicBezTo>
                    <a:pt x="42645" y="1695450"/>
                    <a:pt x="0" y="1652805"/>
                    <a:pt x="0" y="1600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84785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基础信息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387918"/>
              <a:ext cx="2065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华南农业大学 软件工程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654618"/>
              <a:ext cx="10792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2016 - 2020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805" y="29213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后端开发工程师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5805" y="3188018"/>
              <a:ext cx="15229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2025-10-20 入职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33850" y="1847850"/>
              <a:ext cx="3524250" cy="1695450"/>
            </a:xfrm>
            <a:custGeom>
              <a:avLst/>
              <a:gdLst/>
              <a:ahLst/>
              <a:cxnLst/>
              <a:rect l="l" t="t" r="r" b="b"/>
              <a:pathLst>
                <a:path w="3524250" h="169545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1600200"/>
                  </a:lnTo>
                  <a:cubicBezTo>
                    <a:pt x="3524250" y="1652805"/>
                    <a:pt x="3481605" y="1695450"/>
                    <a:pt x="3429000" y="1695450"/>
                  </a:cubicBezTo>
                  <a:lnTo>
                    <a:pt x="95250" y="1695450"/>
                  </a:lnTo>
                  <a:cubicBezTo>
                    <a:pt x="42645" y="1695450"/>
                    <a:pt x="0" y="1652805"/>
                    <a:pt x="0" y="1600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133850" y="1847850"/>
              <a:ext cx="3524250" cy="76200"/>
            </a:xfrm>
            <a:custGeom>
              <a:avLst/>
              <a:gdLst/>
              <a:ahLst/>
              <a:cxnLst/>
              <a:rect l="l" t="t" r="r" b="b"/>
              <a:pathLst>
                <a:path w="3524250" h="76200">
                  <a:moveTo>
                    <a:pt x="38100" y="0"/>
                  </a:moveTo>
                  <a:lnTo>
                    <a:pt x="3486150" y="0"/>
                  </a:lnTo>
                  <a:cubicBezTo>
                    <a:pt x="3507192" y="0"/>
                    <a:pt x="3524250" y="17058"/>
                    <a:pt x="3524250" y="38100"/>
                  </a:cubicBezTo>
                  <a:lnTo>
                    <a:pt x="3524250" y="38100"/>
                  </a:lnTo>
                  <a:cubicBezTo>
                    <a:pt x="3524250" y="59142"/>
                    <a:pt x="3507192" y="76200"/>
                    <a:pt x="3486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05300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职业经历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07205" y="2387918"/>
              <a:ext cx="31101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2019 - 2025 深圳乐信控股有限公司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07205" y="2654618"/>
              <a:ext cx="23214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累计 5 年 IT 行业研发经验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07205" y="292131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长期从事会员、活动、运营平台相关研发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848600" y="1847850"/>
              <a:ext cx="3600450" cy="1695450"/>
            </a:xfrm>
            <a:custGeom>
              <a:avLst/>
              <a:gdLst/>
              <a:ahLst/>
              <a:cxnLst/>
              <a:rect l="l" t="t" r="r" b="b"/>
              <a:pathLst>
                <a:path w="3600450" h="1695450">
                  <a:moveTo>
                    <a:pt x="95250" y="0"/>
                  </a:moveTo>
                  <a:lnTo>
                    <a:pt x="3505200" y="0"/>
                  </a:lnTo>
                  <a:cubicBezTo>
                    <a:pt x="3557805" y="0"/>
                    <a:pt x="3600450" y="42645"/>
                    <a:pt x="3600450" y="95250"/>
                  </a:cubicBezTo>
                  <a:lnTo>
                    <a:pt x="3600450" y="1600200"/>
                  </a:lnTo>
                  <a:cubicBezTo>
                    <a:pt x="3600450" y="1652805"/>
                    <a:pt x="3557805" y="1695450"/>
                    <a:pt x="3505200" y="1695450"/>
                  </a:cubicBezTo>
                  <a:lnTo>
                    <a:pt x="95250" y="1695450"/>
                  </a:lnTo>
                  <a:cubicBezTo>
                    <a:pt x="42645" y="1695450"/>
                    <a:pt x="0" y="1652805"/>
                    <a:pt x="0" y="1600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848600" y="1847850"/>
              <a:ext cx="3600450" cy="76200"/>
            </a:xfrm>
            <a:custGeom>
              <a:avLst/>
              <a:gdLst/>
              <a:ahLst/>
              <a:cxnLst/>
              <a:rect l="l" t="t" r="r" b="b"/>
              <a:pathLst>
                <a:path w="3600450" h="76200">
                  <a:moveTo>
                    <a:pt x="38100" y="0"/>
                  </a:moveTo>
                  <a:lnTo>
                    <a:pt x="3562350" y="0"/>
                  </a:lnTo>
                  <a:cubicBezTo>
                    <a:pt x="3583392" y="0"/>
                    <a:pt x="3600450" y="17058"/>
                    <a:pt x="3600450" y="38100"/>
                  </a:cubicBezTo>
                  <a:lnTo>
                    <a:pt x="3600450" y="38100"/>
                  </a:lnTo>
                  <a:cubicBezTo>
                    <a:pt x="3600450" y="59142"/>
                    <a:pt x="3583392" y="76200"/>
                    <a:pt x="35623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20050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岗位定位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21955" y="238791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当前负责会员、营销活动、运营平台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21955" y="26546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快速承接复杂需求并推进方案落地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21955" y="292131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兼顾交付效率、系统质量和复用沉淀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552450" y="3733800"/>
              <a:ext cx="10896600" cy="1390650"/>
            </a:xfrm>
            <a:custGeom>
              <a:avLst/>
              <a:gdLst/>
              <a:ahLst/>
              <a:cxnLst/>
              <a:rect l="l" t="t" r="r" b="b"/>
              <a:pathLst>
                <a:path w="10896600" h="139065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1276350"/>
                  </a:lnTo>
                  <a:cubicBezTo>
                    <a:pt x="10896600" y="1339476"/>
                    <a:pt x="10845426" y="1390650"/>
                    <a:pt x="10782300" y="1390650"/>
                  </a:cubicBezTo>
                  <a:lnTo>
                    <a:pt x="114300" y="1390650"/>
                  </a:lnTo>
                  <a:cubicBezTo>
                    <a:pt x="51174" y="1390650"/>
                    <a:pt x="0" y="1339476"/>
                    <a:pt x="0" y="1276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1050" y="38957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核心能力标签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00100" y="42672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200025" y="0"/>
                  </a:moveTo>
                  <a:lnTo>
                    <a:pt x="1704975" y="0"/>
                  </a:lnTo>
                  <a:cubicBezTo>
                    <a:pt x="1815446" y="0"/>
                    <a:pt x="1905000" y="89554"/>
                    <a:pt x="1905000" y="200025"/>
                  </a:cubicBezTo>
                  <a:lnTo>
                    <a:pt x="1905000" y="200025"/>
                  </a:lnTo>
                  <a:cubicBezTo>
                    <a:pt x="1905000" y="310496"/>
                    <a:pt x="1815446" y="400050"/>
                    <a:pt x="1704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FE1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02055" y="43691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复杂需求拆解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895600" y="42672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200025" y="0"/>
                  </a:moveTo>
                  <a:lnTo>
                    <a:pt x="1704975" y="0"/>
                  </a:lnTo>
                  <a:cubicBezTo>
                    <a:pt x="1815446" y="0"/>
                    <a:pt x="1905000" y="89554"/>
                    <a:pt x="1905000" y="200025"/>
                  </a:cubicBezTo>
                  <a:lnTo>
                    <a:pt x="1905000" y="200025"/>
                  </a:lnTo>
                  <a:cubicBezTo>
                    <a:pt x="1905000" y="310496"/>
                    <a:pt x="1815446" y="400050"/>
                    <a:pt x="1704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FE1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54705" y="43691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项目统筹推进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4991100" y="42672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200025" y="0"/>
                  </a:moveTo>
                  <a:lnTo>
                    <a:pt x="1704975" y="0"/>
                  </a:lnTo>
                  <a:cubicBezTo>
                    <a:pt x="1815446" y="0"/>
                    <a:pt x="1905000" y="89554"/>
                    <a:pt x="1905000" y="200025"/>
                  </a:cubicBezTo>
                  <a:lnTo>
                    <a:pt x="1905000" y="200025"/>
                  </a:lnTo>
                  <a:cubicBezTo>
                    <a:pt x="1905000" y="310496"/>
                    <a:pt x="1815446" y="400050"/>
                    <a:pt x="1704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FE1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50205" y="43691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平台化设计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7086600" y="42672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200025" y="0"/>
                  </a:moveTo>
                  <a:lnTo>
                    <a:pt x="1704975" y="0"/>
                  </a:lnTo>
                  <a:cubicBezTo>
                    <a:pt x="1815446" y="0"/>
                    <a:pt x="1905000" y="89554"/>
                    <a:pt x="1905000" y="200025"/>
                  </a:cubicBezTo>
                  <a:lnTo>
                    <a:pt x="1905000" y="200025"/>
                  </a:lnTo>
                  <a:cubicBezTo>
                    <a:pt x="1905000" y="310496"/>
                    <a:pt x="1815446" y="400050"/>
                    <a:pt x="1704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FE1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45705" y="436911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9182100" y="42672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200025" y="0"/>
                  </a:moveTo>
                  <a:lnTo>
                    <a:pt x="1704975" y="0"/>
                  </a:lnTo>
                  <a:cubicBezTo>
                    <a:pt x="1815446" y="0"/>
                    <a:pt x="1905000" y="89554"/>
                    <a:pt x="1905000" y="200025"/>
                  </a:cubicBezTo>
                  <a:lnTo>
                    <a:pt x="1905000" y="200025"/>
                  </a:lnTo>
                  <a:cubicBezTo>
                    <a:pt x="1905000" y="310496"/>
                    <a:pt x="1815446" y="400050"/>
                    <a:pt x="1704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FE1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26905" y="43691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复用机制沉淀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6755" y="5369242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具备成熟研发经验，试用期内完成从业务融入到独立承担复杂事项的快速切换。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7670" y="6341745"/>
              <a:ext cx="37296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personal_material.md + content_requirement.md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622" y="6578441"/>
              <a:ext cx="9848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模板化生成内容页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二、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岗位认知与试用期目标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23220" y="5086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岗位认知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629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不仅完成开发任务，也对交付结果、系统质量和协作成本负责。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2590800" cy="1409700"/>
            </a:xfrm>
            <a:custGeom>
              <a:avLst/>
              <a:gdLst/>
              <a:ahLst/>
              <a:cxnLst/>
              <a:rect l="l" t="t" r="r" b="b"/>
              <a:pathLst>
                <a:path w="2590800" h="140970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1314450"/>
                  </a:lnTo>
                  <a:cubicBezTo>
                    <a:pt x="2590800" y="1367055"/>
                    <a:pt x="2548155" y="1409700"/>
                    <a:pt x="249555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88595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38100" y="0"/>
                  </a:moveTo>
                  <a:lnTo>
                    <a:pt x="2552700" y="0"/>
                  </a:lnTo>
                  <a:cubicBezTo>
                    <a:pt x="2573742" y="0"/>
                    <a:pt x="2590800" y="17058"/>
                    <a:pt x="2590800" y="38100"/>
                  </a:cubicBezTo>
                  <a:lnTo>
                    <a:pt x="2590800" y="38100"/>
                  </a:lnTo>
                  <a:cubicBezTo>
                    <a:pt x="2590800" y="59142"/>
                    <a:pt x="2573742" y="76200"/>
                    <a:pt x="25527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0478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岗位认知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42601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不仅完成开发任务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69271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也对交付结果、系统质量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805" y="29594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和协作成本负责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314700" y="1885950"/>
              <a:ext cx="2590800" cy="1409700"/>
            </a:xfrm>
            <a:custGeom>
              <a:avLst/>
              <a:gdLst/>
              <a:ahLst/>
              <a:cxnLst/>
              <a:rect l="l" t="t" r="r" b="b"/>
              <a:pathLst>
                <a:path w="2590800" h="140970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1314450"/>
                  </a:lnTo>
                  <a:cubicBezTo>
                    <a:pt x="2590800" y="1367055"/>
                    <a:pt x="2548155" y="1409700"/>
                    <a:pt x="249555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14700" y="188595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38100" y="0"/>
                  </a:moveTo>
                  <a:lnTo>
                    <a:pt x="2552700" y="0"/>
                  </a:lnTo>
                  <a:cubicBezTo>
                    <a:pt x="2573742" y="0"/>
                    <a:pt x="2590800" y="17058"/>
                    <a:pt x="2590800" y="38100"/>
                  </a:cubicBezTo>
                  <a:lnTo>
                    <a:pt x="2590800" y="38100"/>
                  </a:lnTo>
                  <a:cubicBezTo>
                    <a:pt x="2590800" y="59142"/>
                    <a:pt x="2573742" y="76200"/>
                    <a:pt x="25527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86150" y="20478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试用期证明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8055" y="242601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无单独绩效承诺书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8055" y="26927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以月度绩效结果和交付结果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8055" y="29594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作为阶段性证明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76950" y="1885950"/>
              <a:ext cx="2590800" cy="1409700"/>
            </a:xfrm>
            <a:custGeom>
              <a:avLst/>
              <a:gdLst/>
              <a:ahLst/>
              <a:cxnLst/>
              <a:rect l="l" t="t" r="r" b="b"/>
              <a:pathLst>
                <a:path w="2590800" h="140970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1314450"/>
                  </a:lnTo>
                  <a:cubicBezTo>
                    <a:pt x="2590800" y="1367055"/>
                    <a:pt x="2548155" y="1409700"/>
                    <a:pt x="249555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076950" y="188595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38100" y="0"/>
                  </a:moveTo>
                  <a:lnTo>
                    <a:pt x="2552700" y="0"/>
                  </a:lnTo>
                  <a:cubicBezTo>
                    <a:pt x="2573742" y="0"/>
                    <a:pt x="2590800" y="17058"/>
                    <a:pt x="2590800" y="38100"/>
                  </a:cubicBezTo>
                  <a:lnTo>
                    <a:pt x="2590800" y="38100"/>
                  </a:lnTo>
                  <a:cubicBezTo>
                    <a:pt x="2590800" y="59142"/>
                    <a:pt x="2573742" y="76200"/>
                    <a:pt x="25527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8400" y="20478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阶段目标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50305" y="24260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尽快熟悉业务并独立承接需求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50305" y="26927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在关键项目中承担更大责任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839200" y="1885950"/>
              <a:ext cx="2609850" cy="1409700"/>
            </a:xfrm>
            <a:custGeom>
              <a:avLst/>
              <a:gdLst/>
              <a:ahLst/>
              <a:cxnLst/>
              <a:rect l="l" t="t" r="r" b="b"/>
              <a:pathLst>
                <a:path w="2609850" h="1409700">
                  <a:moveTo>
                    <a:pt x="95250" y="0"/>
                  </a:moveTo>
                  <a:lnTo>
                    <a:pt x="2514600" y="0"/>
                  </a:lnTo>
                  <a:cubicBezTo>
                    <a:pt x="2567205" y="0"/>
                    <a:pt x="2609850" y="42645"/>
                    <a:pt x="2609850" y="95250"/>
                  </a:cubicBezTo>
                  <a:lnTo>
                    <a:pt x="2609850" y="1314450"/>
                  </a:lnTo>
                  <a:cubicBezTo>
                    <a:pt x="2609850" y="1367055"/>
                    <a:pt x="2567205" y="1409700"/>
                    <a:pt x="251460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839200" y="1885950"/>
              <a:ext cx="2609850" cy="76200"/>
            </a:xfrm>
            <a:custGeom>
              <a:avLst/>
              <a:gdLst/>
              <a:ahLst/>
              <a:cxnLst/>
              <a:rect l="l" t="t" r="r" b="b"/>
              <a:pathLst>
                <a:path w="2609850" h="76200">
                  <a:moveTo>
                    <a:pt x="38100" y="0"/>
                  </a:moveTo>
                  <a:lnTo>
                    <a:pt x="2571750" y="0"/>
                  </a:lnTo>
                  <a:cubicBezTo>
                    <a:pt x="2592792" y="0"/>
                    <a:pt x="2609850" y="17058"/>
                    <a:pt x="2609850" y="38100"/>
                  </a:cubicBezTo>
                  <a:lnTo>
                    <a:pt x="2609850" y="38100"/>
                  </a:lnTo>
                  <a:cubicBezTo>
                    <a:pt x="2609850" y="59142"/>
                    <a:pt x="2592792" y="76200"/>
                    <a:pt x="25717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10650" y="20478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更高要求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12555" y="242601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把一次性交付沉淀成可复用能力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12555" y="26927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成为可放心托付复杂事项的人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52450" y="3543300"/>
              <a:ext cx="10896600" cy="1466850"/>
            </a:xfrm>
            <a:custGeom>
              <a:avLst/>
              <a:gdLst/>
              <a:ahLst/>
              <a:cxnLst/>
              <a:rect l="l" t="t" r="r" b="b"/>
              <a:pathLst>
                <a:path w="10896600" h="146685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1352550"/>
                  </a:lnTo>
                  <a:cubicBezTo>
                    <a:pt x="10896600" y="1415676"/>
                    <a:pt x="10845426" y="1466850"/>
                    <a:pt x="10782300" y="1466850"/>
                  </a:cubicBezTo>
                  <a:lnTo>
                    <a:pt x="114300" y="1466850"/>
                  </a:lnTo>
                  <a:cubicBezTo>
                    <a:pt x="51174" y="1466850"/>
                    <a:pt x="0" y="1415676"/>
                    <a:pt x="0" y="1352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9145" y="372713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试用期工作目标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90575" y="4171950"/>
              <a:ext cx="95250" cy="9525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9648" y="4116229"/>
              <a:ext cx="510063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尽快熟悉业务，缩短从理解需求到给出方案的时间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90575" y="4572000"/>
              <a:ext cx="95250" cy="9525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9648" y="4516279"/>
              <a:ext cx="57907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在关键项目中承担更大责任，兼顾进度、质量与协同效率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90575" y="4972050"/>
              <a:ext cx="95250" cy="9525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9648" y="4916329"/>
              <a:ext cx="53651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把单次交付沉淀为 SOP、配置化能力和团队经验资产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6755" y="5369242"/>
              <a:ext cx="70731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试用期的核心不是做了多少事，而是能否让团队更放心地把复杂事项交给我。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4" name="Rectangle 5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08622" y="6578441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依据模板规范重排为卡片结构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三、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98562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6个月整体产出与量化结果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23220" y="5086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个人绩效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工作覆盖交付、优化、系统建设和复用沉淀四个层面。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1000" y="1676400"/>
            <a:ext cx="11449050" cy="4095750"/>
            <a:chOff x="381000" y="1676400"/>
            <a:chExt cx="1144905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048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7305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试用期交付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535555"/>
              <a:ext cx="20338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累计 8 个需求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4480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6004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929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独立负责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49980" y="25355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8 个项目 / 事项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3436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4960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88505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按期交付率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5580" y="2535555"/>
              <a:ext cx="6813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2392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3916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841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查询优化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1180" y="2535555"/>
              <a:ext cx="17279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8s → 500ms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52450" y="327660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485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97305" y="3492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节日活动首期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4380" y="3926205"/>
              <a:ext cx="23559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19 个工作日上线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3448050" y="327660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60045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92905" y="3492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积分提醒覆盖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49980" y="3926205"/>
              <a:ext cx="15669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40w+ 用户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343650" y="327660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49605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8505" y="3492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5580" y="3926205"/>
              <a:ext cx="12931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 天 → 2h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9239250" y="32766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14300" y="0"/>
                  </a:moveTo>
                  <a:lnTo>
                    <a:pt x="2095500" y="0"/>
                  </a:lnTo>
                  <a:cubicBezTo>
                    <a:pt x="2158626" y="0"/>
                    <a:pt x="2209800" y="51174"/>
                    <a:pt x="2209800" y="114300"/>
                  </a:cubicBezTo>
                  <a:lnTo>
                    <a:pt x="2209800" y="1009650"/>
                  </a:lnTo>
                  <a:cubicBezTo>
                    <a:pt x="2209800" y="1072776"/>
                    <a:pt x="2158626" y="1123950"/>
                    <a:pt x="2095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88C100">
                <a:alpha val="8000"/>
              </a:srgbClr>
            </a:solidFill>
            <a:ln w="11430">
              <a:solidFill>
                <a:srgbClr val="CFE1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29750" y="34385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结果覆盖面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27845" y="37842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27845" y="40509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效率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27845" y="43176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影响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27845" y="45843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复用沉淀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6755" y="5369242"/>
              <a:ext cx="6452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结果同时覆盖交付、效率、影响和复用价值，整体履职结果达到预期。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8" name="Rectangle 5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8622" y="65784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指标页按模板卡片规范生成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四、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304889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关键案例一｜圣诞与新年活动高压交付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0" y="5086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关键问题突破举例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在时间紧、范围大、协同复杂的条件下，完成四期活动稳定落地。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114300" y="0"/>
                  </a:moveTo>
                  <a:lnTo>
                    <a:pt x="1943100" y="0"/>
                  </a:lnTo>
                  <a:cubicBezTo>
                    <a:pt x="2006226" y="0"/>
                    <a:pt x="2057400" y="51174"/>
                    <a:pt x="2057400" y="114300"/>
                  </a:cubicBezTo>
                  <a:lnTo>
                    <a:pt x="2057400" y="876300"/>
                  </a:lnTo>
                  <a:cubicBezTo>
                    <a:pt x="2057400" y="939426"/>
                    <a:pt x="2006226" y="990600"/>
                    <a:pt x="19431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048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73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535555"/>
              <a:ext cx="26618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2025.11 - 2025.12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2781300" y="188595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114300" y="0"/>
                  </a:moveTo>
                  <a:lnTo>
                    <a:pt x="1943100" y="0"/>
                  </a:lnTo>
                  <a:cubicBezTo>
                    <a:pt x="2006226" y="0"/>
                    <a:pt x="2057400" y="51174"/>
                    <a:pt x="2057400" y="114300"/>
                  </a:cubicBezTo>
                  <a:lnTo>
                    <a:pt x="2057400" y="876300"/>
                  </a:lnTo>
                  <a:cubicBezTo>
                    <a:pt x="2057400" y="939426"/>
                    <a:pt x="2006226" y="990600"/>
                    <a:pt x="19431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93370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2615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一期上线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83230" y="25355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010150" y="188595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114300" y="0"/>
                  </a:moveTo>
                  <a:lnTo>
                    <a:pt x="1943100" y="0"/>
                  </a:lnTo>
                  <a:cubicBezTo>
                    <a:pt x="2006226" y="0"/>
                    <a:pt x="2057400" y="51174"/>
                    <a:pt x="2057400" y="114300"/>
                  </a:cubicBezTo>
                  <a:lnTo>
                    <a:pt x="2057400" y="876300"/>
                  </a:lnTo>
                  <a:cubicBezTo>
                    <a:pt x="2057400" y="939426"/>
                    <a:pt x="2006226" y="990600"/>
                    <a:pt x="19431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1625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550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项目投入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12080" y="2535555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4 后端 + 3 前端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239000" y="1885950"/>
              <a:ext cx="4210050" cy="990600"/>
            </a:xfrm>
            <a:custGeom>
              <a:avLst/>
              <a:gdLst/>
              <a:ahLst/>
              <a:cxnLst/>
              <a:rect l="l" t="t" r="r" b="b"/>
              <a:pathLst>
                <a:path w="4210050" h="990600">
                  <a:moveTo>
                    <a:pt x="114300" y="0"/>
                  </a:moveTo>
                  <a:lnTo>
                    <a:pt x="4095750" y="0"/>
                  </a:lnTo>
                  <a:cubicBezTo>
                    <a:pt x="4158876" y="0"/>
                    <a:pt x="4210050" y="51174"/>
                    <a:pt x="4210050" y="114300"/>
                  </a:cubicBezTo>
                  <a:lnTo>
                    <a:pt x="4210050" y="876300"/>
                  </a:lnTo>
                  <a:cubicBezTo>
                    <a:pt x="4210050" y="939426"/>
                    <a:pt x="4158876" y="990600"/>
                    <a:pt x="409575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39140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8385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个人角色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40930" y="2535555"/>
              <a:ext cx="33220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项目负责人 + 核心研发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52450" y="3086100"/>
              <a:ext cx="2571750" cy="1828800"/>
            </a:xfrm>
            <a:custGeom>
              <a:avLst/>
              <a:gdLst/>
              <a:ahLst/>
              <a:cxnLst/>
              <a:rect l="l" t="t" r="r" b="b"/>
              <a:pathLst>
                <a:path w="2571750" h="18288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733550"/>
                  </a:lnTo>
                  <a:cubicBezTo>
                    <a:pt x="2571750" y="1786155"/>
                    <a:pt x="2529105" y="1828800"/>
                    <a:pt x="247650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52450" y="30861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3900" y="3248025"/>
              <a:ext cx="10617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Situation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5805" y="36261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时间紧、范围大、协同复杂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5805" y="3892868"/>
              <a:ext cx="14440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活动分 4 期推进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5805" y="4159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需要兼顾拉新、活跃、转化目标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3295650" y="3086100"/>
              <a:ext cx="2571750" cy="1828800"/>
            </a:xfrm>
            <a:custGeom>
              <a:avLst/>
              <a:gdLst/>
              <a:ahLst/>
              <a:cxnLst/>
              <a:rect l="l" t="t" r="r" b="b"/>
              <a:pathLst>
                <a:path w="2571750" h="18288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733550"/>
                  </a:lnTo>
                  <a:cubicBezTo>
                    <a:pt x="2571750" y="1786155"/>
                    <a:pt x="2529105" y="1828800"/>
                    <a:pt x="247650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3295650" y="30861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467100" y="324802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Task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69005" y="362616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拆解发布节奏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69005" y="38928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协调前后端与业务方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69005" y="41595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承担关键模块研发与风险兜底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038850" y="3086100"/>
              <a:ext cx="2571750" cy="1828800"/>
            </a:xfrm>
            <a:custGeom>
              <a:avLst/>
              <a:gdLst/>
              <a:ahLst/>
              <a:cxnLst/>
              <a:rect l="l" t="t" r="r" b="b"/>
              <a:pathLst>
                <a:path w="2571750" h="18288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733550"/>
                  </a:lnTo>
                  <a:cubicBezTo>
                    <a:pt x="2571750" y="1786155"/>
                    <a:pt x="2529105" y="1828800"/>
                    <a:pt x="247650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038850" y="30861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10300" y="3248025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Action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12205" y="36261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识别核心链路和里程碑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12205" y="38928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按期推进联调、提测、上线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12205" y="41595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保障每一期可控交付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8782050" y="3086100"/>
              <a:ext cx="2667000" cy="1828800"/>
            </a:xfrm>
            <a:custGeom>
              <a:avLst/>
              <a:gdLst/>
              <a:ahLst/>
              <a:cxnLst/>
              <a:rect l="l" t="t" r="r" b="b"/>
              <a:pathLst>
                <a:path w="2667000" h="18288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1733550"/>
                  </a:lnTo>
                  <a:cubicBezTo>
                    <a:pt x="2667000" y="1786155"/>
                    <a:pt x="2624355" y="1828800"/>
                    <a:pt x="257175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782050" y="3086100"/>
              <a:ext cx="2667000" cy="76200"/>
            </a:xfrm>
            <a:custGeom>
              <a:avLst/>
              <a:gdLst/>
              <a:ahLst/>
              <a:cxnLst/>
              <a:rect l="l" t="t" r="r" b="b"/>
              <a:pathLst>
                <a:path w="2667000" h="76200">
                  <a:moveTo>
                    <a:pt x="38100" y="0"/>
                  </a:moveTo>
                  <a:lnTo>
                    <a:pt x="2628900" y="0"/>
                  </a:lnTo>
                  <a:cubicBezTo>
                    <a:pt x="2649942" y="0"/>
                    <a:pt x="2667000" y="17058"/>
                    <a:pt x="2667000" y="38100"/>
                  </a:cubicBezTo>
                  <a:lnTo>
                    <a:pt x="2667000" y="38100"/>
                  </a:lnTo>
                  <a:cubicBezTo>
                    <a:pt x="2667000" y="59142"/>
                    <a:pt x="2649942" y="76200"/>
                    <a:pt x="26289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53500" y="3248025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Result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55405" y="3626168"/>
              <a:ext cx="19665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12.23 完成第四期发布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55405" y="38928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在高压项目中稳定交付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55405" y="41595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兼顾节奏统筹与研发质量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6755" y="5369242"/>
              <a:ext cx="81082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最终按计划完成四期节日活动落地，证明自己不仅能写代码，也能在高压项目中扛结果。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8622" y="6578441"/>
              <a:ext cx="14427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案例页采用 STAR 卡片结构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五、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241056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关键案例二｜规则引擎从0到1独立建设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0" y="5086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关键问题突破举例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81000" y="1676400"/>
            <a:ext cx="11887676" cy="4095750"/>
            <a:chOff x="381000" y="1676400"/>
            <a:chExt cx="11887676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10896600" cy="1143000"/>
            </a:xfrm>
            <a:custGeom>
              <a:avLst/>
              <a:gdLst/>
              <a:ahLst/>
              <a:cxnLst/>
              <a:rect l="l" t="t" r="r" b="b"/>
              <a:pathLst>
                <a:path w="10896600" h="114300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1028700"/>
                  </a:lnTo>
                  <a:cubicBezTo>
                    <a:pt x="10896600" y="1091826"/>
                    <a:pt x="10845426" y="1143000"/>
                    <a:pt x="107823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385" y="2056448"/>
              <a:ext cx="96187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0100" y="2486025"/>
              <a:ext cx="617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系统能力覆盖：调用集、规则链、规则测试执行、多环境管理。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2450" y="3238500"/>
              <a:ext cx="2419350" cy="1638300"/>
            </a:xfrm>
            <a:custGeom>
              <a:avLst/>
              <a:gdLst/>
              <a:ahLst/>
              <a:cxnLst/>
              <a:rect l="l" t="t" r="r" b="b"/>
              <a:pathLst>
                <a:path w="2419350" h="1638300">
                  <a:moveTo>
                    <a:pt x="95250" y="0"/>
                  </a:moveTo>
                  <a:lnTo>
                    <a:pt x="2324100" y="0"/>
                  </a:lnTo>
                  <a:cubicBezTo>
                    <a:pt x="2376705" y="0"/>
                    <a:pt x="2419350" y="42645"/>
                    <a:pt x="2419350" y="95250"/>
                  </a:cubicBezTo>
                  <a:lnTo>
                    <a:pt x="2419350" y="1543050"/>
                  </a:lnTo>
                  <a:cubicBezTo>
                    <a:pt x="2419350" y="1595655"/>
                    <a:pt x="2376705" y="1638300"/>
                    <a:pt x="23241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2450" y="3238500"/>
              <a:ext cx="2419350" cy="76200"/>
            </a:xfrm>
            <a:custGeom>
              <a:avLst/>
              <a:gdLst/>
              <a:ahLst/>
              <a:cxnLst/>
              <a:rect l="l" t="t" r="r" b="b"/>
              <a:pathLst>
                <a:path w="2419350" h="76200">
                  <a:moveTo>
                    <a:pt x="38100" y="0"/>
                  </a:moveTo>
                  <a:lnTo>
                    <a:pt x="2381250" y="0"/>
                  </a:lnTo>
                  <a:cubicBezTo>
                    <a:pt x="2402292" y="0"/>
                    <a:pt x="2419350" y="17058"/>
                    <a:pt x="2419350" y="38100"/>
                  </a:cubicBezTo>
                  <a:lnTo>
                    <a:pt x="2419350" y="38100"/>
                  </a:lnTo>
                  <a:cubicBezTo>
                    <a:pt x="2419350" y="59142"/>
                    <a:pt x="2402292" y="76200"/>
                    <a:pt x="2381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900" y="3400425"/>
              <a:ext cx="7626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01 原型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5805" y="377856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自绘原型交互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5805" y="40452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在方案阶段提前明确功能边界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238500" y="3238500"/>
              <a:ext cx="2419350" cy="1638300"/>
            </a:xfrm>
            <a:custGeom>
              <a:avLst/>
              <a:gdLst/>
              <a:ahLst/>
              <a:cxnLst/>
              <a:rect l="l" t="t" r="r" b="b"/>
              <a:pathLst>
                <a:path w="2419350" h="1638300">
                  <a:moveTo>
                    <a:pt x="95250" y="0"/>
                  </a:moveTo>
                  <a:lnTo>
                    <a:pt x="2324100" y="0"/>
                  </a:lnTo>
                  <a:cubicBezTo>
                    <a:pt x="2376705" y="0"/>
                    <a:pt x="2419350" y="42645"/>
                    <a:pt x="2419350" y="95250"/>
                  </a:cubicBezTo>
                  <a:lnTo>
                    <a:pt x="2419350" y="1543050"/>
                  </a:lnTo>
                  <a:cubicBezTo>
                    <a:pt x="2419350" y="1595655"/>
                    <a:pt x="2376705" y="1638300"/>
                    <a:pt x="23241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238500" y="3238500"/>
              <a:ext cx="2419350" cy="76200"/>
            </a:xfrm>
            <a:custGeom>
              <a:avLst/>
              <a:gdLst/>
              <a:ahLst/>
              <a:cxnLst/>
              <a:rect l="l" t="t" r="r" b="b"/>
              <a:pathLst>
                <a:path w="2419350" h="76200">
                  <a:moveTo>
                    <a:pt x="38100" y="0"/>
                  </a:moveTo>
                  <a:lnTo>
                    <a:pt x="2381250" y="0"/>
                  </a:lnTo>
                  <a:cubicBezTo>
                    <a:pt x="2402292" y="0"/>
                    <a:pt x="2419350" y="17058"/>
                    <a:pt x="2419350" y="38100"/>
                  </a:cubicBezTo>
                  <a:lnTo>
                    <a:pt x="2419350" y="38100"/>
                  </a:lnTo>
                  <a:cubicBezTo>
                    <a:pt x="2419350" y="59142"/>
                    <a:pt x="2402292" y="76200"/>
                    <a:pt x="2381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09950" y="340042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02 文档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11855" y="37785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自编管理台需求文档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11855" y="40452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降低协作理解偏差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24550" y="3238500"/>
              <a:ext cx="2419350" cy="1638300"/>
            </a:xfrm>
            <a:custGeom>
              <a:avLst/>
              <a:gdLst/>
              <a:ahLst/>
              <a:cxnLst/>
              <a:rect l="l" t="t" r="r" b="b"/>
              <a:pathLst>
                <a:path w="2419350" h="1638300">
                  <a:moveTo>
                    <a:pt x="95250" y="0"/>
                  </a:moveTo>
                  <a:lnTo>
                    <a:pt x="2324100" y="0"/>
                  </a:lnTo>
                  <a:cubicBezTo>
                    <a:pt x="2376705" y="0"/>
                    <a:pt x="2419350" y="42645"/>
                    <a:pt x="2419350" y="95250"/>
                  </a:cubicBezTo>
                  <a:lnTo>
                    <a:pt x="2419350" y="1543050"/>
                  </a:lnTo>
                  <a:cubicBezTo>
                    <a:pt x="2419350" y="1595655"/>
                    <a:pt x="2376705" y="1638300"/>
                    <a:pt x="23241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924550" y="3238500"/>
              <a:ext cx="2419350" cy="76200"/>
            </a:xfrm>
            <a:custGeom>
              <a:avLst/>
              <a:gdLst/>
              <a:ahLst/>
              <a:cxnLst/>
              <a:rect l="l" t="t" r="r" b="b"/>
              <a:pathLst>
                <a:path w="2419350" h="76200">
                  <a:moveTo>
                    <a:pt x="38100" y="0"/>
                  </a:moveTo>
                  <a:lnTo>
                    <a:pt x="2381250" y="0"/>
                  </a:lnTo>
                  <a:cubicBezTo>
                    <a:pt x="2402292" y="0"/>
                    <a:pt x="2419350" y="17058"/>
                    <a:pt x="2419350" y="38100"/>
                  </a:cubicBezTo>
                  <a:lnTo>
                    <a:pt x="2419350" y="38100"/>
                  </a:lnTo>
                  <a:cubicBezTo>
                    <a:pt x="2419350" y="59142"/>
                    <a:pt x="2402292" y="76200"/>
                    <a:pt x="2381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96000" y="340042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03 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97905" y="37785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独立实现规则引擎系统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97905" y="4045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完成管理台与执行能力建设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610600" y="3238500"/>
              <a:ext cx="2838450" cy="1638300"/>
            </a:xfrm>
            <a:custGeom>
              <a:avLst/>
              <a:gdLst/>
              <a:ahLst/>
              <a:cxnLst/>
              <a:rect l="l" t="t" r="r" b="b"/>
              <a:pathLst>
                <a:path w="2838450" h="1638300">
                  <a:moveTo>
                    <a:pt x="95250" y="0"/>
                  </a:moveTo>
                  <a:lnTo>
                    <a:pt x="2743200" y="0"/>
                  </a:lnTo>
                  <a:cubicBezTo>
                    <a:pt x="2795805" y="0"/>
                    <a:pt x="2838450" y="42645"/>
                    <a:pt x="2838450" y="95250"/>
                  </a:cubicBezTo>
                  <a:lnTo>
                    <a:pt x="2838450" y="1543050"/>
                  </a:lnTo>
                  <a:cubicBezTo>
                    <a:pt x="2838450" y="1595655"/>
                    <a:pt x="2795805" y="1638300"/>
                    <a:pt x="27432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10600" y="3238500"/>
              <a:ext cx="2838450" cy="76200"/>
            </a:xfrm>
            <a:custGeom>
              <a:avLst/>
              <a:gdLst/>
              <a:ahLst/>
              <a:cxnLst/>
              <a:rect l="l" t="t" r="r" b="b"/>
              <a:pathLst>
                <a:path w="2838450" h="76200">
                  <a:moveTo>
                    <a:pt x="38100" y="0"/>
                  </a:moveTo>
                  <a:lnTo>
                    <a:pt x="2800350" y="0"/>
                  </a:lnTo>
                  <a:cubicBezTo>
                    <a:pt x="2821392" y="0"/>
                    <a:pt x="2838450" y="17058"/>
                    <a:pt x="2838450" y="38100"/>
                  </a:cubicBezTo>
                  <a:lnTo>
                    <a:pt x="2838450" y="38100"/>
                  </a:lnTo>
                  <a:cubicBezTo>
                    <a:pt x="2838450" y="59142"/>
                    <a:pt x="2821392" y="76200"/>
                    <a:pt x="28003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82050" y="340042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04 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83955" y="3778568"/>
              <a:ext cx="33861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从承接需求升级为定义方案并独立落地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83955" y="4045268"/>
              <a:ext cx="34847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形成更强的抽象设计与 ownership 能力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6755" y="5369242"/>
              <a:ext cx="77045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从需求接收升级为问题定义、方案设计和独立交付，完成从 0 到 1 的复杂系统建设。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7" name="Rectangle 47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8622" y="65784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案例页采用里程碑卡片结构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六、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6028230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关键案例三｜优化与平台化建设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0" y="5086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关键问题突破举例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不只完成需求，更持续把一次性交付升级成可复用能力。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3390900" cy="2590800"/>
            </a:xfrm>
            <a:custGeom>
              <a:avLst/>
              <a:gdLst/>
              <a:ahLst/>
              <a:cxnLst/>
              <a:rect l="l" t="t" r="r" b="b"/>
              <a:pathLst>
                <a:path w="3390900" h="2590800">
                  <a:moveTo>
                    <a:pt x="95250" y="0"/>
                  </a:moveTo>
                  <a:lnTo>
                    <a:pt x="3295650" y="0"/>
                  </a:lnTo>
                  <a:cubicBezTo>
                    <a:pt x="3348255" y="0"/>
                    <a:pt x="3390900" y="42645"/>
                    <a:pt x="3390900" y="95250"/>
                  </a:cubicBezTo>
                  <a:lnTo>
                    <a:pt x="3390900" y="2495550"/>
                  </a:lnTo>
                  <a:cubicBezTo>
                    <a:pt x="3390900" y="2548155"/>
                    <a:pt x="3348255" y="2590800"/>
                    <a:pt x="3295650" y="2590800"/>
                  </a:cubicBezTo>
                  <a:lnTo>
                    <a:pt x="95250" y="2590800"/>
                  </a:lnTo>
                  <a:cubicBezTo>
                    <a:pt x="42645" y="2590800"/>
                    <a:pt x="0" y="2548155"/>
                    <a:pt x="0" y="2495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143125"/>
              <a:ext cx="145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521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问题：后台查询接口响应慢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7879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动作：定位瓶颈并重构查询链路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805" y="3054668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结果：平均耗时 8s → 500ms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5805" y="33213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价值：显著提升运营侧使用效率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400550" y="1981200"/>
              <a:ext cx="3390900" cy="2590800"/>
            </a:xfrm>
            <a:custGeom>
              <a:avLst/>
              <a:gdLst/>
              <a:ahLst/>
              <a:cxnLst/>
              <a:rect l="l" t="t" r="r" b="b"/>
              <a:pathLst>
                <a:path w="3390900" h="2590800">
                  <a:moveTo>
                    <a:pt x="95250" y="0"/>
                  </a:moveTo>
                  <a:lnTo>
                    <a:pt x="3295650" y="0"/>
                  </a:lnTo>
                  <a:cubicBezTo>
                    <a:pt x="3348255" y="0"/>
                    <a:pt x="3390900" y="42645"/>
                    <a:pt x="3390900" y="95250"/>
                  </a:cubicBezTo>
                  <a:lnTo>
                    <a:pt x="3390900" y="2495550"/>
                  </a:lnTo>
                  <a:cubicBezTo>
                    <a:pt x="3390900" y="2548155"/>
                    <a:pt x="3348255" y="2590800"/>
                    <a:pt x="3295650" y="2590800"/>
                  </a:cubicBezTo>
                  <a:lnTo>
                    <a:pt x="95250" y="2590800"/>
                  </a:lnTo>
                  <a:cubicBezTo>
                    <a:pt x="42645" y="2590800"/>
                    <a:pt x="0" y="2548155"/>
                    <a:pt x="0" y="2495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400550" y="19812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72000" y="21431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签到重构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3905" y="25212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问题：活动需求重复开发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3905" y="27879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动作：抽象为标准配置化能力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3905" y="30546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结果：后端无需每次重复开发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3905" y="33213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价值：提升需求响应效率和稳定性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248650" y="1981200"/>
              <a:ext cx="3200400" cy="2590800"/>
            </a:xfrm>
            <a:custGeom>
              <a:avLst/>
              <a:gdLst/>
              <a:ahLst/>
              <a:cxnLst/>
              <a:rect l="l" t="t" r="r" b="b"/>
              <a:pathLst>
                <a:path w="3200400" h="2590800">
                  <a:moveTo>
                    <a:pt x="95250" y="0"/>
                  </a:moveTo>
                  <a:lnTo>
                    <a:pt x="3105150" y="0"/>
                  </a:lnTo>
                  <a:cubicBezTo>
                    <a:pt x="3157755" y="0"/>
                    <a:pt x="3200400" y="42645"/>
                    <a:pt x="3200400" y="95250"/>
                  </a:cubicBezTo>
                  <a:lnTo>
                    <a:pt x="3200400" y="2495550"/>
                  </a:lnTo>
                  <a:cubicBezTo>
                    <a:pt x="3200400" y="2548155"/>
                    <a:pt x="3157755" y="2590800"/>
                    <a:pt x="3105150" y="2590800"/>
                  </a:cubicBezTo>
                  <a:lnTo>
                    <a:pt x="95250" y="2590800"/>
                  </a:lnTo>
                  <a:cubicBezTo>
                    <a:pt x="42645" y="2590800"/>
                    <a:pt x="0" y="2548155"/>
                    <a:pt x="0" y="2495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248650" y="1981200"/>
              <a:ext cx="3200400" cy="76200"/>
            </a:xfrm>
            <a:custGeom>
              <a:avLst/>
              <a:gdLst/>
              <a:ahLst/>
              <a:cxnLst/>
              <a:rect l="l" t="t" r="r" b="b"/>
              <a:pathLst>
                <a:path w="3200400" h="76200">
                  <a:moveTo>
                    <a:pt x="38100" y="0"/>
                  </a:moveTo>
                  <a:lnTo>
                    <a:pt x="3162300" y="0"/>
                  </a:lnTo>
                  <a:cubicBezTo>
                    <a:pt x="3183342" y="0"/>
                    <a:pt x="3200400" y="17058"/>
                    <a:pt x="3200400" y="38100"/>
                  </a:cubicBezTo>
                  <a:lnTo>
                    <a:pt x="3200400" y="38100"/>
                  </a:lnTo>
                  <a:cubicBezTo>
                    <a:pt x="3200400" y="59142"/>
                    <a:pt x="3183342" y="76200"/>
                    <a:pt x="31623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20100" y="21431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22005" y="2521268"/>
              <a:ext cx="30706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问题：33 个子类问题散落在实现中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22005" y="27879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动作：收敛到配置组合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2005" y="3054668"/>
              <a:ext cx="2853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结果：新增活动由 1 天降到约 2h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2005" y="33213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价值：持续降低重复研发成本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6755" y="5369242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通过性能优化、架构重构和配置化设计，把一次性交付持续升级为可复用能力。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622" y="65784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三列平台化案例结构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七、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个人贡献与方法沉淀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23220" y="5086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个人贡献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1676400"/>
            <a:ext cx="11566207" cy="4095750"/>
            <a:chOff x="381000" y="1676400"/>
            <a:chExt cx="11566207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2571750" cy="2324100"/>
            </a:xfrm>
            <a:custGeom>
              <a:avLst/>
              <a:gdLst/>
              <a:ahLst/>
              <a:cxnLst/>
              <a:rect l="l" t="t" r="r" b="b"/>
              <a:pathLst>
                <a:path w="2571750" h="23241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228850"/>
                  </a:lnTo>
                  <a:cubicBezTo>
                    <a:pt x="2571750" y="2281455"/>
                    <a:pt x="2529105" y="2324100"/>
                    <a:pt x="247650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1431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新人指引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521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编写《后端研发新人指引》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787968"/>
              <a:ext cx="3780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帮助新同学更快理解环境、流程和协作方式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295650" y="1981200"/>
              <a:ext cx="2571750" cy="2324100"/>
            </a:xfrm>
            <a:custGeom>
              <a:avLst/>
              <a:gdLst/>
              <a:ahLst/>
              <a:cxnLst/>
              <a:rect l="l" t="t" r="r" b="b"/>
              <a:pathLst>
                <a:path w="2571750" h="23241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228850"/>
                  </a:lnTo>
                  <a:cubicBezTo>
                    <a:pt x="2571750" y="2281455"/>
                    <a:pt x="2529105" y="2324100"/>
                    <a:pt x="247650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295650" y="19812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67100" y="2143125"/>
              <a:ext cx="9927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工程 SOP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69005" y="2521268"/>
              <a:ext cx="2035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梳理新增工程应用 SOP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69005" y="2787968"/>
              <a:ext cx="16412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梳理上线应用 SOP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69005" y="30546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降低重复沟通成本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038850" y="1981200"/>
              <a:ext cx="2571750" cy="2324100"/>
            </a:xfrm>
            <a:custGeom>
              <a:avLst/>
              <a:gdLst/>
              <a:ahLst/>
              <a:cxnLst/>
              <a:rect l="l" t="t" r="r" b="b"/>
              <a:pathLst>
                <a:path w="2571750" h="23241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228850"/>
                  </a:lnTo>
                  <a:cubicBezTo>
                    <a:pt x="2571750" y="2281455"/>
                    <a:pt x="2529105" y="2324100"/>
                    <a:pt x="247650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038850" y="19812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10300" y="214312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12205" y="2521268"/>
              <a:ext cx="42635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在需求分析、文档整理、代码辅助中实践 AI 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12205" y="27879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提升信息组织和研发效率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782050" y="1981200"/>
              <a:ext cx="2667000" cy="2324100"/>
            </a:xfrm>
            <a:custGeom>
              <a:avLst/>
              <a:gdLst/>
              <a:ahLst/>
              <a:cxnLst/>
              <a:rect l="l" t="t" r="r" b="b"/>
              <a:pathLst>
                <a:path w="2667000" h="23241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2228850"/>
                  </a:lnTo>
                  <a:cubicBezTo>
                    <a:pt x="2667000" y="2281455"/>
                    <a:pt x="2624355" y="2324100"/>
                    <a:pt x="257175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782050" y="1981200"/>
              <a:ext cx="2667000" cy="76200"/>
            </a:xfrm>
            <a:custGeom>
              <a:avLst/>
              <a:gdLst/>
              <a:ahLst/>
              <a:cxnLst/>
              <a:rect l="l" t="t" r="r" b="b"/>
              <a:pathLst>
                <a:path w="2667000" h="76200">
                  <a:moveTo>
                    <a:pt x="38100" y="0"/>
                  </a:moveTo>
                  <a:lnTo>
                    <a:pt x="2628900" y="0"/>
                  </a:lnTo>
                  <a:cubicBezTo>
                    <a:pt x="2649942" y="0"/>
                    <a:pt x="2667000" y="17058"/>
                    <a:pt x="2667000" y="38100"/>
                  </a:cubicBezTo>
                  <a:lnTo>
                    <a:pt x="2667000" y="38100"/>
                  </a:lnTo>
                  <a:cubicBezTo>
                    <a:pt x="2667000" y="59142"/>
                    <a:pt x="2649942" y="76200"/>
                    <a:pt x="26289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53500" y="21431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团队价值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55405" y="25212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将个人经验转化为团队可复用资产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55405" y="2787968"/>
              <a:ext cx="29622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降低 onboarding 和跨人交接成本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6755" y="5369242"/>
              <a:ext cx="68661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在项目交付之外，主动补位团队机制与知识沉淀，让经验可复制、可复用。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622" y="6578441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方法沉淀页按四卡片布局生成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八、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04935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不足与提升计划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1660" y="508635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个人的不足和提升计划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已识别在量化、业务纵深和团队级规范方面的提升空间。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1676400"/>
            <a:ext cx="11545253" cy="4095750"/>
            <a:chOff x="381000" y="1676400"/>
            <a:chExt cx="11545253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76450"/>
              <a:ext cx="10896600" cy="914400"/>
            </a:xfrm>
            <a:custGeom>
              <a:avLst/>
              <a:gdLst/>
              <a:ahLst/>
              <a:cxnLst/>
              <a:rect l="l" t="t" r="r" b="b"/>
              <a:pathLst>
                <a:path w="10896600" h="914400">
                  <a:moveTo>
                    <a:pt x="95250" y="0"/>
                  </a:moveTo>
                  <a:lnTo>
                    <a:pt x="10801350" y="0"/>
                  </a:lnTo>
                  <a:cubicBezTo>
                    <a:pt x="10853955" y="0"/>
                    <a:pt x="10896600" y="42645"/>
                    <a:pt x="10896600" y="95250"/>
                  </a:cubicBezTo>
                  <a:lnTo>
                    <a:pt x="10896600" y="819150"/>
                  </a:lnTo>
                  <a:cubicBezTo>
                    <a:pt x="10896600" y="871755"/>
                    <a:pt x="10853955" y="914400"/>
                    <a:pt x="10801350" y="914400"/>
                  </a:cubicBezTo>
                  <a:lnTo>
                    <a:pt x="95250" y="914400"/>
                  </a:lnTo>
                  <a:cubicBezTo>
                    <a:pt x="42645" y="914400"/>
                    <a:pt x="0" y="871755"/>
                    <a:pt x="0" y="819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764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857250"/>
                  </a:lnTo>
                  <a:cubicBezTo>
                    <a:pt x="114300" y="888813"/>
                    <a:pt x="88713" y="914400"/>
                    <a:pt x="5715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6298" y="22302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结果量化不足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95700" y="22383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提前定义效果指标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74105" y="2254568"/>
              <a:ext cx="57521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在项目开始阶段就同步效果口径，避免复盘时只有过程没有结果。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52450" y="3143250"/>
              <a:ext cx="10896600" cy="914400"/>
            </a:xfrm>
            <a:custGeom>
              <a:avLst/>
              <a:gdLst/>
              <a:ahLst/>
              <a:cxnLst/>
              <a:rect l="l" t="t" r="r" b="b"/>
              <a:pathLst>
                <a:path w="10896600" h="914400">
                  <a:moveTo>
                    <a:pt x="95250" y="0"/>
                  </a:moveTo>
                  <a:lnTo>
                    <a:pt x="10801350" y="0"/>
                  </a:lnTo>
                  <a:cubicBezTo>
                    <a:pt x="10853955" y="0"/>
                    <a:pt x="10896600" y="42645"/>
                    <a:pt x="10896600" y="95250"/>
                  </a:cubicBezTo>
                  <a:lnTo>
                    <a:pt x="10896600" y="819150"/>
                  </a:lnTo>
                  <a:cubicBezTo>
                    <a:pt x="10896600" y="871755"/>
                    <a:pt x="10853955" y="914400"/>
                    <a:pt x="10801350" y="914400"/>
                  </a:cubicBezTo>
                  <a:lnTo>
                    <a:pt x="95250" y="914400"/>
                  </a:lnTo>
                  <a:cubicBezTo>
                    <a:pt x="42645" y="914400"/>
                    <a:pt x="0" y="871755"/>
                    <a:pt x="0" y="819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2450" y="31432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857250"/>
                  </a:lnTo>
                  <a:cubicBezTo>
                    <a:pt x="114300" y="888813"/>
                    <a:pt x="88713" y="914400"/>
                    <a:pt x="5715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6298" y="32970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业务纵深不足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95700" y="330517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系统梳理会员与营销链路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4105" y="3321368"/>
              <a:ext cx="4569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不只完成模块交付，还进一步补足业务全链路理解。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52450" y="4210050"/>
              <a:ext cx="10896600" cy="914400"/>
            </a:xfrm>
            <a:custGeom>
              <a:avLst/>
              <a:gdLst/>
              <a:ahLst/>
              <a:cxnLst/>
              <a:rect l="l" t="t" r="r" b="b"/>
              <a:pathLst>
                <a:path w="10896600" h="914400">
                  <a:moveTo>
                    <a:pt x="95250" y="0"/>
                  </a:moveTo>
                  <a:lnTo>
                    <a:pt x="10801350" y="0"/>
                  </a:lnTo>
                  <a:cubicBezTo>
                    <a:pt x="10853955" y="0"/>
                    <a:pt x="10896600" y="42645"/>
                    <a:pt x="10896600" y="95250"/>
                  </a:cubicBezTo>
                  <a:lnTo>
                    <a:pt x="10896600" y="819150"/>
                  </a:lnTo>
                  <a:cubicBezTo>
                    <a:pt x="10896600" y="871755"/>
                    <a:pt x="10853955" y="914400"/>
                    <a:pt x="10801350" y="914400"/>
                  </a:cubicBezTo>
                  <a:lnTo>
                    <a:pt x="95250" y="914400"/>
                  </a:lnTo>
                  <a:cubicBezTo>
                    <a:pt x="42645" y="914400"/>
                    <a:pt x="0" y="871755"/>
                    <a:pt x="0" y="819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2450" y="42100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857250"/>
                  </a:lnTo>
                  <a:cubicBezTo>
                    <a:pt x="114300" y="888813"/>
                    <a:pt x="88713" y="914400"/>
                    <a:pt x="5715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298" y="436387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AI 规范沉淀不足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95700" y="4371975"/>
              <a:ext cx="3362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建设项目级 context 和协作规范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74105" y="4388168"/>
              <a:ext cx="4569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把个人实践沉淀成团队可复用的方法论和协作约束。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6755" y="5369242"/>
              <a:ext cx="7487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每个不足都对应明确行动，目标是把改进变成可执行的计划，而不是停留在表态。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9" name="Rectangle 3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8622" y="6578441"/>
              <a:ext cx="1840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不足页按问题-动作-说明三栏生成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167256" y="63160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九、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未来计划、建议与求助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7960" y="508635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未来继续围绕 AI 提效、平台建设和团队经验沉淀三个方向持续投入。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5219700" cy="2571750"/>
            </a:xfrm>
            <a:custGeom>
              <a:avLst/>
              <a:gdLst/>
              <a:ahLst/>
              <a:cxnLst/>
              <a:rect l="l" t="t" r="r" b="b"/>
              <a:pathLst>
                <a:path w="5219700" h="2571750">
                  <a:moveTo>
                    <a:pt x="95250" y="0"/>
                  </a:moveTo>
                  <a:lnTo>
                    <a:pt x="5124450" y="0"/>
                  </a:lnTo>
                  <a:cubicBezTo>
                    <a:pt x="5177055" y="0"/>
                    <a:pt x="5219700" y="42645"/>
                    <a:pt x="5219700" y="95250"/>
                  </a:cubicBezTo>
                  <a:lnTo>
                    <a:pt x="5219700" y="2476500"/>
                  </a:lnTo>
                  <a:cubicBezTo>
                    <a:pt x="5219700" y="2529105"/>
                    <a:pt x="5177055" y="2571750"/>
                    <a:pt x="5124450" y="2571750"/>
                  </a:cubicBezTo>
                  <a:lnTo>
                    <a:pt x="95250" y="2571750"/>
                  </a:lnTo>
                  <a:cubicBezTo>
                    <a:pt x="42645" y="2571750"/>
                    <a:pt x="0" y="2529105"/>
                    <a:pt x="0" y="2476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5219700" cy="76200"/>
            </a:xfrm>
            <a:custGeom>
              <a:avLst/>
              <a:gdLst/>
              <a:ahLst/>
              <a:cxnLst/>
              <a:rect l="l" t="t" r="r" b="b"/>
              <a:pathLst>
                <a:path w="5219700" h="76200">
                  <a:moveTo>
                    <a:pt x="38100" y="0"/>
                  </a:moveTo>
                  <a:lnTo>
                    <a:pt x="5181600" y="0"/>
                  </a:lnTo>
                  <a:cubicBezTo>
                    <a:pt x="5202642" y="0"/>
                    <a:pt x="5219700" y="17058"/>
                    <a:pt x="5219700" y="38100"/>
                  </a:cubicBezTo>
                  <a:lnTo>
                    <a:pt x="5219700" y="38100"/>
                  </a:lnTo>
                  <a:cubicBezTo>
                    <a:pt x="5219700" y="59142"/>
                    <a:pt x="5202642" y="76200"/>
                    <a:pt x="5181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143125"/>
              <a:ext cx="1682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未来 6 个月计划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521268"/>
              <a:ext cx="3277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深化 AI 工具使用，继续缩短交付周期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78796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打造项目级 context，沉淀团队经验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805" y="3054668"/>
              <a:ext cx="41550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推进营销活动平台建设，争取 Q2 完成核心能力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038850" y="1981200"/>
              <a:ext cx="5410200" cy="2571750"/>
            </a:xfrm>
            <a:custGeom>
              <a:avLst/>
              <a:gdLst/>
              <a:ahLst/>
              <a:cxnLst/>
              <a:rect l="l" t="t" r="r" b="b"/>
              <a:pathLst>
                <a:path w="5410200" h="2571750">
                  <a:moveTo>
                    <a:pt x="95250" y="0"/>
                  </a:moveTo>
                  <a:lnTo>
                    <a:pt x="5314950" y="0"/>
                  </a:lnTo>
                  <a:cubicBezTo>
                    <a:pt x="5367555" y="0"/>
                    <a:pt x="5410200" y="42645"/>
                    <a:pt x="5410200" y="95250"/>
                  </a:cubicBezTo>
                  <a:lnTo>
                    <a:pt x="5410200" y="2476500"/>
                  </a:lnTo>
                  <a:cubicBezTo>
                    <a:pt x="5410200" y="2529105"/>
                    <a:pt x="5367555" y="2571750"/>
                    <a:pt x="5314950" y="2571750"/>
                  </a:cubicBezTo>
                  <a:lnTo>
                    <a:pt x="95250" y="2571750"/>
                  </a:lnTo>
                  <a:cubicBezTo>
                    <a:pt x="42645" y="2571750"/>
                    <a:pt x="0" y="2529105"/>
                    <a:pt x="0" y="2476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38850" y="1981200"/>
              <a:ext cx="5410200" cy="76200"/>
            </a:xfrm>
            <a:custGeom>
              <a:avLst/>
              <a:gdLst/>
              <a:ahLst/>
              <a:cxnLst/>
              <a:rect l="l" t="t" r="r" b="b"/>
              <a:pathLst>
                <a:path w="5410200" h="76200">
                  <a:moveTo>
                    <a:pt x="38100" y="0"/>
                  </a:moveTo>
                  <a:lnTo>
                    <a:pt x="5372100" y="0"/>
                  </a:lnTo>
                  <a:cubicBezTo>
                    <a:pt x="5393142" y="0"/>
                    <a:pt x="5410200" y="17058"/>
                    <a:pt x="5410200" y="38100"/>
                  </a:cubicBezTo>
                  <a:lnTo>
                    <a:pt x="5410200" y="38100"/>
                  </a:lnTo>
                  <a:cubicBezTo>
                    <a:pt x="5410200" y="59142"/>
                    <a:pt x="5393142" y="76200"/>
                    <a:pt x="5372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10300" y="21431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12205" y="2521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为平台化事项预留稳定排期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2205" y="27879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提供跨团队协同与数据复盘支持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2205" y="30546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帮助关键能力建设获得更持续的资源保障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6755" y="5369242"/>
              <a:ext cx="8822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已具备持续承担更大职责的基础，后续会继续围绕 AI 提效、平台建设和经验沉淀三个方向投入。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6" name="Rectangle 36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8622" y="65784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未来计划页按双栏结构生成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187384" y="6316028"/>
              <a:ext cx="123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-128588" y="-1036320"/>
            <a:ext cx="12325350" cy="7894320"/>
            <a:chOff x="-128588" y="-1036320"/>
            <a:chExt cx="12325350" cy="789432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-128588" y="3138488"/>
              <a:ext cx="12325350" cy="3419475"/>
            </a:xfrm>
            <a:prstGeom prst="rect">
              <a:avLst/>
            </a:prstGeom>
            <a:solidFill>
              <a:srgbClr val="D0CECE">
                <a:alpha val="83921"/>
              </a:srgbClr>
            </a:solidFill>
            <a:ln w="12700">
              <a:solidFill>
                <a:srgbClr val="AFABA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121920" y="-1036320"/>
              <a:ext cx="5102047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THANKS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28575" y="-242888"/>
              <a:ext cx="988266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感谢聆听 | 已在试用期内证明岗位匹配度、结果导向与持续成长潜力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