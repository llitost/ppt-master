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9"/>
          <p:cNvGrpSpPr/>
          <p:nvPr/>
        </p:nvGrpSpPr>
        <p:grpSpPr>
          <a:xfrm>
            <a:off x="-111760" y="-949957"/>
            <a:ext cx="12369003" cy="7807957"/>
            <a:chOff x="-111760" y="-949957"/>
            <a:chExt cx="12369003" cy="7807957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72" y="2946"/>
              <a:ext cx="999558" cy="209201"/>
              <a:chOff x="73872" y="2946"/>
              <a:chExt cx="999558" cy="209201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460296" y="4146"/>
                <a:ext cx="130845" cy="28986"/>
              </a:xfrm>
              <a:custGeom>
                <a:avLst/>
                <a:gdLst/>
                <a:ahLst/>
                <a:cxnLst/>
                <a:rect l="l" t="t" r="r" b="b"/>
                <a:pathLst>
                  <a:path w="130845" h="28986">
                    <a:moveTo>
                      <a:pt x="0" y="0"/>
                    </a:moveTo>
                    <a:lnTo>
                      <a:pt x="130845" y="0"/>
                    </a:lnTo>
                    <a:lnTo>
                      <a:pt x="130845" y="28986"/>
                    </a:lnTo>
                    <a:lnTo>
                      <a:pt x="0" y="28986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11228" y="43749"/>
                <a:ext cx="28986" cy="90495"/>
              </a:xfrm>
              <a:custGeom>
                <a:avLst/>
                <a:gdLst/>
                <a:ahLst/>
                <a:cxnLst/>
                <a:rect l="l" t="t" r="r" b="b"/>
                <a:pathLst>
                  <a:path w="28986" h="90495">
                    <a:moveTo>
                      <a:pt x="0" y="0"/>
                    </a:moveTo>
                    <a:lnTo>
                      <a:pt x="28986" y="0"/>
                    </a:lnTo>
                    <a:lnTo>
                      <a:pt x="28986" y="90495"/>
                    </a:lnTo>
                    <a:lnTo>
                      <a:pt x="0" y="90495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225992" y="60422"/>
                <a:ext cx="305358" cy="151725"/>
              </a:xfrm>
              <a:custGeom>
                <a:avLst/>
                <a:gdLst/>
                <a:ahLst/>
                <a:cxnLst/>
                <a:rect l="l" t="t" r="r" b="b"/>
                <a:pathLst>
                  <a:path w="305358" h="151725">
                    <a:moveTo>
                      <a:pt x="279223" y="26996"/>
                    </a:moveTo>
                    <a:cubicBezTo>
                      <a:pt x="252239" y="5"/>
                      <a:pt x="208484" y="0"/>
                      <a:pt x="181493" y="26984"/>
                    </a:cubicBezTo>
                    <a:cubicBezTo>
                      <a:pt x="181490" y="26988"/>
                      <a:pt x="181486" y="26992"/>
                      <a:pt x="181483" y="26996"/>
                    </a:cubicBezTo>
                    <a:lnTo>
                      <a:pt x="153105" y="55373"/>
                    </a:lnTo>
                    <a:lnTo>
                      <a:pt x="124728" y="26996"/>
                    </a:lnTo>
                    <a:cubicBezTo>
                      <a:pt x="97737" y="7"/>
                      <a:pt x="53978" y="8"/>
                      <a:pt x="26989" y="26999"/>
                    </a:cubicBezTo>
                    <a:cubicBezTo>
                      <a:pt x="0" y="53989"/>
                      <a:pt x="2" y="97749"/>
                      <a:pt x="26992" y="124737"/>
                    </a:cubicBezTo>
                    <a:cubicBezTo>
                      <a:pt x="53982" y="151725"/>
                      <a:pt x="97738" y="151725"/>
                      <a:pt x="124728" y="124737"/>
                    </a:cubicBezTo>
                    <a:lnTo>
                      <a:pt x="153105" y="96337"/>
                    </a:lnTo>
                    <a:lnTo>
                      <a:pt x="181483" y="124714"/>
                    </a:lnTo>
                    <a:cubicBezTo>
                      <a:pt x="208822" y="151349"/>
                      <a:pt x="252577" y="150779"/>
                      <a:pt x="279213" y="123439"/>
                    </a:cubicBezTo>
                    <a:cubicBezTo>
                      <a:pt x="305353" y="96607"/>
                      <a:pt x="305358" y="53833"/>
                      <a:pt x="279223" y="26996"/>
                    </a:cubicBezTo>
                    <a:close/>
                    <a:moveTo>
                      <a:pt x="104234" y="104244"/>
                    </a:moveTo>
                    <a:cubicBezTo>
                      <a:pt x="88562" y="119916"/>
                      <a:pt x="63153" y="119916"/>
                      <a:pt x="47480" y="104244"/>
                    </a:cubicBezTo>
                    <a:cubicBezTo>
                      <a:pt x="31808" y="88571"/>
                      <a:pt x="31808" y="63161"/>
                      <a:pt x="47480" y="47489"/>
                    </a:cubicBezTo>
                    <a:cubicBezTo>
                      <a:pt x="63153" y="31817"/>
                      <a:pt x="88562" y="31817"/>
                      <a:pt x="104234" y="47489"/>
                    </a:cubicBezTo>
                    <a:lnTo>
                      <a:pt x="132612" y="75867"/>
                    </a:lnTo>
                    <a:close/>
                    <a:moveTo>
                      <a:pt x="258730" y="104244"/>
                    </a:moveTo>
                    <a:cubicBezTo>
                      <a:pt x="243058" y="119916"/>
                      <a:pt x="217648" y="119916"/>
                      <a:pt x="201977" y="104244"/>
                    </a:cubicBezTo>
                    <a:cubicBezTo>
                      <a:pt x="201976" y="104244"/>
                      <a:pt x="201976" y="104244"/>
                      <a:pt x="201976" y="104244"/>
                    </a:cubicBezTo>
                    <a:lnTo>
                      <a:pt x="173599" y="75867"/>
                    </a:lnTo>
                    <a:lnTo>
                      <a:pt x="201976" y="47489"/>
                    </a:lnTo>
                    <a:cubicBezTo>
                      <a:pt x="217648" y="31817"/>
                      <a:pt x="243058" y="31817"/>
                      <a:pt x="258730" y="47489"/>
                    </a:cubicBezTo>
                    <a:cubicBezTo>
                      <a:pt x="274403" y="63161"/>
                      <a:pt x="274403" y="88571"/>
                      <a:pt x="258730" y="104244"/>
                    </a:cubicBez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73872" y="71228"/>
                <a:ext cx="151849" cy="130186"/>
              </a:xfrm>
              <a:custGeom>
                <a:avLst/>
                <a:gdLst/>
                <a:ahLst/>
                <a:cxnLst/>
                <a:rect l="l" t="t" r="r" b="b"/>
                <a:pathLst>
                  <a:path w="151849" h="130186">
                    <a:moveTo>
                      <a:pt x="116874" y="83176"/>
                    </a:moveTo>
                    <a:cubicBezTo>
                      <a:pt x="138455" y="71886"/>
                      <a:pt x="146797" y="45239"/>
                      <a:pt x="135507" y="23659"/>
                    </a:cubicBezTo>
                    <a:cubicBezTo>
                      <a:pt x="127897" y="9115"/>
                      <a:pt x="112841" y="0"/>
                      <a:pt x="96427" y="2"/>
                    </a:cubicBezTo>
                    <a:lnTo>
                      <a:pt x="0" y="2"/>
                    </a:lnTo>
                    <a:lnTo>
                      <a:pt x="0" y="130186"/>
                    </a:lnTo>
                    <a:lnTo>
                      <a:pt x="28980" y="130186"/>
                    </a:lnTo>
                    <a:lnTo>
                      <a:pt x="28980" y="28988"/>
                    </a:lnTo>
                    <a:lnTo>
                      <a:pt x="96427" y="28988"/>
                    </a:lnTo>
                    <a:cubicBezTo>
                      <a:pt x="104780" y="28988"/>
                      <a:pt x="111551" y="35759"/>
                      <a:pt x="111551" y="44113"/>
                    </a:cubicBezTo>
                    <a:cubicBezTo>
                      <a:pt x="111551" y="52466"/>
                      <a:pt x="104780" y="59237"/>
                      <a:pt x="96427" y="59237"/>
                    </a:cubicBezTo>
                    <a:lnTo>
                      <a:pt x="39581" y="59237"/>
                    </a:lnTo>
                    <a:lnTo>
                      <a:pt x="39581" y="88217"/>
                    </a:lnTo>
                    <a:lnTo>
                      <a:pt x="84478" y="88217"/>
                    </a:lnTo>
                    <a:lnTo>
                      <a:pt x="115702" y="130186"/>
                    </a:lnTo>
                    <a:lnTo>
                      <a:pt x="151849" y="130186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04707" y="70116"/>
                <a:ext cx="68021" cy="132958"/>
              </a:xfrm>
              <a:custGeom>
                <a:avLst/>
                <a:gdLst/>
                <a:ahLst/>
                <a:cxnLst/>
                <a:rect l="l" t="t" r="r" b="b"/>
                <a:pathLst>
                  <a:path w="68021" h="132958">
                    <a:moveTo>
                      <a:pt x="48555" y="0"/>
                    </a:moveTo>
                    <a:lnTo>
                      <a:pt x="0" y="0"/>
                    </a:lnTo>
                    <a:lnTo>
                      <a:pt x="0" y="56846"/>
                    </a:lnTo>
                    <a:lnTo>
                      <a:pt x="27981" y="56846"/>
                    </a:lnTo>
                    <a:lnTo>
                      <a:pt x="27981" y="117649"/>
                    </a:lnTo>
                    <a:lnTo>
                      <a:pt x="19460" y="117649"/>
                    </a:lnTo>
                    <a:cubicBezTo>
                      <a:pt x="17184" y="117646"/>
                      <a:pt x="15340" y="115802"/>
                      <a:pt x="15337" y="113527"/>
                    </a:cubicBezTo>
                    <a:lnTo>
                      <a:pt x="15337" y="80911"/>
                    </a:lnTo>
                    <a:lnTo>
                      <a:pt x="29" y="80911"/>
                    </a:lnTo>
                    <a:lnTo>
                      <a:pt x="29" y="113527"/>
                    </a:lnTo>
                    <a:cubicBezTo>
                      <a:pt x="41" y="124253"/>
                      <a:pt x="8733" y="132945"/>
                      <a:pt x="19460" y="132958"/>
                    </a:cubicBezTo>
                    <a:lnTo>
                      <a:pt x="68021" y="132958"/>
                    </a:lnTo>
                    <a:lnTo>
                      <a:pt x="68021" y="117649"/>
                    </a:lnTo>
                    <a:lnTo>
                      <a:pt x="43295" y="117649"/>
                    </a:lnTo>
                    <a:lnTo>
                      <a:pt x="43295" y="96237"/>
                    </a:lnTo>
                    <a:lnTo>
                      <a:pt x="68021" y="96237"/>
                    </a:lnTo>
                    <a:lnTo>
                      <a:pt x="68021" y="80929"/>
                    </a:lnTo>
                    <a:lnTo>
                      <a:pt x="43295" y="80929"/>
                    </a:lnTo>
                    <a:lnTo>
                      <a:pt x="43295" y="56852"/>
                    </a:lnTo>
                    <a:lnTo>
                      <a:pt x="68021" y="56852"/>
                    </a:lnTo>
                    <a:lnTo>
                      <a:pt x="68021" y="19460"/>
                    </a:lnTo>
                    <a:cubicBezTo>
                      <a:pt x="68021" y="8713"/>
                      <a:pt x="59308" y="0"/>
                      <a:pt x="48560" y="0"/>
                    </a:cubicBezTo>
                    <a:cubicBezTo>
                      <a:pt x="48558" y="0"/>
                      <a:pt x="48557" y="0"/>
                      <a:pt x="48555" y="0"/>
                    </a:cubicBezTo>
                    <a:close/>
                    <a:moveTo>
                      <a:pt x="52678" y="41544"/>
                    </a:moveTo>
                    <a:lnTo>
                      <a:pt x="15309" y="41544"/>
                    </a:lnTo>
                    <a:lnTo>
                      <a:pt x="15309" y="15314"/>
                    </a:lnTo>
                    <a:lnTo>
                      <a:pt x="48555" y="15314"/>
                    </a:lnTo>
                    <a:cubicBezTo>
                      <a:pt x="50835" y="15320"/>
                      <a:pt x="52678" y="17174"/>
                      <a:pt x="52672" y="19454"/>
                    </a:cubicBezTo>
                    <a:cubicBezTo>
                      <a:pt x="52672" y="19456"/>
                      <a:pt x="52672" y="19458"/>
                      <a:pt x="52672" y="1946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784269" y="148369"/>
                <a:ext cx="95548" cy="54722"/>
              </a:xfrm>
              <a:custGeom>
                <a:avLst/>
                <a:gdLst/>
                <a:ahLst/>
                <a:cxnLst/>
                <a:rect l="l" t="t" r="r" b="b"/>
                <a:pathLst>
                  <a:path w="95548" h="54722">
                    <a:moveTo>
                      <a:pt x="76116" y="0"/>
                    </a:moveTo>
                    <a:lnTo>
                      <a:pt x="19431" y="0"/>
                    </a:lnTo>
                    <a:cubicBezTo>
                      <a:pt x="8704" y="16"/>
                      <a:pt x="12" y="8710"/>
                      <a:pt x="0" y="19438"/>
                    </a:cubicBezTo>
                    <a:lnTo>
                      <a:pt x="0" y="35291"/>
                    </a:lnTo>
                    <a:cubicBezTo>
                      <a:pt x="12" y="46017"/>
                      <a:pt x="8705" y="54710"/>
                      <a:pt x="19431" y="54722"/>
                    </a:cubicBezTo>
                    <a:lnTo>
                      <a:pt x="76116" y="54722"/>
                    </a:lnTo>
                    <a:cubicBezTo>
                      <a:pt x="86843" y="54710"/>
                      <a:pt x="95535" y="46017"/>
                      <a:pt x="95548" y="35291"/>
                    </a:cubicBezTo>
                    <a:lnTo>
                      <a:pt x="95548" y="19438"/>
                    </a:lnTo>
                    <a:cubicBezTo>
                      <a:pt x="95535" y="8710"/>
                      <a:pt x="86844" y="16"/>
                      <a:pt x="76116" y="0"/>
                    </a:cubicBezTo>
                    <a:close/>
                    <a:moveTo>
                      <a:pt x="80240" y="35291"/>
                    </a:moveTo>
                    <a:cubicBezTo>
                      <a:pt x="80236" y="37567"/>
                      <a:pt x="78392" y="39411"/>
                      <a:pt x="76116" y="39413"/>
                    </a:cubicBezTo>
                    <a:lnTo>
                      <a:pt x="19431" y="39413"/>
                    </a:lnTo>
                    <a:cubicBezTo>
                      <a:pt x="17155" y="39411"/>
                      <a:pt x="15311" y="37567"/>
                      <a:pt x="15308" y="35291"/>
                    </a:cubicBezTo>
                    <a:lnTo>
                      <a:pt x="15308" y="19438"/>
                    </a:lnTo>
                    <a:cubicBezTo>
                      <a:pt x="15311" y="17161"/>
                      <a:pt x="17155" y="15317"/>
                      <a:pt x="19431" y="15314"/>
                    </a:cubicBezTo>
                    <a:lnTo>
                      <a:pt x="76116" y="15314"/>
                    </a:lnTo>
                    <a:cubicBezTo>
                      <a:pt x="78393" y="15317"/>
                      <a:pt x="80236" y="17161"/>
                      <a:pt x="80240" y="1943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94040" y="70116"/>
                <a:ext cx="70956" cy="132992"/>
              </a:xfrm>
              <a:custGeom>
                <a:avLst/>
                <a:gdLst/>
                <a:ahLst/>
                <a:cxnLst/>
                <a:rect l="l" t="t" r="r" b="b"/>
                <a:pathLst>
                  <a:path w="70956" h="132992">
                    <a:moveTo>
                      <a:pt x="63079" y="52460"/>
                    </a:moveTo>
                    <a:lnTo>
                      <a:pt x="50071" y="60309"/>
                    </a:lnTo>
                    <a:lnTo>
                      <a:pt x="50071" y="36634"/>
                    </a:lnTo>
                    <a:lnTo>
                      <a:pt x="68909" y="36634"/>
                    </a:lnTo>
                    <a:lnTo>
                      <a:pt x="68909" y="21320"/>
                    </a:lnTo>
                    <a:lnTo>
                      <a:pt x="50071" y="21320"/>
                    </a:lnTo>
                    <a:lnTo>
                      <a:pt x="50071" y="0"/>
                    </a:lnTo>
                    <a:lnTo>
                      <a:pt x="34762" y="0"/>
                    </a:lnTo>
                    <a:lnTo>
                      <a:pt x="34762" y="21320"/>
                    </a:lnTo>
                    <a:lnTo>
                      <a:pt x="26465" y="21320"/>
                    </a:lnTo>
                    <a:cubicBezTo>
                      <a:pt x="27361" y="16933"/>
                      <a:pt x="28102" y="12510"/>
                      <a:pt x="28687" y="8050"/>
                    </a:cubicBezTo>
                    <a:lnTo>
                      <a:pt x="13505" y="6064"/>
                    </a:lnTo>
                    <a:cubicBezTo>
                      <a:pt x="11340" y="22601"/>
                      <a:pt x="6791" y="38737"/>
                      <a:pt x="0" y="53970"/>
                    </a:cubicBezTo>
                    <a:lnTo>
                      <a:pt x="13987" y="60194"/>
                    </a:lnTo>
                    <a:cubicBezTo>
                      <a:pt x="17391" y="52548"/>
                      <a:pt x="20280" y="44683"/>
                      <a:pt x="22635" y="36651"/>
                    </a:cubicBezTo>
                    <a:lnTo>
                      <a:pt x="34740" y="36651"/>
                    </a:lnTo>
                    <a:lnTo>
                      <a:pt x="34740" y="69565"/>
                    </a:lnTo>
                    <a:lnTo>
                      <a:pt x="3767" y="88250"/>
                    </a:lnTo>
                    <a:lnTo>
                      <a:pt x="11674" y="101359"/>
                    </a:lnTo>
                    <a:lnTo>
                      <a:pt x="34740" y="87446"/>
                    </a:lnTo>
                    <a:lnTo>
                      <a:pt x="34740" y="132992"/>
                    </a:lnTo>
                    <a:lnTo>
                      <a:pt x="50048" y="132992"/>
                    </a:lnTo>
                    <a:lnTo>
                      <a:pt x="50048" y="78190"/>
                    </a:lnTo>
                    <a:lnTo>
                      <a:pt x="70956" y="655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92260" y="2946"/>
                <a:ext cx="107865" cy="58196"/>
              </a:xfrm>
              <a:custGeom>
                <a:avLst/>
                <a:gdLst/>
                <a:ahLst/>
                <a:cxnLst/>
                <a:rect l="l" t="t" r="r" b="b"/>
                <a:pathLst>
                  <a:path w="107865" h="58196">
                    <a:moveTo>
                      <a:pt x="61592" y="42882"/>
                    </a:moveTo>
                    <a:lnTo>
                      <a:pt x="61592" y="27637"/>
                    </a:lnTo>
                    <a:lnTo>
                      <a:pt x="103302" y="27637"/>
                    </a:lnTo>
                    <a:lnTo>
                      <a:pt x="103302" y="12323"/>
                    </a:lnTo>
                    <a:lnTo>
                      <a:pt x="61592" y="12323"/>
                    </a:lnTo>
                    <a:lnTo>
                      <a:pt x="61592" y="0"/>
                    </a:lnTo>
                    <a:lnTo>
                      <a:pt x="46275" y="0"/>
                    </a:lnTo>
                    <a:lnTo>
                      <a:pt x="46275" y="12323"/>
                    </a:lnTo>
                    <a:lnTo>
                      <a:pt x="4565" y="12323"/>
                    </a:lnTo>
                    <a:lnTo>
                      <a:pt x="4565" y="27637"/>
                    </a:lnTo>
                    <a:lnTo>
                      <a:pt x="46275" y="27637"/>
                    </a:lnTo>
                    <a:lnTo>
                      <a:pt x="46275" y="42882"/>
                    </a:lnTo>
                    <a:lnTo>
                      <a:pt x="0" y="42882"/>
                    </a:lnTo>
                    <a:lnTo>
                      <a:pt x="0" y="58196"/>
                    </a:lnTo>
                    <a:lnTo>
                      <a:pt x="107865" y="58196"/>
                    </a:lnTo>
                    <a:lnTo>
                      <a:pt x="107865" y="42882"/>
                    </a:lnTo>
                    <a:lnTo>
                      <a:pt x="61592" y="4288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68007" y="134846"/>
                <a:ext cx="105423" cy="68245"/>
              </a:xfrm>
              <a:custGeom>
                <a:avLst/>
                <a:gdLst/>
                <a:ahLst/>
                <a:cxnLst/>
                <a:rect l="l" t="t" r="r" b="b"/>
                <a:pathLst>
                  <a:path w="105423" h="68245">
                    <a:moveTo>
                      <a:pt x="88325" y="0"/>
                    </a:moveTo>
                    <a:lnTo>
                      <a:pt x="73028" y="0"/>
                    </a:lnTo>
                    <a:lnTo>
                      <a:pt x="73028" y="10290"/>
                    </a:lnTo>
                    <a:lnTo>
                      <a:pt x="0" y="10290"/>
                    </a:lnTo>
                    <a:lnTo>
                      <a:pt x="0" y="25604"/>
                    </a:lnTo>
                    <a:lnTo>
                      <a:pt x="73028" y="25604"/>
                    </a:lnTo>
                    <a:lnTo>
                      <a:pt x="73028" y="48814"/>
                    </a:lnTo>
                    <a:cubicBezTo>
                      <a:pt x="73028" y="51089"/>
                      <a:pt x="71180" y="52933"/>
                      <a:pt x="68904" y="52936"/>
                    </a:cubicBezTo>
                    <a:lnTo>
                      <a:pt x="55226" y="52936"/>
                    </a:lnTo>
                    <a:lnTo>
                      <a:pt x="55226" y="68245"/>
                    </a:lnTo>
                    <a:lnTo>
                      <a:pt x="68923" y="68245"/>
                    </a:lnTo>
                    <a:cubicBezTo>
                      <a:pt x="79648" y="68232"/>
                      <a:pt x="88335" y="59540"/>
                      <a:pt x="88354" y="48814"/>
                    </a:cubicBezTo>
                    <a:lnTo>
                      <a:pt x="88354" y="25604"/>
                    </a:lnTo>
                    <a:lnTo>
                      <a:pt x="105423" y="25604"/>
                    </a:lnTo>
                    <a:lnTo>
                      <a:pt x="105423" y="10290"/>
                    </a:lnTo>
                    <a:lnTo>
                      <a:pt x="88354" y="102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75409" y="69479"/>
                <a:ext cx="108910" cy="76944"/>
              </a:xfrm>
              <a:custGeom>
                <a:avLst/>
                <a:gdLst/>
                <a:ahLst/>
                <a:cxnLst/>
                <a:rect l="l" t="t" r="r" b="b"/>
                <a:pathLst>
                  <a:path w="108910" h="76944">
                    <a:moveTo>
                      <a:pt x="97592" y="38885"/>
                    </a:moveTo>
                    <a:cubicBezTo>
                      <a:pt x="105045" y="33459"/>
                      <a:pt x="106687" y="23018"/>
                      <a:pt x="101260" y="15566"/>
                    </a:cubicBezTo>
                    <a:cubicBezTo>
                      <a:pt x="98118" y="11250"/>
                      <a:pt x="93100" y="8698"/>
                      <a:pt x="87761" y="8699"/>
                    </a:cubicBezTo>
                    <a:lnTo>
                      <a:pt x="40297" y="8699"/>
                    </a:lnTo>
                    <a:cubicBezTo>
                      <a:pt x="40826" y="7287"/>
                      <a:pt x="41319" y="5828"/>
                      <a:pt x="41750" y="4398"/>
                    </a:cubicBezTo>
                    <a:lnTo>
                      <a:pt x="27085" y="0"/>
                    </a:lnTo>
                    <a:cubicBezTo>
                      <a:pt x="22843" y="14016"/>
                      <a:pt x="13059" y="25690"/>
                      <a:pt x="0" y="32317"/>
                    </a:cubicBezTo>
                    <a:lnTo>
                      <a:pt x="6890" y="45976"/>
                    </a:lnTo>
                    <a:cubicBezTo>
                      <a:pt x="10398" y="44198"/>
                      <a:pt x="13746" y="42122"/>
                      <a:pt x="16898" y="39770"/>
                    </a:cubicBezTo>
                    <a:cubicBezTo>
                      <a:pt x="23679" y="44609"/>
                      <a:pt x="30734" y="49052"/>
                      <a:pt x="38030" y="53074"/>
                    </a:cubicBezTo>
                    <a:cubicBezTo>
                      <a:pt x="27085" y="56976"/>
                      <a:pt x="15820" y="59912"/>
                      <a:pt x="4363" y="61848"/>
                    </a:cubicBezTo>
                    <a:lnTo>
                      <a:pt x="6890" y="76944"/>
                    </a:lnTo>
                    <a:cubicBezTo>
                      <a:pt x="24000" y="74054"/>
                      <a:pt x="40697" y="69103"/>
                      <a:pt x="56617" y="62198"/>
                    </a:cubicBezTo>
                    <a:cubicBezTo>
                      <a:pt x="72547" y="69106"/>
                      <a:pt x="89256" y="74057"/>
                      <a:pt x="106377" y="76944"/>
                    </a:cubicBezTo>
                    <a:lnTo>
                      <a:pt x="108910" y="61848"/>
                    </a:lnTo>
                    <a:cubicBezTo>
                      <a:pt x="97443" y="59914"/>
                      <a:pt x="86168" y="56979"/>
                      <a:pt x="75215" y="53074"/>
                    </a:cubicBezTo>
                    <a:cubicBezTo>
                      <a:pt x="82959" y="48809"/>
                      <a:pt x="90432" y="44070"/>
                      <a:pt x="97592" y="38885"/>
                    </a:cubicBezTo>
                    <a:close/>
                    <a:moveTo>
                      <a:pt x="28314" y="29067"/>
                    </a:moveTo>
                    <a:cubicBezTo>
                      <a:pt x="29692" y="27440"/>
                      <a:pt x="30993" y="25753"/>
                      <a:pt x="32218" y="24008"/>
                    </a:cubicBezTo>
                    <a:lnTo>
                      <a:pt x="87761" y="24008"/>
                    </a:lnTo>
                    <a:cubicBezTo>
                      <a:pt x="88382" y="23960"/>
                      <a:pt x="88943" y="24373"/>
                      <a:pt x="89083" y="24978"/>
                    </a:cubicBezTo>
                    <a:cubicBezTo>
                      <a:pt x="89324" y="25533"/>
                      <a:pt x="89119" y="26181"/>
                      <a:pt x="88600" y="26494"/>
                    </a:cubicBezTo>
                    <a:cubicBezTo>
                      <a:pt x="78548" y="33773"/>
                      <a:pt x="67841" y="40101"/>
                      <a:pt x="56617" y="45397"/>
                    </a:cubicBezTo>
                    <a:cubicBezTo>
                      <a:pt x="46756" y="40729"/>
                      <a:pt x="37290" y="35267"/>
                      <a:pt x="28314" y="2906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86199" y="165877"/>
                <a:ext cx="31442" cy="26982"/>
              </a:xfrm>
              <a:custGeom>
                <a:avLst/>
                <a:gdLst/>
                <a:ahLst/>
                <a:cxnLst/>
                <a:rect l="l" t="t" r="r" b="b"/>
                <a:pathLst>
                  <a:path w="31442" h="26982">
                    <a:moveTo>
                      <a:pt x="0" y="14424"/>
                    </a:moveTo>
                    <a:cubicBezTo>
                      <a:pt x="7849" y="17221"/>
                      <a:pt x="15097" y="21483"/>
                      <a:pt x="21355" y="26982"/>
                    </a:cubicBezTo>
                    <a:lnTo>
                      <a:pt x="31442" y="15470"/>
                    </a:lnTo>
                    <a:cubicBezTo>
                      <a:pt x="23736" y="8697"/>
                      <a:pt x="14811" y="3449"/>
                      <a:pt x="51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</p:grpSp>
        <p:sp>
          <p:nvSpPr>
            <p:cNvPr id="15" name="Freeform 15"/>
            <p:cNvSpPr/>
            <p:nvPr/>
          </p:nvSpPr>
          <p:spPr>
            <a:xfrm>
              <a:off x="0" y="0"/>
              <a:ext cx="6508747" cy="9525"/>
            </a:xfrm>
            <a:custGeom>
              <a:avLst/>
              <a:gdLst/>
              <a:ahLst/>
              <a:cxnLst/>
              <a:rect l="l" t="t" r="r" b="b"/>
              <a:pathLst>
                <a:path w="6508747" h="9525">
                  <a:moveTo>
                    <a:pt x="0" y="0"/>
                  </a:moveTo>
                  <a:lnTo>
                    <a:pt x="6508747" y="1905"/>
                  </a:lnTo>
                </a:path>
              </a:pathLst>
            </a:custGeom>
            <a:noFill/>
            <a:ln w="31750">
              <a:solidFill>
                <a:srgbClr val="92D050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929438" y="719138"/>
              <a:ext cx="323212" cy="9525"/>
            </a:xfrm>
            <a:custGeom>
              <a:avLst/>
              <a:gdLst/>
              <a:ahLst/>
              <a:cxnLst/>
              <a:rect l="l" t="t" r="r" b="b"/>
              <a:pathLst>
                <a:path w="323212" h="9525">
                  <a:moveTo>
                    <a:pt x="0" y="0"/>
                  </a:moveTo>
                  <a:lnTo>
                    <a:pt x="323212" y="5715"/>
                  </a:lnTo>
                </a:path>
              </a:pathLst>
            </a:custGeom>
            <a:noFill/>
            <a:ln w="31750">
              <a:solidFill>
                <a:srgbClr val="7F7F7F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405688" y="719138"/>
              <a:ext cx="326393" cy="9525"/>
            </a:xfrm>
            <a:custGeom>
              <a:avLst/>
              <a:gdLst/>
              <a:ahLst/>
              <a:cxnLst/>
              <a:rect l="l" t="t" r="r" b="b"/>
              <a:pathLst>
                <a:path w="326393" h="9525">
                  <a:moveTo>
                    <a:pt x="0" y="0"/>
                  </a:moveTo>
                  <a:lnTo>
                    <a:pt x="326393" y="5715"/>
                  </a:lnTo>
                </a:path>
              </a:pathLst>
            </a:custGeom>
            <a:noFill/>
            <a:ln w="31750">
              <a:solidFill>
                <a:srgbClr val="7F7F7F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28613" y="271463"/>
              <a:ext cx="419100" cy="333375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85BB0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23913" y="271463"/>
              <a:ext cx="76200" cy="333375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85BB0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-111760" y="-949957"/>
              <a:ext cx="12369003" cy="1788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800" b="1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试用期转正述职报告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-15240" y="-12954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姓名：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-15240" y="-12954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待补姓名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-15240" y="-12954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日期：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-15240" y="-129540"/>
              <a:ext cx="1042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2026.03.27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-17780" y="-151130"/>
              <a:ext cx="1057912" cy="284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表单编号：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-17780" y="-151130"/>
              <a:ext cx="2090487" cy="284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PROBATION-20260327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-17780" y="-151130"/>
              <a:ext cx="648971" cy="284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版本：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-17780" y="-151130"/>
              <a:ext cx="434277" cy="284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v1.0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74408" y="338614"/>
            <a:ext cx="921591" cy="563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75" b="1" dirty="0">
                <a:solidFill>
                  <a:srgbClr val="333F50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381000" y="1733550"/>
            <a:ext cx="11430000" cy="3790950"/>
            <a:chOff x="381000" y="1733550"/>
            <a:chExt cx="11430000" cy="3790950"/>
          </a:xfrm>
        </p:grpSpPr>
        <p:sp>
          <p:nvSpPr>
            <p:cNvPr id="11" name="Freeform 11"/>
            <p:cNvSpPr/>
            <p:nvPr/>
          </p:nvSpPr>
          <p:spPr>
            <a:xfrm>
              <a:off x="381000" y="1733550"/>
              <a:ext cx="11430000" cy="3790950"/>
            </a:xfrm>
            <a:custGeom>
              <a:avLst/>
              <a:gdLst/>
              <a:ahLst/>
              <a:cxnLst/>
              <a:rect l="l" t="t" r="r" b="b"/>
              <a:pathLst>
                <a:path w="11430000" h="37909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3714750"/>
                  </a:lnTo>
                  <a:cubicBezTo>
                    <a:pt x="11430000" y="3756834"/>
                    <a:pt x="11395884" y="3790950"/>
                    <a:pt x="11353800" y="3790950"/>
                  </a:cubicBezTo>
                  <a:lnTo>
                    <a:pt x="76200" y="3790950"/>
                  </a:lnTo>
                  <a:cubicBezTo>
                    <a:pt x="34116" y="3790950"/>
                    <a:pt x="0" y="3756834"/>
                    <a:pt x="0" y="37147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E5E7EB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23875" y="1981200"/>
              <a:ext cx="11239500" cy="523875"/>
              <a:chOff x="523875" y="1981200"/>
              <a:chExt cx="11239500" cy="523875"/>
            </a:xfrm>
          </p:grpSpPr>
          <p:sp>
            <p:nvSpPr>
              <p:cNvPr id="12" name="Polygon 12"/>
              <p:cNvSpPr/>
              <p:nvPr/>
            </p:nvSpPr>
            <p:spPr>
              <a:xfrm>
                <a:off x="523875" y="19812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674663" y="2078355"/>
                <a:ext cx="32707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01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404938" y="2102644"/>
                <a:ext cx="1772841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个人基本情况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4286250" y="22383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16" name="Polygon 16"/>
              <p:cNvSpPr/>
              <p:nvPr/>
            </p:nvSpPr>
            <p:spPr>
              <a:xfrm>
                <a:off x="10487025" y="2152650"/>
                <a:ext cx="12763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276350" h="95250">
                    <a:moveTo>
                      <a:pt x="161925" y="0"/>
                    </a:moveTo>
                    <a:lnTo>
                      <a:pt x="1276350" y="0"/>
                    </a:lnTo>
                    <a:lnTo>
                      <a:pt x="111442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523875" y="2476500"/>
              <a:ext cx="11239500" cy="523875"/>
              <a:chOff x="523875" y="2476500"/>
              <a:chExt cx="11239500" cy="523875"/>
            </a:xfrm>
          </p:grpSpPr>
          <p:sp>
            <p:nvSpPr>
              <p:cNvPr id="18" name="Polygon 18"/>
              <p:cNvSpPr/>
              <p:nvPr/>
            </p:nvSpPr>
            <p:spPr>
              <a:xfrm>
                <a:off x="523875" y="24765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34408" y="25736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404938" y="2597944"/>
                <a:ext cx="1197769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岗位认知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4286250" y="27336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22" name="Polygon 22"/>
              <p:cNvSpPr/>
              <p:nvPr/>
            </p:nvSpPr>
            <p:spPr>
              <a:xfrm>
                <a:off x="10410825" y="2647950"/>
                <a:ext cx="13525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52550" h="95250">
                    <a:moveTo>
                      <a:pt x="161925" y="0"/>
                    </a:moveTo>
                    <a:lnTo>
                      <a:pt x="1352550" y="0"/>
                    </a:lnTo>
                    <a:lnTo>
                      <a:pt x="119062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523875" y="2971800"/>
              <a:ext cx="11239500" cy="523875"/>
              <a:chOff x="523875" y="2971800"/>
              <a:chExt cx="11239500" cy="523875"/>
            </a:xfrm>
          </p:grpSpPr>
          <p:sp>
            <p:nvSpPr>
              <p:cNvPr id="24" name="Polygon 24"/>
              <p:cNvSpPr/>
              <p:nvPr/>
            </p:nvSpPr>
            <p:spPr>
              <a:xfrm>
                <a:off x="523875" y="29718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34408" y="30689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03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404938" y="3093244"/>
                <a:ext cx="1197769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个人绩效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4286250" y="32289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28" name="Polygon 28"/>
              <p:cNvSpPr/>
              <p:nvPr/>
            </p:nvSpPr>
            <p:spPr>
              <a:xfrm>
                <a:off x="10467975" y="3143250"/>
                <a:ext cx="12954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295400" h="95250">
                    <a:moveTo>
                      <a:pt x="161925" y="0"/>
                    </a:moveTo>
                    <a:lnTo>
                      <a:pt x="1295400" y="0"/>
                    </a:lnTo>
                    <a:lnTo>
                      <a:pt x="113347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523875" y="3467100"/>
              <a:ext cx="11239500" cy="523875"/>
              <a:chOff x="523875" y="3467100"/>
              <a:chExt cx="11239500" cy="523875"/>
            </a:xfrm>
          </p:grpSpPr>
          <p:sp>
            <p:nvSpPr>
              <p:cNvPr id="30" name="Polygon 30"/>
              <p:cNvSpPr/>
              <p:nvPr/>
            </p:nvSpPr>
            <p:spPr>
              <a:xfrm>
                <a:off x="523875" y="34671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34408" y="35642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04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404938" y="3588544"/>
                <a:ext cx="2347912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关键问题突破举例</a:t>
                </a:r>
              </a:p>
            </p:txBody>
          </p:sp>
          <p:sp>
            <p:nvSpPr>
              <p:cNvPr id="33" name="Line 33"/>
              <p:cNvSpPr/>
              <p:nvPr/>
            </p:nvSpPr>
            <p:spPr>
              <a:xfrm>
                <a:off x="4286250" y="37242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34" name="Polygon 34"/>
              <p:cNvSpPr/>
              <p:nvPr/>
            </p:nvSpPr>
            <p:spPr>
              <a:xfrm>
                <a:off x="10220325" y="3638550"/>
                <a:ext cx="15430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543050" h="95250">
                    <a:moveTo>
                      <a:pt x="161925" y="0"/>
                    </a:moveTo>
                    <a:lnTo>
                      <a:pt x="1543050" y="0"/>
                    </a:lnTo>
                    <a:lnTo>
                      <a:pt x="138112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41" name="Group 41"/>
            <p:cNvGrpSpPr/>
            <p:nvPr/>
          </p:nvGrpSpPr>
          <p:grpSpPr>
            <a:xfrm>
              <a:off x="523875" y="3962400"/>
              <a:ext cx="11239500" cy="523875"/>
              <a:chOff x="523875" y="3962400"/>
              <a:chExt cx="11239500" cy="523875"/>
            </a:xfrm>
          </p:grpSpPr>
          <p:sp>
            <p:nvSpPr>
              <p:cNvPr id="36" name="Polygon 36"/>
              <p:cNvSpPr/>
              <p:nvPr/>
            </p:nvSpPr>
            <p:spPr>
              <a:xfrm>
                <a:off x="523875" y="39624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34408" y="40595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05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404938" y="4083844"/>
                <a:ext cx="2060377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下一步工作规划</a:t>
                </a:r>
              </a:p>
            </p:txBody>
          </p:sp>
          <p:sp>
            <p:nvSpPr>
              <p:cNvPr id="39" name="Line 39"/>
              <p:cNvSpPr/>
              <p:nvPr/>
            </p:nvSpPr>
            <p:spPr>
              <a:xfrm>
                <a:off x="4286250" y="42195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40" name="Polygon 40"/>
              <p:cNvSpPr/>
              <p:nvPr/>
            </p:nvSpPr>
            <p:spPr>
              <a:xfrm>
                <a:off x="10391775" y="4133850"/>
                <a:ext cx="13716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71600" h="95250">
                    <a:moveTo>
                      <a:pt x="161925" y="0"/>
                    </a:moveTo>
                    <a:lnTo>
                      <a:pt x="1371600" y="0"/>
                    </a:lnTo>
                    <a:lnTo>
                      <a:pt x="120967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47" name="Group 47"/>
            <p:cNvGrpSpPr/>
            <p:nvPr/>
          </p:nvGrpSpPr>
          <p:grpSpPr>
            <a:xfrm>
              <a:off x="523875" y="4457700"/>
              <a:ext cx="11239500" cy="523875"/>
              <a:chOff x="523875" y="4457700"/>
              <a:chExt cx="11239500" cy="523875"/>
            </a:xfrm>
          </p:grpSpPr>
          <p:sp>
            <p:nvSpPr>
              <p:cNvPr id="42" name="Polygon 42"/>
              <p:cNvSpPr/>
              <p:nvPr/>
            </p:nvSpPr>
            <p:spPr>
              <a:xfrm>
                <a:off x="523875" y="44577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34408" y="45548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06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404938" y="4579144"/>
                <a:ext cx="2922984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个人的不足和提升计划</a:t>
                </a:r>
              </a:p>
            </p:txBody>
          </p:sp>
          <p:sp>
            <p:nvSpPr>
              <p:cNvPr id="45" name="Line 45"/>
              <p:cNvSpPr/>
              <p:nvPr/>
            </p:nvSpPr>
            <p:spPr>
              <a:xfrm>
                <a:off x="4286250" y="47148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46" name="Polygon 46"/>
              <p:cNvSpPr/>
              <p:nvPr/>
            </p:nvSpPr>
            <p:spPr>
              <a:xfrm>
                <a:off x="9915525" y="4629150"/>
                <a:ext cx="18478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847850" h="95250">
                    <a:moveTo>
                      <a:pt x="161925" y="0"/>
                    </a:moveTo>
                    <a:lnTo>
                      <a:pt x="1847850" y="0"/>
                    </a:lnTo>
                    <a:lnTo>
                      <a:pt x="168592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53" name="Group 53"/>
            <p:cNvGrpSpPr/>
            <p:nvPr/>
          </p:nvGrpSpPr>
          <p:grpSpPr>
            <a:xfrm>
              <a:off x="523875" y="4953000"/>
              <a:ext cx="11239500" cy="523875"/>
              <a:chOff x="523875" y="4953000"/>
              <a:chExt cx="11239500" cy="523875"/>
            </a:xfrm>
          </p:grpSpPr>
          <p:sp>
            <p:nvSpPr>
              <p:cNvPr id="48" name="Polygon 48"/>
              <p:cNvSpPr/>
              <p:nvPr/>
            </p:nvSpPr>
            <p:spPr>
              <a:xfrm>
                <a:off x="523875" y="49530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34408" y="50501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07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404938" y="5074444"/>
                <a:ext cx="148530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建议与求助</a:t>
                </a:r>
              </a:p>
            </p:txBody>
          </p:sp>
          <p:sp>
            <p:nvSpPr>
              <p:cNvPr id="51" name="Line 51"/>
              <p:cNvSpPr/>
              <p:nvPr/>
            </p:nvSpPr>
            <p:spPr>
              <a:xfrm>
                <a:off x="4286250" y="52101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52" name="Polygon 52"/>
              <p:cNvSpPr/>
              <p:nvPr/>
            </p:nvSpPr>
            <p:spPr>
              <a:xfrm>
                <a:off x="10296525" y="5124450"/>
                <a:ext cx="14668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95250">
                    <a:moveTo>
                      <a:pt x="161925" y="0"/>
                    </a:moveTo>
                    <a:lnTo>
                      <a:pt x="1466850" y="0"/>
                    </a:lnTo>
                    <a:lnTo>
                      <a:pt x="130492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</p:grpSp>
      <p:grpSp>
        <p:nvGrpSpPr>
          <p:cNvPr id="61" name="Group 61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55" name="Rectangle 55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07670" y="6341745"/>
              <a:ext cx="27503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Probation Presentation Structure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08622" y="6578441"/>
              <a:ext cx="18283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固定目录页，不参与动态占位替换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1086746" y="6316028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TOC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一、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3900464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个人背景与岗位定位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646920" y="508635"/>
              <a:ext cx="160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个人背景与岗位认知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72826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从教育积累到 5 年研发实践，再到入职后快速切入核心业务，已完成从经验迁移到岗位担当的衔接。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381000" y="1619250"/>
            <a:ext cx="11814810" cy="4629150"/>
            <a:chOff x="381000" y="1619250"/>
            <a:chExt cx="11814810" cy="46291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8E7B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85800" y="1619250"/>
              <a:ext cx="10496550" cy="1400175"/>
            </a:xfrm>
            <a:custGeom>
              <a:avLst/>
              <a:gdLst/>
              <a:ahLst/>
              <a:cxnLst/>
              <a:rect l="l" t="t" r="r" b="b"/>
              <a:pathLst>
                <a:path w="10496550" h="1400175">
                  <a:moveTo>
                    <a:pt x="0" y="419100"/>
                  </a:moveTo>
                  <a:cubicBezTo>
                    <a:pt x="1485900" y="0"/>
                    <a:pt x="3314700" y="171450"/>
                    <a:pt x="5029200" y="533400"/>
                  </a:cubicBezTo>
                  <a:cubicBezTo>
                    <a:pt x="6553200" y="847725"/>
                    <a:pt x="8105775" y="781050"/>
                    <a:pt x="10496550" y="152400"/>
                  </a:cubicBezTo>
                  <a:lnTo>
                    <a:pt x="10496550" y="838200"/>
                  </a:lnTo>
                  <a:cubicBezTo>
                    <a:pt x="8943975" y="1257300"/>
                    <a:pt x="7372350" y="1400175"/>
                    <a:pt x="5600700" y="1104900"/>
                  </a:cubicBezTo>
                  <a:cubicBezTo>
                    <a:pt x="3648075" y="781050"/>
                    <a:pt x="1609725" y="762000"/>
                    <a:pt x="0" y="1162050"/>
                  </a:cubicBezTo>
                  <a:close/>
                </a:path>
              </a:pathLst>
            </a:custGeom>
            <a:solidFill>
              <a:srgbClr val="F8FBFD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914400" y="2495550"/>
              <a:ext cx="9563100" cy="2133600"/>
            </a:xfrm>
            <a:custGeom>
              <a:avLst/>
              <a:gdLst/>
              <a:ahLst/>
              <a:cxnLst/>
              <a:rect l="l" t="t" r="r" b="b"/>
              <a:pathLst>
                <a:path w="9563100" h="2133600">
                  <a:moveTo>
                    <a:pt x="0" y="2133600"/>
                  </a:moveTo>
                  <a:lnTo>
                    <a:pt x="2419350" y="1409700"/>
                  </a:lnTo>
                  <a:lnTo>
                    <a:pt x="4991100" y="1752600"/>
                  </a:lnTo>
                  <a:lnTo>
                    <a:pt x="7486650" y="647700"/>
                  </a:lnTo>
                  <a:lnTo>
                    <a:pt x="9563100" y="0"/>
                  </a:lnTo>
                </a:path>
              </a:pathLst>
            </a:custGeom>
            <a:noFill/>
            <a:ln w="190500" cap="rnd">
              <a:solidFill>
                <a:srgbClr val="E5E9EF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914400" y="2495550"/>
              <a:ext cx="9563100" cy="2133600"/>
            </a:xfrm>
            <a:custGeom>
              <a:avLst/>
              <a:gdLst/>
              <a:ahLst/>
              <a:cxnLst/>
              <a:rect l="l" t="t" r="r" b="b"/>
              <a:pathLst>
                <a:path w="9563100" h="2133600">
                  <a:moveTo>
                    <a:pt x="0" y="2133600"/>
                  </a:moveTo>
                  <a:lnTo>
                    <a:pt x="2419350" y="1409700"/>
                  </a:lnTo>
                  <a:lnTo>
                    <a:pt x="4991100" y="1752600"/>
                  </a:lnTo>
                  <a:lnTo>
                    <a:pt x="7486650" y="647700"/>
                  </a:lnTo>
                  <a:lnTo>
                    <a:pt x="9563100" y="0"/>
                  </a:lnTo>
                </a:path>
              </a:pathLst>
            </a:custGeom>
            <a:noFill/>
            <a:ln w="76200" cap="rnd">
              <a:solidFill>
                <a:srgbClr val="D7E8F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0477500" y="211455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381000"/>
                  </a:moveTo>
                  <a:lnTo>
                    <a:pt x="457200" y="0"/>
                  </a:lnTo>
                </a:path>
              </a:pathLst>
            </a:custGeom>
            <a:noFill/>
            <a:ln w="76200" cap="rnd">
              <a:solidFill>
                <a:srgbClr val="D7E8F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0877550" y="2038350"/>
              <a:ext cx="342900" cy="314325"/>
            </a:xfrm>
            <a:custGeom>
              <a:avLst/>
              <a:gdLst/>
              <a:ahLst/>
              <a:cxnLst/>
              <a:rect l="l" t="t" r="r" b="b"/>
              <a:pathLst>
                <a:path w="342900" h="314325">
                  <a:moveTo>
                    <a:pt x="0" y="0"/>
                  </a:moveTo>
                  <a:lnTo>
                    <a:pt x="342900" y="0"/>
                  </a:lnTo>
                  <a:lnTo>
                    <a:pt x="133350" y="314325"/>
                  </a:lnTo>
                  <a:close/>
                </a:path>
              </a:pathLst>
            </a:custGeom>
            <a:solidFill>
              <a:srgbClr val="7F8C8D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971800" y="3543300"/>
              <a:ext cx="723900" cy="723900"/>
            </a:xfrm>
            <a:prstGeom prst="ellipse">
              <a:avLst/>
            </a:prstGeom>
            <a:solidFill>
              <a:srgbClr val="F15A24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5562600" y="3905250"/>
              <a:ext cx="685800" cy="685800"/>
            </a:xfrm>
            <a:prstGeom prst="ellipse">
              <a:avLst/>
            </a:prstGeom>
            <a:solidFill>
              <a:srgbClr val="F5A623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8029575" y="2771775"/>
              <a:ext cx="742950" cy="742950"/>
            </a:xfrm>
            <a:prstGeom prst="ellipse">
              <a:avLst/>
            </a:prstGeom>
            <a:solidFill>
              <a:srgbClr val="00A6B6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0020300" y="2038350"/>
              <a:ext cx="914400" cy="914400"/>
            </a:xfrm>
            <a:prstGeom prst="ellipse">
              <a:avLst/>
            </a:prstGeom>
            <a:solidFill>
              <a:srgbClr val="6CC04A">
                <a:alpha val="18000"/>
              </a:srgbClr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0096500" y="2114550"/>
              <a:ext cx="762000" cy="762000"/>
            </a:xfrm>
            <a:prstGeom prst="ellipse">
              <a:avLst/>
            </a:prstGeom>
            <a:solidFill>
              <a:srgbClr val="6CC04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017424" y="3780472"/>
              <a:ext cx="63265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2016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589174" y="4123372"/>
              <a:ext cx="63265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2019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47344" y="3018472"/>
              <a:ext cx="70741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2025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78605" y="2386965"/>
              <a:ext cx="5977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当前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78330" y="2630805"/>
              <a:ext cx="134150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15A24"/>
                  </a:solidFill>
                  <a:latin typeface="Arial"/>
                  <a:ea typeface="Microsoft YaHei"/>
                  <a:cs typeface="Arial"/>
                </a:rPr>
                <a:t>教育背景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02055" y="3073718"/>
              <a:ext cx="30509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2016-2020 华南农业大学 软件工程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73505" y="3340418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完成研发基础能力建立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26330" y="5240655"/>
              <a:ext cx="19855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5A623"/>
                  </a:solidFill>
                  <a:latin typeface="Arial"/>
                  <a:ea typeface="Microsoft YaHei"/>
                  <a:cs typeface="Arial"/>
                </a:rPr>
                <a:t>前司研发经历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983355" y="5664518"/>
              <a:ext cx="29918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2019-2025 深圳乐信控股有限公司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192905" y="5931218"/>
              <a:ext cx="29918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积累复杂业务交付与系统建设经验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12330" y="1621155"/>
              <a:ext cx="19855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A6B6"/>
                  </a:solidFill>
                  <a:latin typeface="Arial"/>
                  <a:ea typeface="Microsoft YaHei"/>
                  <a:cs typeface="Arial"/>
                </a:rPr>
                <a:t>入职当前公司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78955" y="2025968"/>
              <a:ext cx="45494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2025.10 入职后快速切入会员、营销活动、运营平台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93255" y="2292668"/>
              <a:ext cx="29918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完成从经验迁移到业务承担的过渡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8420100" y="3714750"/>
              <a:ext cx="3009900" cy="1619250"/>
            </a:xfrm>
            <a:custGeom>
              <a:avLst/>
              <a:gdLst/>
              <a:ahLst/>
              <a:cxnLst/>
              <a:rect l="l" t="t" r="r" b="b"/>
              <a:pathLst>
                <a:path w="3009900" h="1619250">
                  <a:moveTo>
                    <a:pt x="114300" y="0"/>
                  </a:moveTo>
                  <a:lnTo>
                    <a:pt x="2895600" y="0"/>
                  </a:lnTo>
                  <a:cubicBezTo>
                    <a:pt x="2958726" y="0"/>
                    <a:pt x="3009900" y="51174"/>
                    <a:pt x="3009900" y="114300"/>
                  </a:cubicBezTo>
                  <a:lnTo>
                    <a:pt x="3009900" y="1504950"/>
                  </a:lnTo>
                  <a:cubicBezTo>
                    <a:pt x="3009900" y="1568076"/>
                    <a:pt x="2958726" y="1619250"/>
                    <a:pt x="2895600" y="1619250"/>
                  </a:cubicBezTo>
                  <a:lnTo>
                    <a:pt x="114300" y="1619250"/>
                  </a:lnTo>
                  <a:cubicBezTo>
                    <a:pt x="51174" y="1619250"/>
                    <a:pt x="0" y="1568076"/>
                    <a:pt x="0" y="1504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7FBF4"/>
            </a:solidFill>
            <a:ln w="13335">
              <a:solidFill>
                <a:srgbClr val="B9D99E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420100" y="3714750"/>
              <a:ext cx="3009900" cy="95250"/>
            </a:xfrm>
            <a:prstGeom prst="rect">
              <a:avLst/>
            </a:prstGeom>
            <a:solidFill>
              <a:srgbClr val="6CC04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606790" y="3920490"/>
              <a:ext cx="17019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4D7E2E"/>
                  </a:solidFill>
                  <a:latin typeface="Arial"/>
                  <a:ea typeface="Microsoft YaHei"/>
                  <a:cs typeface="Arial"/>
                </a:rPr>
                <a:t>当前岗位定位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612505" y="4311968"/>
              <a:ext cx="14144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后端开发工程师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612505" y="4578668"/>
              <a:ext cx="35833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负责活动系统、会员权益、运营配置平台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12505" y="4845368"/>
              <a:ext cx="31889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兼顾交付效率、系统质量与复用沉淀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8458200" y="5467350"/>
              <a:ext cx="1619250" cy="342900"/>
            </a:xfrm>
            <a:custGeom>
              <a:avLst/>
              <a:gdLst/>
              <a:ahLst/>
              <a:cxnLst/>
              <a:rect l="l" t="t" r="r" b="b"/>
              <a:pathLst>
                <a:path w="1619250" h="342900">
                  <a:moveTo>
                    <a:pt x="171450" y="0"/>
                  </a:moveTo>
                  <a:lnTo>
                    <a:pt x="1447800" y="0"/>
                  </a:lnTo>
                  <a:cubicBezTo>
                    <a:pt x="1542489" y="0"/>
                    <a:pt x="1619250" y="76761"/>
                    <a:pt x="1619250" y="171450"/>
                  </a:cubicBezTo>
                  <a:lnTo>
                    <a:pt x="1619250" y="171450"/>
                  </a:lnTo>
                  <a:cubicBezTo>
                    <a:pt x="1619250" y="266139"/>
                    <a:pt x="1542489" y="342900"/>
                    <a:pt x="144780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DEACF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0020300" y="5467350"/>
              <a:ext cx="1276350" cy="342900"/>
            </a:xfrm>
            <a:custGeom>
              <a:avLst/>
              <a:gdLst/>
              <a:ahLst/>
              <a:cxnLst/>
              <a:rect l="l" t="t" r="r" b="b"/>
              <a:pathLst>
                <a:path w="1276350" h="342900">
                  <a:moveTo>
                    <a:pt x="171450" y="0"/>
                  </a:moveTo>
                  <a:lnTo>
                    <a:pt x="1104900" y="0"/>
                  </a:lnTo>
                  <a:cubicBezTo>
                    <a:pt x="1199589" y="0"/>
                    <a:pt x="1276350" y="76761"/>
                    <a:pt x="1276350" y="171450"/>
                  </a:cubicBezTo>
                  <a:lnTo>
                    <a:pt x="1276350" y="171450"/>
                  </a:lnTo>
                  <a:cubicBezTo>
                    <a:pt x="1276350" y="266139"/>
                    <a:pt x="1199589" y="342900"/>
                    <a:pt x="110490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DEACF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8458200" y="5905500"/>
              <a:ext cx="1447800" cy="342900"/>
            </a:xfrm>
            <a:custGeom>
              <a:avLst/>
              <a:gdLst/>
              <a:ahLst/>
              <a:cxnLst/>
              <a:rect l="l" t="t" r="r" b="b"/>
              <a:pathLst>
                <a:path w="1447800" h="342900">
                  <a:moveTo>
                    <a:pt x="171450" y="0"/>
                  </a:moveTo>
                  <a:lnTo>
                    <a:pt x="1276350" y="0"/>
                  </a:lnTo>
                  <a:cubicBezTo>
                    <a:pt x="1371039" y="0"/>
                    <a:pt x="1447800" y="76761"/>
                    <a:pt x="1447800" y="171450"/>
                  </a:cubicBezTo>
                  <a:lnTo>
                    <a:pt x="1447800" y="171450"/>
                  </a:lnTo>
                  <a:cubicBezTo>
                    <a:pt x="1447800" y="266139"/>
                    <a:pt x="1371039" y="342900"/>
                    <a:pt x="127635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DEACF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9848850" y="5905500"/>
              <a:ext cx="1447800" cy="342900"/>
            </a:xfrm>
            <a:custGeom>
              <a:avLst/>
              <a:gdLst/>
              <a:ahLst/>
              <a:cxnLst/>
              <a:rect l="l" t="t" r="r" b="b"/>
              <a:pathLst>
                <a:path w="1447800" h="342900">
                  <a:moveTo>
                    <a:pt x="171450" y="0"/>
                  </a:moveTo>
                  <a:lnTo>
                    <a:pt x="1276350" y="0"/>
                  </a:lnTo>
                  <a:cubicBezTo>
                    <a:pt x="1371039" y="0"/>
                    <a:pt x="1447800" y="76761"/>
                    <a:pt x="1447800" y="171450"/>
                  </a:cubicBezTo>
                  <a:lnTo>
                    <a:pt x="1447800" y="171450"/>
                  </a:lnTo>
                  <a:cubicBezTo>
                    <a:pt x="1447800" y="266139"/>
                    <a:pt x="1371039" y="342900"/>
                    <a:pt x="127635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DEAC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700516" y="55664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复杂需求拆解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183178" y="5566410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平台化设计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614791" y="600456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项目统筹推进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083651" y="6004560"/>
              <a:ext cx="9781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AI 协同研发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533400" y="5295900"/>
              <a:ext cx="7315200" cy="323850"/>
            </a:xfrm>
            <a:custGeom>
              <a:avLst/>
              <a:gdLst/>
              <a:ahLst/>
              <a:cxnLst/>
              <a:rect l="l" t="t" r="r" b="b"/>
              <a:pathLst>
                <a:path w="7315200" h="323850">
                  <a:moveTo>
                    <a:pt x="76200" y="0"/>
                  </a:moveTo>
                  <a:lnTo>
                    <a:pt x="7239000" y="0"/>
                  </a:lnTo>
                  <a:cubicBezTo>
                    <a:pt x="7281084" y="0"/>
                    <a:pt x="7315200" y="34116"/>
                    <a:pt x="7315200" y="76200"/>
                  </a:cubicBezTo>
                  <a:lnTo>
                    <a:pt x="7315200" y="247650"/>
                  </a:lnTo>
                  <a:cubicBezTo>
                    <a:pt x="7315200" y="289734"/>
                    <a:pt x="7281084" y="323850"/>
                    <a:pt x="723900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6FBE8"/>
            </a:solidFill>
            <a:ln w="9525">
              <a:solidFill>
                <a:srgbClr val="CFE1A8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533400" y="5295900"/>
              <a:ext cx="57150" cy="323850"/>
            </a:xfrm>
            <a:custGeom>
              <a:avLst/>
              <a:gdLst/>
              <a:ahLst/>
              <a:cxnLst/>
              <a:rect l="l" t="t" r="r" b="b"/>
              <a:pathLst>
                <a:path w="57150" h="3238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295275"/>
                  </a:lnTo>
                  <a:cubicBezTo>
                    <a:pt x="57150" y="311057"/>
                    <a:pt x="44357" y="323850"/>
                    <a:pt x="28575" y="323850"/>
                  </a:cubicBezTo>
                  <a:lnTo>
                    <a:pt x="28575" y="323850"/>
                  </a:lnTo>
                  <a:cubicBezTo>
                    <a:pt x="12793" y="323850"/>
                    <a:pt x="0" y="311057"/>
                    <a:pt x="0" y="2952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06755" y="5369242"/>
              <a:ext cx="72801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已完成从既有研发经验到当前岗位担当的衔接，具备独立承接复杂事项的基础。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61" name="Rectangle 61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62" name="Line 62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07670" y="6341745"/>
              <a:ext cx="37296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personal_material.md + content_requirement.md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08622" y="6578441"/>
              <a:ext cx="9848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模板化生成内容页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二、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4326017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岗位认知与试用期目标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23220" y="508635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岗位认知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46291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不仅完成开发任务，也对交付结果、系统质量和协作成本负责。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81000" y="1676400"/>
            <a:ext cx="11430000" cy="4095750"/>
            <a:chOff x="381000" y="1676400"/>
            <a:chExt cx="11430000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8E7B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885950"/>
              <a:ext cx="2590800" cy="1409700"/>
            </a:xfrm>
            <a:custGeom>
              <a:avLst/>
              <a:gdLst/>
              <a:ahLst/>
              <a:cxnLst/>
              <a:rect l="l" t="t" r="r" b="b"/>
              <a:pathLst>
                <a:path w="2590800" h="1409700">
                  <a:moveTo>
                    <a:pt x="95250" y="0"/>
                  </a:moveTo>
                  <a:lnTo>
                    <a:pt x="2495550" y="0"/>
                  </a:lnTo>
                  <a:cubicBezTo>
                    <a:pt x="2548155" y="0"/>
                    <a:pt x="2590800" y="42645"/>
                    <a:pt x="2590800" y="95250"/>
                  </a:cubicBezTo>
                  <a:lnTo>
                    <a:pt x="2590800" y="1314450"/>
                  </a:lnTo>
                  <a:cubicBezTo>
                    <a:pt x="2590800" y="1367055"/>
                    <a:pt x="2548155" y="1409700"/>
                    <a:pt x="2495550" y="1409700"/>
                  </a:cubicBezTo>
                  <a:lnTo>
                    <a:pt x="95250" y="1409700"/>
                  </a:lnTo>
                  <a:cubicBezTo>
                    <a:pt x="42645" y="1409700"/>
                    <a:pt x="0" y="1367055"/>
                    <a:pt x="0" y="13144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" y="1885950"/>
              <a:ext cx="2590800" cy="76200"/>
            </a:xfrm>
            <a:custGeom>
              <a:avLst/>
              <a:gdLst/>
              <a:ahLst/>
              <a:cxnLst/>
              <a:rect l="l" t="t" r="r" b="b"/>
              <a:pathLst>
                <a:path w="2590800" h="76200">
                  <a:moveTo>
                    <a:pt x="38100" y="0"/>
                  </a:moveTo>
                  <a:lnTo>
                    <a:pt x="2552700" y="0"/>
                  </a:lnTo>
                  <a:cubicBezTo>
                    <a:pt x="2573742" y="0"/>
                    <a:pt x="2590800" y="17058"/>
                    <a:pt x="2590800" y="38100"/>
                  </a:cubicBezTo>
                  <a:lnTo>
                    <a:pt x="2590800" y="38100"/>
                  </a:lnTo>
                  <a:cubicBezTo>
                    <a:pt x="2590800" y="59142"/>
                    <a:pt x="2573742" y="76200"/>
                    <a:pt x="25527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3900" y="20478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岗位认知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5805" y="2426018"/>
              <a:ext cx="16116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不仅完成开发任务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5805" y="2692718"/>
              <a:ext cx="22031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也对交付结果、系统质量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5805" y="2959418"/>
              <a:ext cx="14144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和协作成本负责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3314700" y="1885950"/>
              <a:ext cx="2590800" cy="1409700"/>
            </a:xfrm>
            <a:custGeom>
              <a:avLst/>
              <a:gdLst/>
              <a:ahLst/>
              <a:cxnLst/>
              <a:rect l="l" t="t" r="r" b="b"/>
              <a:pathLst>
                <a:path w="2590800" h="1409700">
                  <a:moveTo>
                    <a:pt x="95250" y="0"/>
                  </a:moveTo>
                  <a:lnTo>
                    <a:pt x="2495550" y="0"/>
                  </a:lnTo>
                  <a:cubicBezTo>
                    <a:pt x="2548155" y="0"/>
                    <a:pt x="2590800" y="42645"/>
                    <a:pt x="2590800" y="95250"/>
                  </a:cubicBezTo>
                  <a:lnTo>
                    <a:pt x="2590800" y="1314450"/>
                  </a:lnTo>
                  <a:cubicBezTo>
                    <a:pt x="2590800" y="1367055"/>
                    <a:pt x="2548155" y="1409700"/>
                    <a:pt x="2495550" y="1409700"/>
                  </a:cubicBezTo>
                  <a:lnTo>
                    <a:pt x="95250" y="1409700"/>
                  </a:lnTo>
                  <a:cubicBezTo>
                    <a:pt x="42645" y="1409700"/>
                    <a:pt x="0" y="1367055"/>
                    <a:pt x="0" y="13144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314700" y="1885950"/>
              <a:ext cx="2590800" cy="76200"/>
            </a:xfrm>
            <a:custGeom>
              <a:avLst/>
              <a:gdLst/>
              <a:ahLst/>
              <a:cxnLst/>
              <a:rect l="l" t="t" r="r" b="b"/>
              <a:pathLst>
                <a:path w="2590800" h="76200">
                  <a:moveTo>
                    <a:pt x="38100" y="0"/>
                  </a:moveTo>
                  <a:lnTo>
                    <a:pt x="2552700" y="0"/>
                  </a:lnTo>
                  <a:cubicBezTo>
                    <a:pt x="2573742" y="0"/>
                    <a:pt x="2590800" y="17058"/>
                    <a:pt x="2590800" y="38100"/>
                  </a:cubicBezTo>
                  <a:lnTo>
                    <a:pt x="2590800" y="38100"/>
                  </a:lnTo>
                  <a:cubicBezTo>
                    <a:pt x="2590800" y="59142"/>
                    <a:pt x="2573742" y="76200"/>
                    <a:pt x="25527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486150" y="204787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试用期证明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88055" y="2426018"/>
              <a:ext cx="16116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无单独绩效承诺书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88055" y="2692718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以月度绩效结果和交付结果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88055" y="2959418"/>
              <a:ext cx="14144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作为阶段性证明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6076950" y="1885950"/>
              <a:ext cx="2590800" cy="1409700"/>
            </a:xfrm>
            <a:custGeom>
              <a:avLst/>
              <a:gdLst/>
              <a:ahLst/>
              <a:cxnLst/>
              <a:rect l="l" t="t" r="r" b="b"/>
              <a:pathLst>
                <a:path w="2590800" h="1409700">
                  <a:moveTo>
                    <a:pt x="95250" y="0"/>
                  </a:moveTo>
                  <a:lnTo>
                    <a:pt x="2495550" y="0"/>
                  </a:lnTo>
                  <a:cubicBezTo>
                    <a:pt x="2548155" y="0"/>
                    <a:pt x="2590800" y="42645"/>
                    <a:pt x="2590800" y="95250"/>
                  </a:cubicBezTo>
                  <a:lnTo>
                    <a:pt x="2590800" y="1314450"/>
                  </a:lnTo>
                  <a:cubicBezTo>
                    <a:pt x="2590800" y="1367055"/>
                    <a:pt x="2548155" y="1409700"/>
                    <a:pt x="2495550" y="1409700"/>
                  </a:cubicBezTo>
                  <a:lnTo>
                    <a:pt x="95250" y="1409700"/>
                  </a:lnTo>
                  <a:cubicBezTo>
                    <a:pt x="42645" y="1409700"/>
                    <a:pt x="0" y="1367055"/>
                    <a:pt x="0" y="13144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6076950" y="1885950"/>
              <a:ext cx="2590800" cy="76200"/>
            </a:xfrm>
            <a:custGeom>
              <a:avLst/>
              <a:gdLst/>
              <a:ahLst/>
              <a:cxnLst/>
              <a:rect l="l" t="t" r="r" b="b"/>
              <a:pathLst>
                <a:path w="2590800" h="76200">
                  <a:moveTo>
                    <a:pt x="38100" y="0"/>
                  </a:moveTo>
                  <a:lnTo>
                    <a:pt x="2552700" y="0"/>
                  </a:lnTo>
                  <a:cubicBezTo>
                    <a:pt x="2573742" y="0"/>
                    <a:pt x="2590800" y="17058"/>
                    <a:pt x="2590800" y="38100"/>
                  </a:cubicBezTo>
                  <a:lnTo>
                    <a:pt x="2590800" y="38100"/>
                  </a:lnTo>
                  <a:cubicBezTo>
                    <a:pt x="2590800" y="59142"/>
                    <a:pt x="2573742" y="76200"/>
                    <a:pt x="25527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48400" y="20478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阶段目标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50305" y="242601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尽快熟悉业务并独立承接需求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50305" y="2692718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在关键项目中承担更大责任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8839200" y="1885950"/>
              <a:ext cx="2609850" cy="1409700"/>
            </a:xfrm>
            <a:custGeom>
              <a:avLst/>
              <a:gdLst/>
              <a:ahLst/>
              <a:cxnLst/>
              <a:rect l="l" t="t" r="r" b="b"/>
              <a:pathLst>
                <a:path w="2609850" h="1409700">
                  <a:moveTo>
                    <a:pt x="95250" y="0"/>
                  </a:moveTo>
                  <a:lnTo>
                    <a:pt x="2514600" y="0"/>
                  </a:lnTo>
                  <a:cubicBezTo>
                    <a:pt x="2567205" y="0"/>
                    <a:pt x="2609850" y="42645"/>
                    <a:pt x="2609850" y="95250"/>
                  </a:cubicBezTo>
                  <a:lnTo>
                    <a:pt x="2609850" y="1314450"/>
                  </a:lnTo>
                  <a:cubicBezTo>
                    <a:pt x="2609850" y="1367055"/>
                    <a:pt x="2567205" y="1409700"/>
                    <a:pt x="2514600" y="1409700"/>
                  </a:cubicBezTo>
                  <a:lnTo>
                    <a:pt x="95250" y="1409700"/>
                  </a:lnTo>
                  <a:cubicBezTo>
                    <a:pt x="42645" y="1409700"/>
                    <a:pt x="0" y="1367055"/>
                    <a:pt x="0" y="13144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839200" y="1885950"/>
              <a:ext cx="2609850" cy="76200"/>
            </a:xfrm>
            <a:custGeom>
              <a:avLst/>
              <a:gdLst/>
              <a:ahLst/>
              <a:cxnLst/>
              <a:rect l="l" t="t" r="r" b="b"/>
              <a:pathLst>
                <a:path w="2609850" h="76200">
                  <a:moveTo>
                    <a:pt x="38100" y="0"/>
                  </a:moveTo>
                  <a:lnTo>
                    <a:pt x="2571750" y="0"/>
                  </a:lnTo>
                  <a:cubicBezTo>
                    <a:pt x="2592792" y="0"/>
                    <a:pt x="2609850" y="17058"/>
                    <a:pt x="2609850" y="38100"/>
                  </a:cubicBezTo>
                  <a:lnTo>
                    <a:pt x="2609850" y="38100"/>
                  </a:lnTo>
                  <a:cubicBezTo>
                    <a:pt x="2609850" y="59142"/>
                    <a:pt x="2592792" y="76200"/>
                    <a:pt x="25717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10650" y="20478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更高要求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12555" y="2426018"/>
              <a:ext cx="2794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把一次性交付沉淀成可复用能力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12555" y="269271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成为可放心托付复杂事项的人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552450" y="3543300"/>
              <a:ext cx="10896600" cy="1466850"/>
            </a:xfrm>
            <a:custGeom>
              <a:avLst/>
              <a:gdLst/>
              <a:ahLst/>
              <a:cxnLst/>
              <a:rect l="l" t="t" r="r" b="b"/>
              <a:pathLst>
                <a:path w="10896600" h="1466850">
                  <a:moveTo>
                    <a:pt x="114300" y="0"/>
                  </a:moveTo>
                  <a:lnTo>
                    <a:pt x="10782300" y="0"/>
                  </a:lnTo>
                  <a:cubicBezTo>
                    <a:pt x="10845426" y="0"/>
                    <a:pt x="10896600" y="51174"/>
                    <a:pt x="10896600" y="114300"/>
                  </a:cubicBezTo>
                  <a:lnTo>
                    <a:pt x="10896600" y="1352550"/>
                  </a:lnTo>
                  <a:cubicBezTo>
                    <a:pt x="10896600" y="1415676"/>
                    <a:pt x="10845426" y="1466850"/>
                    <a:pt x="10782300" y="1466850"/>
                  </a:cubicBezTo>
                  <a:lnTo>
                    <a:pt x="114300" y="1466850"/>
                  </a:lnTo>
                  <a:cubicBezTo>
                    <a:pt x="51174" y="1466850"/>
                    <a:pt x="0" y="1415676"/>
                    <a:pt x="0" y="13525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79145" y="3727132"/>
              <a:ext cx="181313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试用期工作目标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90575" y="4171950"/>
              <a:ext cx="95250" cy="95250"/>
            </a:xfrm>
            <a:prstGeom prst="ellipse">
              <a:avLst/>
            </a:prstGeom>
            <a:solidFill>
              <a:srgbClr val="88C10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89648" y="4116229"/>
              <a:ext cx="510063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尽快熟悉业务，缩短从理解需求到给出方案的时间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90575" y="4572000"/>
              <a:ext cx="95250" cy="95250"/>
            </a:xfrm>
            <a:prstGeom prst="ellipse">
              <a:avLst/>
            </a:prstGeom>
            <a:solidFill>
              <a:srgbClr val="88C10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89648" y="4516279"/>
              <a:ext cx="579072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在关键项目中承担更大责任，兼顾进度、质量与协同效率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90575" y="4972050"/>
              <a:ext cx="95250" cy="95250"/>
            </a:xfrm>
            <a:prstGeom prst="ellipse">
              <a:avLst/>
            </a:prstGeom>
            <a:solidFill>
              <a:srgbClr val="88C10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89648" y="4916329"/>
              <a:ext cx="536517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把单次交付沉淀为 SOP、配置化能力和团队经验资产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533400" y="5295900"/>
              <a:ext cx="11125200" cy="323850"/>
            </a:xfrm>
            <a:custGeom>
              <a:avLst/>
              <a:gdLst/>
              <a:ahLst/>
              <a:cxnLst/>
              <a:rect l="l" t="t" r="r" b="b"/>
              <a:pathLst>
                <a:path w="11125200" h="323850">
                  <a:moveTo>
                    <a:pt x="76200" y="0"/>
                  </a:moveTo>
                  <a:lnTo>
                    <a:pt x="11049000" y="0"/>
                  </a:lnTo>
                  <a:cubicBezTo>
                    <a:pt x="11091084" y="0"/>
                    <a:pt x="11125200" y="34116"/>
                    <a:pt x="11125200" y="76200"/>
                  </a:cubicBezTo>
                  <a:lnTo>
                    <a:pt x="11125200" y="247650"/>
                  </a:lnTo>
                  <a:cubicBezTo>
                    <a:pt x="11125200" y="289734"/>
                    <a:pt x="11091084" y="323850"/>
                    <a:pt x="1104900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6FBE8"/>
            </a:solidFill>
            <a:ln w="9525">
              <a:solidFill>
                <a:srgbClr val="CFE1A8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533400" y="5295900"/>
              <a:ext cx="57150" cy="323850"/>
            </a:xfrm>
            <a:custGeom>
              <a:avLst/>
              <a:gdLst/>
              <a:ahLst/>
              <a:cxnLst/>
              <a:rect l="l" t="t" r="r" b="b"/>
              <a:pathLst>
                <a:path w="57150" h="3238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295275"/>
                  </a:lnTo>
                  <a:cubicBezTo>
                    <a:pt x="57150" y="311057"/>
                    <a:pt x="44357" y="323850"/>
                    <a:pt x="28575" y="323850"/>
                  </a:cubicBezTo>
                  <a:lnTo>
                    <a:pt x="28575" y="323850"/>
                  </a:lnTo>
                  <a:cubicBezTo>
                    <a:pt x="12793" y="323850"/>
                    <a:pt x="0" y="311057"/>
                    <a:pt x="0" y="2952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6755" y="5369242"/>
              <a:ext cx="70731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试用期的核心不是做了多少事，而是能否让团队更放心地把复杂事项交给我。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54" name="Rectangle 54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55" name="Line 55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07670" y="6341745"/>
              <a:ext cx="20734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slide_copy_compact.md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08622" y="6578441"/>
              <a:ext cx="15873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依据模板规范重排为卡片结构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三、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4985624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6个月整体产出与量化结果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23220" y="508635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个人绩效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39719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工作覆盖交付、优化、系统建设和复用沉淀四个层面。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81000" y="1676400"/>
            <a:ext cx="11449050" cy="4095750"/>
            <a:chOff x="381000" y="1676400"/>
            <a:chExt cx="11449050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8E7B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885950"/>
              <a:ext cx="2590800" cy="1123950"/>
            </a:xfrm>
            <a:custGeom>
              <a:avLst/>
              <a:gdLst/>
              <a:ahLst/>
              <a:cxnLst/>
              <a:rect l="l" t="t" r="r" b="b"/>
              <a:pathLst>
                <a:path w="2590800" h="1123950">
                  <a:moveTo>
                    <a:pt x="114300" y="0"/>
                  </a:moveTo>
                  <a:lnTo>
                    <a:pt x="2476500" y="0"/>
                  </a:lnTo>
                  <a:cubicBezTo>
                    <a:pt x="2539626" y="0"/>
                    <a:pt x="2590800" y="51174"/>
                    <a:pt x="2590800" y="114300"/>
                  </a:cubicBezTo>
                  <a:lnTo>
                    <a:pt x="2590800" y="1009650"/>
                  </a:lnTo>
                  <a:cubicBezTo>
                    <a:pt x="2590800" y="1072776"/>
                    <a:pt x="2539626" y="1123950"/>
                    <a:pt x="2476500" y="1123950"/>
                  </a:cubicBezTo>
                  <a:lnTo>
                    <a:pt x="114300" y="1123950"/>
                  </a:lnTo>
                  <a:cubicBezTo>
                    <a:pt x="51174" y="1123950"/>
                    <a:pt x="0" y="1072776"/>
                    <a:pt x="0" y="10096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BEF"/>
            </a:solidFill>
            <a:ln w="11430">
              <a:solidFill>
                <a:srgbClr val="CFE1A8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704850" y="20383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0" y="0"/>
                  </a:moveTo>
                  <a:lnTo>
                    <a:pt x="381000" y="0"/>
                  </a:lnTo>
                  <a:cubicBezTo>
                    <a:pt x="423084" y="0"/>
                    <a:pt x="457200" y="34116"/>
                    <a:pt x="457200" y="76200"/>
                  </a:cubicBezTo>
                  <a:lnTo>
                    <a:pt x="457200" y="381000"/>
                  </a:lnTo>
                  <a:cubicBezTo>
                    <a:pt x="457200" y="423084"/>
                    <a:pt x="423084" y="457200"/>
                    <a:pt x="381000" y="457200"/>
                  </a:cubicBezTo>
                  <a:lnTo>
                    <a:pt x="76200" y="457200"/>
                  </a:lnTo>
                  <a:cubicBezTo>
                    <a:pt x="34116" y="457200"/>
                    <a:pt x="0" y="423084"/>
                    <a:pt x="0" y="381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88C100">
                <a:alpha val="14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97305" y="210216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试用期交付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4380" y="2535555"/>
              <a:ext cx="203388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累计 8 个需求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3448050" y="1885950"/>
              <a:ext cx="2590800" cy="1123950"/>
            </a:xfrm>
            <a:custGeom>
              <a:avLst/>
              <a:gdLst/>
              <a:ahLst/>
              <a:cxnLst/>
              <a:rect l="l" t="t" r="r" b="b"/>
              <a:pathLst>
                <a:path w="2590800" h="1123950">
                  <a:moveTo>
                    <a:pt x="114300" y="0"/>
                  </a:moveTo>
                  <a:lnTo>
                    <a:pt x="2476500" y="0"/>
                  </a:lnTo>
                  <a:cubicBezTo>
                    <a:pt x="2539626" y="0"/>
                    <a:pt x="2590800" y="51174"/>
                    <a:pt x="2590800" y="114300"/>
                  </a:cubicBezTo>
                  <a:lnTo>
                    <a:pt x="2590800" y="1009650"/>
                  </a:lnTo>
                  <a:cubicBezTo>
                    <a:pt x="2590800" y="1072776"/>
                    <a:pt x="2539626" y="1123950"/>
                    <a:pt x="2476500" y="1123950"/>
                  </a:cubicBezTo>
                  <a:lnTo>
                    <a:pt x="114300" y="1123950"/>
                  </a:lnTo>
                  <a:cubicBezTo>
                    <a:pt x="51174" y="1123950"/>
                    <a:pt x="0" y="1072776"/>
                    <a:pt x="0" y="10096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BEF"/>
            </a:solidFill>
            <a:ln w="11430">
              <a:solidFill>
                <a:srgbClr val="CFE1A8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3600450" y="20383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0" y="0"/>
                  </a:moveTo>
                  <a:lnTo>
                    <a:pt x="381000" y="0"/>
                  </a:lnTo>
                  <a:cubicBezTo>
                    <a:pt x="423084" y="0"/>
                    <a:pt x="457200" y="34116"/>
                    <a:pt x="457200" y="76200"/>
                  </a:cubicBezTo>
                  <a:lnTo>
                    <a:pt x="457200" y="381000"/>
                  </a:lnTo>
                  <a:cubicBezTo>
                    <a:pt x="457200" y="423084"/>
                    <a:pt x="423084" y="457200"/>
                    <a:pt x="381000" y="457200"/>
                  </a:cubicBezTo>
                  <a:lnTo>
                    <a:pt x="76200" y="457200"/>
                  </a:lnTo>
                  <a:cubicBezTo>
                    <a:pt x="34116" y="457200"/>
                    <a:pt x="0" y="423084"/>
                    <a:pt x="0" y="381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88C100">
                <a:alpha val="14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192905" y="21021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独立负责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49980" y="2535555"/>
              <a:ext cx="230762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8 个项目 / 事项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343650" y="1885950"/>
              <a:ext cx="2590800" cy="1123950"/>
            </a:xfrm>
            <a:custGeom>
              <a:avLst/>
              <a:gdLst/>
              <a:ahLst/>
              <a:cxnLst/>
              <a:rect l="l" t="t" r="r" b="b"/>
              <a:pathLst>
                <a:path w="2590800" h="1123950">
                  <a:moveTo>
                    <a:pt x="114300" y="0"/>
                  </a:moveTo>
                  <a:lnTo>
                    <a:pt x="2476500" y="0"/>
                  </a:lnTo>
                  <a:cubicBezTo>
                    <a:pt x="2539626" y="0"/>
                    <a:pt x="2590800" y="51174"/>
                    <a:pt x="2590800" y="114300"/>
                  </a:cubicBezTo>
                  <a:lnTo>
                    <a:pt x="2590800" y="1009650"/>
                  </a:lnTo>
                  <a:cubicBezTo>
                    <a:pt x="2590800" y="1072776"/>
                    <a:pt x="2539626" y="1123950"/>
                    <a:pt x="2476500" y="1123950"/>
                  </a:cubicBezTo>
                  <a:lnTo>
                    <a:pt x="114300" y="1123950"/>
                  </a:lnTo>
                  <a:cubicBezTo>
                    <a:pt x="51174" y="1123950"/>
                    <a:pt x="0" y="1072776"/>
                    <a:pt x="0" y="10096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BEF"/>
            </a:solidFill>
            <a:ln w="11430">
              <a:solidFill>
                <a:srgbClr val="CFE1A8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6496050" y="20383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0" y="0"/>
                  </a:moveTo>
                  <a:lnTo>
                    <a:pt x="381000" y="0"/>
                  </a:lnTo>
                  <a:cubicBezTo>
                    <a:pt x="423084" y="0"/>
                    <a:pt x="457200" y="34116"/>
                    <a:pt x="457200" y="76200"/>
                  </a:cubicBezTo>
                  <a:lnTo>
                    <a:pt x="457200" y="381000"/>
                  </a:lnTo>
                  <a:cubicBezTo>
                    <a:pt x="457200" y="423084"/>
                    <a:pt x="423084" y="457200"/>
                    <a:pt x="381000" y="457200"/>
                  </a:cubicBezTo>
                  <a:lnTo>
                    <a:pt x="76200" y="457200"/>
                  </a:lnTo>
                  <a:cubicBezTo>
                    <a:pt x="34116" y="457200"/>
                    <a:pt x="0" y="423084"/>
                    <a:pt x="0" y="381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88C100">
                <a:alpha val="14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88505" y="210216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按期交付率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45580" y="2535555"/>
              <a:ext cx="68131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100%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9239250" y="1885950"/>
              <a:ext cx="2590800" cy="1123950"/>
            </a:xfrm>
            <a:custGeom>
              <a:avLst/>
              <a:gdLst/>
              <a:ahLst/>
              <a:cxnLst/>
              <a:rect l="l" t="t" r="r" b="b"/>
              <a:pathLst>
                <a:path w="2590800" h="1123950">
                  <a:moveTo>
                    <a:pt x="114300" y="0"/>
                  </a:moveTo>
                  <a:lnTo>
                    <a:pt x="2476500" y="0"/>
                  </a:lnTo>
                  <a:cubicBezTo>
                    <a:pt x="2539626" y="0"/>
                    <a:pt x="2590800" y="51174"/>
                    <a:pt x="2590800" y="114300"/>
                  </a:cubicBezTo>
                  <a:lnTo>
                    <a:pt x="2590800" y="1009650"/>
                  </a:lnTo>
                  <a:cubicBezTo>
                    <a:pt x="2590800" y="1072776"/>
                    <a:pt x="2539626" y="1123950"/>
                    <a:pt x="2476500" y="1123950"/>
                  </a:cubicBezTo>
                  <a:lnTo>
                    <a:pt x="114300" y="1123950"/>
                  </a:lnTo>
                  <a:cubicBezTo>
                    <a:pt x="51174" y="1123950"/>
                    <a:pt x="0" y="1072776"/>
                    <a:pt x="0" y="10096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BEF"/>
            </a:solidFill>
            <a:ln w="11430">
              <a:solidFill>
                <a:srgbClr val="CFE1A8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391650" y="20383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0" y="0"/>
                  </a:moveTo>
                  <a:lnTo>
                    <a:pt x="381000" y="0"/>
                  </a:lnTo>
                  <a:cubicBezTo>
                    <a:pt x="423084" y="0"/>
                    <a:pt x="457200" y="34116"/>
                    <a:pt x="457200" y="76200"/>
                  </a:cubicBezTo>
                  <a:lnTo>
                    <a:pt x="457200" y="381000"/>
                  </a:lnTo>
                  <a:cubicBezTo>
                    <a:pt x="457200" y="423084"/>
                    <a:pt x="423084" y="457200"/>
                    <a:pt x="381000" y="457200"/>
                  </a:cubicBezTo>
                  <a:lnTo>
                    <a:pt x="76200" y="457200"/>
                  </a:lnTo>
                  <a:cubicBezTo>
                    <a:pt x="34116" y="457200"/>
                    <a:pt x="0" y="423084"/>
                    <a:pt x="0" y="381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88C100">
                <a:alpha val="14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84105" y="21021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查询优化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41180" y="2535555"/>
              <a:ext cx="172794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8s → 500ms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552450" y="3276600"/>
              <a:ext cx="2590800" cy="1123950"/>
            </a:xfrm>
            <a:custGeom>
              <a:avLst/>
              <a:gdLst/>
              <a:ahLst/>
              <a:cxnLst/>
              <a:rect l="l" t="t" r="r" b="b"/>
              <a:pathLst>
                <a:path w="2590800" h="1123950">
                  <a:moveTo>
                    <a:pt x="114300" y="0"/>
                  </a:moveTo>
                  <a:lnTo>
                    <a:pt x="2476500" y="0"/>
                  </a:lnTo>
                  <a:cubicBezTo>
                    <a:pt x="2539626" y="0"/>
                    <a:pt x="2590800" y="51174"/>
                    <a:pt x="2590800" y="114300"/>
                  </a:cubicBezTo>
                  <a:lnTo>
                    <a:pt x="2590800" y="1009650"/>
                  </a:lnTo>
                  <a:cubicBezTo>
                    <a:pt x="2590800" y="1072776"/>
                    <a:pt x="2539626" y="1123950"/>
                    <a:pt x="2476500" y="1123950"/>
                  </a:cubicBezTo>
                  <a:lnTo>
                    <a:pt x="114300" y="1123950"/>
                  </a:lnTo>
                  <a:cubicBezTo>
                    <a:pt x="51174" y="1123950"/>
                    <a:pt x="0" y="1072776"/>
                    <a:pt x="0" y="10096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BEF"/>
            </a:solidFill>
            <a:ln w="11430">
              <a:solidFill>
                <a:srgbClr val="CFE1A8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0485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0" y="0"/>
                  </a:moveTo>
                  <a:lnTo>
                    <a:pt x="381000" y="0"/>
                  </a:lnTo>
                  <a:cubicBezTo>
                    <a:pt x="423084" y="0"/>
                    <a:pt x="457200" y="34116"/>
                    <a:pt x="457200" y="76200"/>
                  </a:cubicBezTo>
                  <a:lnTo>
                    <a:pt x="457200" y="381000"/>
                  </a:lnTo>
                  <a:cubicBezTo>
                    <a:pt x="457200" y="423084"/>
                    <a:pt x="423084" y="457200"/>
                    <a:pt x="381000" y="457200"/>
                  </a:cubicBezTo>
                  <a:lnTo>
                    <a:pt x="76200" y="457200"/>
                  </a:lnTo>
                  <a:cubicBezTo>
                    <a:pt x="34116" y="457200"/>
                    <a:pt x="0" y="423084"/>
                    <a:pt x="0" y="381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88C100">
                <a:alpha val="14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297305" y="34928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节日活动首期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4380" y="3926205"/>
              <a:ext cx="235592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19 个工作日上线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3448050" y="3276600"/>
              <a:ext cx="2590800" cy="1123950"/>
            </a:xfrm>
            <a:custGeom>
              <a:avLst/>
              <a:gdLst/>
              <a:ahLst/>
              <a:cxnLst/>
              <a:rect l="l" t="t" r="r" b="b"/>
              <a:pathLst>
                <a:path w="2590800" h="1123950">
                  <a:moveTo>
                    <a:pt x="114300" y="0"/>
                  </a:moveTo>
                  <a:lnTo>
                    <a:pt x="2476500" y="0"/>
                  </a:lnTo>
                  <a:cubicBezTo>
                    <a:pt x="2539626" y="0"/>
                    <a:pt x="2590800" y="51174"/>
                    <a:pt x="2590800" y="114300"/>
                  </a:cubicBezTo>
                  <a:lnTo>
                    <a:pt x="2590800" y="1009650"/>
                  </a:lnTo>
                  <a:cubicBezTo>
                    <a:pt x="2590800" y="1072776"/>
                    <a:pt x="2539626" y="1123950"/>
                    <a:pt x="2476500" y="1123950"/>
                  </a:cubicBezTo>
                  <a:lnTo>
                    <a:pt x="114300" y="1123950"/>
                  </a:lnTo>
                  <a:cubicBezTo>
                    <a:pt x="51174" y="1123950"/>
                    <a:pt x="0" y="1072776"/>
                    <a:pt x="0" y="10096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BEF"/>
            </a:solidFill>
            <a:ln w="11430">
              <a:solidFill>
                <a:srgbClr val="CFE1A8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360045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0" y="0"/>
                  </a:moveTo>
                  <a:lnTo>
                    <a:pt x="381000" y="0"/>
                  </a:lnTo>
                  <a:cubicBezTo>
                    <a:pt x="423084" y="0"/>
                    <a:pt x="457200" y="34116"/>
                    <a:pt x="457200" y="76200"/>
                  </a:cubicBezTo>
                  <a:lnTo>
                    <a:pt x="457200" y="381000"/>
                  </a:lnTo>
                  <a:cubicBezTo>
                    <a:pt x="457200" y="423084"/>
                    <a:pt x="423084" y="457200"/>
                    <a:pt x="381000" y="457200"/>
                  </a:cubicBezTo>
                  <a:lnTo>
                    <a:pt x="76200" y="457200"/>
                  </a:lnTo>
                  <a:cubicBezTo>
                    <a:pt x="34116" y="457200"/>
                    <a:pt x="0" y="423084"/>
                    <a:pt x="0" y="381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88C100">
                <a:alpha val="14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192905" y="34928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积分提醒覆盖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649980" y="3926205"/>
              <a:ext cx="156692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40w+ 用户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6343650" y="3276600"/>
              <a:ext cx="2590800" cy="1123950"/>
            </a:xfrm>
            <a:custGeom>
              <a:avLst/>
              <a:gdLst/>
              <a:ahLst/>
              <a:cxnLst/>
              <a:rect l="l" t="t" r="r" b="b"/>
              <a:pathLst>
                <a:path w="2590800" h="1123950">
                  <a:moveTo>
                    <a:pt x="114300" y="0"/>
                  </a:moveTo>
                  <a:lnTo>
                    <a:pt x="2476500" y="0"/>
                  </a:lnTo>
                  <a:cubicBezTo>
                    <a:pt x="2539626" y="0"/>
                    <a:pt x="2590800" y="51174"/>
                    <a:pt x="2590800" y="114300"/>
                  </a:cubicBezTo>
                  <a:lnTo>
                    <a:pt x="2590800" y="1009650"/>
                  </a:lnTo>
                  <a:cubicBezTo>
                    <a:pt x="2590800" y="1072776"/>
                    <a:pt x="2539626" y="1123950"/>
                    <a:pt x="2476500" y="1123950"/>
                  </a:cubicBezTo>
                  <a:lnTo>
                    <a:pt x="114300" y="1123950"/>
                  </a:lnTo>
                  <a:cubicBezTo>
                    <a:pt x="51174" y="1123950"/>
                    <a:pt x="0" y="1072776"/>
                    <a:pt x="0" y="10096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BEF"/>
            </a:solidFill>
            <a:ln w="11430">
              <a:solidFill>
                <a:srgbClr val="CFE1A8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6496050" y="3429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0" y="0"/>
                  </a:moveTo>
                  <a:lnTo>
                    <a:pt x="381000" y="0"/>
                  </a:lnTo>
                  <a:cubicBezTo>
                    <a:pt x="423084" y="0"/>
                    <a:pt x="457200" y="34116"/>
                    <a:pt x="457200" y="76200"/>
                  </a:cubicBezTo>
                  <a:lnTo>
                    <a:pt x="457200" y="381000"/>
                  </a:lnTo>
                  <a:cubicBezTo>
                    <a:pt x="457200" y="423084"/>
                    <a:pt x="423084" y="457200"/>
                    <a:pt x="381000" y="457200"/>
                  </a:cubicBezTo>
                  <a:lnTo>
                    <a:pt x="76200" y="457200"/>
                  </a:lnTo>
                  <a:cubicBezTo>
                    <a:pt x="34116" y="457200"/>
                    <a:pt x="0" y="423084"/>
                    <a:pt x="0" y="381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88C100">
                <a:alpha val="14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88505" y="34928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转盘配置化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45580" y="3926205"/>
              <a:ext cx="129319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1 天 → 2h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9239250" y="3276600"/>
              <a:ext cx="2209800" cy="1123950"/>
            </a:xfrm>
            <a:custGeom>
              <a:avLst/>
              <a:gdLst/>
              <a:ahLst/>
              <a:cxnLst/>
              <a:rect l="l" t="t" r="r" b="b"/>
              <a:pathLst>
                <a:path w="2209800" h="1123950">
                  <a:moveTo>
                    <a:pt x="114300" y="0"/>
                  </a:moveTo>
                  <a:lnTo>
                    <a:pt x="2095500" y="0"/>
                  </a:lnTo>
                  <a:cubicBezTo>
                    <a:pt x="2158626" y="0"/>
                    <a:pt x="2209800" y="51174"/>
                    <a:pt x="2209800" y="114300"/>
                  </a:cubicBezTo>
                  <a:lnTo>
                    <a:pt x="2209800" y="1009650"/>
                  </a:lnTo>
                  <a:cubicBezTo>
                    <a:pt x="2209800" y="1072776"/>
                    <a:pt x="2158626" y="1123950"/>
                    <a:pt x="2095500" y="1123950"/>
                  </a:cubicBezTo>
                  <a:lnTo>
                    <a:pt x="114300" y="1123950"/>
                  </a:lnTo>
                  <a:cubicBezTo>
                    <a:pt x="51174" y="1123950"/>
                    <a:pt x="0" y="1072776"/>
                    <a:pt x="0" y="10096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88C100">
                <a:alpha val="8000"/>
              </a:srgbClr>
            </a:solidFill>
            <a:ln w="11430">
              <a:solidFill>
                <a:srgbClr val="CFE1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429750" y="343852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结果覆盖面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427845" y="3784282"/>
              <a:ext cx="5479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交付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427845" y="4050982"/>
              <a:ext cx="5479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效率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427845" y="4317682"/>
              <a:ext cx="5479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影响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27845" y="458438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复用沉淀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533400" y="5295900"/>
              <a:ext cx="11125200" cy="323850"/>
            </a:xfrm>
            <a:custGeom>
              <a:avLst/>
              <a:gdLst/>
              <a:ahLst/>
              <a:cxnLst/>
              <a:rect l="l" t="t" r="r" b="b"/>
              <a:pathLst>
                <a:path w="11125200" h="323850">
                  <a:moveTo>
                    <a:pt x="76200" y="0"/>
                  </a:moveTo>
                  <a:lnTo>
                    <a:pt x="11049000" y="0"/>
                  </a:lnTo>
                  <a:cubicBezTo>
                    <a:pt x="11091084" y="0"/>
                    <a:pt x="11125200" y="34116"/>
                    <a:pt x="11125200" y="76200"/>
                  </a:cubicBezTo>
                  <a:lnTo>
                    <a:pt x="11125200" y="247650"/>
                  </a:lnTo>
                  <a:cubicBezTo>
                    <a:pt x="11125200" y="289734"/>
                    <a:pt x="11091084" y="323850"/>
                    <a:pt x="1104900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6FBE8"/>
            </a:solidFill>
            <a:ln w="9525">
              <a:solidFill>
                <a:srgbClr val="CFE1A8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533400" y="5295900"/>
              <a:ext cx="57150" cy="323850"/>
            </a:xfrm>
            <a:custGeom>
              <a:avLst/>
              <a:gdLst/>
              <a:ahLst/>
              <a:cxnLst/>
              <a:rect l="l" t="t" r="r" b="b"/>
              <a:pathLst>
                <a:path w="57150" h="3238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295275"/>
                  </a:lnTo>
                  <a:cubicBezTo>
                    <a:pt x="57150" y="311057"/>
                    <a:pt x="44357" y="323850"/>
                    <a:pt x="28575" y="323850"/>
                  </a:cubicBezTo>
                  <a:lnTo>
                    <a:pt x="28575" y="323850"/>
                  </a:lnTo>
                  <a:cubicBezTo>
                    <a:pt x="12793" y="323850"/>
                    <a:pt x="0" y="311057"/>
                    <a:pt x="0" y="2952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06755" y="5369242"/>
              <a:ext cx="64520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结果同时覆盖交付、效率、影响和复用价值，整体履职结果达到预期。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58" name="Rectangle 58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59" name="Line 59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07670" y="6341745"/>
              <a:ext cx="20734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slide_copy_compact.md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08622" y="6578441"/>
              <a:ext cx="14668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指标页按模板卡片规范生成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四、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7304889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关键案例一｜圣诞与新年活动高压交付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2180" y="508635"/>
              <a:ext cx="1432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关键问题突破举例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47934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在时间紧、范围大、协同复杂的条件下，完成四期活动稳定落地。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81000" y="1676400"/>
            <a:ext cx="11430000" cy="4095750"/>
            <a:chOff x="381000" y="1676400"/>
            <a:chExt cx="11430000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8E7B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885950"/>
              <a:ext cx="2057400" cy="990600"/>
            </a:xfrm>
            <a:custGeom>
              <a:avLst/>
              <a:gdLst/>
              <a:ahLst/>
              <a:cxnLst/>
              <a:rect l="l" t="t" r="r" b="b"/>
              <a:pathLst>
                <a:path w="2057400" h="990600">
                  <a:moveTo>
                    <a:pt x="114300" y="0"/>
                  </a:moveTo>
                  <a:lnTo>
                    <a:pt x="1943100" y="0"/>
                  </a:lnTo>
                  <a:cubicBezTo>
                    <a:pt x="2006226" y="0"/>
                    <a:pt x="2057400" y="51174"/>
                    <a:pt x="2057400" y="114300"/>
                  </a:cubicBezTo>
                  <a:lnTo>
                    <a:pt x="2057400" y="876300"/>
                  </a:lnTo>
                  <a:cubicBezTo>
                    <a:pt x="2057400" y="939426"/>
                    <a:pt x="2006226" y="990600"/>
                    <a:pt x="1943100" y="990600"/>
                  </a:cubicBezTo>
                  <a:lnTo>
                    <a:pt x="114300" y="990600"/>
                  </a:lnTo>
                  <a:cubicBezTo>
                    <a:pt x="51174" y="990600"/>
                    <a:pt x="0" y="939426"/>
                    <a:pt x="0" y="876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BEF"/>
            </a:solidFill>
            <a:ln w="11430">
              <a:solidFill>
                <a:srgbClr val="CFE1A8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704850" y="20383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0" y="0"/>
                  </a:moveTo>
                  <a:lnTo>
                    <a:pt x="381000" y="0"/>
                  </a:lnTo>
                  <a:cubicBezTo>
                    <a:pt x="423084" y="0"/>
                    <a:pt x="457200" y="34116"/>
                    <a:pt x="457200" y="76200"/>
                  </a:cubicBezTo>
                  <a:lnTo>
                    <a:pt x="457200" y="381000"/>
                  </a:lnTo>
                  <a:cubicBezTo>
                    <a:pt x="457200" y="423084"/>
                    <a:pt x="423084" y="457200"/>
                    <a:pt x="381000" y="457200"/>
                  </a:cubicBezTo>
                  <a:lnTo>
                    <a:pt x="76200" y="457200"/>
                  </a:lnTo>
                  <a:cubicBezTo>
                    <a:pt x="34116" y="457200"/>
                    <a:pt x="0" y="423084"/>
                    <a:pt x="0" y="381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88C100">
                <a:alpha val="14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97305" y="21021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项目周期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4380" y="2535555"/>
              <a:ext cx="266186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2025.11 - 2025.12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2781300" y="1885950"/>
              <a:ext cx="2057400" cy="990600"/>
            </a:xfrm>
            <a:custGeom>
              <a:avLst/>
              <a:gdLst/>
              <a:ahLst/>
              <a:cxnLst/>
              <a:rect l="l" t="t" r="r" b="b"/>
              <a:pathLst>
                <a:path w="2057400" h="990600">
                  <a:moveTo>
                    <a:pt x="114300" y="0"/>
                  </a:moveTo>
                  <a:lnTo>
                    <a:pt x="1943100" y="0"/>
                  </a:lnTo>
                  <a:cubicBezTo>
                    <a:pt x="2006226" y="0"/>
                    <a:pt x="2057400" y="51174"/>
                    <a:pt x="2057400" y="114300"/>
                  </a:cubicBezTo>
                  <a:lnTo>
                    <a:pt x="2057400" y="876300"/>
                  </a:lnTo>
                  <a:cubicBezTo>
                    <a:pt x="2057400" y="939426"/>
                    <a:pt x="2006226" y="990600"/>
                    <a:pt x="1943100" y="990600"/>
                  </a:cubicBezTo>
                  <a:lnTo>
                    <a:pt x="114300" y="990600"/>
                  </a:lnTo>
                  <a:cubicBezTo>
                    <a:pt x="51174" y="990600"/>
                    <a:pt x="0" y="939426"/>
                    <a:pt x="0" y="876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BEF"/>
            </a:solidFill>
            <a:ln w="11430">
              <a:solidFill>
                <a:srgbClr val="CFE1A8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2933700" y="20383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0" y="0"/>
                  </a:moveTo>
                  <a:lnTo>
                    <a:pt x="381000" y="0"/>
                  </a:lnTo>
                  <a:cubicBezTo>
                    <a:pt x="423084" y="0"/>
                    <a:pt x="457200" y="34116"/>
                    <a:pt x="457200" y="76200"/>
                  </a:cubicBezTo>
                  <a:lnTo>
                    <a:pt x="457200" y="381000"/>
                  </a:lnTo>
                  <a:cubicBezTo>
                    <a:pt x="457200" y="423084"/>
                    <a:pt x="423084" y="457200"/>
                    <a:pt x="381000" y="457200"/>
                  </a:cubicBezTo>
                  <a:lnTo>
                    <a:pt x="76200" y="457200"/>
                  </a:lnTo>
                  <a:cubicBezTo>
                    <a:pt x="34116" y="457200"/>
                    <a:pt x="0" y="423084"/>
                    <a:pt x="0" y="381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88C100">
                <a:alpha val="14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526155" y="21021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一期上线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83230" y="2535555"/>
              <a:ext cx="171184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19 个工作日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5010150" y="1885950"/>
              <a:ext cx="2057400" cy="990600"/>
            </a:xfrm>
            <a:custGeom>
              <a:avLst/>
              <a:gdLst/>
              <a:ahLst/>
              <a:cxnLst/>
              <a:rect l="l" t="t" r="r" b="b"/>
              <a:pathLst>
                <a:path w="2057400" h="990600">
                  <a:moveTo>
                    <a:pt x="114300" y="0"/>
                  </a:moveTo>
                  <a:lnTo>
                    <a:pt x="1943100" y="0"/>
                  </a:lnTo>
                  <a:cubicBezTo>
                    <a:pt x="2006226" y="0"/>
                    <a:pt x="2057400" y="51174"/>
                    <a:pt x="2057400" y="114300"/>
                  </a:cubicBezTo>
                  <a:lnTo>
                    <a:pt x="2057400" y="876300"/>
                  </a:lnTo>
                  <a:cubicBezTo>
                    <a:pt x="2057400" y="939426"/>
                    <a:pt x="2006226" y="990600"/>
                    <a:pt x="1943100" y="990600"/>
                  </a:cubicBezTo>
                  <a:lnTo>
                    <a:pt x="114300" y="990600"/>
                  </a:lnTo>
                  <a:cubicBezTo>
                    <a:pt x="51174" y="990600"/>
                    <a:pt x="0" y="939426"/>
                    <a:pt x="0" y="876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BEF"/>
            </a:solidFill>
            <a:ln w="11430">
              <a:solidFill>
                <a:srgbClr val="CFE1A8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5162550" y="20383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0" y="0"/>
                  </a:moveTo>
                  <a:lnTo>
                    <a:pt x="381000" y="0"/>
                  </a:lnTo>
                  <a:cubicBezTo>
                    <a:pt x="423084" y="0"/>
                    <a:pt x="457200" y="34116"/>
                    <a:pt x="457200" y="76200"/>
                  </a:cubicBezTo>
                  <a:lnTo>
                    <a:pt x="457200" y="381000"/>
                  </a:lnTo>
                  <a:cubicBezTo>
                    <a:pt x="457200" y="423084"/>
                    <a:pt x="423084" y="457200"/>
                    <a:pt x="381000" y="457200"/>
                  </a:cubicBezTo>
                  <a:lnTo>
                    <a:pt x="76200" y="457200"/>
                  </a:lnTo>
                  <a:cubicBezTo>
                    <a:pt x="34116" y="457200"/>
                    <a:pt x="0" y="423084"/>
                    <a:pt x="0" y="381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88C100">
                <a:alpha val="14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755005" y="21021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项目投入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12080" y="2535555"/>
              <a:ext cx="225931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4 后端 + 3 前端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7239000" y="1885950"/>
              <a:ext cx="4210050" cy="990600"/>
            </a:xfrm>
            <a:custGeom>
              <a:avLst/>
              <a:gdLst/>
              <a:ahLst/>
              <a:cxnLst/>
              <a:rect l="l" t="t" r="r" b="b"/>
              <a:pathLst>
                <a:path w="4210050" h="990600">
                  <a:moveTo>
                    <a:pt x="114300" y="0"/>
                  </a:moveTo>
                  <a:lnTo>
                    <a:pt x="4095750" y="0"/>
                  </a:lnTo>
                  <a:cubicBezTo>
                    <a:pt x="4158876" y="0"/>
                    <a:pt x="4210050" y="51174"/>
                    <a:pt x="4210050" y="114300"/>
                  </a:cubicBezTo>
                  <a:lnTo>
                    <a:pt x="4210050" y="876300"/>
                  </a:lnTo>
                  <a:cubicBezTo>
                    <a:pt x="4210050" y="939426"/>
                    <a:pt x="4158876" y="990600"/>
                    <a:pt x="4095750" y="990600"/>
                  </a:cubicBezTo>
                  <a:lnTo>
                    <a:pt x="114300" y="990600"/>
                  </a:lnTo>
                  <a:cubicBezTo>
                    <a:pt x="51174" y="990600"/>
                    <a:pt x="0" y="939426"/>
                    <a:pt x="0" y="876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BEF"/>
            </a:solidFill>
            <a:ln w="11430">
              <a:solidFill>
                <a:srgbClr val="CFE1A8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391400" y="20383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0" y="0"/>
                  </a:moveTo>
                  <a:lnTo>
                    <a:pt x="381000" y="0"/>
                  </a:lnTo>
                  <a:cubicBezTo>
                    <a:pt x="423084" y="0"/>
                    <a:pt x="457200" y="34116"/>
                    <a:pt x="457200" y="76200"/>
                  </a:cubicBezTo>
                  <a:lnTo>
                    <a:pt x="457200" y="381000"/>
                  </a:lnTo>
                  <a:cubicBezTo>
                    <a:pt x="457200" y="423084"/>
                    <a:pt x="423084" y="457200"/>
                    <a:pt x="381000" y="457200"/>
                  </a:cubicBezTo>
                  <a:lnTo>
                    <a:pt x="76200" y="457200"/>
                  </a:lnTo>
                  <a:cubicBezTo>
                    <a:pt x="34116" y="457200"/>
                    <a:pt x="0" y="423084"/>
                    <a:pt x="0" y="381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88C100">
                <a:alpha val="14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83855" y="21021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个人角色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40930" y="2535555"/>
              <a:ext cx="332204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项目负责人 + 核心研发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552450" y="3086100"/>
              <a:ext cx="2571750" cy="1828800"/>
            </a:xfrm>
            <a:custGeom>
              <a:avLst/>
              <a:gdLst/>
              <a:ahLst/>
              <a:cxnLst/>
              <a:rect l="l" t="t" r="r" b="b"/>
              <a:pathLst>
                <a:path w="2571750" h="182880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1733550"/>
                  </a:lnTo>
                  <a:cubicBezTo>
                    <a:pt x="2571750" y="1786155"/>
                    <a:pt x="2529105" y="1828800"/>
                    <a:pt x="2476500" y="1828800"/>
                  </a:cubicBezTo>
                  <a:lnTo>
                    <a:pt x="95250" y="1828800"/>
                  </a:lnTo>
                  <a:cubicBezTo>
                    <a:pt x="42645" y="1828800"/>
                    <a:pt x="0" y="1786155"/>
                    <a:pt x="0" y="17335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552450" y="308610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23900" y="3248025"/>
              <a:ext cx="106172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Situation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5805" y="3626168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时间紧、范围大、协同复杂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5805" y="3892868"/>
              <a:ext cx="14440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活动分 4 期推进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5805" y="4159568"/>
              <a:ext cx="2794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需要兼顾拉新、活跃、转化目标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3295650" y="3086100"/>
              <a:ext cx="2571750" cy="1828800"/>
            </a:xfrm>
            <a:custGeom>
              <a:avLst/>
              <a:gdLst/>
              <a:ahLst/>
              <a:cxnLst/>
              <a:rect l="l" t="t" r="r" b="b"/>
              <a:pathLst>
                <a:path w="2571750" h="182880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1733550"/>
                  </a:lnTo>
                  <a:cubicBezTo>
                    <a:pt x="2571750" y="1786155"/>
                    <a:pt x="2529105" y="1828800"/>
                    <a:pt x="2476500" y="1828800"/>
                  </a:cubicBezTo>
                  <a:lnTo>
                    <a:pt x="95250" y="1828800"/>
                  </a:lnTo>
                  <a:cubicBezTo>
                    <a:pt x="42645" y="1828800"/>
                    <a:pt x="0" y="1786155"/>
                    <a:pt x="0" y="17335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3295650" y="308610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467100" y="3248025"/>
              <a:ext cx="544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Task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469005" y="3626168"/>
              <a:ext cx="12172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拆解发布节奏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469005" y="3892868"/>
              <a:ext cx="1808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协调前后端与业务方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469005" y="415956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承担关键模块研发与风险兜底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6038850" y="3086100"/>
              <a:ext cx="2571750" cy="1828800"/>
            </a:xfrm>
            <a:custGeom>
              <a:avLst/>
              <a:gdLst/>
              <a:ahLst/>
              <a:cxnLst/>
              <a:rect l="l" t="t" r="r" b="b"/>
              <a:pathLst>
                <a:path w="2571750" h="182880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1733550"/>
                  </a:lnTo>
                  <a:cubicBezTo>
                    <a:pt x="2571750" y="1786155"/>
                    <a:pt x="2529105" y="1828800"/>
                    <a:pt x="2476500" y="1828800"/>
                  </a:cubicBezTo>
                  <a:lnTo>
                    <a:pt x="95250" y="1828800"/>
                  </a:lnTo>
                  <a:cubicBezTo>
                    <a:pt x="42645" y="1828800"/>
                    <a:pt x="0" y="1786155"/>
                    <a:pt x="0" y="17335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6038850" y="308610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10300" y="3248025"/>
              <a:ext cx="73968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Action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12205" y="3626168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识别核心链路和里程碑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12205" y="3892868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按期推进联调、提测、上线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12205" y="4159568"/>
              <a:ext cx="1808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保障每一期可控交付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8782050" y="3086100"/>
              <a:ext cx="2667000" cy="1828800"/>
            </a:xfrm>
            <a:custGeom>
              <a:avLst/>
              <a:gdLst/>
              <a:ahLst/>
              <a:cxnLst/>
              <a:rect l="l" t="t" r="r" b="b"/>
              <a:pathLst>
                <a:path w="2667000" h="1828800">
                  <a:moveTo>
                    <a:pt x="95250" y="0"/>
                  </a:moveTo>
                  <a:lnTo>
                    <a:pt x="2571750" y="0"/>
                  </a:lnTo>
                  <a:cubicBezTo>
                    <a:pt x="2624355" y="0"/>
                    <a:pt x="2667000" y="42645"/>
                    <a:pt x="2667000" y="95250"/>
                  </a:cubicBezTo>
                  <a:lnTo>
                    <a:pt x="2667000" y="1733550"/>
                  </a:lnTo>
                  <a:cubicBezTo>
                    <a:pt x="2667000" y="1786155"/>
                    <a:pt x="2624355" y="1828800"/>
                    <a:pt x="2571750" y="1828800"/>
                  </a:cubicBezTo>
                  <a:lnTo>
                    <a:pt x="95250" y="1828800"/>
                  </a:lnTo>
                  <a:cubicBezTo>
                    <a:pt x="42645" y="1828800"/>
                    <a:pt x="0" y="1786155"/>
                    <a:pt x="0" y="17335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8782050" y="3086100"/>
              <a:ext cx="2667000" cy="76200"/>
            </a:xfrm>
            <a:custGeom>
              <a:avLst/>
              <a:gdLst/>
              <a:ahLst/>
              <a:cxnLst/>
              <a:rect l="l" t="t" r="r" b="b"/>
              <a:pathLst>
                <a:path w="2667000" h="76200">
                  <a:moveTo>
                    <a:pt x="38100" y="0"/>
                  </a:moveTo>
                  <a:lnTo>
                    <a:pt x="2628900" y="0"/>
                  </a:lnTo>
                  <a:cubicBezTo>
                    <a:pt x="2649942" y="0"/>
                    <a:pt x="2667000" y="17058"/>
                    <a:pt x="2667000" y="38100"/>
                  </a:cubicBezTo>
                  <a:lnTo>
                    <a:pt x="2667000" y="38100"/>
                  </a:lnTo>
                  <a:cubicBezTo>
                    <a:pt x="2667000" y="59142"/>
                    <a:pt x="2649942" y="76200"/>
                    <a:pt x="26289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953500" y="3248025"/>
              <a:ext cx="73968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Result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955405" y="3626168"/>
              <a:ext cx="19665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12.23 完成第四期发布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955405" y="3892868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在高压项目中稳定交付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955405" y="4159568"/>
              <a:ext cx="22031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兼顾节奏统筹与研发质量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533400" y="5295900"/>
              <a:ext cx="11125200" cy="323850"/>
            </a:xfrm>
            <a:custGeom>
              <a:avLst/>
              <a:gdLst/>
              <a:ahLst/>
              <a:cxnLst/>
              <a:rect l="l" t="t" r="r" b="b"/>
              <a:pathLst>
                <a:path w="11125200" h="323850">
                  <a:moveTo>
                    <a:pt x="76200" y="0"/>
                  </a:moveTo>
                  <a:lnTo>
                    <a:pt x="11049000" y="0"/>
                  </a:lnTo>
                  <a:cubicBezTo>
                    <a:pt x="11091084" y="0"/>
                    <a:pt x="11125200" y="34116"/>
                    <a:pt x="11125200" y="76200"/>
                  </a:cubicBezTo>
                  <a:lnTo>
                    <a:pt x="11125200" y="247650"/>
                  </a:lnTo>
                  <a:cubicBezTo>
                    <a:pt x="11125200" y="289734"/>
                    <a:pt x="11091084" y="323850"/>
                    <a:pt x="1104900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6FBE8"/>
            </a:solidFill>
            <a:ln w="9525">
              <a:solidFill>
                <a:srgbClr val="CFE1A8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533400" y="5295900"/>
              <a:ext cx="57150" cy="323850"/>
            </a:xfrm>
            <a:custGeom>
              <a:avLst/>
              <a:gdLst/>
              <a:ahLst/>
              <a:cxnLst/>
              <a:rect l="l" t="t" r="r" b="b"/>
              <a:pathLst>
                <a:path w="57150" h="3238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295275"/>
                  </a:lnTo>
                  <a:cubicBezTo>
                    <a:pt x="57150" y="311057"/>
                    <a:pt x="44357" y="323850"/>
                    <a:pt x="28575" y="323850"/>
                  </a:cubicBezTo>
                  <a:lnTo>
                    <a:pt x="28575" y="323850"/>
                  </a:lnTo>
                  <a:cubicBezTo>
                    <a:pt x="12793" y="323850"/>
                    <a:pt x="0" y="311057"/>
                    <a:pt x="0" y="2952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6755" y="5369242"/>
              <a:ext cx="81082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最终按计划完成四期节日活动落地，证明自己不仅能写代码，也能在高压项目中扛结果。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64" name="Rectangle 64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65" name="Line 65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07670" y="6341745"/>
              <a:ext cx="20734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slide_copy_compact.md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08622" y="6578441"/>
              <a:ext cx="14427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案例页采用 STAR 卡片结构</a:t>
              </a:r>
            </a:p>
          </p:txBody>
        </p:sp>
        <p:sp>
          <p:nvSpPr>
            <p:cNvPr id="68" name="Freeform 68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五、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7241056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关键案例二｜规则引擎从0到1独立建设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2180" y="508635"/>
              <a:ext cx="1432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关键问题突破举例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52863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从原型、文档到系统实现形成完整闭环，证明独立建设复杂系统的能力。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81000" y="1676400"/>
            <a:ext cx="11887676" cy="4095750"/>
            <a:chOff x="381000" y="1676400"/>
            <a:chExt cx="11887676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8E7B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885950"/>
              <a:ext cx="10896600" cy="1143000"/>
            </a:xfrm>
            <a:custGeom>
              <a:avLst/>
              <a:gdLst/>
              <a:ahLst/>
              <a:cxnLst/>
              <a:rect l="l" t="t" r="r" b="b"/>
              <a:pathLst>
                <a:path w="10896600" h="1143000">
                  <a:moveTo>
                    <a:pt x="114300" y="0"/>
                  </a:moveTo>
                  <a:lnTo>
                    <a:pt x="10782300" y="0"/>
                  </a:lnTo>
                  <a:cubicBezTo>
                    <a:pt x="10845426" y="0"/>
                    <a:pt x="10896600" y="51174"/>
                    <a:pt x="10896600" y="114300"/>
                  </a:cubicBezTo>
                  <a:lnTo>
                    <a:pt x="10896600" y="1028700"/>
                  </a:lnTo>
                  <a:cubicBezTo>
                    <a:pt x="10896600" y="1091826"/>
                    <a:pt x="10845426" y="1143000"/>
                    <a:pt x="10782300" y="1143000"/>
                  </a:cubicBezTo>
                  <a:lnTo>
                    <a:pt x="114300" y="1143000"/>
                  </a:lnTo>
                  <a:cubicBezTo>
                    <a:pt x="51174" y="1143000"/>
                    <a:pt x="0" y="1091826"/>
                    <a:pt x="0" y="102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8FBEF"/>
            </a:solidFill>
            <a:ln w="11430">
              <a:solidFill>
                <a:srgbClr val="CFE1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4385" y="2056448"/>
              <a:ext cx="961872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从原型、文档到系统实现形成完整闭环，证明独立建设复杂系统的能力。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0100" y="2486025"/>
              <a:ext cx="6172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系统能力覆盖：调用集、规则链、规则测试执行、多环境管理。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552450" y="3238500"/>
              <a:ext cx="2419350" cy="1638300"/>
            </a:xfrm>
            <a:custGeom>
              <a:avLst/>
              <a:gdLst/>
              <a:ahLst/>
              <a:cxnLst/>
              <a:rect l="l" t="t" r="r" b="b"/>
              <a:pathLst>
                <a:path w="2419350" h="1638300">
                  <a:moveTo>
                    <a:pt x="95250" y="0"/>
                  </a:moveTo>
                  <a:lnTo>
                    <a:pt x="2324100" y="0"/>
                  </a:lnTo>
                  <a:cubicBezTo>
                    <a:pt x="2376705" y="0"/>
                    <a:pt x="2419350" y="42645"/>
                    <a:pt x="2419350" y="95250"/>
                  </a:cubicBezTo>
                  <a:lnTo>
                    <a:pt x="2419350" y="1543050"/>
                  </a:lnTo>
                  <a:cubicBezTo>
                    <a:pt x="2419350" y="1595655"/>
                    <a:pt x="2376705" y="1638300"/>
                    <a:pt x="2324100" y="1638300"/>
                  </a:cubicBezTo>
                  <a:lnTo>
                    <a:pt x="95250" y="1638300"/>
                  </a:lnTo>
                  <a:cubicBezTo>
                    <a:pt x="42645" y="1638300"/>
                    <a:pt x="0" y="1595655"/>
                    <a:pt x="0" y="15430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52450" y="3238500"/>
              <a:ext cx="2419350" cy="76200"/>
            </a:xfrm>
            <a:custGeom>
              <a:avLst/>
              <a:gdLst/>
              <a:ahLst/>
              <a:cxnLst/>
              <a:rect l="l" t="t" r="r" b="b"/>
              <a:pathLst>
                <a:path w="2419350" h="76200">
                  <a:moveTo>
                    <a:pt x="38100" y="0"/>
                  </a:moveTo>
                  <a:lnTo>
                    <a:pt x="2381250" y="0"/>
                  </a:lnTo>
                  <a:cubicBezTo>
                    <a:pt x="2402292" y="0"/>
                    <a:pt x="2419350" y="17058"/>
                    <a:pt x="2419350" y="38100"/>
                  </a:cubicBezTo>
                  <a:lnTo>
                    <a:pt x="2419350" y="38100"/>
                  </a:lnTo>
                  <a:cubicBezTo>
                    <a:pt x="2419350" y="59142"/>
                    <a:pt x="2402292" y="76200"/>
                    <a:pt x="23812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3900" y="3400425"/>
              <a:ext cx="7626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01 原型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5805" y="3778568"/>
              <a:ext cx="12172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自绘原型交互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5805" y="404526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在方案阶段提前明确功能边界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3238500" y="3238500"/>
              <a:ext cx="2419350" cy="1638300"/>
            </a:xfrm>
            <a:custGeom>
              <a:avLst/>
              <a:gdLst/>
              <a:ahLst/>
              <a:cxnLst/>
              <a:rect l="l" t="t" r="r" b="b"/>
              <a:pathLst>
                <a:path w="2419350" h="1638300">
                  <a:moveTo>
                    <a:pt x="95250" y="0"/>
                  </a:moveTo>
                  <a:lnTo>
                    <a:pt x="2324100" y="0"/>
                  </a:lnTo>
                  <a:cubicBezTo>
                    <a:pt x="2376705" y="0"/>
                    <a:pt x="2419350" y="42645"/>
                    <a:pt x="2419350" y="95250"/>
                  </a:cubicBezTo>
                  <a:lnTo>
                    <a:pt x="2419350" y="1543050"/>
                  </a:lnTo>
                  <a:cubicBezTo>
                    <a:pt x="2419350" y="1595655"/>
                    <a:pt x="2376705" y="1638300"/>
                    <a:pt x="2324100" y="1638300"/>
                  </a:cubicBezTo>
                  <a:lnTo>
                    <a:pt x="95250" y="1638300"/>
                  </a:lnTo>
                  <a:cubicBezTo>
                    <a:pt x="42645" y="1638300"/>
                    <a:pt x="0" y="1595655"/>
                    <a:pt x="0" y="15430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3238500" y="3238500"/>
              <a:ext cx="2419350" cy="76200"/>
            </a:xfrm>
            <a:custGeom>
              <a:avLst/>
              <a:gdLst/>
              <a:ahLst/>
              <a:cxnLst/>
              <a:rect l="l" t="t" r="r" b="b"/>
              <a:pathLst>
                <a:path w="2419350" h="76200">
                  <a:moveTo>
                    <a:pt x="38100" y="0"/>
                  </a:moveTo>
                  <a:lnTo>
                    <a:pt x="2381250" y="0"/>
                  </a:lnTo>
                  <a:cubicBezTo>
                    <a:pt x="2402292" y="0"/>
                    <a:pt x="2419350" y="17058"/>
                    <a:pt x="2419350" y="38100"/>
                  </a:cubicBezTo>
                  <a:lnTo>
                    <a:pt x="2419350" y="38100"/>
                  </a:lnTo>
                  <a:cubicBezTo>
                    <a:pt x="2419350" y="59142"/>
                    <a:pt x="2402292" y="76200"/>
                    <a:pt x="23812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409950" y="3400425"/>
              <a:ext cx="8201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02 文档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11855" y="3778568"/>
              <a:ext cx="1808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自编管理台需求文档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11855" y="4045268"/>
              <a:ext cx="16116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降低协作理解偏差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5924550" y="3238500"/>
              <a:ext cx="2419350" cy="1638300"/>
            </a:xfrm>
            <a:custGeom>
              <a:avLst/>
              <a:gdLst/>
              <a:ahLst/>
              <a:cxnLst/>
              <a:rect l="l" t="t" r="r" b="b"/>
              <a:pathLst>
                <a:path w="2419350" h="1638300">
                  <a:moveTo>
                    <a:pt x="95250" y="0"/>
                  </a:moveTo>
                  <a:lnTo>
                    <a:pt x="2324100" y="0"/>
                  </a:lnTo>
                  <a:cubicBezTo>
                    <a:pt x="2376705" y="0"/>
                    <a:pt x="2419350" y="42645"/>
                    <a:pt x="2419350" y="95250"/>
                  </a:cubicBezTo>
                  <a:lnTo>
                    <a:pt x="2419350" y="1543050"/>
                  </a:lnTo>
                  <a:cubicBezTo>
                    <a:pt x="2419350" y="1595655"/>
                    <a:pt x="2376705" y="1638300"/>
                    <a:pt x="2324100" y="1638300"/>
                  </a:cubicBezTo>
                  <a:lnTo>
                    <a:pt x="95250" y="1638300"/>
                  </a:lnTo>
                  <a:cubicBezTo>
                    <a:pt x="42645" y="1638300"/>
                    <a:pt x="0" y="1595655"/>
                    <a:pt x="0" y="15430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5924550" y="3238500"/>
              <a:ext cx="2419350" cy="76200"/>
            </a:xfrm>
            <a:custGeom>
              <a:avLst/>
              <a:gdLst/>
              <a:ahLst/>
              <a:cxnLst/>
              <a:rect l="l" t="t" r="r" b="b"/>
              <a:pathLst>
                <a:path w="2419350" h="76200">
                  <a:moveTo>
                    <a:pt x="38100" y="0"/>
                  </a:moveTo>
                  <a:lnTo>
                    <a:pt x="2381250" y="0"/>
                  </a:lnTo>
                  <a:cubicBezTo>
                    <a:pt x="2402292" y="0"/>
                    <a:pt x="2419350" y="17058"/>
                    <a:pt x="2419350" y="38100"/>
                  </a:cubicBezTo>
                  <a:lnTo>
                    <a:pt x="2419350" y="38100"/>
                  </a:lnTo>
                  <a:cubicBezTo>
                    <a:pt x="2419350" y="59142"/>
                    <a:pt x="2402292" y="76200"/>
                    <a:pt x="23812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96000" y="3400425"/>
              <a:ext cx="8201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03 实现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97905" y="3778568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独立实现规则引擎系统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97905" y="4045268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完成管理台与执行能力建设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8610600" y="3238500"/>
              <a:ext cx="2838450" cy="1638300"/>
            </a:xfrm>
            <a:custGeom>
              <a:avLst/>
              <a:gdLst/>
              <a:ahLst/>
              <a:cxnLst/>
              <a:rect l="l" t="t" r="r" b="b"/>
              <a:pathLst>
                <a:path w="2838450" h="1638300">
                  <a:moveTo>
                    <a:pt x="95250" y="0"/>
                  </a:moveTo>
                  <a:lnTo>
                    <a:pt x="2743200" y="0"/>
                  </a:lnTo>
                  <a:cubicBezTo>
                    <a:pt x="2795805" y="0"/>
                    <a:pt x="2838450" y="42645"/>
                    <a:pt x="2838450" y="95250"/>
                  </a:cubicBezTo>
                  <a:lnTo>
                    <a:pt x="2838450" y="1543050"/>
                  </a:lnTo>
                  <a:cubicBezTo>
                    <a:pt x="2838450" y="1595655"/>
                    <a:pt x="2795805" y="1638300"/>
                    <a:pt x="2743200" y="1638300"/>
                  </a:cubicBezTo>
                  <a:lnTo>
                    <a:pt x="95250" y="1638300"/>
                  </a:lnTo>
                  <a:cubicBezTo>
                    <a:pt x="42645" y="1638300"/>
                    <a:pt x="0" y="1595655"/>
                    <a:pt x="0" y="15430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610600" y="3238500"/>
              <a:ext cx="2838450" cy="76200"/>
            </a:xfrm>
            <a:custGeom>
              <a:avLst/>
              <a:gdLst/>
              <a:ahLst/>
              <a:cxnLst/>
              <a:rect l="l" t="t" r="r" b="b"/>
              <a:pathLst>
                <a:path w="2838450" h="76200">
                  <a:moveTo>
                    <a:pt x="38100" y="0"/>
                  </a:moveTo>
                  <a:lnTo>
                    <a:pt x="2800350" y="0"/>
                  </a:lnTo>
                  <a:cubicBezTo>
                    <a:pt x="2821392" y="0"/>
                    <a:pt x="2838450" y="17058"/>
                    <a:pt x="2838450" y="38100"/>
                  </a:cubicBezTo>
                  <a:lnTo>
                    <a:pt x="2838450" y="38100"/>
                  </a:lnTo>
                  <a:cubicBezTo>
                    <a:pt x="2838450" y="59142"/>
                    <a:pt x="2821392" y="76200"/>
                    <a:pt x="28003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82050" y="3400425"/>
              <a:ext cx="8201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04 价值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83955" y="3778568"/>
              <a:ext cx="33861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从承接需求升级为定义方案并独立落地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83955" y="4045268"/>
              <a:ext cx="34847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形成更强的抽象设计与 ownership 能力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533400" y="5295900"/>
              <a:ext cx="11125200" cy="323850"/>
            </a:xfrm>
            <a:custGeom>
              <a:avLst/>
              <a:gdLst/>
              <a:ahLst/>
              <a:cxnLst/>
              <a:rect l="l" t="t" r="r" b="b"/>
              <a:pathLst>
                <a:path w="11125200" h="323850">
                  <a:moveTo>
                    <a:pt x="76200" y="0"/>
                  </a:moveTo>
                  <a:lnTo>
                    <a:pt x="11049000" y="0"/>
                  </a:lnTo>
                  <a:cubicBezTo>
                    <a:pt x="11091084" y="0"/>
                    <a:pt x="11125200" y="34116"/>
                    <a:pt x="11125200" y="76200"/>
                  </a:cubicBezTo>
                  <a:lnTo>
                    <a:pt x="11125200" y="247650"/>
                  </a:lnTo>
                  <a:cubicBezTo>
                    <a:pt x="11125200" y="289734"/>
                    <a:pt x="11091084" y="323850"/>
                    <a:pt x="1104900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6FBE8"/>
            </a:solidFill>
            <a:ln w="9525">
              <a:solidFill>
                <a:srgbClr val="CFE1A8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533400" y="5295900"/>
              <a:ext cx="57150" cy="323850"/>
            </a:xfrm>
            <a:custGeom>
              <a:avLst/>
              <a:gdLst/>
              <a:ahLst/>
              <a:cxnLst/>
              <a:rect l="l" t="t" r="r" b="b"/>
              <a:pathLst>
                <a:path w="57150" h="3238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295275"/>
                  </a:lnTo>
                  <a:cubicBezTo>
                    <a:pt x="57150" y="311057"/>
                    <a:pt x="44357" y="323850"/>
                    <a:pt x="28575" y="323850"/>
                  </a:cubicBezTo>
                  <a:lnTo>
                    <a:pt x="28575" y="323850"/>
                  </a:lnTo>
                  <a:cubicBezTo>
                    <a:pt x="12793" y="323850"/>
                    <a:pt x="0" y="311057"/>
                    <a:pt x="0" y="2952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6755" y="5369242"/>
              <a:ext cx="77045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从需求接收升级为问题定义、方案设计和独立交付，完成从 0 到 1 的复杂系统建设。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47" name="Rectangle 47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48" name="Line 48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07670" y="6341745"/>
              <a:ext cx="20734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slide_copy_compact.md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08622" y="6578441"/>
              <a:ext cx="14668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案例页采用里程碑卡片结构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六、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6028230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关键案例三｜优化与平台化建设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2180" y="508635"/>
              <a:ext cx="1432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关键问题突破举例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41362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不只完成需求，更持续把一次性交付升级成可复用能力。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81000" y="1676400"/>
            <a:ext cx="11430000" cy="4095750"/>
            <a:chOff x="381000" y="1676400"/>
            <a:chExt cx="11430000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8E7B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981200"/>
              <a:ext cx="3390900" cy="2590800"/>
            </a:xfrm>
            <a:custGeom>
              <a:avLst/>
              <a:gdLst/>
              <a:ahLst/>
              <a:cxnLst/>
              <a:rect l="l" t="t" r="r" b="b"/>
              <a:pathLst>
                <a:path w="3390900" h="2590800">
                  <a:moveTo>
                    <a:pt x="95250" y="0"/>
                  </a:moveTo>
                  <a:lnTo>
                    <a:pt x="3295650" y="0"/>
                  </a:lnTo>
                  <a:cubicBezTo>
                    <a:pt x="3348255" y="0"/>
                    <a:pt x="3390900" y="42645"/>
                    <a:pt x="3390900" y="95250"/>
                  </a:cubicBezTo>
                  <a:lnTo>
                    <a:pt x="3390900" y="2495550"/>
                  </a:lnTo>
                  <a:cubicBezTo>
                    <a:pt x="3390900" y="2548155"/>
                    <a:pt x="3348255" y="2590800"/>
                    <a:pt x="3295650" y="2590800"/>
                  </a:cubicBezTo>
                  <a:lnTo>
                    <a:pt x="95250" y="2590800"/>
                  </a:lnTo>
                  <a:cubicBezTo>
                    <a:pt x="42645" y="2590800"/>
                    <a:pt x="0" y="2548155"/>
                    <a:pt x="0" y="24955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" y="1981200"/>
              <a:ext cx="3390900" cy="76200"/>
            </a:xfrm>
            <a:custGeom>
              <a:avLst/>
              <a:gdLst/>
              <a:ahLst/>
              <a:cxnLst/>
              <a:rect l="l" t="t" r="r" b="b"/>
              <a:pathLst>
                <a:path w="3390900" h="76200">
                  <a:moveTo>
                    <a:pt x="38100" y="0"/>
                  </a:moveTo>
                  <a:lnTo>
                    <a:pt x="3352800" y="0"/>
                  </a:lnTo>
                  <a:cubicBezTo>
                    <a:pt x="3373842" y="0"/>
                    <a:pt x="3390900" y="17058"/>
                    <a:pt x="3390900" y="38100"/>
                  </a:cubicBezTo>
                  <a:lnTo>
                    <a:pt x="3390900" y="38100"/>
                  </a:lnTo>
                  <a:cubicBezTo>
                    <a:pt x="3390900" y="59142"/>
                    <a:pt x="3373842" y="76200"/>
                    <a:pt x="33528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3900" y="2143125"/>
              <a:ext cx="145277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CRM 查询优化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5805" y="2521268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问题：后台查询接口响应慢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5805" y="2787968"/>
              <a:ext cx="2794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动作：定位瓶颈并重构查询链路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5805" y="3054668"/>
              <a:ext cx="24988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结果：平均耗时 8s → 500ms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5805" y="3321368"/>
              <a:ext cx="2794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价值：显著提升运营侧使用效率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4400550" y="1981200"/>
              <a:ext cx="3390900" cy="2590800"/>
            </a:xfrm>
            <a:custGeom>
              <a:avLst/>
              <a:gdLst/>
              <a:ahLst/>
              <a:cxnLst/>
              <a:rect l="l" t="t" r="r" b="b"/>
              <a:pathLst>
                <a:path w="3390900" h="2590800">
                  <a:moveTo>
                    <a:pt x="95250" y="0"/>
                  </a:moveTo>
                  <a:lnTo>
                    <a:pt x="3295650" y="0"/>
                  </a:lnTo>
                  <a:cubicBezTo>
                    <a:pt x="3348255" y="0"/>
                    <a:pt x="3390900" y="42645"/>
                    <a:pt x="3390900" y="95250"/>
                  </a:cubicBezTo>
                  <a:lnTo>
                    <a:pt x="3390900" y="2495550"/>
                  </a:lnTo>
                  <a:cubicBezTo>
                    <a:pt x="3390900" y="2548155"/>
                    <a:pt x="3348255" y="2590800"/>
                    <a:pt x="3295650" y="2590800"/>
                  </a:cubicBezTo>
                  <a:lnTo>
                    <a:pt x="95250" y="2590800"/>
                  </a:lnTo>
                  <a:cubicBezTo>
                    <a:pt x="42645" y="2590800"/>
                    <a:pt x="0" y="2548155"/>
                    <a:pt x="0" y="24955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400550" y="1981200"/>
              <a:ext cx="3390900" cy="76200"/>
            </a:xfrm>
            <a:custGeom>
              <a:avLst/>
              <a:gdLst/>
              <a:ahLst/>
              <a:cxnLst/>
              <a:rect l="l" t="t" r="r" b="b"/>
              <a:pathLst>
                <a:path w="3390900" h="76200">
                  <a:moveTo>
                    <a:pt x="38100" y="0"/>
                  </a:moveTo>
                  <a:lnTo>
                    <a:pt x="3352800" y="0"/>
                  </a:lnTo>
                  <a:cubicBezTo>
                    <a:pt x="3373842" y="0"/>
                    <a:pt x="3390900" y="17058"/>
                    <a:pt x="3390900" y="38100"/>
                  </a:cubicBezTo>
                  <a:lnTo>
                    <a:pt x="3390900" y="38100"/>
                  </a:lnTo>
                  <a:cubicBezTo>
                    <a:pt x="3390900" y="59142"/>
                    <a:pt x="3373842" y="76200"/>
                    <a:pt x="33528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72000" y="21431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签到重构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73905" y="2521268"/>
              <a:ext cx="22031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问题：活动需求重复开发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73905" y="278796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动作：抽象为标准配置化能力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73905" y="305466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结果：后端无需每次重复开发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73905" y="3321368"/>
              <a:ext cx="29918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价值：提升需求响应效率和稳定性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8248650" y="1981200"/>
              <a:ext cx="3200400" cy="2590800"/>
            </a:xfrm>
            <a:custGeom>
              <a:avLst/>
              <a:gdLst/>
              <a:ahLst/>
              <a:cxnLst/>
              <a:rect l="l" t="t" r="r" b="b"/>
              <a:pathLst>
                <a:path w="3200400" h="2590800">
                  <a:moveTo>
                    <a:pt x="95250" y="0"/>
                  </a:moveTo>
                  <a:lnTo>
                    <a:pt x="3105150" y="0"/>
                  </a:lnTo>
                  <a:cubicBezTo>
                    <a:pt x="3157755" y="0"/>
                    <a:pt x="3200400" y="42645"/>
                    <a:pt x="3200400" y="95250"/>
                  </a:cubicBezTo>
                  <a:lnTo>
                    <a:pt x="3200400" y="2495550"/>
                  </a:lnTo>
                  <a:cubicBezTo>
                    <a:pt x="3200400" y="2548155"/>
                    <a:pt x="3157755" y="2590800"/>
                    <a:pt x="3105150" y="2590800"/>
                  </a:cubicBezTo>
                  <a:lnTo>
                    <a:pt x="95250" y="2590800"/>
                  </a:lnTo>
                  <a:cubicBezTo>
                    <a:pt x="42645" y="2590800"/>
                    <a:pt x="0" y="2548155"/>
                    <a:pt x="0" y="24955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248650" y="1981200"/>
              <a:ext cx="3200400" cy="76200"/>
            </a:xfrm>
            <a:custGeom>
              <a:avLst/>
              <a:gdLst/>
              <a:ahLst/>
              <a:cxnLst/>
              <a:rect l="l" t="t" r="r" b="b"/>
              <a:pathLst>
                <a:path w="3200400" h="76200">
                  <a:moveTo>
                    <a:pt x="38100" y="0"/>
                  </a:moveTo>
                  <a:lnTo>
                    <a:pt x="3162300" y="0"/>
                  </a:lnTo>
                  <a:cubicBezTo>
                    <a:pt x="3183342" y="0"/>
                    <a:pt x="3200400" y="17058"/>
                    <a:pt x="3200400" y="38100"/>
                  </a:cubicBezTo>
                  <a:lnTo>
                    <a:pt x="3200400" y="38100"/>
                  </a:lnTo>
                  <a:cubicBezTo>
                    <a:pt x="3200400" y="59142"/>
                    <a:pt x="3183342" y="76200"/>
                    <a:pt x="31623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420100" y="214312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转盘配置化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22005" y="2521268"/>
              <a:ext cx="30706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问题：33 个子类问题散落在实现中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22005" y="2787968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动作：收敛到配置组合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22005" y="3054668"/>
              <a:ext cx="2853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结果：新增活动由 1 天降到约 2h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22005" y="332136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价值：持续降低重复研发成本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533400" y="5295900"/>
              <a:ext cx="11125200" cy="323850"/>
            </a:xfrm>
            <a:custGeom>
              <a:avLst/>
              <a:gdLst/>
              <a:ahLst/>
              <a:cxnLst/>
              <a:rect l="l" t="t" r="r" b="b"/>
              <a:pathLst>
                <a:path w="11125200" h="323850">
                  <a:moveTo>
                    <a:pt x="76200" y="0"/>
                  </a:moveTo>
                  <a:lnTo>
                    <a:pt x="11049000" y="0"/>
                  </a:lnTo>
                  <a:cubicBezTo>
                    <a:pt x="11091084" y="0"/>
                    <a:pt x="11125200" y="34116"/>
                    <a:pt x="11125200" y="76200"/>
                  </a:cubicBezTo>
                  <a:lnTo>
                    <a:pt x="11125200" y="247650"/>
                  </a:lnTo>
                  <a:cubicBezTo>
                    <a:pt x="11125200" y="289734"/>
                    <a:pt x="11091084" y="323850"/>
                    <a:pt x="1104900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6FBE8"/>
            </a:solidFill>
            <a:ln w="9525">
              <a:solidFill>
                <a:srgbClr val="CFE1A8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533400" y="5295900"/>
              <a:ext cx="57150" cy="323850"/>
            </a:xfrm>
            <a:custGeom>
              <a:avLst/>
              <a:gdLst/>
              <a:ahLst/>
              <a:cxnLst/>
              <a:rect l="l" t="t" r="r" b="b"/>
              <a:pathLst>
                <a:path w="57150" h="3238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295275"/>
                  </a:lnTo>
                  <a:cubicBezTo>
                    <a:pt x="57150" y="311057"/>
                    <a:pt x="44357" y="323850"/>
                    <a:pt x="28575" y="323850"/>
                  </a:cubicBezTo>
                  <a:lnTo>
                    <a:pt x="28575" y="323850"/>
                  </a:lnTo>
                  <a:cubicBezTo>
                    <a:pt x="12793" y="323850"/>
                    <a:pt x="0" y="311057"/>
                    <a:pt x="0" y="2952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6755" y="5369242"/>
              <a:ext cx="72801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通过性能优化、架构重构和配置化设计，把一次性交付持续升级为可复用能力。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45" name="Rectangle 45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46" name="Line 46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07670" y="6341745"/>
              <a:ext cx="20734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slide_copy_compact.md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08622" y="6578441"/>
              <a:ext cx="11053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三列平台化案例结构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08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七、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3900464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个人贡献与方法沉淀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23220" y="508635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个人贡献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3643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在项目交付之外，主动补位团队机制与知识沉淀。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81000" y="1676400"/>
            <a:ext cx="11566207" cy="4095750"/>
            <a:chOff x="381000" y="1676400"/>
            <a:chExt cx="11566207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8E7B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981200"/>
              <a:ext cx="2571750" cy="2324100"/>
            </a:xfrm>
            <a:custGeom>
              <a:avLst/>
              <a:gdLst/>
              <a:ahLst/>
              <a:cxnLst/>
              <a:rect l="l" t="t" r="r" b="b"/>
              <a:pathLst>
                <a:path w="2571750" h="232410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2228850"/>
                  </a:lnTo>
                  <a:cubicBezTo>
                    <a:pt x="2571750" y="2281455"/>
                    <a:pt x="2529105" y="2324100"/>
                    <a:pt x="2476500" y="2324100"/>
                  </a:cubicBezTo>
                  <a:lnTo>
                    <a:pt x="95250" y="2324100"/>
                  </a:lnTo>
                  <a:cubicBezTo>
                    <a:pt x="42645" y="2324100"/>
                    <a:pt x="0" y="2281455"/>
                    <a:pt x="0" y="2228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" y="198120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3900" y="21431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新人指引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5805" y="2521268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编写《后端研发新人指引》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5805" y="2787968"/>
              <a:ext cx="378047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帮助新同学更快理解环境、流程和协作方式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3295650" y="1981200"/>
              <a:ext cx="2571750" cy="2324100"/>
            </a:xfrm>
            <a:custGeom>
              <a:avLst/>
              <a:gdLst/>
              <a:ahLst/>
              <a:cxnLst/>
              <a:rect l="l" t="t" r="r" b="b"/>
              <a:pathLst>
                <a:path w="2571750" h="232410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2228850"/>
                  </a:lnTo>
                  <a:cubicBezTo>
                    <a:pt x="2571750" y="2281455"/>
                    <a:pt x="2529105" y="2324100"/>
                    <a:pt x="2476500" y="2324100"/>
                  </a:cubicBezTo>
                  <a:lnTo>
                    <a:pt x="95250" y="2324100"/>
                  </a:lnTo>
                  <a:cubicBezTo>
                    <a:pt x="42645" y="2324100"/>
                    <a:pt x="0" y="2281455"/>
                    <a:pt x="0" y="2228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3295650" y="198120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467100" y="2143125"/>
              <a:ext cx="9927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工程 SOP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469005" y="2521268"/>
              <a:ext cx="20355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梳理新增工程应用 SOP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69005" y="2787968"/>
              <a:ext cx="16412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梳理上线应用 SOP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69005" y="3054668"/>
              <a:ext cx="16116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降低重复沟通成本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6038850" y="1981200"/>
              <a:ext cx="2571750" cy="2324100"/>
            </a:xfrm>
            <a:custGeom>
              <a:avLst/>
              <a:gdLst/>
              <a:ahLst/>
              <a:cxnLst/>
              <a:rect l="l" t="t" r="r" b="b"/>
              <a:pathLst>
                <a:path w="2571750" h="232410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2228850"/>
                  </a:lnTo>
                  <a:cubicBezTo>
                    <a:pt x="2571750" y="2281455"/>
                    <a:pt x="2529105" y="2324100"/>
                    <a:pt x="2476500" y="2324100"/>
                  </a:cubicBezTo>
                  <a:lnTo>
                    <a:pt x="95250" y="2324100"/>
                  </a:lnTo>
                  <a:cubicBezTo>
                    <a:pt x="42645" y="2324100"/>
                    <a:pt x="0" y="2281455"/>
                    <a:pt x="0" y="2228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038850" y="198120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10300" y="2143125"/>
              <a:ext cx="122274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AI 协同研发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12205" y="2521268"/>
              <a:ext cx="42635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在需求分析、文档整理、代码辅助中实践 AI 方法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12205" y="2787968"/>
              <a:ext cx="22031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提升信息组织和研发效率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8782050" y="1981200"/>
              <a:ext cx="2667000" cy="2324100"/>
            </a:xfrm>
            <a:custGeom>
              <a:avLst/>
              <a:gdLst/>
              <a:ahLst/>
              <a:cxnLst/>
              <a:rect l="l" t="t" r="r" b="b"/>
              <a:pathLst>
                <a:path w="2667000" h="2324100">
                  <a:moveTo>
                    <a:pt x="95250" y="0"/>
                  </a:moveTo>
                  <a:lnTo>
                    <a:pt x="2571750" y="0"/>
                  </a:lnTo>
                  <a:cubicBezTo>
                    <a:pt x="2624355" y="0"/>
                    <a:pt x="2667000" y="42645"/>
                    <a:pt x="2667000" y="95250"/>
                  </a:cubicBezTo>
                  <a:lnTo>
                    <a:pt x="2667000" y="2228850"/>
                  </a:lnTo>
                  <a:cubicBezTo>
                    <a:pt x="2667000" y="2281455"/>
                    <a:pt x="2624355" y="2324100"/>
                    <a:pt x="2571750" y="2324100"/>
                  </a:cubicBezTo>
                  <a:lnTo>
                    <a:pt x="95250" y="2324100"/>
                  </a:lnTo>
                  <a:cubicBezTo>
                    <a:pt x="42645" y="2324100"/>
                    <a:pt x="0" y="2281455"/>
                    <a:pt x="0" y="2228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782050" y="1981200"/>
              <a:ext cx="2667000" cy="76200"/>
            </a:xfrm>
            <a:custGeom>
              <a:avLst/>
              <a:gdLst/>
              <a:ahLst/>
              <a:cxnLst/>
              <a:rect l="l" t="t" r="r" b="b"/>
              <a:pathLst>
                <a:path w="2667000" h="76200">
                  <a:moveTo>
                    <a:pt x="38100" y="0"/>
                  </a:moveTo>
                  <a:lnTo>
                    <a:pt x="2628900" y="0"/>
                  </a:lnTo>
                  <a:cubicBezTo>
                    <a:pt x="2649942" y="0"/>
                    <a:pt x="2667000" y="17058"/>
                    <a:pt x="2667000" y="38100"/>
                  </a:cubicBezTo>
                  <a:lnTo>
                    <a:pt x="2667000" y="38100"/>
                  </a:lnTo>
                  <a:cubicBezTo>
                    <a:pt x="2667000" y="59142"/>
                    <a:pt x="2649942" y="76200"/>
                    <a:pt x="26289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53500" y="21431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团队价值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55405" y="2521268"/>
              <a:ext cx="29918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将个人经验转化为团队可复用资产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55405" y="2787968"/>
              <a:ext cx="29622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降低 onboarding 和跨人交接成本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533400" y="5295900"/>
              <a:ext cx="11125200" cy="323850"/>
            </a:xfrm>
            <a:custGeom>
              <a:avLst/>
              <a:gdLst/>
              <a:ahLst/>
              <a:cxnLst/>
              <a:rect l="l" t="t" r="r" b="b"/>
              <a:pathLst>
                <a:path w="11125200" h="323850">
                  <a:moveTo>
                    <a:pt x="76200" y="0"/>
                  </a:moveTo>
                  <a:lnTo>
                    <a:pt x="11049000" y="0"/>
                  </a:lnTo>
                  <a:cubicBezTo>
                    <a:pt x="11091084" y="0"/>
                    <a:pt x="11125200" y="34116"/>
                    <a:pt x="11125200" y="76200"/>
                  </a:cubicBezTo>
                  <a:lnTo>
                    <a:pt x="11125200" y="247650"/>
                  </a:lnTo>
                  <a:cubicBezTo>
                    <a:pt x="11125200" y="289734"/>
                    <a:pt x="11091084" y="323850"/>
                    <a:pt x="1104900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6FBE8"/>
            </a:solidFill>
            <a:ln w="9525">
              <a:solidFill>
                <a:srgbClr val="CFE1A8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533400" y="5295900"/>
              <a:ext cx="57150" cy="323850"/>
            </a:xfrm>
            <a:custGeom>
              <a:avLst/>
              <a:gdLst/>
              <a:ahLst/>
              <a:cxnLst/>
              <a:rect l="l" t="t" r="r" b="b"/>
              <a:pathLst>
                <a:path w="57150" h="3238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295275"/>
                  </a:lnTo>
                  <a:cubicBezTo>
                    <a:pt x="57150" y="311057"/>
                    <a:pt x="44357" y="323850"/>
                    <a:pt x="28575" y="323850"/>
                  </a:cubicBezTo>
                  <a:lnTo>
                    <a:pt x="28575" y="323850"/>
                  </a:lnTo>
                  <a:cubicBezTo>
                    <a:pt x="12793" y="323850"/>
                    <a:pt x="0" y="311057"/>
                    <a:pt x="0" y="2952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6755" y="5369242"/>
              <a:ext cx="68661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在项目交付之外，主动补位团队机制与知识沉淀，让经验可复制、可复用。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45" name="Rectangle 45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46" name="Line 46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07670" y="6341745"/>
              <a:ext cx="20734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slide_copy_compact.md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08622" y="6578441"/>
              <a:ext cx="15873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方法沉淀页按四卡片布局生成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09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八、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3049357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不足与提升计划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71660" y="508635"/>
              <a:ext cx="17830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个人的不足和提升计划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41362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已识别在量化、业务纵深和团队级规范方面的提升空间。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81000" y="1676400"/>
            <a:ext cx="11545253" cy="4095750"/>
            <a:chOff x="381000" y="1676400"/>
            <a:chExt cx="11545253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8E7B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2076450"/>
              <a:ext cx="10896600" cy="914400"/>
            </a:xfrm>
            <a:custGeom>
              <a:avLst/>
              <a:gdLst/>
              <a:ahLst/>
              <a:cxnLst/>
              <a:rect l="l" t="t" r="r" b="b"/>
              <a:pathLst>
                <a:path w="10896600" h="914400">
                  <a:moveTo>
                    <a:pt x="95250" y="0"/>
                  </a:moveTo>
                  <a:lnTo>
                    <a:pt x="10801350" y="0"/>
                  </a:lnTo>
                  <a:cubicBezTo>
                    <a:pt x="10853955" y="0"/>
                    <a:pt x="10896600" y="42645"/>
                    <a:pt x="10896600" y="95250"/>
                  </a:cubicBezTo>
                  <a:lnTo>
                    <a:pt x="10896600" y="819150"/>
                  </a:lnTo>
                  <a:cubicBezTo>
                    <a:pt x="10896600" y="871755"/>
                    <a:pt x="10853955" y="914400"/>
                    <a:pt x="10801350" y="914400"/>
                  </a:cubicBezTo>
                  <a:lnTo>
                    <a:pt x="95250" y="914400"/>
                  </a:lnTo>
                  <a:cubicBezTo>
                    <a:pt x="42645" y="914400"/>
                    <a:pt x="0" y="871755"/>
                    <a:pt x="0" y="819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" y="2076450"/>
              <a:ext cx="114300" cy="914400"/>
            </a:xfrm>
            <a:custGeom>
              <a:avLst/>
              <a:gdLst/>
              <a:ahLst/>
              <a:cxnLst/>
              <a:rect l="l" t="t" r="r" b="b"/>
              <a:pathLst>
                <a:path w="114300" h="914400">
                  <a:moveTo>
                    <a:pt x="57150" y="0"/>
                  </a:moveTo>
                  <a:lnTo>
                    <a:pt x="57150" y="0"/>
                  </a:lnTo>
                  <a:cubicBezTo>
                    <a:pt x="88713" y="0"/>
                    <a:pt x="114300" y="25587"/>
                    <a:pt x="114300" y="57150"/>
                  </a:cubicBezTo>
                  <a:lnTo>
                    <a:pt x="114300" y="857250"/>
                  </a:lnTo>
                  <a:cubicBezTo>
                    <a:pt x="114300" y="888813"/>
                    <a:pt x="88713" y="914400"/>
                    <a:pt x="57150" y="914400"/>
                  </a:cubicBezTo>
                  <a:lnTo>
                    <a:pt x="57150" y="914400"/>
                  </a:lnTo>
                  <a:cubicBezTo>
                    <a:pt x="25587" y="914400"/>
                    <a:pt x="0" y="888813"/>
                    <a:pt x="0" y="8572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6298" y="2230279"/>
              <a:ext cx="148918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结果量化不足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95700" y="2238375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提前定义效果指标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74105" y="2254568"/>
              <a:ext cx="57521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在项目开始阶段就同步效果口径，避免复盘时只有过程没有结果。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552450" y="3143250"/>
              <a:ext cx="10896600" cy="914400"/>
            </a:xfrm>
            <a:custGeom>
              <a:avLst/>
              <a:gdLst/>
              <a:ahLst/>
              <a:cxnLst/>
              <a:rect l="l" t="t" r="r" b="b"/>
              <a:pathLst>
                <a:path w="10896600" h="914400">
                  <a:moveTo>
                    <a:pt x="95250" y="0"/>
                  </a:moveTo>
                  <a:lnTo>
                    <a:pt x="10801350" y="0"/>
                  </a:lnTo>
                  <a:cubicBezTo>
                    <a:pt x="10853955" y="0"/>
                    <a:pt x="10896600" y="42645"/>
                    <a:pt x="10896600" y="95250"/>
                  </a:cubicBezTo>
                  <a:lnTo>
                    <a:pt x="10896600" y="819150"/>
                  </a:lnTo>
                  <a:cubicBezTo>
                    <a:pt x="10896600" y="871755"/>
                    <a:pt x="10853955" y="914400"/>
                    <a:pt x="10801350" y="914400"/>
                  </a:cubicBezTo>
                  <a:lnTo>
                    <a:pt x="95250" y="914400"/>
                  </a:lnTo>
                  <a:cubicBezTo>
                    <a:pt x="42645" y="914400"/>
                    <a:pt x="0" y="871755"/>
                    <a:pt x="0" y="819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52450" y="3143250"/>
              <a:ext cx="114300" cy="914400"/>
            </a:xfrm>
            <a:custGeom>
              <a:avLst/>
              <a:gdLst/>
              <a:ahLst/>
              <a:cxnLst/>
              <a:rect l="l" t="t" r="r" b="b"/>
              <a:pathLst>
                <a:path w="114300" h="914400">
                  <a:moveTo>
                    <a:pt x="57150" y="0"/>
                  </a:moveTo>
                  <a:lnTo>
                    <a:pt x="57150" y="0"/>
                  </a:lnTo>
                  <a:cubicBezTo>
                    <a:pt x="88713" y="0"/>
                    <a:pt x="114300" y="25587"/>
                    <a:pt x="114300" y="57150"/>
                  </a:cubicBezTo>
                  <a:lnTo>
                    <a:pt x="114300" y="857250"/>
                  </a:lnTo>
                  <a:cubicBezTo>
                    <a:pt x="114300" y="888813"/>
                    <a:pt x="88713" y="914400"/>
                    <a:pt x="57150" y="914400"/>
                  </a:cubicBezTo>
                  <a:lnTo>
                    <a:pt x="57150" y="914400"/>
                  </a:lnTo>
                  <a:cubicBezTo>
                    <a:pt x="25587" y="914400"/>
                    <a:pt x="0" y="888813"/>
                    <a:pt x="0" y="8572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56298" y="3297079"/>
              <a:ext cx="148918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业务纵深不足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95700" y="3305175"/>
              <a:ext cx="25684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系统梳理会员与营销链路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74105" y="3321368"/>
              <a:ext cx="45691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不只完成模块交付，还进一步补足业务全链路理解。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552450" y="4210050"/>
              <a:ext cx="10896600" cy="914400"/>
            </a:xfrm>
            <a:custGeom>
              <a:avLst/>
              <a:gdLst/>
              <a:ahLst/>
              <a:cxnLst/>
              <a:rect l="l" t="t" r="r" b="b"/>
              <a:pathLst>
                <a:path w="10896600" h="914400">
                  <a:moveTo>
                    <a:pt x="95250" y="0"/>
                  </a:moveTo>
                  <a:lnTo>
                    <a:pt x="10801350" y="0"/>
                  </a:lnTo>
                  <a:cubicBezTo>
                    <a:pt x="10853955" y="0"/>
                    <a:pt x="10896600" y="42645"/>
                    <a:pt x="10896600" y="95250"/>
                  </a:cubicBezTo>
                  <a:lnTo>
                    <a:pt x="10896600" y="819150"/>
                  </a:lnTo>
                  <a:cubicBezTo>
                    <a:pt x="10896600" y="871755"/>
                    <a:pt x="10853955" y="914400"/>
                    <a:pt x="10801350" y="914400"/>
                  </a:cubicBezTo>
                  <a:lnTo>
                    <a:pt x="95250" y="914400"/>
                  </a:lnTo>
                  <a:cubicBezTo>
                    <a:pt x="42645" y="914400"/>
                    <a:pt x="0" y="871755"/>
                    <a:pt x="0" y="819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52450" y="4210050"/>
              <a:ext cx="114300" cy="914400"/>
            </a:xfrm>
            <a:custGeom>
              <a:avLst/>
              <a:gdLst/>
              <a:ahLst/>
              <a:cxnLst/>
              <a:rect l="l" t="t" r="r" b="b"/>
              <a:pathLst>
                <a:path w="114300" h="914400">
                  <a:moveTo>
                    <a:pt x="57150" y="0"/>
                  </a:moveTo>
                  <a:lnTo>
                    <a:pt x="57150" y="0"/>
                  </a:lnTo>
                  <a:cubicBezTo>
                    <a:pt x="88713" y="0"/>
                    <a:pt x="114300" y="25587"/>
                    <a:pt x="114300" y="57150"/>
                  </a:cubicBezTo>
                  <a:lnTo>
                    <a:pt x="114300" y="857250"/>
                  </a:lnTo>
                  <a:cubicBezTo>
                    <a:pt x="114300" y="888813"/>
                    <a:pt x="88713" y="914400"/>
                    <a:pt x="57150" y="914400"/>
                  </a:cubicBezTo>
                  <a:lnTo>
                    <a:pt x="57150" y="914400"/>
                  </a:lnTo>
                  <a:cubicBezTo>
                    <a:pt x="25587" y="914400"/>
                    <a:pt x="0" y="888813"/>
                    <a:pt x="0" y="8572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6298" y="4363879"/>
              <a:ext cx="176694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AI 规范沉淀不足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95700" y="4371975"/>
              <a:ext cx="33620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建设项目级 context 和协作规范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74105" y="4388168"/>
              <a:ext cx="45691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把个人实践沉淀成团队可复用的方法论和协作约束。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533400" y="5295900"/>
              <a:ext cx="11125200" cy="323850"/>
            </a:xfrm>
            <a:custGeom>
              <a:avLst/>
              <a:gdLst/>
              <a:ahLst/>
              <a:cxnLst/>
              <a:rect l="l" t="t" r="r" b="b"/>
              <a:pathLst>
                <a:path w="11125200" h="323850">
                  <a:moveTo>
                    <a:pt x="76200" y="0"/>
                  </a:moveTo>
                  <a:lnTo>
                    <a:pt x="11049000" y="0"/>
                  </a:lnTo>
                  <a:cubicBezTo>
                    <a:pt x="11091084" y="0"/>
                    <a:pt x="11125200" y="34116"/>
                    <a:pt x="11125200" y="76200"/>
                  </a:cubicBezTo>
                  <a:lnTo>
                    <a:pt x="11125200" y="247650"/>
                  </a:lnTo>
                  <a:cubicBezTo>
                    <a:pt x="11125200" y="289734"/>
                    <a:pt x="11091084" y="323850"/>
                    <a:pt x="1104900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6FBE8"/>
            </a:solidFill>
            <a:ln w="9525">
              <a:solidFill>
                <a:srgbClr val="CFE1A8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533400" y="5295900"/>
              <a:ext cx="57150" cy="323850"/>
            </a:xfrm>
            <a:custGeom>
              <a:avLst/>
              <a:gdLst/>
              <a:ahLst/>
              <a:cxnLst/>
              <a:rect l="l" t="t" r="r" b="b"/>
              <a:pathLst>
                <a:path w="57150" h="3238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295275"/>
                  </a:lnTo>
                  <a:cubicBezTo>
                    <a:pt x="57150" y="311057"/>
                    <a:pt x="44357" y="323850"/>
                    <a:pt x="28575" y="323850"/>
                  </a:cubicBezTo>
                  <a:lnTo>
                    <a:pt x="28575" y="323850"/>
                  </a:lnTo>
                  <a:cubicBezTo>
                    <a:pt x="12793" y="323850"/>
                    <a:pt x="0" y="311057"/>
                    <a:pt x="0" y="2952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6755" y="5369242"/>
              <a:ext cx="74872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每个不足都对应明确行动，目标是把改进变成可执行的计划，而不是停留在表态。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39" name="Rectangle 39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40" name="Line 4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07670" y="6341745"/>
              <a:ext cx="20734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slide_copy_compact.md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08622" y="6578441"/>
              <a:ext cx="1840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不足页按问题-动作-说明三栏生成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167256" y="6316028"/>
              <a:ext cx="163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10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九、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4326017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未来计划、建议与求助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47960" y="508635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建议与求助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5031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未来继续围绕 AI 提效、平台建设和团队经验沉淀三个方向持续投入。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81000" y="1676400"/>
            <a:ext cx="11430000" cy="4095750"/>
            <a:chOff x="381000" y="1676400"/>
            <a:chExt cx="11430000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8E7B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981200"/>
              <a:ext cx="5219700" cy="2571750"/>
            </a:xfrm>
            <a:custGeom>
              <a:avLst/>
              <a:gdLst/>
              <a:ahLst/>
              <a:cxnLst/>
              <a:rect l="l" t="t" r="r" b="b"/>
              <a:pathLst>
                <a:path w="5219700" h="2571750">
                  <a:moveTo>
                    <a:pt x="95250" y="0"/>
                  </a:moveTo>
                  <a:lnTo>
                    <a:pt x="5124450" y="0"/>
                  </a:lnTo>
                  <a:cubicBezTo>
                    <a:pt x="5177055" y="0"/>
                    <a:pt x="5219700" y="42645"/>
                    <a:pt x="5219700" y="95250"/>
                  </a:cubicBezTo>
                  <a:lnTo>
                    <a:pt x="5219700" y="2476500"/>
                  </a:lnTo>
                  <a:cubicBezTo>
                    <a:pt x="5219700" y="2529105"/>
                    <a:pt x="5177055" y="2571750"/>
                    <a:pt x="5124450" y="2571750"/>
                  </a:cubicBezTo>
                  <a:lnTo>
                    <a:pt x="95250" y="2571750"/>
                  </a:lnTo>
                  <a:cubicBezTo>
                    <a:pt x="42645" y="2571750"/>
                    <a:pt x="0" y="2529105"/>
                    <a:pt x="0" y="2476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" y="1981200"/>
              <a:ext cx="5219700" cy="76200"/>
            </a:xfrm>
            <a:custGeom>
              <a:avLst/>
              <a:gdLst/>
              <a:ahLst/>
              <a:cxnLst/>
              <a:rect l="l" t="t" r="r" b="b"/>
              <a:pathLst>
                <a:path w="5219700" h="76200">
                  <a:moveTo>
                    <a:pt x="38100" y="0"/>
                  </a:moveTo>
                  <a:lnTo>
                    <a:pt x="5181600" y="0"/>
                  </a:lnTo>
                  <a:cubicBezTo>
                    <a:pt x="5202642" y="0"/>
                    <a:pt x="5219700" y="17058"/>
                    <a:pt x="5219700" y="38100"/>
                  </a:cubicBezTo>
                  <a:lnTo>
                    <a:pt x="5219700" y="38100"/>
                  </a:lnTo>
                  <a:cubicBezTo>
                    <a:pt x="5219700" y="59142"/>
                    <a:pt x="5202642" y="76200"/>
                    <a:pt x="51816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3900" y="2143125"/>
              <a:ext cx="16828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未来 6 个月计划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5805" y="2521268"/>
              <a:ext cx="3277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深化 AI 工具使用，继续缩短交付周期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5805" y="2787968"/>
              <a:ext cx="32185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打造项目级 context，沉淀团队经验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5805" y="3054668"/>
              <a:ext cx="41550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推进营销活动平台建设，争取 Q2 完成核心能力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6038850" y="1981200"/>
              <a:ext cx="5410200" cy="2571750"/>
            </a:xfrm>
            <a:custGeom>
              <a:avLst/>
              <a:gdLst/>
              <a:ahLst/>
              <a:cxnLst/>
              <a:rect l="l" t="t" r="r" b="b"/>
              <a:pathLst>
                <a:path w="5410200" h="2571750">
                  <a:moveTo>
                    <a:pt x="95250" y="0"/>
                  </a:moveTo>
                  <a:lnTo>
                    <a:pt x="5314950" y="0"/>
                  </a:lnTo>
                  <a:cubicBezTo>
                    <a:pt x="5367555" y="0"/>
                    <a:pt x="5410200" y="42645"/>
                    <a:pt x="5410200" y="95250"/>
                  </a:cubicBezTo>
                  <a:lnTo>
                    <a:pt x="5410200" y="2476500"/>
                  </a:lnTo>
                  <a:cubicBezTo>
                    <a:pt x="5410200" y="2529105"/>
                    <a:pt x="5367555" y="2571750"/>
                    <a:pt x="5314950" y="2571750"/>
                  </a:cubicBezTo>
                  <a:lnTo>
                    <a:pt x="95250" y="2571750"/>
                  </a:lnTo>
                  <a:cubicBezTo>
                    <a:pt x="42645" y="2571750"/>
                    <a:pt x="0" y="2529105"/>
                    <a:pt x="0" y="2476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038850" y="1981200"/>
              <a:ext cx="5410200" cy="76200"/>
            </a:xfrm>
            <a:custGeom>
              <a:avLst/>
              <a:gdLst/>
              <a:ahLst/>
              <a:cxnLst/>
              <a:rect l="l" t="t" r="r" b="b"/>
              <a:pathLst>
                <a:path w="5410200" h="76200">
                  <a:moveTo>
                    <a:pt x="38100" y="0"/>
                  </a:moveTo>
                  <a:lnTo>
                    <a:pt x="5372100" y="0"/>
                  </a:lnTo>
                  <a:cubicBezTo>
                    <a:pt x="5393142" y="0"/>
                    <a:pt x="5410200" y="17058"/>
                    <a:pt x="5410200" y="38100"/>
                  </a:cubicBezTo>
                  <a:lnTo>
                    <a:pt x="5410200" y="38100"/>
                  </a:lnTo>
                  <a:cubicBezTo>
                    <a:pt x="5410200" y="59142"/>
                    <a:pt x="5393142" y="76200"/>
                    <a:pt x="53721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10300" y="214312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建议与求助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12205" y="2521268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为平台化事项预留稳定排期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12205" y="2787968"/>
              <a:ext cx="2794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提供跨团队协同与数据复盘支持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12205" y="3054668"/>
              <a:ext cx="35833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帮助关键能力建设获得更持续的资源保障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533400" y="5295900"/>
              <a:ext cx="11125200" cy="323850"/>
            </a:xfrm>
            <a:custGeom>
              <a:avLst/>
              <a:gdLst/>
              <a:ahLst/>
              <a:cxnLst/>
              <a:rect l="l" t="t" r="r" b="b"/>
              <a:pathLst>
                <a:path w="11125200" h="323850">
                  <a:moveTo>
                    <a:pt x="76200" y="0"/>
                  </a:moveTo>
                  <a:lnTo>
                    <a:pt x="11049000" y="0"/>
                  </a:lnTo>
                  <a:cubicBezTo>
                    <a:pt x="11091084" y="0"/>
                    <a:pt x="11125200" y="34116"/>
                    <a:pt x="11125200" y="76200"/>
                  </a:cubicBezTo>
                  <a:lnTo>
                    <a:pt x="11125200" y="247650"/>
                  </a:lnTo>
                  <a:cubicBezTo>
                    <a:pt x="11125200" y="289734"/>
                    <a:pt x="11091084" y="323850"/>
                    <a:pt x="1104900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6FBE8"/>
            </a:solidFill>
            <a:ln w="9525">
              <a:solidFill>
                <a:srgbClr val="CFE1A8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533400" y="5295900"/>
              <a:ext cx="57150" cy="323850"/>
            </a:xfrm>
            <a:custGeom>
              <a:avLst/>
              <a:gdLst/>
              <a:ahLst/>
              <a:cxnLst/>
              <a:rect l="l" t="t" r="r" b="b"/>
              <a:pathLst>
                <a:path w="57150" h="3238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295275"/>
                  </a:lnTo>
                  <a:cubicBezTo>
                    <a:pt x="57150" y="311057"/>
                    <a:pt x="44357" y="323850"/>
                    <a:pt x="28575" y="323850"/>
                  </a:cubicBezTo>
                  <a:lnTo>
                    <a:pt x="28575" y="323850"/>
                  </a:lnTo>
                  <a:cubicBezTo>
                    <a:pt x="12793" y="323850"/>
                    <a:pt x="0" y="311057"/>
                    <a:pt x="0" y="2952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6755" y="5369242"/>
              <a:ext cx="8822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已具备持续承担更大职责的基础，后续会继续围绕 AI 提效、平台建设和经验沉淀三个方向投入。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36" name="Rectangle 36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07670" y="6341745"/>
              <a:ext cx="20734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slide_copy_compact.md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08622" y="6578441"/>
              <a:ext cx="146685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未来计划页按双栏结构生成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1187384" y="6316028"/>
              <a:ext cx="1232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11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3"/>
          <p:cNvGrpSpPr/>
          <p:nvPr/>
        </p:nvGrpSpPr>
        <p:grpSpPr>
          <a:xfrm>
            <a:off x="-128588" y="-1036320"/>
            <a:ext cx="12325350" cy="7894320"/>
            <a:chOff x="-128588" y="-1036320"/>
            <a:chExt cx="12325350" cy="789432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72" y="2946"/>
              <a:ext cx="999558" cy="209201"/>
              <a:chOff x="73872" y="2946"/>
              <a:chExt cx="999558" cy="209201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460296" y="4146"/>
                <a:ext cx="130845" cy="28986"/>
              </a:xfrm>
              <a:custGeom>
                <a:avLst/>
                <a:gdLst/>
                <a:ahLst/>
                <a:cxnLst/>
                <a:rect l="l" t="t" r="r" b="b"/>
                <a:pathLst>
                  <a:path w="130845" h="28986">
                    <a:moveTo>
                      <a:pt x="0" y="0"/>
                    </a:moveTo>
                    <a:lnTo>
                      <a:pt x="130845" y="0"/>
                    </a:lnTo>
                    <a:lnTo>
                      <a:pt x="130845" y="28986"/>
                    </a:lnTo>
                    <a:lnTo>
                      <a:pt x="0" y="28986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11228" y="43749"/>
                <a:ext cx="28986" cy="90495"/>
              </a:xfrm>
              <a:custGeom>
                <a:avLst/>
                <a:gdLst/>
                <a:ahLst/>
                <a:cxnLst/>
                <a:rect l="l" t="t" r="r" b="b"/>
                <a:pathLst>
                  <a:path w="28986" h="90495">
                    <a:moveTo>
                      <a:pt x="0" y="0"/>
                    </a:moveTo>
                    <a:lnTo>
                      <a:pt x="28986" y="0"/>
                    </a:lnTo>
                    <a:lnTo>
                      <a:pt x="28986" y="90495"/>
                    </a:lnTo>
                    <a:lnTo>
                      <a:pt x="0" y="90495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225992" y="60422"/>
                <a:ext cx="305358" cy="151725"/>
              </a:xfrm>
              <a:custGeom>
                <a:avLst/>
                <a:gdLst/>
                <a:ahLst/>
                <a:cxnLst/>
                <a:rect l="l" t="t" r="r" b="b"/>
                <a:pathLst>
                  <a:path w="305358" h="151725">
                    <a:moveTo>
                      <a:pt x="279223" y="26996"/>
                    </a:moveTo>
                    <a:cubicBezTo>
                      <a:pt x="252239" y="5"/>
                      <a:pt x="208484" y="0"/>
                      <a:pt x="181493" y="26984"/>
                    </a:cubicBezTo>
                    <a:cubicBezTo>
                      <a:pt x="181490" y="26988"/>
                      <a:pt x="181486" y="26992"/>
                      <a:pt x="181483" y="26996"/>
                    </a:cubicBezTo>
                    <a:lnTo>
                      <a:pt x="153105" y="55373"/>
                    </a:lnTo>
                    <a:lnTo>
                      <a:pt x="124728" y="26996"/>
                    </a:lnTo>
                    <a:cubicBezTo>
                      <a:pt x="97737" y="7"/>
                      <a:pt x="53978" y="8"/>
                      <a:pt x="26989" y="26999"/>
                    </a:cubicBezTo>
                    <a:cubicBezTo>
                      <a:pt x="0" y="53989"/>
                      <a:pt x="2" y="97749"/>
                      <a:pt x="26992" y="124737"/>
                    </a:cubicBezTo>
                    <a:cubicBezTo>
                      <a:pt x="53982" y="151725"/>
                      <a:pt x="97738" y="151725"/>
                      <a:pt x="124728" y="124737"/>
                    </a:cubicBezTo>
                    <a:lnTo>
                      <a:pt x="153105" y="96337"/>
                    </a:lnTo>
                    <a:lnTo>
                      <a:pt x="181483" y="124714"/>
                    </a:lnTo>
                    <a:cubicBezTo>
                      <a:pt x="208822" y="151349"/>
                      <a:pt x="252577" y="150779"/>
                      <a:pt x="279213" y="123439"/>
                    </a:cubicBezTo>
                    <a:cubicBezTo>
                      <a:pt x="305353" y="96607"/>
                      <a:pt x="305358" y="53833"/>
                      <a:pt x="279223" y="26996"/>
                    </a:cubicBezTo>
                    <a:close/>
                    <a:moveTo>
                      <a:pt x="104234" y="104244"/>
                    </a:moveTo>
                    <a:cubicBezTo>
                      <a:pt x="88562" y="119916"/>
                      <a:pt x="63153" y="119916"/>
                      <a:pt x="47480" y="104244"/>
                    </a:cubicBezTo>
                    <a:cubicBezTo>
                      <a:pt x="31808" y="88571"/>
                      <a:pt x="31808" y="63161"/>
                      <a:pt x="47480" y="47489"/>
                    </a:cubicBezTo>
                    <a:cubicBezTo>
                      <a:pt x="63153" y="31817"/>
                      <a:pt x="88562" y="31817"/>
                      <a:pt x="104234" y="47489"/>
                    </a:cubicBezTo>
                    <a:lnTo>
                      <a:pt x="132612" y="75867"/>
                    </a:lnTo>
                    <a:close/>
                    <a:moveTo>
                      <a:pt x="258730" y="104244"/>
                    </a:moveTo>
                    <a:cubicBezTo>
                      <a:pt x="243058" y="119916"/>
                      <a:pt x="217648" y="119916"/>
                      <a:pt x="201977" y="104244"/>
                    </a:cubicBezTo>
                    <a:cubicBezTo>
                      <a:pt x="201976" y="104244"/>
                      <a:pt x="201976" y="104244"/>
                      <a:pt x="201976" y="104244"/>
                    </a:cubicBezTo>
                    <a:lnTo>
                      <a:pt x="173599" y="75867"/>
                    </a:lnTo>
                    <a:lnTo>
                      <a:pt x="201976" y="47489"/>
                    </a:lnTo>
                    <a:cubicBezTo>
                      <a:pt x="217648" y="31817"/>
                      <a:pt x="243058" y="31817"/>
                      <a:pt x="258730" y="47489"/>
                    </a:cubicBezTo>
                    <a:cubicBezTo>
                      <a:pt x="274403" y="63161"/>
                      <a:pt x="274403" y="88571"/>
                      <a:pt x="258730" y="104244"/>
                    </a:cubicBez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73872" y="71228"/>
                <a:ext cx="151849" cy="130186"/>
              </a:xfrm>
              <a:custGeom>
                <a:avLst/>
                <a:gdLst/>
                <a:ahLst/>
                <a:cxnLst/>
                <a:rect l="l" t="t" r="r" b="b"/>
                <a:pathLst>
                  <a:path w="151849" h="130186">
                    <a:moveTo>
                      <a:pt x="116874" y="83176"/>
                    </a:moveTo>
                    <a:cubicBezTo>
                      <a:pt x="138455" y="71886"/>
                      <a:pt x="146797" y="45239"/>
                      <a:pt x="135507" y="23659"/>
                    </a:cubicBezTo>
                    <a:cubicBezTo>
                      <a:pt x="127897" y="9115"/>
                      <a:pt x="112841" y="0"/>
                      <a:pt x="96427" y="2"/>
                    </a:cubicBezTo>
                    <a:lnTo>
                      <a:pt x="0" y="2"/>
                    </a:lnTo>
                    <a:lnTo>
                      <a:pt x="0" y="130186"/>
                    </a:lnTo>
                    <a:lnTo>
                      <a:pt x="28980" y="130186"/>
                    </a:lnTo>
                    <a:lnTo>
                      <a:pt x="28980" y="28988"/>
                    </a:lnTo>
                    <a:lnTo>
                      <a:pt x="96427" y="28988"/>
                    </a:lnTo>
                    <a:cubicBezTo>
                      <a:pt x="104780" y="28988"/>
                      <a:pt x="111551" y="35759"/>
                      <a:pt x="111551" y="44113"/>
                    </a:cubicBezTo>
                    <a:cubicBezTo>
                      <a:pt x="111551" y="52466"/>
                      <a:pt x="104780" y="59237"/>
                      <a:pt x="96427" y="59237"/>
                    </a:cubicBezTo>
                    <a:lnTo>
                      <a:pt x="39581" y="59237"/>
                    </a:lnTo>
                    <a:lnTo>
                      <a:pt x="39581" y="88217"/>
                    </a:lnTo>
                    <a:lnTo>
                      <a:pt x="84478" y="88217"/>
                    </a:lnTo>
                    <a:lnTo>
                      <a:pt x="115702" y="130186"/>
                    </a:lnTo>
                    <a:lnTo>
                      <a:pt x="151849" y="130186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04707" y="70116"/>
                <a:ext cx="68021" cy="132958"/>
              </a:xfrm>
              <a:custGeom>
                <a:avLst/>
                <a:gdLst/>
                <a:ahLst/>
                <a:cxnLst/>
                <a:rect l="l" t="t" r="r" b="b"/>
                <a:pathLst>
                  <a:path w="68021" h="132958">
                    <a:moveTo>
                      <a:pt x="48555" y="0"/>
                    </a:moveTo>
                    <a:lnTo>
                      <a:pt x="0" y="0"/>
                    </a:lnTo>
                    <a:lnTo>
                      <a:pt x="0" y="56846"/>
                    </a:lnTo>
                    <a:lnTo>
                      <a:pt x="27981" y="56846"/>
                    </a:lnTo>
                    <a:lnTo>
                      <a:pt x="27981" y="117649"/>
                    </a:lnTo>
                    <a:lnTo>
                      <a:pt x="19460" y="117649"/>
                    </a:lnTo>
                    <a:cubicBezTo>
                      <a:pt x="17184" y="117646"/>
                      <a:pt x="15340" y="115802"/>
                      <a:pt x="15337" y="113527"/>
                    </a:cubicBezTo>
                    <a:lnTo>
                      <a:pt x="15337" y="80911"/>
                    </a:lnTo>
                    <a:lnTo>
                      <a:pt x="29" y="80911"/>
                    </a:lnTo>
                    <a:lnTo>
                      <a:pt x="29" y="113527"/>
                    </a:lnTo>
                    <a:cubicBezTo>
                      <a:pt x="41" y="124253"/>
                      <a:pt x="8733" y="132945"/>
                      <a:pt x="19460" y="132958"/>
                    </a:cubicBezTo>
                    <a:lnTo>
                      <a:pt x="68021" y="132958"/>
                    </a:lnTo>
                    <a:lnTo>
                      <a:pt x="68021" y="117649"/>
                    </a:lnTo>
                    <a:lnTo>
                      <a:pt x="43295" y="117649"/>
                    </a:lnTo>
                    <a:lnTo>
                      <a:pt x="43295" y="96237"/>
                    </a:lnTo>
                    <a:lnTo>
                      <a:pt x="68021" y="96237"/>
                    </a:lnTo>
                    <a:lnTo>
                      <a:pt x="68021" y="80929"/>
                    </a:lnTo>
                    <a:lnTo>
                      <a:pt x="43295" y="80929"/>
                    </a:lnTo>
                    <a:lnTo>
                      <a:pt x="43295" y="56852"/>
                    </a:lnTo>
                    <a:lnTo>
                      <a:pt x="68021" y="56852"/>
                    </a:lnTo>
                    <a:lnTo>
                      <a:pt x="68021" y="19460"/>
                    </a:lnTo>
                    <a:cubicBezTo>
                      <a:pt x="68021" y="8713"/>
                      <a:pt x="59308" y="0"/>
                      <a:pt x="48560" y="0"/>
                    </a:cubicBezTo>
                    <a:cubicBezTo>
                      <a:pt x="48558" y="0"/>
                      <a:pt x="48557" y="0"/>
                      <a:pt x="48555" y="0"/>
                    </a:cubicBezTo>
                    <a:close/>
                    <a:moveTo>
                      <a:pt x="52678" y="41544"/>
                    </a:moveTo>
                    <a:lnTo>
                      <a:pt x="15309" y="41544"/>
                    </a:lnTo>
                    <a:lnTo>
                      <a:pt x="15309" y="15314"/>
                    </a:lnTo>
                    <a:lnTo>
                      <a:pt x="48555" y="15314"/>
                    </a:lnTo>
                    <a:cubicBezTo>
                      <a:pt x="50835" y="15320"/>
                      <a:pt x="52678" y="17174"/>
                      <a:pt x="52672" y="19454"/>
                    </a:cubicBezTo>
                    <a:cubicBezTo>
                      <a:pt x="52672" y="19456"/>
                      <a:pt x="52672" y="19458"/>
                      <a:pt x="52672" y="1946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784269" y="148369"/>
                <a:ext cx="95548" cy="54722"/>
              </a:xfrm>
              <a:custGeom>
                <a:avLst/>
                <a:gdLst/>
                <a:ahLst/>
                <a:cxnLst/>
                <a:rect l="l" t="t" r="r" b="b"/>
                <a:pathLst>
                  <a:path w="95548" h="54722">
                    <a:moveTo>
                      <a:pt x="76116" y="0"/>
                    </a:moveTo>
                    <a:lnTo>
                      <a:pt x="19431" y="0"/>
                    </a:lnTo>
                    <a:cubicBezTo>
                      <a:pt x="8704" y="16"/>
                      <a:pt x="12" y="8710"/>
                      <a:pt x="0" y="19438"/>
                    </a:cubicBezTo>
                    <a:lnTo>
                      <a:pt x="0" y="35291"/>
                    </a:lnTo>
                    <a:cubicBezTo>
                      <a:pt x="12" y="46017"/>
                      <a:pt x="8705" y="54710"/>
                      <a:pt x="19431" y="54722"/>
                    </a:cubicBezTo>
                    <a:lnTo>
                      <a:pt x="76116" y="54722"/>
                    </a:lnTo>
                    <a:cubicBezTo>
                      <a:pt x="86843" y="54710"/>
                      <a:pt x="95535" y="46017"/>
                      <a:pt x="95548" y="35291"/>
                    </a:cubicBezTo>
                    <a:lnTo>
                      <a:pt x="95548" y="19438"/>
                    </a:lnTo>
                    <a:cubicBezTo>
                      <a:pt x="95535" y="8710"/>
                      <a:pt x="86844" y="16"/>
                      <a:pt x="76116" y="0"/>
                    </a:cubicBezTo>
                    <a:close/>
                    <a:moveTo>
                      <a:pt x="80240" y="35291"/>
                    </a:moveTo>
                    <a:cubicBezTo>
                      <a:pt x="80236" y="37567"/>
                      <a:pt x="78392" y="39411"/>
                      <a:pt x="76116" y="39413"/>
                    </a:cubicBezTo>
                    <a:lnTo>
                      <a:pt x="19431" y="39413"/>
                    </a:lnTo>
                    <a:cubicBezTo>
                      <a:pt x="17155" y="39411"/>
                      <a:pt x="15311" y="37567"/>
                      <a:pt x="15308" y="35291"/>
                    </a:cubicBezTo>
                    <a:lnTo>
                      <a:pt x="15308" y="19438"/>
                    </a:lnTo>
                    <a:cubicBezTo>
                      <a:pt x="15311" y="17161"/>
                      <a:pt x="17155" y="15317"/>
                      <a:pt x="19431" y="15314"/>
                    </a:cubicBezTo>
                    <a:lnTo>
                      <a:pt x="76116" y="15314"/>
                    </a:lnTo>
                    <a:cubicBezTo>
                      <a:pt x="78393" y="15317"/>
                      <a:pt x="80236" y="17161"/>
                      <a:pt x="80240" y="1943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94040" y="70116"/>
                <a:ext cx="70956" cy="132992"/>
              </a:xfrm>
              <a:custGeom>
                <a:avLst/>
                <a:gdLst/>
                <a:ahLst/>
                <a:cxnLst/>
                <a:rect l="l" t="t" r="r" b="b"/>
                <a:pathLst>
                  <a:path w="70956" h="132992">
                    <a:moveTo>
                      <a:pt x="63079" y="52460"/>
                    </a:moveTo>
                    <a:lnTo>
                      <a:pt x="50071" y="60309"/>
                    </a:lnTo>
                    <a:lnTo>
                      <a:pt x="50071" y="36634"/>
                    </a:lnTo>
                    <a:lnTo>
                      <a:pt x="68909" y="36634"/>
                    </a:lnTo>
                    <a:lnTo>
                      <a:pt x="68909" y="21320"/>
                    </a:lnTo>
                    <a:lnTo>
                      <a:pt x="50071" y="21320"/>
                    </a:lnTo>
                    <a:lnTo>
                      <a:pt x="50071" y="0"/>
                    </a:lnTo>
                    <a:lnTo>
                      <a:pt x="34762" y="0"/>
                    </a:lnTo>
                    <a:lnTo>
                      <a:pt x="34762" y="21320"/>
                    </a:lnTo>
                    <a:lnTo>
                      <a:pt x="26465" y="21320"/>
                    </a:lnTo>
                    <a:cubicBezTo>
                      <a:pt x="27361" y="16933"/>
                      <a:pt x="28102" y="12510"/>
                      <a:pt x="28687" y="8050"/>
                    </a:cubicBezTo>
                    <a:lnTo>
                      <a:pt x="13505" y="6064"/>
                    </a:lnTo>
                    <a:cubicBezTo>
                      <a:pt x="11340" y="22601"/>
                      <a:pt x="6791" y="38737"/>
                      <a:pt x="0" y="53970"/>
                    </a:cubicBezTo>
                    <a:lnTo>
                      <a:pt x="13987" y="60194"/>
                    </a:lnTo>
                    <a:cubicBezTo>
                      <a:pt x="17391" y="52548"/>
                      <a:pt x="20280" y="44683"/>
                      <a:pt x="22635" y="36651"/>
                    </a:cubicBezTo>
                    <a:lnTo>
                      <a:pt x="34740" y="36651"/>
                    </a:lnTo>
                    <a:lnTo>
                      <a:pt x="34740" y="69565"/>
                    </a:lnTo>
                    <a:lnTo>
                      <a:pt x="3767" y="88250"/>
                    </a:lnTo>
                    <a:lnTo>
                      <a:pt x="11674" y="101359"/>
                    </a:lnTo>
                    <a:lnTo>
                      <a:pt x="34740" y="87446"/>
                    </a:lnTo>
                    <a:lnTo>
                      <a:pt x="34740" y="132992"/>
                    </a:lnTo>
                    <a:lnTo>
                      <a:pt x="50048" y="132992"/>
                    </a:lnTo>
                    <a:lnTo>
                      <a:pt x="50048" y="78190"/>
                    </a:lnTo>
                    <a:lnTo>
                      <a:pt x="70956" y="655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92260" y="2946"/>
                <a:ext cx="107865" cy="58196"/>
              </a:xfrm>
              <a:custGeom>
                <a:avLst/>
                <a:gdLst/>
                <a:ahLst/>
                <a:cxnLst/>
                <a:rect l="l" t="t" r="r" b="b"/>
                <a:pathLst>
                  <a:path w="107865" h="58196">
                    <a:moveTo>
                      <a:pt x="61592" y="42882"/>
                    </a:moveTo>
                    <a:lnTo>
                      <a:pt x="61592" y="27637"/>
                    </a:lnTo>
                    <a:lnTo>
                      <a:pt x="103302" y="27637"/>
                    </a:lnTo>
                    <a:lnTo>
                      <a:pt x="103302" y="12323"/>
                    </a:lnTo>
                    <a:lnTo>
                      <a:pt x="61592" y="12323"/>
                    </a:lnTo>
                    <a:lnTo>
                      <a:pt x="61592" y="0"/>
                    </a:lnTo>
                    <a:lnTo>
                      <a:pt x="46275" y="0"/>
                    </a:lnTo>
                    <a:lnTo>
                      <a:pt x="46275" y="12323"/>
                    </a:lnTo>
                    <a:lnTo>
                      <a:pt x="4565" y="12323"/>
                    </a:lnTo>
                    <a:lnTo>
                      <a:pt x="4565" y="27637"/>
                    </a:lnTo>
                    <a:lnTo>
                      <a:pt x="46275" y="27637"/>
                    </a:lnTo>
                    <a:lnTo>
                      <a:pt x="46275" y="42882"/>
                    </a:lnTo>
                    <a:lnTo>
                      <a:pt x="0" y="42882"/>
                    </a:lnTo>
                    <a:lnTo>
                      <a:pt x="0" y="58196"/>
                    </a:lnTo>
                    <a:lnTo>
                      <a:pt x="107865" y="58196"/>
                    </a:lnTo>
                    <a:lnTo>
                      <a:pt x="107865" y="42882"/>
                    </a:lnTo>
                    <a:lnTo>
                      <a:pt x="61592" y="4288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68007" y="134846"/>
                <a:ext cx="105423" cy="68245"/>
              </a:xfrm>
              <a:custGeom>
                <a:avLst/>
                <a:gdLst/>
                <a:ahLst/>
                <a:cxnLst/>
                <a:rect l="l" t="t" r="r" b="b"/>
                <a:pathLst>
                  <a:path w="105423" h="68245">
                    <a:moveTo>
                      <a:pt x="88325" y="0"/>
                    </a:moveTo>
                    <a:lnTo>
                      <a:pt x="73028" y="0"/>
                    </a:lnTo>
                    <a:lnTo>
                      <a:pt x="73028" y="10290"/>
                    </a:lnTo>
                    <a:lnTo>
                      <a:pt x="0" y="10290"/>
                    </a:lnTo>
                    <a:lnTo>
                      <a:pt x="0" y="25604"/>
                    </a:lnTo>
                    <a:lnTo>
                      <a:pt x="73028" y="25604"/>
                    </a:lnTo>
                    <a:lnTo>
                      <a:pt x="73028" y="48814"/>
                    </a:lnTo>
                    <a:cubicBezTo>
                      <a:pt x="73028" y="51089"/>
                      <a:pt x="71180" y="52933"/>
                      <a:pt x="68904" y="52936"/>
                    </a:cubicBezTo>
                    <a:lnTo>
                      <a:pt x="55226" y="52936"/>
                    </a:lnTo>
                    <a:lnTo>
                      <a:pt x="55226" y="68245"/>
                    </a:lnTo>
                    <a:lnTo>
                      <a:pt x="68923" y="68245"/>
                    </a:lnTo>
                    <a:cubicBezTo>
                      <a:pt x="79648" y="68232"/>
                      <a:pt x="88335" y="59540"/>
                      <a:pt x="88354" y="48814"/>
                    </a:cubicBezTo>
                    <a:lnTo>
                      <a:pt x="88354" y="25604"/>
                    </a:lnTo>
                    <a:lnTo>
                      <a:pt x="105423" y="25604"/>
                    </a:lnTo>
                    <a:lnTo>
                      <a:pt x="105423" y="10290"/>
                    </a:lnTo>
                    <a:lnTo>
                      <a:pt x="88354" y="102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75409" y="69479"/>
                <a:ext cx="108910" cy="76944"/>
              </a:xfrm>
              <a:custGeom>
                <a:avLst/>
                <a:gdLst/>
                <a:ahLst/>
                <a:cxnLst/>
                <a:rect l="l" t="t" r="r" b="b"/>
                <a:pathLst>
                  <a:path w="108910" h="76944">
                    <a:moveTo>
                      <a:pt x="97592" y="38885"/>
                    </a:moveTo>
                    <a:cubicBezTo>
                      <a:pt x="105045" y="33459"/>
                      <a:pt x="106687" y="23018"/>
                      <a:pt x="101260" y="15566"/>
                    </a:cubicBezTo>
                    <a:cubicBezTo>
                      <a:pt x="98118" y="11250"/>
                      <a:pt x="93100" y="8698"/>
                      <a:pt x="87761" y="8699"/>
                    </a:cubicBezTo>
                    <a:lnTo>
                      <a:pt x="40297" y="8699"/>
                    </a:lnTo>
                    <a:cubicBezTo>
                      <a:pt x="40826" y="7287"/>
                      <a:pt x="41319" y="5828"/>
                      <a:pt x="41750" y="4398"/>
                    </a:cubicBezTo>
                    <a:lnTo>
                      <a:pt x="27085" y="0"/>
                    </a:lnTo>
                    <a:cubicBezTo>
                      <a:pt x="22843" y="14016"/>
                      <a:pt x="13059" y="25690"/>
                      <a:pt x="0" y="32317"/>
                    </a:cubicBezTo>
                    <a:lnTo>
                      <a:pt x="6890" y="45976"/>
                    </a:lnTo>
                    <a:cubicBezTo>
                      <a:pt x="10398" y="44198"/>
                      <a:pt x="13746" y="42122"/>
                      <a:pt x="16898" y="39770"/>
                    </a:cubicBezTo>
                    <a:cubicBezTo>
                      <a:pt x="23679" y="44609"/>
                      <a:pt x="30734" y="49052"/>
                      <a:pt x="38030" y="53074"/>
                    </a:cubicBezTo>
                    <a:cubicBezTo>
                      <a:pt x="27085" y="56976"/>
                      <a:pt x="15820" y="59912"/>
                      <a:pt x="4363" y="61848"/>
                    </a:cubicBezTo>
                    <a:lnTo>
                      <a:pt x="6890" y="76944"/>
                    </a:lnTo>
                    <a:cubicBezTo>
                      <a:pt x="24000" y="74054"/>
                      <a:pt x="40697" y="69103"/>
                      <a:pt x="56617" y="62198"/>
                    </a:cubicBezTo>
                    <a:cubicBezTo>
                      <a:pt x="72547" y="69106"/>
                      <a:pt x="89256" y="74057"/>
                      <a:pt x="106377" y="76944"/>
                    </a:cubicBezTo>
                    <a:lnTo>
                      <a:pt x="108910" y="61848"/>
                    </a:lnTo>
                    <a:cubicBezTo>
                      <a:pt x="97443" y="59914"/>
                      <a:pt x="86168" y="56979"/>
                      <a:pt x="75215" y="53074"/>
                    </a:cubicBezTo>
                    <a:cubicBezTo>
                      <a:pt x="82959" y="48809"/>
                      <a:pt x="90432" y="44070"/>
                      <a:pt x="97592" y="38885"/>
                    </a:cubicBezTo>
                    <a:close/>
                    <a:moveTo>
                      <a:pt x="28314" y="29067"/>
                    </a:moveTo>
                    <a:cubicBezTo>
                      <a:pt x="29692" y="27440"/>
                      <a:pt x="30993" y="25753"/>
                      <a:pt x="32218" y="24008"/>
                    </a:cubicBezTo>
                    <a:lnTo>
                      <a:pt x="87761" y="24008"/>
                    </a:lnTo>
                    <a:cubicBezTo>
                      <a:pt x="88382" y="23960"/>
                      <a:pt x="88943" y="24373"/>
                      <a:pt x="89083" y="24978"/>
                    </a:cubicBezTo>
                    <a:cubicBezTo>
                      <a:pt x="89324" y="25533"/>
                      <a:pt x="89119" y="26181"/>
                      <a:pt x="88600" y="26494"/>
                    </a:cubicBezTo>
                    <a:cubicBezTo>
                      <a:pt x="78548" y="33773"/>
                      <a:pt x="67841" y="40101"/>
                      <a:pt x="56617" y="45397"/>
                    </a:cubicBezTo>
                    <a:cubicBezTo>
                      <a:pt x="46756" y="40729"/>
                      <a:pt x="37290" y="35267"/>
                      <a:pt x="28314" y="2906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86199" y="165877"/>
                <a:ext cx="31442" cy="26982"/>
              </a:xfrm>
              <a:custGeom>
                <a:avLst/>
                <a:gdLst/>
                <a:ahLst/>
                <a:cxnLst/>
                <a:rect l="l" t="t" r="r" b="b"/>
                <a:pathLst>
                  <a:path w="31442" h="26982">
                    <a:moveTo>
                      <a:pt x="0" y="14424"/>
                    </a:moveTo>
                    <a:cubicBezTo>
                      <a:pt x="7849" y="17221"/>
                      <a:pt x="15097" y="21483"/>
                      <a:pt x="21355" y="26982"/>
                    </a:cubicBezTo>
                    <a:lnTo>
                      <a:pt x="31442" y="15470"/>
                    </a:lnTo>
                    <a:cubicBezTo>
                      <a:pt x="23736" y="8697"/>
                      <a:pt x="14811" y="3449"/>
                      <a:pt x="51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</p:grpSp>
        <p:sp>
          <p:nvSpPr>
            <p:cNvPr id="15" name="Freeform 15"/>
            <p:cNvSpPr/>
            <p:nvPr/>
          </p:nvSpPr>
          <p:spPr>
            <a:xfrm>
              <a:off x="0" y="0"/>
              <a:ext cx="6508747" cy="9525"/>
            </a:xfrm>
            <a:custGeom>
              <a:avLst/>
              <a:gdLst/>
              <a:ahLst/>
              <a:cxnLst/>
              <a:rect l="l" t="t" r="r" b="b"/>
              <a:pathLst>
                <a:path w="6508747" h="9525">
                  <a:moveTo>
                    <a:pt x="0" y="0"/>
                  </a:moveTo>
                  <a:lnTo>
                    <a:pt x="6508747" y="1905"/>
                  </a:lnTo>
                </a:path>
              </a:pathLst>
            </a:custGeom>
            <a:noFill/>
            <a:ln w="31750">
              <a:solidFill>
                <a:srgbClr val="92D050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929438" y="719138"/>
              <a:ext cx="323212" cy="9525"/>
            </a:xfrm>
            <a:custGeom>
              <a:avLst/>
              <a:gdLst/>
              <a:ahLst/>
              <a:cxnLst/>
              <a:rect l="l" t="t" r="r" b="b"/>
              <a:pathLst>
                <a:path w="323212" h="9525">
                  <a:moveTo>
                    <a:pt x="0" y="0"/>
                  </a:moveTo>
                  <a:lnTo>
                    <a:pt x="323212" y="5715"/>
                  </a:lnTo>
                </a:path>
              </a:pathLst>
            </a:custGeom>
            <a:noFill/>
            <a:ln w="31750">
              <a:solidFill>
                <a:srgbClr val="7F7F7F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405688" y="719138"/>
              <a:ext cx="326393" cy="9525"/>
            </a:xfrm>
            <a:custGeom>
              <a:avLst/>
              <a:gdLst/>
              <a:ahLst/>
              <a:cxnLst/>
              <a:rect l="l" t="t" r="r" b="b"/>
              <a:pathLst>
                <a:path w="326393" h="9525">
                  <a:moveTo>
                    <a:pt x="0" y="0"/>
                  </a:moveTo>
                  <a:lnTo>
                    <a:pt x="326393" y="5715"/>
                  </a:lnTo>
                </a:path>
              </a:pathLst>
            </a:custGeom>
            <a:noFill/>
            <a:ln w="31750">
              <a:solidFill>
                <a:srgbClr val="7F7F7F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28613" y="271463"/>
              <a:ext cx="419100" cy="333375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85BB0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23913" y="271463"/>
              <a:ext cx="76200" cy="333375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85BB05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-128588" y="3138488"/>
              <a:ext cx="12325350" cy="3419475"/>
            </a:xfrm>
            <a:prstGeom prst="rect">
              <a:avLst/>
            </a:prstGeom>
            <a:solidFill>
              <a:srgbClr val="D0CECE">
                <a:alpha val="83921"/>
              </a:srgbClr>
            </a:solidFill>
            <a:ln w="12700">
              <a:solidFill>
                <a:srgbClr val="AFABA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-121920" y="-1036320"/>
              <a:ext cx="5102047" cy="1950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0" b="1" dirty="0">
                  <a:solidFill>
                    <a:srgbClr val="333F50"/>
                  </a:solidFill>
                  <a:latin typeface="Microsoft YaHei_MSFontService"/>
                  <a:ea typeface="Microsoft YaHei"/>
                  <a:cs typeface="Microsoft YaHei_MSFontService"/>
                </a:rPr>
                <a:t>THANKS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-28575" y="-242888"/>
              <a:ext cx="988266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333F50"/>
                  </a:solidFill>
                  <a:latin typeface="Microsoft YaHei_MSFontService"/>
                  <a:ea typeface="Microsoft YaHei"/>
                  <a:cs typeface="Microsoft YaHei_MSFontService"/>
                </a:rPr>
                <a:t>感谢聆听 | 已在试用期内证明岗位匹配度、结果导向与持续成长潜力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